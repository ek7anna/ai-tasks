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Default Extension="png" ContentType="image/png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</p:sldIdLst>
  <p:sldSz cx="7556500" cy="10693400"/>
  <p:notesSz cx="7556500" cy="106934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42" Type="http://schemas.openxmlformats.org/officeDocument/2006/relationships/slide" Target="slides/slide37.xml"/><Relationship Id="rId43" Type="http://schemas.openxmlformats.org/officeDocument/2006/relationships/slide" Target="slides/slide38.xml"/><Relationship Id="rId44" Type="http://schemas.openxmlformats.org/officeDocument/2006/relationships/slide" Target="slides/slide39.xml"/><Relationship Id="rId45" Type="http://schemas.openxmlformats.org/officeDocument/2006/relationships/slide" Target="slides/slide40.xml"/><Relationship Id="rId46" Type="http://schemas.openxmlformats.org/officeDocument/2006/relationships/slide" Target="slides/slide41.xml"/><Relationship Id="rId47" Type="http://schemas.openxmlformats.org/officeDocument/2006/relationships/slide" Target="slides/slide42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66737" y="3314954"/>
            <a:ext cx="6423025" cy="22456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33475" y="5988304"/>
            <a:ext cx="5289550" cy="2673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377825" y="2459482"/>
            <a:ext cx="3287077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3891597" y="2459482"/>
            <a:ext cx="3287077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825" y="427736"/>
            <a:ext cx="6800850" cy="17109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825" y="2459482"/>
            <a:ext cx="6800850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2569210" y="9944862"/>
            <a:ext cx="2418080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377825" y="9944862"/>
            <a:ext cx="1737995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5440680" y="9944862"/>
            <a:ext cx="1737995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png"/></Relationships>
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
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.png"/></Relationships>
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.png"/></Relationships>
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
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/Relationships>
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hyperlink" Target="https://github.com/langchain-ai/langchain-community/issues/674" TargetMode="External"/></Relationships>
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hyperlink" Target="https://huggingface.co/docs/transformers/main/en/main_classes/text_generation)" TargetMode="External"/></Relationships>
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hyperlink" Target="http://localhost:8983/solr/rag_core" TargetMode="External"/><Relationship Id="rId3" Type="http://schemas.openxmlformats.org/officeDocument/2006/relationships/image" Target="../media/image12.png"/><Relationship Id="rId4" Type="http://schemas.openxmlformats.org/officeDocument/2006/relationships/image" Target="../media/image13.png"/></Relationships>
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hyperlink" Target="http://localhost:8983/solr/rag_core" TargetMode="External"/><Relationship Id="rId3" Type="http://schemas.openxmlformats.org/officeDocument/2006/relationships/image" Target="../media/image14.png"/></Relationships>
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hyperlink" Target="http://localhost:8983/solr/rag_core/schema" TargetMode="External"/></Relationships>
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6.png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/Relationships>
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1.png"/></Relationships>
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2.png"/><Relationship Id="rId3" Type="http://schemas.openxmlformats.org/officeDocument/2006/relationships/image" Target="../media/image23.png"/></Relationships>
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4.png"/><Relationship Id="rId3" Type="http://schemas.openxmlformats.org/officeDocument/2006/relationships/hyperlink" Target="https://github.com/langchain-ai/langchain-community/issues/674" TargetMode="External"/></Relationships>
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5.png"/></Relationships>
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6.png"/><Relationship Id="rId3" Type="http://schemas.openxmlformats.org/officeDocument/2006/relationships/image" Target="../media/image27.png"/><Relationship Id="rId4" Type="http://schemas.openxmlformats.org/officeDocument/2006/relationships/hyperlink" Target="http://localhost:11434/" TargetMode="External"/><Relationship Id="rId5" Type="http://schemas.openxmlformats.org/officeDocument/2006/relationships/image" Target="../media/image28.png"/></Relationships>
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9.png"/><Relationship Id="rId3" Type="http://schemas.openxmlformats.org/officeDocument/2006/relationships/image" Target="../media/image30.png"/><Relationship Id="rId4" Type="http://schemas.openxmlformats.org/officeDocument/2006/relationships/image" Target="../media/image31.png"/></Relationships>
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hyperlink" Target="https://github.com/langchain-ai/langchain-community/issues/674" TargetMode="External"/></Relationships>
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2.png"/></Relationships>
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3.png"/></Relationships>
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4.png"/></Relationships>
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5.png"/><Relationship Id="rId3" Type="http://schemas.openxmlformats.org/officeDocument/2006/relationships/image" Target="../media/image36.png"/></Relationships>
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7.png"/></Relationships>
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8.png"/></Relationships>
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9.png"/><Relationship Id="rId3" Type="http://schemas.openxmlformats.org/officeDocument/2006/relationships/image" Target="../media/image40.png"/></Relationships>
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680102" y="5054553"/>
            <a:ext cx="6202680" cy="1490345"/>
            <a:chOff x="680102" y="5054553"/>
            <a:chExt cx="6202680" cy="1490345"/>
          </a:xfrm>
        </p:grpSpPr>
        <p:sp>
          <p:nvSpPr>
            <p:cNvPr id="3" name="object 3"/>
            <p:cNvSpPr/>
            <p:nvPr/>
          </p:nvSpPr>
          <p:spPr>
            <a:xfrm>
              <a:off x="680102" y="5054553"/>
              <a:ext cx="6202680" cy="1490345"/>
            </a:xfrm>
            <a:custGeom>
              <a:avLst/>
              <a:gdLst/>
              <a:ahLst/>
              <a:cxnLst/>
              <a:rect l="l" t="t" r="r" b="b"/>
              <a:pathLst>
                <a:path w="6202680" h="1490345">
                  <a:moveTo>
                    <a:pt x="6202119" y="1489856"/>
                  </a:moveTo>
                  <a:lnTo>
                    <a:pt x="0" y="1489856"/>
                  </a:lnTo>
                  <a:lnTo>
                    <a:pt x="0" y="0"/>
                  </a:lnTo>
                  <a:lnTo>
                    <a:pt x="6202119" y="0"/>
                  </a:lnTo>
                  <a:lnTo>
                    <a:pt x="6202119" y="1489856"/>
                  </a:lnTo>
                  <a:close/>
                </a:path>
              </a:pathLst>
            </a:custGeom>
            <a:solidFill>
              <a:srgbClr val="F1F5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680102" y="5054553"/>
              <a:ext cx="27305" cy="1490345"/>
            </a:xfrm>
            <a:custGeom>
              <a:avLst/>
              <a:gdLst/>
              <a:ahLst/>
              <a:cxnLst/>
              <a:rect l="l" t="t" r="r" b="b"/>
              <a:pathLst>
                <a:path w="27304" h="1490345">
                  <a:moveTo>
                    <a:pt x="26965" y="1489856"/>
                  </a:moveTo>
                  <a:lnTo>
                    <a:pt x="0" y="1489856"/>
                  </a:lnTo>
                  <a:lnTo>
                    <a:pt x="0" y="0"/>
                  </a:lnTo>
                  <a:lnTo>
                    <a:pt x="26965" y="0"/>
                  </a:lnTo>
                  <a:lnTo>
                    <a:pt x="26965" y="1489856"/>
                  </a:lnTo>
                  <a:close/>
                </a:path>
              </a:pathLst>
            </a:custGeom>
            <a:solidFill>
              <a:srgbClr val="2562EB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/>
          <p:cNvSpPr/>
          <p:nvPr/>
        </p:nvSpPr>
        <p:spPr>
          <a:xfrm>
            <a:off x="680102" y="6706204"/>
            <a:ext cx="6202680" cy="6985"/>
          </a:xfrm>
          <a:custGeom>
            <a:avLst/>
            <a:gdLst/>
            <a:ahLst/>
            <a:cxnLst/>
            <a:rect l="l" t="t" r="r" b="b"/>
            <a:pathLst>
              <a:path w="6202680" h="6984">
                <a:moveTo>
                  <a:pt x="6202119" y="6741"/>
                </a:moveTo>
                <a:lnTo>
                  <a:pt x="0" y="6741"/>
                </a:lnTo>
                <a:lnTo>
                  <a:pt x="0" y="0"/>
                </a:lnTo>
                <a:lnTo>
                  <a:pt x="6202119" y="0"/>
                </a:lnTo>
                <a:lnTo>
                  <a:pt x="6202119" y="6741"/>
                </a:lnTo>
                <a:close/>
              </a:path>
            </a:pathLst>
          </a:custGeom>
          <a:solidFill>
            <a:srgbClr val="E4E7E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680102" y="7535401"/>
            <a:ext cx="6202680" cy="1968500"/>
          </a:xfrm>
          <a:custGeom>
            <a:avLst/>
            <a:gdLst/>
            <a:ahLst/>
            <a:cxnLst/>
            <a:rect l="l" t="t" r="r" b="b"/>
            <a:pathLst>
              <a:path w="6202680" h="1968500">
                <a:moveTo>
                  <a:pt x="6151728" y="1968497"/>
                </a:moveTo>
                <a:lnTo>
                  <a:pt x="50390" y="1968497"/>
                </a:lnTo>
                <a:lnTo>
                  <a:pt x="46883" y="1968152"/>
                </a:lnTo>
                <a:lnTo>
                  <a:pt x="11056" y="1947473"/>
                </a:lnTo>
                <a:lnTo>
                  <a:pt x="0" y="1918108"/>
                </a:lnTo>
                <a:lnTo>
                  <a:pt x="0" y="1914567"/>
                </a:lnTo>
                <a:lnTo>
                  <a:pt x="0" y="50389"/>
                </a:lnTo>
                <a:lnTo>
                  <a:pt x="18300" y="13291"/>
                </a:lnTo>
                <a:lnTo>
                  <a:pt x="50390" y="0"/>
                </a:lnTo>
                <a:lnTo>
                  <a:pt x="6151728" y="0"/>
                </a:lnTo>
                <a:lnTo>
                  <a:pt x="6188826" y="18299"/>
                </a:lnTo>
                <a:lnTo>
                  <a:pt x="6202118" y="50389"/>
                </a:lnTo>
                <a:lnTo>
                  <a:pt x="6202118" y="1918108"/>
                </a:lnTo>
                <a:lnTo>
                  <a:pt x="6183818" y="1955205"/>
                </a:lnTo>
                <a:lnTo>
                  <a:pt x="6155235" y="1968152"/>
                </a:lnTo>
                <a:lnTo>
                  <a:pt x="6151728" y="1968497"/>
                </a:lnTo>
                <a:close/>
              </a:path>
            </a:pathLst>
          </a:custGeom>
          <a:solidFill>
            <a:srgbClr val="0E1729"/>
          </a:solidFill>
        </p:spPr>
        <p:txBody>
          <a:bodyPr wrap="square" lIns="0" tIns="0" rIns="0" bIns="0" rtlCol="0"/>
          <a:lstStyle/>
          <a:p/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680102" y="9611762"/>
          <a:ext cx="6456680" cy="2825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77415"/>
                <a:gridCol w="4196080"/>
              </a:tblGrid>
              <a:tr h="282575">
                <a:tc>
                  <a:txBody>
                    <a:bodyPr/>
                    <a:lstStyle/>
                    <a:p>
                      <a:pPr marL="70485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950" spc="-20" b="1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Line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64769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marL="73025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950" spc="-10" b="1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Explanation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64769">
                    <a:lnL w="9525">
                      <a:solidFill>
                        <a:srgbClr val="D0D5DA"/>
                      </a:solidFill>
                      <a:prstDash val="solid"/>
                    </a:lnL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  <a:solidFill>
                      <a:srgbClr val="F7FAFB"/>
                    </a:solidFill>
                  </a:tcPr>
                </a:tc>
              </a:tr>
            </a:tbl>
          </a:graphicData>
        </a:graphic>
      </p:graphicFrame>
      <p:sp>
        <p:nvSpPr>
          <p:cNvPr id="8" name="object 8"/>
          <p:cNvSpPr txBox="1"/>
          <p:nvPr/>
        </p:nvSpPr>
        <p:spPr>
          <a:xfrm>
            <a:off x="667402" y="530043"/>
            <a:ext cx="6187440" cy="1657985"/>
          </a:xfrm>
          <a:prstGeom prst="rect">
            <a:avLst/>
          </a:prstGeom>
        </p:spPr>
        <p:txBody>
          <a:bodyPr wrap="square" lIns="0" tIns="1930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520"/>
              </a:spcBef>
            </a:pPr>
            <a:r>
              <a:rPr dirty="0" sz="2150" spc="-270" b="1">
                <a:solidFill>
                  <a:srgbClr val="111726"/>
                </a:solidFill>
                <a:latin typeface="Source Han Sans JP"/>
                <a:cs typeface="Source Han Sans JP"/>
              </a:rPr>
              <a:t>RAG</a:t>
            </a:r>
            <a:r>
              <a:rPr dirty="0" sz="2150" spc="-60" b="1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2150" spc="-240" b="1">
                <a:solidFill>
                  <a:srgbClr val="111726"/>
                </a:solidFill>
                <a:latin typeface="Source Han Sans JP"/>
                <a:cs typeface="Source Han Sans JP"/>
              </a:rPr>
              <a:t>Systems</a:t>
            </a:r>
            <a:r>
              <a:rPr dirty="0" sz="2150" spc="-65" b="1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2150" spc="-160" b="1">
                <a:solidFill>
                  <a:srgbClr val="111726"/>
                </a:solidFill>
                <a:latin typeface="Source Han Sans JP"/>
                <a:cs typeface="Source Han Sans JP"/>
              </a:rPr>
              <a:t>Documentation</a:t>
            </a:r>
            <a:endParaRPr sz="2150">
              <a:latin typeface="Source Han Sans JP"/>
              <a:cs typeface="Source Han Sans JP"/>
            </a:endParaRPr>
          </a:p>
          <a:p>
            <a:pPr marL="12700">
              <a:lnSpc>
                <a:spcPct val="100000"/>
              </a:lnSpc>
              <a:spcBef>
                <a:spcPts val="930"/>
              </a:spcBef>
            </a:pPr>
            <a:r>
              <a:rPr dirty="0" sz="1450" spc="-175" b="1">
                <a:solidFill>
                  <a:srgbClr val="111726"/>
                </a:solidFill>
                <a:latin typeface="Source Han Sans JP"/>
                <a:cs typeface="Source Han Sans JP"/>
              </a:rPr>
              <a:t>PostgreSQL</a:t>
            </a:r>
            <a:r>
              <a:rPr dirty="0" sz="1450" spc="-45" b="1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450" spc="-160" b="1">
                <a:solidFill>
                  <a:srgbClr val="111726"/>
                </a:solidFill>
                <a:latin typeface="Source Han Sans JP"/>
                <a:cs typeface="Source Han Sans JP"/>
              </a:rPr>
              <a:t>+</a:t>
            </a:r>
            <a:r>
              <a:rPr dirty="0" sz="1450" spc="-45" b="1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450" spc="-160" b="1">
                <a:solidFill>
                  <a:srgbClr val="111726"/>
                </a:solidFill>
                <a:latin typeface="Source Han Sans JP"/>
                <a:cs typeface="Source Han Sans JP"/>
              </a:rPr>
              <a:t>pgvector</a:t>
            </a:r>
            <a:r>
              <a:rPr dirty="0" sz="1450" spc="-45" b="1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350" spc="-170" b="1">
                <a:solidFill>
                  <a:srgbClr val="111726"/>
                </a:solidFill>
                <a:latin typeface="Adobe Gothic Std B"/>
                <a:cs typeface="Adobe Gothic Std B"/>
              </a:rPr>
              <a:t>·</a:t>
            </a:r>
            <a:r>
              <a:rPr dirty="0" sz="1350" spc="-5" b="1">
                <a:solidFill>
                  <a:srgbClr val="111726"/>
                </a:solidFill>
                <a:latin typeface="Adobe Gothic Std B"/>
                <a:cs typeface="Adobe Gothic Std B"/>
              </a:rPr>
              <a:t> </a:t>
            </a:r>
            <a:r>
              <a:rPr dirty="0" sz="1450" spc="-170" b="1">
                <a:solidFill>
                  <a:srgbClr val="111726"/>
                </a:solidFill>
                <a:latin typeface="Source Han Sans JP"/>
                <a:cs typeface="Source Han Sans JP"/>
              </a:rPr>
              <a:t>Apache</a:t>
            </a:r>
            <a:r>
              <a:rPr dirty="0" sz="1450" spc="-45" b="1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450" spc="-140" b="1">
                <a:solidFill>
                  <a:srgbClr val="111726"/>
                </a:solidFill>
                <a:latin typeface="Source Han Sans JP"/>
                <a:cs typeface="Source Han Sans JP"/>
              </a:rPr>
              <a:t>Solr</a:t>
            </a:r>
            <a:r>
              <a:rPr dirty="0" sz="1450" spc="-45" b="1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350" spc="-170" b="1">
                <a:solidFill>
                  <a:srgbClr val="111726"/>
                </a:solidFill>
                <a:latin typeface="Adobe Gothic Std B"/>
                <a:cs typeface="Adobe Gothic Std B"/>
              </a:rPr>
              <a:t>·</a:t>
            </a:r>
            <a:r>
              <a:rPr dirty="0" sz="1350" spc="-5" b="1">
                <a:solidFill>
                  <a:srgbClr val="111726"/>
                </a:solidFill>
                <a:latin typeface="Adobe Gothic Std B"/>
                <a:cs typeface="Adobe Gothic Std B"/>
              </a:rPr>
              <a:t> </a:t>
            </a:r>
            <a:r>
              <a:rPr dirty="0" sz="1450" spc="-50" b="1">
                <a:solidFill>
                  <a:srgbClr val="111726"/>
                </a:solidFill>
                <a:latin typeface="Source Han Sans JP"/>
                <a:cs typeface="Source Han Sans JP"/>
              </a:rPr>
              <a:t>ChromaDB</a:t>
            </a:r>
            <a:endParaRPr sz="1450">
              <a:latin typeface="Source Han Sans JP"/>
              <a:cs typeface="Source Han Sans JP"/>
            </a:endParaRPr>
          </a:p>
          <a:p>
            <a:pPr marL="12700" marR="68580">
              <a:lnSpc>
                <a:spcPct val="119400"/>
              </a:lnSpc>
              <a:spcBef>
                <a:spcPts val="495"/>
              </a:spcBef>
            </a:pPr>
            <a:r>
              <a:rPr dirty="0" sz="1000" spc="-80">
                <a:solidFill>
                  <a:srgbClr val="111726"/>
                </a:solidFill>
                <a:latin typeface="Source Han Sans JP"/>
                <a:cs typeface="Source Han Sans JP"/>
              </a:rPr>
              <a:t>This</a:t>
            </a:r>
            <a:r>
              <a:rPr dirty="0" sz="1000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100">
                <a:solidFill>
                  <a:srgbClr val="111726"/>
                </a:solidFill>
                <a:latin typeface="Source Han Sans JP"/>
                <a:cs typeface="Source Han Sans JP"/>
              </a:rPr>
              <a:t>document</a:t>
            </a:r>
            <a:r>
              <a:rPr dirty="0" sz="1000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80">
                <a:solidFill>
                  <a:srgbClr val="111726"/>
                </a:solidFill>
                <a:latin typeface="Source Han Sans JP"/>
                <a:cs typeface="Source Han Sans JP"/>
              </a:rPr>
              <a:t>explains,</a:t>
            </a:r>
            <a:r>
              <a:rPr dirty="0" sz="1000" spc="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75" b="1">
                <a:solidFill>
                  <a:srgbClr val="111726"/>
                </a:solidFill>
                <a:latin typeface="Source Han Sans JP"/>
                <a:cs typeface="Source Han Sans JP"/>
              </a:rPr>
              <a:t>line</a:t>
            </a:r>
            <a:r>
              <a:rPr dirty="0" sz="1000" b="1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110" b="1">
                <a:solidFill>
                  <a:srgbClr val="111726"/>
                </a:solidFill>
                <a:latin typeface="Source Han Sans JP"/>
                <a:cs typeface="Source Han Sans JP"/>
              </a:rPr>
              <a:t>by</a:t>
            </a:r>
            <a:r>
              <a:rPr dirty="0" sz="1000" spc="5" b="1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70" b="1">
                <a:solidFill>
                  <a:srgbClr val="111726"/>
                </a:solidFill>
                <a:latin typeface="Source Han Sans JP"/>
                <a:cs typeface="Source Han Sans JP"/>
              </a:rPr>
              <a:t>line</a:t>
            </a:r>
            <a:r>
              <a:rPr dirty="0" sz="1000" spc="-70">
                <a:solidFill>
                  <a:srgbClr val="111726"/>
                </a:solidFill>
                <a:latin typeface="Source Han Sans JP"/>
                <a:cs typeface="Source Han Sans JP"/>
              </a:rPr>
              <a:t>,</a:t>
            </a:r>
            <a:r>
              <a:rPr dirty="0" sz="1000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80">
                <a:solidFill>
                  <a:srgbClr val="111726"/>
                </a:solidFill>
                <a:latin typeface="Source Han Sans JP"/>
                <a:cs typeface="Source Han Sans JP"/>
              </a:rPr>
              <a:t>three</a:t>
            </a:r>
            <a:r>
              <a:rPr dirty="0" sz="1000" spc="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70">
                <a:solidFill>
                  <a:srgbClr val="111726"/>
                </a:solidFill>
                <a:latin typeface="Source Han Sans JP"/>
                <a:cs typeface="Source Han Sans JP"/>
              </a:rPr>
              <a:t>di</a:t>
            </a:r>
            <a:r>
              <a:rPr dirty="0" sz="950" spc="-70">
                <a:solidFill>
                  <a:srgbClr val="111726"/>
                </a:solidFill>
                <a:latin typeface="Arial"/>
                <a:cs typeface="Arial"/>
              </a:rPr>
              <a:t>ﬀ</a:t>
            </a:r>
            <a:r>
              <a:rPr dirty="0" sz="1000" spc="-70">
                <a:solidFill>
                  <a:srgbClr val="111726"/>
                </a:solidFill>
                <a:latin typeface="Source Han Sans JP"/>
                <a:cs typeface="Source Han Sans JP"/>
              </a:rPr>
              <a:t>erent</a:t>
            </a:r>
            <a:r>
              <a:rPr dirty="0" sz="1000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80">
                <a:solidFill>
                  <a:srgbClr val="111726"/>
                </a:solidFill>
                <a:latin typeface="Source Han Sans JP"/>
                <a:cs typeface="Source Han Sans JP"/>
              </a:rPr>
              <a:t>Retrieval-</a:t>
            </a:r>
            <a:r>
              <a:rPr dirty="0" sz="1000" spc="-105">
                <a:solidFill>
                  <a:srgbClr val="111726"/>
                </a:solidFill>
                <a:latin typeface="Source Han Sans JP"/>
                <a:cs typeface="Source Han Sans JP"/>
              </a:rPr>
              <a:t>Augmented</a:t>
            </a:r>
            <a:r>
              <a:rPr dirty="0" sz="1000" spc="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95">
                <a:solidFill>
                  <a:srgbClr val="111726"/>
                </a:solidFill>
                <a:latin typeface="Source Han Sans JP"/>
                <a:cs typeface="Source Han Sans JP"/>
              </a:rPr>
              <a:t>Generation</a:t>
            </a:r>
            <a:r>
              <a:rPr dirty="0" sz="1000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85">
                <a:solidFill>
                  <a:srgbClr val="111726"/>
                </a:solidFill>
                <a:latin typeface="Source Han Sans JP"/>
                <a:cs typeface="Source Han Sans JP"/>
              </a:rPr>
              <a:t>(RAG)</a:t>
            </a:r>
            <a:r>
              <a:rPr dirty="0" sz="1000" spc="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95">
                <a:solidFill>
                  <a:srgbClr val="111726"/>
                </a:solidFill>
                <a:latin typeface="Source Han Sans JP"/>
                <a:cs typeface="Source Han Sans JP"/>
              </a:rPr>
              <a:t>implementations</a:t>
            </a:r>
            <a:r>
              <a:rPr dirty="0" sz="1000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70">
                <a:solidFill>
                  <a:srgbClr val="111726"/>
                </a:solidFill>
                <a:latin typeface="Source Han Sans JP"/>
                <a:cs typeface="Source Han Sans JP"/>
              </a:rPr>
              <a:t>built</a:t>
            </a:r>
            <a:r>
              <a:rPr dirty="0" sz="1000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90">
                <a:solidFill>
                  <a:srgbClr val="111726"/>
                </a:solidFill>
                <a:latin typeface="Source Han Sans JP"/>
                <a:cs typeface="Source Han Sans JP"/>
              </a:rPr>
              <a:t>from</a:t>
            </a:r>
            <a:r>
              <a:rPr dirty="0" sz="1000" spc="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50">
                <a:solidFill>
                  <a:srgbClr val="111726"/>
                </a:solidFill>
                <a:latin typeface="Source Han Sans JP"/>
                <a:cs typeface="Source Han Sans JP"/>
              </a:rPr>
              <a:t>a</a:t>
            </a:r>
            <a:r>
              <a:rPr dirty="0" sz="1000" spc="500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100">
                <a:solidFill>
                  <a:srgbClr val="111726"/>
                </a:solidFill>
                <a:latin typeface="Source Han Sans JP"/>
                <a:cs typeface="Source Han Sans JP"/>
              </a:rPr>
              <a:t>PDF</a:t>
            </a:r>
            <a:r>
              <a:rPr dirty="0" sz="1000" spc="-20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95">
                <a:solidFill>
                  <a:srgbClr val="111726"/>
                </a:solidFill>
                <a:latin typeface="Source Han Sans JP"/>
                <a:cs typeface="Source Han Sans JP"/>
              </a:rPr>
              <a:t>document.</a:t>
            </a:r>
            <a:r>
              <a:rPr dirty="0" sz="1000" spc="-20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60">
                <a:solidFill>
                  <a:srgbClr val="111726"/>
                </a:solidFill>
                <a:latin typeface="Source Han Sans JP"/>
                <a:cs typeface="Source Han Sans JP"/>
              </a:rPr>
              <a:t>All</a:t>
            </a:r>
            <a:r>
              <a:rPr dirty="0" sz="1000" spc="-20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80">
                <a:solidFill>
                  <a:srgbClr val="111726"/>
                </a:solidFill>
                <a:latin typeface="Source Han Sans JP"/>
                <a:cs typeface="Source Han Sans JP"/>
              </a:rPr>
              <a:t>three</a:t>
            </a:r>
            <a:r>
              <a:rPr dirty="0" sz="1000" spc="-20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80">
                <a:solidFill>
                  <a:srgbClr val="111726"/>
                </a:solidFill>
                <a:latin typeface="Source Han Sans JP"/>
                <a:cs typeface="Source Han Sans JP"/>
              </a:rPr>
              <a:t>follow</a:t>
            </a:r>
            <a:r>
              <a:rPr dirty="0" sz="1000" spc="-20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90">
                <a:solidFill>
                  <a:srgbClr val="111726"/>
                </a:solidFill>
                <a:latin typeface="Source Han Sans JP"/>
                <a:cs typeface="Source Han Sans JP"/>
              </a:rPr>
              <a:t>the</a:t>
            </a:r>
            <a:r>
              <a:rPr dirty="0" sz="1000" spc="-1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100">
                <a:solidFill>
                  <a:srgbClr val="111726"/>
                </a:solidFill>
                <a:latin typeface="Source Han Sans JP"/>
                <a:cs typeface="Source Han Sans JP"/>
              </a:rPr>
              <a:t>same</a:t>
            </a:r>
            <a:r>
              <a:rPr dirty="0" sz="1000" spc="-20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90">
                <a:solidFill>
                  <a:srgbClr val="111726"/>
                </a:solidFill>
                <a:latin typeface="Source Han Sans JP"/>
                <a:cs typeface="Source Han Sans JP"/>
              </a:rPr>
              <a:t>core</a:t>
            </a:r>
            <a:r>
              <a:rPr dirty="0" sz="1000" spc="-20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95">
                <a:solidFill>
                  <a:srgbClr val="111726"/>
                </a:solidFill>
                <a:latin typeface="Source Han Sans JP"/>
                <a:cs typeface="Source Han Sans JP"/>
              </a:rPr>
              <a:t>pattern</a:t>
            </a:r>
            <a:r>
              <a:rPr dirty="0" sz="1000" spc="-20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950" spc="-204">
                <a:solidFill>
                  <a:srgbClr val="111726"/>
                </a:solidFill>
                <a:latin typeface="Arial"/>
                <a:cs typeface="Arial"/>
              </a:rPr>
              <a:t>—</a:t>
            </a:r>
            <a:r>
              <a:rPr dirty="0" sz="950" spc="-60">
                <a:solidFill>
                  <a:srgbClr val="111726"/>
                </a:solidFill>
                <a:latin typeface="Arial"/>
                <a:cs typeface="Arial"/>
              </a:rPr>
              <a:t> </a:t>
            </a:r>
            <a:r>
              <a:rPr dirty="0" sz="1000" spc="-90" b="1">
                <a:solidFill>
                  <a:srgbClr val="111726"/>
                </a:solidFill>
                <a:latin typeface="Source Han Sans JP"/>
                <a:cs typeface="Source Han Sans JP"/>
              </a:rPr>
              <a:t>load</a:t>
            </a:r>
            <a:r>
              <a:rPr dirty="0" sz="1000" spc="-15" b="1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105" b="1">
                <a:solidFill>
                  <a:srgbClr val="111726"/>
                </a:solidFill>
                <a:latin typeface="Source Han Sans JP"/>
                <a:cs typeface="Source Han Sans JP"/>
              </a:rPr>
              <a:t>PDF</a:t>
            </a:r>
            <a:r>
              <a:rPr dirty="0" sz="1000" spc="-20" b="1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950" spc="-110" b="1">
                <a:solidFill>
                  <a:srgbClr val="111726"/>
                </a:solidFill>
                <a:latin typeface="Arial"/>
                <a:cs typeface="Arial"/>
              </a:rPr>
              <a:t>→</a:t>
            </a:r>
            <a:r>
              <a:rPr dirty="0" sz="950" spc="-60" b="1">
                <a:solidFill>
                  <a:srgbClr val="111726"/>
                </a:solidFill>
                <a:latin typeface="Arial"/>
                <a:cs typeface="Arial"/>
              </a:rPr>
              <a:t> </a:t>
            </a:r>
            <a:r>
              <a:rPr dirty="0" sz="1000" spc="-75" b="1">
                <a:solidFill>
                  <a:srgbClr val="111726"/>
                </a:solidFill>
                <a:latin typeface="Source Han Sans JP"/>
                <a:cs typeface="Source Han Sans JP"/>
              </a:rPr>
              <a:t>split</a:t>
            </a:r>
            <a:r>
              <a:rPr dirty="0" sz="1000" spc="-20" b="1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90" b="1">
                <a:solidFill>
                  <a:srgbClr val="111726"/>
                </a:solidFill>
                <a:latin typeface="Source Han Sans JP"/>
                <a:cs typeface="Source Han Sans JP"/>
              </a:rPr>
              <a:t>into</a:t>
            </a:r>
            <a:r>
              <a:rPr dirty="0" sz="1000" spc="-20" b="1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95" b="1">
                <a:solidFill>
                  <a:srgbClr val="111726"/>
                </a:solidFill>
                <a:latin typeface="Source Han Sans JP"/>
                <a:cs typeface="Source Han Sans JP"/>
              </a:rPr>
              <a:t>chunks</a:t>
            </a:r>
            <a:r>
              <a:rPr dirty="0" sz="1000" spc="-20" b="1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950" spc="-110" b="1">
                <a:solidFill>
                  <a:srgbClr val="111726"/>
                </a:solidFill>
                <a:latin typeface="Arial"/>
                <a:cs typeface="Arial"/>
              </a:rPr>
              <a:t>→</a:t>
            </a:r>
            <a:r>
              <a:rPr dirty="0" sz="950" spc="-55" b="1">
                <a:solidFill>
                  <a:srgbClr val="111726"/>
                </a:solidFill>
                <a:latin typeface="Arial"/>
                <a:cs typeface="Arial"/>
              </a:rPr>
              <a:t> </a:t>
            </a:r>
            <a:r>
              <a:rPr dirty="0" sz="1000" spc="-114" b="1">
                <a:solidFill>
                  <a:srgbClr val="111726"/>
                </a:solidFill>
                <a:latin typeface="Source Han Sans JP"/>
                <a:cs typeface="Source Han Sans JP"/>
              </a:rPr>
              <a:t>embed</a:t>
            </a:r>
            <a:r>
              <a:rPr dirty="0" sz="1000" spc="-20" b="1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95" b="1">
                <a:solidFill>
                  <a:srgbClr val="111726"/>
                </a:solidFill>
                <a:latin typeface="Source Han Sans JP"/>
                <a:cs typeface="Source Han Sans JP"/>
              </a:rPr>
              <a:t>chunks</a:t>
            </a:r>
            <a:r>
              <a:rPr dirty="0" sz="1000" spc="-20" b="1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950" spc="-110" b="1">
                <a:solidFill>
                  <a:srgbClr val="111726"/>
                </a:solidFill>
                <a:latin typeface="Arial"/>
                <a:cs typeface="Arial"/>
              </a:rPr>
              <a:t>→</a:t>
            </a:r>
            <a:r>
              <a:rPr dirty="0" sz="950" spc="-60" b="1">
                <a:solidFill>
                  <a:srgbClr val="111726"/>
                </a:solidFill>
                <a:latin typeface="Arial"/>
                <a:cs typeface="Arial"/>
              </a:rPr>
              <a:t> </a:t>
            </a:r>
            <a:r>
              <a:rPr dirty="0" sz="1000" spc="-100" b="1">
                <a:solidFill>
                  <a:srgbClr val="111726"/>
                </a:solidFill>
                <a:latin typeface="Source Han Sans JP"/>
                <a:cs typeface="Source Han Sans JP"/>
              </a:rPr>
              <a:t>store</a:t>
            </a:r>
            <a:r>
              <a:rPr dirty="0" sz="1000" spc="-20" b="1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35" b="1">
                <a:solidFill>
                  <a:srgbClr val="111726"/>
                </a:solidFill>
                <a:latin typeface="Source Han Sans JP"/>
                <a:cs typeface="Source Han Sans JP"/>
              </a:rPr>
              <a:t>vectors</a:t>
            </a:r>
            <a:endParaRPr sz="1000">
              <a:latin typeface="Source Han Sans JP"/>
              <a:cs typeface="Source Han Sans JP"/>
            </a:endParaRPr>
          </a:p>
          <a:p>
            <a:pPr marL="12700" marR="5080">
              <a:lnSpc>
                <a:spcPts val="1430"/>
              </a:lnSpc>
              <a:spcBef>
                <a:spcPts val="40"/>
              </a:spcBef>
            </a:pPr>
            <a:r>
              <a:rPr dirty="0" sz="950" spc="-110" b="1">
                <a:solidFill>
                  <a:srgbClr val="111726"/>
                </a:solidFill>
                <a:latin typeface="Arial"/>
                <a:cs typeface="Arial"/>
              </a:rPr>
              <a:t>→</a:t>
            </a:r>
            <a:r>
              <a:rPr dirty="0" sz="950" spc="-60" b="1">
                <a:solidFill>
                  <a:srgbClr val="111726"/>
                </a:solidFill>
                <a:latin typeface="Arial"/>
                <a:cs typeface="Arial"/>
              </a:rPr>
              <a:t> </a:t>
            </a:r>
            <a:r>
              <a:rPr dirty="0" sz="1000" spc="-90" b="1">
                <a:solidFill>
                  <a:srgbClr val="111726"/>
                </a:solidFill>
                <a:latin typeface="Source Han Sans JP"/>
                <a:cs typeface="Source Han Sans JP"/>
              </a:rPr>
              <a:t>retrieve</a:t>
            </a:r>
            <a:r>
              <a:rPr dirty="0" sz="1000" spc="-20" b="1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95" b="1">
                <a:solidFill>
                  <a:srgbClr val="111726"/>
                </a:solidFill>
                <a:latin typeface="Source Han Sans JP"/>
                <a:cs typeface="Source Han Sans JP"/>
              </a:rPr>
              <a:t>top-</a:t>
            </a:r>
            <a:r>
              <a:rPr dirty="0" sz="1000" spc="-90" b="1">
                <a:solidFill>
                  <a:srgbClr val="111726"/>
                </a:solidFill>
                <a:latin typeface="Source Han Sans JP"/>
                <a:cs typeface="Source Han Sans JP"/>
              </a:rPr>
              <a:t>k</a:t>
            </a:r>
            <a:r>
              <a:rPr dirty="0" sz="1000" spc="-15" b="1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95" b="1">
                <a:solidFill>
                  <a:srgbClr val="111726"/>
                </a:solidFill>
                <a:latin typeface="Source Han Sans JP"/>
                <a:cs typeface="Source Han Sans JP"/>
              </a:rPr>
              <a:t>chunks</a:t>
            </a:r>
            <a:r>
              <a:rPr dirty="0" sz="1000" spc="-20" b="1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90" b="1">
                <a:solidFill>
                  <a:srgbClr val="111726"/>
                </a:solidFill>
                <a:latin typeface="Source Han Sans JP"/>
                <a:cs typeface="Source Han Sans JP"/>
              </a:rPr>
              <a:t>for</a:t>
            </a:r>
            <a:r>
              <a:rPr dirty="0" sz="1000" spc="-20" b="1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95" b="1">
                <a:solidFill>
                  <a:srgbClr val="111726"/>
                </a:solidFill>
                <a:latin typeface="Source Han Sans JP"/>
                <a:cs typeface="Source Han Sans JP"/>
              </a:rPr>
              <a:t>a</a:t>
            </a:r>
            <a:r>
              <a:rPr dirty="0" sz="1000" spc="-15" b="1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95" b="1">
                <a:solidFill>
                  <a:srgbClr val="111726"/>
                </a:solidFill>
                <a:latin typeface="Source Han Sans JP"/>
                <a:cs typeface="Source Han Sans JP"/>
              </a:rPr>
              <a:t>question</a:t>
            </a:r>
            <a:r>
              <a:rPr dirty="0" sz="1000" spc="-20" b="1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950" spc="-110" b="1">
                <a:solidFill>
                  <a:srgbClr val="111726"/>
                </a:solidFill>
                <a:latin typeface="Arial"/>
                <a:cs typeface="Arial"/>
              </a:rPr>
              <a:t>→</a:t>
            </a:r>
            <a:r>
              <a:rPr dirty="0" sz="950" spc="-55" b="1">
                <a:solidFill>
                  <a:srgbClr val="111726"/>
                </a:solidFill>
                <a:latin typeface="Arial"/>
                <a:cs typeface="Arial"/>
              </a:rPr>
              <a:t> </a:t>
            </a:r>
            <a:r>
              <a:rPr dirty="0" sz="1000" spc="-95" b="1">
                <a:solidFill>
                  <a:srgbClr val="111726"/>
                </a:solidFill>
                <a:latin typeface="Source Han Sans JP"/>
                <a:cs typeface="Source Han Sans JP"/>
              </a:rPr>
              <a:t>feed</a:t>
            </a:r>
            <a:r>
              <a:rPr dirty="0" sz="1000" spc="-20" b="1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110" b="1">
                <a:solidFill>
                  <a:srgbClr val="111726"/>
                </a:solidFill>
                <a:latin typeface="Source Han Sans JP"/>
                <a:cs typeface="Source Han Sans JP"/>
              </a:rPr>
              <a:t>them</a:t>
            </a:r>
            <a:r>
              <a:rPr dirty="0" sz="1000" spc="-20" b="1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105" b="1">
                <a:solidFill>
                  <a:srgbClr val="111726"/>
                </a:solidFill>
                <a:latin typeface="Source Han Sans JP"/>
                <a:cs typeface="Source Han Sans JP"/>
              </a:rPr>
              <a:t>to</a:t>
            </a:r>
            <a:r>
              <a:rPr dirty="0" sz="1000" spc="-15" b="1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105" b="1">
                <a:solidFill>
                  <a:srgbClr val="111726"/>
                </a:solidFill>
                <a:latin typeface="Source Han Sans JP"/>
                <a:cs typeface="Source Han Sans JP"/>
              </a:rPr>
              <a:t>an</a:t>
            </a:r>
            <a:r>
              <a:rPr dirty="0" sz="1000" spc="-20" b="1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105" b="1">
                <a:solidFill>
                  <a:srgbClr val="111726"/>
                </a:solidFill>
                <a:latin typeface="Source Han Sans JP"/>
                <a:cs typeface="Source Han Sans JP"/>
              </a:rPr>
              <a:t>LLM</a:t>
            </a:r>
            <a:r>
              <a:rPr dirty="0" sz="1000" spc="-15" b="1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950" spc="-110" b="1">
                <a:solidFill>
                  <a:srgbClr val="111726"/>
                </a:solidFill>
                <a:latin typeface="Arial"/>
                <a:cs typeface="Arial"/>
              </a:rPr>
              <a:t>→</a:t>
            </a:r>
            <a:r>
              <a:rPr dirty="0" sz="950" spc="-60" b="1">
                <a:solidFill>
                  <a:srgbClr val="111726"/>
                </a:solidFill>
                <a:latin typeface="Arial"/>
                <a:cs typeface="Arial"/>
              </a:rPr>
              <a:t> </a:t>
            </a:r>
            <a:r>
              <a:rPr dirty="0" sz="1000" spc="-105" b="1">
                <a:solidFill>
                  <a:srgbClr val="111726"/>
                </a:solidFill>
                <a:latin typeface="Source Han Sans JP"/>
                <a:cs typeface="Source Han Sans JP"/>
              </a:rPr>
              <a:t>generate</a:t>
            </a:r>
            <a:r>
              <a:rPr dirty="0" sz="1000" spc="-20" b="1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105" b="1">
                <a:solidFill>
                  <a:srgbClr val="111726"/>
                </a:solidFill>
                <a:latin typeface="Source Han Sans JP"/>
                <a:cs typeface="Source Han Sans JP"/>
              </a:rPr>
              <a:t>an</a:t>
            </a:r>
            <a:r>
              <a:rPr dirty="0" sz="1000" spc="-15" b="1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105" b="1">
                <a:solidFill>
                  <a:srgbClr val="111726"/>
                </a:solidFill>
                <a:latin typeface="Source Han Sans JP"/>
                <a:cs typeface="Source Han Sans JP"/>
              </a:rPr>
              <a:t>answer</a:t>
            </a:r>
            <a:r>
              <a:rPr dirty="0" sz="1000" spc="-25" b="1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950" spc="-204">
                <a:solidFill>
                  <a:srgbClr val="111726"/>
                </a:solidFill>
                <a:latin typeface="Arial"/>
                <a:cs typeface="Arial"/>
              </a:rPr>
              <a:t>—</a:t>
            </a:r>
            <a:r>
              <a:rPr dirty="0" sz="950" spc="-60">
                <a:solidFill>
                  <a:srgbClr val="111726"/>
                </a:solidFill>
                <a:latin typeface="Arial"/>
                <a:cs typeface="Arial"/>
              </a:rPr>
              <a:t> </a:t>
            </a:r>
            <a:r>
              <a:rPr dirty="0" sz="1000" spc="-85">
                <a:solidFill>
                  <a:srgbClr val="111726"/>
                </a:solidFill>
                <a:latin typeface="Source Han Sans JP"/>
                <a:cs typeface="Source Han Sans JP"/>
              </a:rPr>
              <a:t>but</a:t>
            </a:r>
            <a:r>
              <a:rPr dirty="0" sz="1000" spc="-1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95">
                <a:solidFill>
                  <a:srgbClr val="111726"/>
                </a:solidFill>
                <a:latin typeface="Source Han Sans JP"/>
                <a:cs typeface="Source Han Sans JP"/>
              </a:rPr>
              <a:t>each</a:t>
            </a:r>
            <a:r>
              <a:rPr dirty="0" sz="1000" spc="-20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85">
                <a:solidFill>
                  <a:srgbClr val="111726"/>
                </a:solidFill>
                <a:latin typeface="Source Han Sans JP"/>
                <a:cs typeface="Source Han Sans JP"/>
              </a:rPr>
              <a:t>uses</a:t>
            </a:r>
            <a:r>
              <a:rPr dirty="0" sz="1000" spc="-1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90">
                <a:solidFill>
                  <a:srgbClr val="111726"/>
                </a:solidFill>
                <a:latin typeface="Source Han Sans JP"/>
                <a:cs typeface="Source Han Sans JP"/>
              </a:rPr>
              <a:t>a</a:t>
            </a:r>
            <a:r>
              <a:rPr dirty="0" sz="1000" spc="-20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70">
                <a:solidFill>
                  <a:srgbClr val="111726"/>
                </a:solidFill>
                <a:latin typeface="Source Han Sans JP"/>
                <a:cs typeface="Source Han Sans JP"/>
              </a:rPr>
              <a:t>di</a:t>
            </a:r>
            <a:r>
              <a:rPr dirty="0" sz="950" spc="-70">
                <a:solidFill>
                  <a:srgbClr val="111726"/>
                </a:solidFill>
                <a:latin typeface="Arial"/>
                <a:cs typeface="Arial"/>
              </a:rPr>
              <a:t>ﬀ</a:t>
            </a:r>
            <a:r>
              <a:rPr dirty="0" sz="1000" spc="-70">
                <a:solidFill>
                  <a:srgbClr val="111726"/>
                </a:solidFill>
                <a:latin typeface="Source Han Sans JP"/>
                <a:cs typeface="Source Han Sans JP"/>
              </a:rPr>
              <a:t>erent</a:t>
            </a:r>
            <a:r>
              <a:rPr dirty="0" sz="1000" spc="-20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10">
                <a:solidFill>
                  <a:srgbClr val="111726"/>
                </a:solidFill>
                <a:latin typeface="Source Han Sans JP"/>
                <a:cs typeface="Source Han Sans JP"/>
              </a:rPr>
              <a:t>vector </a:t>
            </a:r>
            <a:r>
              <a:rPr dirty="0" sz="1000" spc="-85">
                <a:solidFill>
                  <a:srgbClr val="111726"/>
                </a:solidFill>
                <a:latin typeface="Source Han Sans JP"/>
                <a:cs typeface="Source Han Sans JP"/>
              </a:rPr>
              <a:t>store</a:t>
            </a:r>
            <a:r>
              <a:rPr dirty="0" sz="1000" spc="-30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85">
                <a:solidFill>
                  <a:srgbClr val="111726"/>
                </a:solidFill>
                <a:latin typeface="Source Han Sans JP"/>
                <a:cs typeface="Source Han Sans JP"/>
              </a:rPr>
              <a:t>as</a:t>
            </a:r>
            <a:r>
              <a:rPr dirty="0" sz="1000" spc="-30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65">
                <a:solidFill>
                  <a:srgbClr val="111726"/>
                </a:solidFill>
                <a:latin typeface="Source Han Sans JP"/>
                <a:cs typeface="Source Han Sans JP"/>
              </a:rPr>
              <a:t>its</a:t>
            </a:r>
            <a:r>
              <a:rPr dirty="0" sz="1000" spc="-2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10">
                <a:solidFill>
                  <a:srgbClr val="111726"/>
                </a:solidFill>
                <a:latin typeface="Source Han Sans JP"/>
                <a:cs typeface="Source Han Sans JP"/>
              </a:rPr>
              <a:t>backend.</a:t>
            </a:r>
            <a:endParaRPr sz="1000">
              <a:latin typeface="Source Han Sans JP"/>
              <a:cs typeface="Source Han Sans JP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846370" y="2816397"/>
            <a:ext cx="526415" cy="141605"/>
          </a:xfrm>
          <a:custGeom>
            <a:avLst/>
            <a:gdLst/>
            <a:ahLst/>
            <a:cxnLst/>
            <a:rect l="l" t="t" r="r" b="b"/>
            <a:pathLst>
              <a:path w="526414" h="141605">
                <a:moveTo>
                  <a:pt x="502442" y="141569"/>
                </a:moveTo>
                <a:lnTo>
                  <a:pt x="23389" y="141569"/>
                </a:lnTo>
                <a:lnTo>
                  <a:pt x="19949" y="140885"/>
                </a:lnTo>
                <a:lnTo>
                  <a:pt x="0" y="118180"/>
                </a:lnTo>
                <a:lnTo>
                  <a:pt x="0" y="114604"/>
                </a:lnTo>
                <a:lnTo>
                  <a:pt x="0" y="23389"/>
                </a:lnTo>
                <a:lnTo>
                  <a:pt x="23389" y="0"/>
                </a:lnTo>
                <a:lnTo>
                  <a:pt x="502442" y="0"/>
                </a:lnTo>
                <a:lnTo>
                  <a:pt x="525831" y="23389"/>
                </a:lnTo>
                <a:lnTo>
                  <a:pt x="525831" y="118180"/>
                </a:lnTo>
                <a:lnTo>
                  <a:pt x="505881" y="140885"/>
                </a:lnTo>
                <a:lnTo>
                  <a:pt x="502442" y="141569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3012638" y="2991674"/>
            <a:ext cx="768985" cy="141605"/>
          </a:xfrm>
          <a:custGeom>
            <a:avLst/>
            <a:gdLst/>
            <a:ahLst/>
            <a:cxnLst/>
            <a:rect l="l" t="t" r="r" b="b"/>
            <a:pathLst>
              <a:path w="768985" h="141605">
                <a:moveTo>
                  <a:pt x="745133" y="141569"/>
                </a:moveTo>
                <a:lnTo>
                  <a:pt x="23389" y="141569"/>
                </a:lnTo>
                <a:lnTo>
                  <a:pt x="19950" y="140885"/>
                </a:lnTo>
                <a:lnTo>
                  <a:pt x="0" y="118180"/>
                </a:lnTo>
                <a:lnTo>
                  <a:pt x="0" y="114604"/>
                </a:lnTo>
                <a:lnTo>
                  <a:pt x="0" y="23389"/>
                </a:lnTo>
                <a:lnTo>
                  <a:pt x="23389" y="0"/>
                </a:lnTo>
                <a:lnTo>
                  <a:pt x="745133" y="0"/>
                </a:lnTo>
                <a:lnTo>
                  <a:pt x="768523" y="23389"/>
                </a:lnTo>
                <a:lnTo>
                  <a:pt x="768523" y="118180"/>
                </a:lnTo>
                <a:lnTo>
                  <a:pt x="748573" y="140885"/>
                </a:lnTo>
                <a:lnTo>
                  <a:pt x="745133" y="141569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4414850" y="2647873"/>
            <a:ext cx="1995805" cy="316865"/>
          </a:xfrm>
          <a:custGeom>
            <a:avLst/>
            <a:gdLst/>
            <a:ahLst/>
            <a:cxnLst/>
            <a:rect l="l" t="t" r="r" b="b"/>
            <a:pathLst>
              <a:path w="1995804" h="316864">
                <a:moveTo>
                  <a:pt x="586498" y="23380"/>
                </a:moveTo>
                <a:lnTo>
                  <a:pt x="563118" y="0"/>
                </a:lnTo>
                <a:lnTo>
                  <a:pt x="23393" y="0"/>
                </a:lnTo>
                <a:lnTo>
                  <a:pt x="0" y="23380"/>
                </a:lnTo>
                <a:lnTo>
                  <a:pt x="0" y="114604"/>
                </a:lnTo>
                <a:lnTo>
                  <a:pt x="0" y="118173"/>
                </a:lnTo>
                <a:lnTo>
                  <a:pt x="23393" y="141566"/>
                </a:lnTo>
                <a:lnTo>
                  <a:pt x="563118" y="141566"/>
                </a:lnTo>
                <a:lnTo>
                  <a:pt x="586498" y="118173"/>
                </a:lnTo>
                <a:lnTo>
                  <a:pt x="586498" y="23380"/>
                </a:lnTo>
                <a:close/>
              </a:path>
              <a:path w="1995804" h="316864">
                <a:moveTo>
                  <a:pt x="943800" y="198666"/>
                </a:moveTo>
                <a:lnTo>
                  <a:pt x="920407" y="175272"/>
                </a:lnTo>
                <a:lnTo>
                  <a:pt x="23393" y="175272"/>
                </a:lnTo>
                <a:lnTo>
                  <a:pt x="0" y="198666"/>
                </a:lnTo>
                <a:lnTo>
                  <a:pt x="0" y="289877"/>
                </a:lnTo>
                <a:lnTo>
                  <a:pt x="0" y="293446"/>
                </a:lnTo>
                <a:lnTo>
                  <a:pt x="23393" y="316839"/>
                </a:lnTo>
                <a:lnTo>
                  <a:pt x="920407" y="316839"/>
                </a:lnTo>
                <a:lnTo>
                  <a:pt x="943800" y="293446"/>
                </a:lnTo>
                <a:lnTo>
                  <a:pt x="943800" y="198666"/>
                </a:lnTo>
                <a:close/>
              </a:path>
              <a:path w="1995804" h="316864">
                <a:moveTo>
                  <a:pt x="1341539" y="23380"/>
                </a:moveTo>
                <a:lnTo>
                  <a:pt x="1318158" y="0"/>
                </a:lnTo>
                <a:lnTo>
                  <a:pt x="663829" y="0"/>
                </a:lnTo>
                <a:lnTo>
                  <a:pt x="640435" y="23380"/>
                </a:lnTo>
                <a:lnTo>
                  <a:pt x="640435" y="114604"/>
                </a:lnTo>
                <a:lnTo>
                  <a:pt x="640435" y="118173"/>
                </a:lnTo>
                <a:lnTo>
                  <a:pt x="663829" y="141566"/>
                </a:lnTo>
                <a:lnTo>
                  <a:pt x="1318158" y="141566"/>
                </a:lnTo>
                <a:lnTo>
                  <a:pt x="1341539" y="118173"/>
                </a:lnTo>
                <a:lnTo>
                  <a:pt x="1341539" y="23380"/>
                </a:lnTo>
                <a:close/>
              </a:path>
              <a:path w="1995804" h="316864">
                <a:moveTo>
                  <a:pt x="1981974" y="23380"/>
                </a:moveTo>
                <a:lnTo>
                  <a:pt x="1958594" y="0"/>
                </a:lnTo>
                <a:lnTo>
                  <a:pt x="1418869" y="0"/>
                </a:lnTo>
                <a:lnTo>
                  <a:pt x="1395476" y="23380"/>
                </a:lnTo>
                <a:lnTo>
                  <a:pt x="1395476" y="114604"/>
                </a:lnTo>
                <a:lnTo>
                  <a:pt x="1395476" y="118173"/>
                </a:lnTo>
                <a:lnTo>
                  <a:pt x="1418869" y="141566"/>
                </a:lnTo>
                <a:lnTo>
                  <a:pt x="1958594" y="141566"/>
                </a:lnTo>
                <a:lnTo>
                  <a:pt x="1981974" y="118173"/>
                </a:lnTo>
                <a:lnTo>
                  <a:pt x="1981974" y="23380"/>
                </a:lnTo>
                <a:close/>
              </a:path>
              <a:path w="1995804" h="316864">
                <a:moveTo>
                  <a:pt x="1995462" y="198666"/>
                </a:moveTo>
                <a:lnTo>
                  <a:pt x="1972068" y="175272"/>
                </a:lnTo>
                <a:lnTo>
                  <a:pt x="1021118" y="175272"/>
                </a:lnTo>
                <a:lnTo>
                  <a:pt x="997737" y="198666"/>
                </a:lnTo>
                <a:lnTo>
                  <a:pt x="997737" y="289877"/>
                </a:lnTo>
                <a:lnTo>
                  <a:pt x="997737" y="293446"/>
                </a:lnTo>
                <a:lnTo>
                  <a:pt x="1021118" y="316839"/>
                </a:lnTo>
                <a:lnTo>
                  <a:pt x="1972068" y="316839"/>
                </a:lnTo>
                <a:lnTo>
                  <a:pt x="1995462" y="293446"/>
                </a:lnTo>
                <a:lnTo>
                  <a:pt x="1995462" y="198666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2062096" y="3281556"/>
            <a:ext cx="647700" cy="141605"/>
          </a:xfrm>
          <a:custGeom>
            <a:avLst/>
            <a:gdLst/>
            <a:ahLst/>
            <a:cxnLst/>
            <a:rect l="l" t="t" r="r" b="b"/>
            <a:pathLst>
              <a:path w="647700" h="141604">
                <a:moveTo>
                  <a:pt x="623787" y="141569"/>
                </a:moveTo>
                <a:lnTo>
                  <a:pt x="23389" y="141569"/>
                </a:lnTo>
                <a:lnTo>
                  <a:pt x="19950" y="140885"/>
                </a:lnTo>
                <a:lnTo>
                  <a:pt x="0" y="118180"/>
                </a:lnTo>
                <a:lnTo>
                  <a:pt x="0" y="114604"/>
                </a:lnTo>
                <a:lnTo>
                  <a:pt x="0" y="23389"/>
                </a:lnTo>
                <a:lnTo>
                  <a:pt x="23389" y="0"/>
                </a:lnTo>
                <a:lnTo>
                  <a:pt x="623787" y="0"/>
                </a:lnTo>
                <a:lnTo>
                  <a:pt x="647177" y="23389"/>
                </a:lnTo>
                <a:lnTo>
                  <a:pt x="647177" y="118180"/>
                </a:lnTo>
                <a:lnTo>
                  <a:pt x="627227" y="140885"/>
                </a:lnTo>
                <a:lnTo>
                  <a:pt x="623787" y="141569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4414850" y="3281565"/>
            <a:ext cx="2103755" cy="492125"/>
          </a:xfrm>
          <a:custGeom>
            <a:avLst/>
            <a:gdLst/>
            <a:ahLst/>
            <a:cxnLst/>
            <a:rect l="l" t="t" r="r" b="b"/>
            <a:pathLst>
              <a:path w="2103754" h="492125">
                <a:moveTo>
                  <a:pt x="586498" y="23380"/>
                </a:moveTo>
                <a:lnTo>
                  <a:pt x="563118" y="0"/>
                </a:lnTo>
                <a:lnTo>
                  <a:pt x="23393" y="0"/>
                </a:lnTo>
                <a:lnTo>
                  <a:pt x="0" y="23380"/>
                </a:lnTo>
                <a:lnTo>
                  <a:pt x="0" y="114604"/>
                </a:lnTo>
                <a:lnTo>
                  <a:pt x="0" y="118173"/>
                </a:lnTo>
                <a:lnTo>
                  <a:pt x="23393" y="141566"/>
                </a:lnTo>
                <a:lnTo>
                  <a:pt x="563118" y="141566"/>
                </a:lnTo>
                <a:lnTo>
                  <a:pt x="586498" y="118173"/>
                </a:lnTo>
                <a:lnTo>
                  <a:pt x="586498" y="23380"/>
                </a:lnTo>
                <a:close/>
              </a:path>
              <a:path w="2103754" h="492125">
                <a:moveTo>
                  <a:pt x="883132" y="198666"/>
                </a:moveTo>
                <a:lnTo>
                  <a:pt x="859739" y="175272"/>
                </a:lnTo>
                <a:lnTo>
                  <a:pt x="23393" y="175272"/>
                </a:lnTo>
                <a:lnTo>
                  <a:pt x="0" y="198666"/>
                </a:lnTo>
                <a:lnTo>
                  <a:pt x="0" y="289877"/>
                </a:lnTo>
                <a:lnTo>
                  <a:pt x="0" y="293458"/>
                </a:lnTo>
                <a:lnTo>
                  <a:pt x="23393" y="316839"/>
                </a:lnTo>
                <a:lnTo>
                  <a:pt x="859739" y="316839"/>
                </a:lnTo>
                <a:lnTo>
                  <a:pt x="883132" y="293458"/>
                </a:lnTo>
                <a:lnTo>
                  <a:pt x="883132" y="198666"/>
                </a:lnTo>
                <a:close/>
              </a:path>
              <a:path w="2103754" h="492125">
                <a:moveTo>
                  <a:pt x="1004468" y="373938"/>
                </a:moveTo>
                <a:lnTo>
                  <a:pt x="981087" y="350545"/>
                </a:lnTo>
                <a:lnTo>
                  <a:pt x="23393" y="350545"/>
                </a:lnTo>
                <a:lnTo>
                  <a:pt x="0" y="373938"/>
                </a:lnTo>
                <a:lnTo>
                  <a:pt x="0" y="465150"/>
                </a:lnTo>
                <a:lnTo>
                  <a:pt x="0" y="468731"/>
                </a:lnTo>
                <a:lnTo>
                  <a:pt x="23393" y="492125"/>
                </a:lnTo>
                <a:lnTo>
                  <a:pt x="981087" y="492125"/>
                </a:lnTo>
                <a:lnTo>
                  <a:pt x="1004468" y="468731"/>
                </a:lnTo>
                <a:lnTo>
                  <a:pt x="1004468" y="373938"/>
                </a:lnTo>
                <a:close/>
              </a:path>
              <a:path w="2103754" h="492125">
                <a:moveTo>
                  <a:pt x="1523568" y="198666"/>
                </a:moveTo>
                <a:lnTo>
                  <a:pt x="1500174" y="175272"/>
                </a:lnTo>
                <a:lnTo>
                  <a:pt x="960450" y="175272"/>
                </a:lnTo>
                <a:lnTo>
                  <a:pt x="937056" y="198666"/>
                </a:lnTo>
                <a:lnTo>
                  <a:pt x="937056" y="289877"/>
                </a:lnTo>
                <a:lnTo>
                  <a:pt x="937056" y="293458"/>
                </a:lnTo>
                <a:lnTo>
                  <a:pt x="960450" y="316839"/>
                </a:lnTo>
                <a:lnTo>
                  <a:pt x="1500174" y="316839"/>
                </a:lnTo>
                <a:lnTo>
                  <a:pt x="1523568" y="293458"/>
                </a:lnTo>
                <a:lnTo>
                  <a:pt x="1523568" y="198666"/>
                </a:lnTo>
                <a:close/>
              </a:path>
              <a:path w="2103754" h="492125">
                <a:moveTo>
                  <a:pt x="1584236" y="23380"/>
                </a:moveTo>
                <a:lnTo>
                  <a:pt x="1560842" y="0"/>
                </a:lnTo>
                <a:lnTo>
                  <a:pt x="663829" y="0"/>
                </a:lnTo>
                <a:lnTo>
                  <a:pt x="640435" y="23380"/>
                </a:lnTo>
                <a:lnTo>
                  <a:pt x="640435" y="114604"/>
                </a:lnTo>
                <a:lnTo>
                  <a:pt x="640435" y="118173"/>
                </a:lnTo>
                <a:lnTo>
                  <a:pt x="663829" y="141566"/>
                </a:lnTo>
                <a:lnTo>
                  <a:pt x="1560842" y="141566"/>
                </a:lnTo>
                <a:lnTo>
                  <a:pt x="1584236" y="118173"/>
                </a:lnTo>
                <a:lnTo>
                  <a:pt x="1584236" y="23380"/>
                </a:lnTo>
                <a:close/>
              </a:path>
              <a:path w="2103754" h="492125">
                <a:moveTo>
                  <a:pt x="2103323" y="198666"/>
                </a:moveTo>
                <a:lnTo>
                  <a:pt x="2079942" y="175272"/>
                </a:lnTo>
                <a:lnTo>
                  <a:pt x="1594142" y="175272"/>
                </a:lnTo>
                <a:lnTo>
                  <a:pt x="1570748" y="198666"/>
                </a:lnTo>
                <a:lnTo>
                  <a:pt x="1570748" y="289877"/>
                </a:lnTo>
                <a:lnTo>
                  <a:pt x="1570748" y="293458"/>
                </a:lnTo>
                <a:lnTo>
                  <a:pt x="1594142" y="316839"/>
                </a:lnTo>
                <a:lnTo>
                  <a:pt x="2079942" y="316839"/>
                </a:lnTo>
                <a:lnTo>
                  <a:pt x="2103323" y="293458"/>
                </a:lnTo>
                <a:lnTo>
                  <a:pt x="2103323" y="198666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3012638" y="4259064"/>
            <a:ext cx="768985" cy="141605"/>
          </a:xfrm>
          <a:custGeom>
            <a:avLst/>
            <a:gdLst/>
            <a:ahLst/>
            <a:cxnLst/>
            <a:rect l="l" t="t" r="r" b="b"/>
            <a:pathLst>
              <a:path w="768985" h="141604">
                <a:moveTo>
                  <a:pt x="745133" y="141569"/>
                </a:moveTo>
                <a:lnTo>
                  <a:pt x="23389" y="141569"/>
                </a:lnTo>
                <a:lnTo>
                  <a:pt x="19950" y="140885"/>
                </a:lnTo>
                <a:lnTo>
                  <a:pt x="0" y="118180"/>
                </a:lnTo>
                <a:lnTo>
                  <a:pt x="0" y="114604"/>
                </a:lnTo>
                <a:lnTo>
                  <a:pt x="0" y="23389"/>
                </a:lnTo>
                <a:lnTo>
                  <a:pt x="23389" y="0"/>
                </a:lnTo>
                <a:lnTo>
                  <a:pt x="745133" y="0"/>
                </a:lnTo>
                <a:lnTo>
                  <a:pt x="768523" y="23389"/>
                </a:lnTo>
                <a:lnTo>
                  <a:pt x="768523" y="118180"/>
                </a:lnTo>
                <a:lnTo>
                  <a:pt x="748573" y="140885"/>
                </a:lnTo>
                <a:lnTo>
                  <a:pt x="745133" y="141569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4414856" y="3921992"/>
            <a:ext cx="1416050" cy="141605"/>
          </a:xfrm>
          <a:custGeom>
            <a:avLst/>
            <a:gdLst/>
            <a:ahLst/>
            <a:cxnLst/>
            <a:rect l="l" t="t" r="r" b="b"/>
            <a:pathLst>
              <a:path w="1416050" h="141604">
                <a:moveTo>
                  <a:pt x="1392310" y="141569"/>
                </a:moveTo>
                <a:lnTo>
                  <a:pt x="23390" y="141569"/>
                </a:lnTo>
                <a:lnTo>
                  <a:pt x="19950" y="140885"/>
                </a:lnTo>
                <a:lnTo>
                  <a:pt x="0" y="118180"/>
                </a:lnTo>
                <a:lnTo>
                  <a:pt x="0" y="114604"/>
                </a:lnTo>
                <a:lnTo>
                  <a:pt x="0" y="23389"/>
                </a:lnTo>
                <a:lnTo>
                  <a:pt x="23390" y="0"/>
                </a:lnTo>
                <a:lnTo>
                  <a:pt x="1392310" y="0"/>
                </a:lnTo>
                <a:lnTo>
                  <a:pt x="1415701" y="23389"/>
                </a:lnTo>
                <a:lnTo>
                  <a:pt x="1415701" y="118180"/>
                </a:lnTo>
                <a:lnTo>
                  <a:pt x="1395750" y="140885"/>
                </a:lnTo>
                <a:lnTo>
                  <a:pt x="1392310" y="141569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graphicFrame>
        <p:nvGraphicFramePr>
          <p:cNvPr id="16" name="object 16"/>
          <p:cNvGraphicFramePr>
            <a:graphicFrameLocks noGrp="1"/>
          </p:cNvGraphicFramePr>
          <p:nvPr/>
        </p:nvGraphicFramePr>
        <p:xfrm>
          <a:off x="680102" y="2283824"/>
          <a:ext cx="6278880" cy="21888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1930"/>
                <a:gridCol w="848994"/>
                <a:gridCol w="1206500"/>
                <a:gridCol w="1402079"/>
                <a:gridCol w="2534920"/>
              </a:tblGrid>
              <a:tr h="28257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950" spc="-50" b="1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#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64769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marL="71120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950" spc="-10" b="1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Project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64769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marL="73025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950" spc="-90" b="1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Vector</a:t>
                      </a:r>
                      <a:r>
                        <a:rPr dirty="0" sz="950" b="1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10" b="1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Store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64769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marL="73025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950" spc="-25" b="1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LLM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64769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marL="71120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950" spc="-10" b="1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Files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64769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  <a:solidFill>
                      <a:srgbClr val="F7FAFB"/>
                    </a:solidFill>
                  </a:tcPr>
                </a:tc>
              </a:tr>
              <a:tr h="63309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dirty="0" sz="850" spc="-50">
                          <a:solidFill>
                            <a:srgbClr val="111726"/>
                          </a:solidFill>
                          <a:latin typeface="Arial"/>
                          <a:cs typeface="Arial"/>
                        </a:rPr>
                        <a:t>1</a:t>
                      </a:r>
                      <a:endParaRPr sz="850">
                        <a:latin typeface="Arial"/>
                        <a:cs typeface="Arial"/>
                      </a:endParaRPr>
                    </a:p>
                  </a:txBody>
                  <a:tcPr marL="0" marR="0" marB="0" marT="77470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120" marR="132715">
                        <a:lnSpc>
                          <a:spcPct val="116399"/>
                        </a:lnSpc>
                        <a:spcBef>
                          <a:spcPts val="320"/>
                        </a:spcBef>
                      </a:pPr>
                      <a:r>
                        <a:rPr dirty="0" sz="950" spc="-9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PostgreSQL</a:t>
                      </a:r>
                      <a:r>
                        <a:rPr dirty="0" sz="950" spc="3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+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pgvector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40640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just" marL="73025" marR="568325">
                        <a:lnSpc>
                          <a:spcPct val="118700"/>
                        </a:lnSpc>
                        <a:spcBef>
                          <a:spcPts val="295"/>
                        </a:spcBef>
                      </a:pPr>
                      <a:r>
                        <a:rPr dirty="0" sz="950" spc="-9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PostgreSQL</a:t>
                      </a:r>
                      <a:r>
                        <a:rPr dirty="0" sz="95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(</a:t>
                      </a:r>
                      <a:r>
                        <a:rPr dirty="0" sz="950" spc="-5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750" spc="-1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pgvector </a:t>
                      </a:r>
                      <a:r>
                        <a:rPr dirty="0" sz="950" spc="-4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extension)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37465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3025" marR="241300">
                        <a:lnSpc>
                          <a:spcPct val="118700"/>
                        </a:lnSpc>
                        <a:spcBef>
                          <a:spcPts val="295"/>
                        </a:spcBef>
                      </a:pPr>
                      <a:r>
                        <a:rPr dirty="0" sz="950" spc="-7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Qwen</a:t>
                      </a:r>
                      <a:r>
                        <a:rPr dirty="0" sz="850" spc="-70">
                          <a:solidFill>
                            <a:srgbClr val="111726"/>
                          </a:solidFill>
                          <a:latin typeface="Arial"/>
                          <a:cs typeface="Arial"/>
                        </a:rPr>
                        <a:t>2</a:t>
                      </a:r>
                      <a:r>
                        <a:rPr dirty="0" sz="950" spc="-7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.</a:t>
                      </a:r>
                      <a:r>
                        <a:rPr dirty="0" sz="850" spc="-70">
                          <a:solidFill>
                            <a:srgbClr val="111726"/>
                          </a:solidFill>
                          <a:latin typeface="Arial"/>
                          <a:cs typeface="Arial"/>
                        </a:rPr>
                        <a:t>5</a:t>
                      </a:r>
                      <a:r>
                        <a:rPr dirty="0" sz="950" spc="-7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-</a:t>
                      </a:r>
                      <a:r>
                        <a:rPr dirty="0" sz="850" spc="-55">
                          <a:solidFill>
                            <a:srgbClr val="111726"/>
                          </a:solidFill>
                          <a:latin typeface="Arial"/>
                          <a:cs typeface="Arial"/>
                        </a:rPr>
                        <a:t>0</a:t>
                      </a:r>
                      <a:r>
                        <a:rPr dirty="0" sz="950" spc="-5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.</a:t>
                      </a:r>
                      <a:r>
                        <a:rPr dirty="0" sz="850" spc="-55">
                          <a:solidFill>
                            <a:srgbClr val="111726"/>
                          </a:solidFill>
                          <a:latin typeface="Arial"/>
                          <a:cs typeface="Arial"/>
                        </a:rPr>
                        <a:t>5</a:t>
                      </a:r>
                      <a:r>
                        <a:rPr dirty="0" sz="950" spc="-5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B-</a:t>
                      </a:r>
                      <a:r>
                        <a:rPr dirty="0" sz="950" spc="-7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Instruct</a:t>
                      </a:r>
                      <a:r>
                        <a:rPr dirty="0" sz="950" spc="50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6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(local,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2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via</a:t>
                      </a:r>
                      <a:r>
                        <a:rPr dirty="0" sz="95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transformers</a:t>
                      </a:r>
                      <a:r>
                        <a:rPr dirty="0" sz="750" spc="-135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950" spc="-5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)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37465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8425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config.py</a:t>
                      </a:r>
                      <a:r>
                        <a:rPr dirty="0" sz="750" spc="-215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95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,</a:t>
                      </a:r>
                      <a:r>
                        <a:rPr dirty="0" sz="950" spc="22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database.py</a:t>
                      </a:r>
                      <a:r>
                        <a:rPr dirty="0" sz="750" spc="-215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95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,</a:t>
                      </a:r>
                      <a:r>
                        <a:rPr dirty="0" sz="950" spc="22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models.py</a:t>
                      </a:r>
                      <a:r>
                        <a:rPr dirty="0" sz="750" spc="-215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950" spc="-5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,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  <a:p>
                      <a:pPr marL="9842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rag_pipeline.py</a:t>
                      </a:r>
                      <a:r>
                        <a:rPr dirty="0" sz="750" spc="-21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95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,</a:t>
                      </a:r>
                      <a:r>
                        <a:rPr dirty="0" sz="950" spc="23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750" spc="-1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requirements.txt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64769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dirty="0" sz="850" spc="-50">
                          <a:solidFill>
                            <a:srgbClr val="111726"/>
                          </a:solidFill>
                          <a:latin typeface="Arial"/>
                          <a:cs typeface="Arial"/>
                        </a:rPr>
                        <a:t>2</a:t>
                      </a:r>
                      <a:endParaRPr sz="850">
                        <a:latin typeface="Arial"/>
                        <a:cs typeface="Arial"/>
                      </a:endParaRPr>
                    </a:p>
                  </a:txBody>
                  <a:tcPr marL="0" marR="0" marB="0" marT="77470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120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950" spc="-9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Apache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2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Solr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64769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3025" marR="254000">
                        <a:lnSpc>
                          <a:spcPct val="118700"/>
                        </a:lnSpc>
                        <a:spcBef>
                          <a:spcPts val="295"/>
                        </a:spcBef>
                      </a:pPr>
                      <a:r>
                        <a:rPr dirty="0" sz="950" spc="-6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Solr</a:t>
                      </a:r>
                      <a:r>
                        <a:rPr dirty="0" sz="950" spc="-3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6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(</a:t>
                      </a:r>
                      <a:r>
                        <a:rPr dirty="0" sz="950" spc="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750" spc="-1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knn_vector </a:t>
                      </a:r>
                      <a:r>
                        <a:rPr dirty="0" sz="900" spc="-45">
                          <a:solidFill>
                            <a:srgbClr val="111726"/>
                          </a:solidFill>
                          <a:latin typeface="Arial"/>
                          <a:cs typeface="Arial"/>
                        </a:rPr>
                        <a:t>ﬁ</a:t>
                      </a:r>
                      <a:r>
                        <a:rPr dirty="0" sz="950" spc="-4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eld,</a:t>
                      </a:r>
                      <a:r>
                        <a:rPr dirty="0" sz="950" spc="-2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cosine similarity)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37465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3025" marR="461645">
                        <a:lnSpc>
                          <a:spcPct val="116399"/>
                        </a:lnSpc>
                        <a:spcBef>
                          <a:spcPts val="320"/>
                        </a:spcBef>
                      </a:pPr>
                      <a:r>
                        <a:rPr dirty="0" sz="950" spc="-6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Qwen</a:t>
                      </a:r>
                      <a:r>
                        <a:rPr dirty="0" sz="850" spc="-65">
                          <a:solidFill>
                            <a:srgbClr val="111726"/>
                          </a:solidFill>
                          <a:latin typeface="Arial"/>
                          <a:cs typeface="Arial"/>
                        </a:rPr>
                        <a:t>2</a:t>
                      </a:r>
                      <a:r>
                        <a:rPr dirty="0" sz="950" spc="-6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.</a:t>
                      </a:r>
                      <a:r>
                        <a:rPr dirty="0" sz="850" spc="-65">
                          <a:solidFill>
                            <a:srgbClr val="111726"/>
                          </a:solidFill>
                          <a:latin typeface="Arial"/>
                          <a:cs typeface="Arial"/>
                        </a:rPr>
                        <a:t>5</a:t>
                      </a:r>
                      <a:r>
                        <a:rPr dirty="0" sz="950" spc="-6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:</a:t>
                      </a:r>
                      <a:r>
                        <a:rPr dirty="0" sz="850" spc="-65">
                          <a:solidFill>
                            <a:srgbClr val="111726"/>
                          </a:solidFill>
                          <a:latin typeface="Arial"/>
                          <a:cs typeface="Arial"/>
                        </a:rPr>
                        <a:t>0</a:t>
                      </a:r>
                      <a:r>
                        <a:rPr dirty="0" sz="950" spc="-6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.</a:t>
                      </a:r>
                      <a:r>
                        <a:rPr dirty="0" sz="850" spc="-65">
                          <a:solidFill>
                            <a:srgbClr val="111726"/>
                          </a:solidFill>
                          <a:latin typeface="Arial"/>
                          <a:cs typeface="Arial"/>
                        </a:rPr>
                        <a:t>5</a:t>
                      </a:r>
                      <a:r>
                        <a:rPr dirty="0" sz="950" spc="-6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b</a:t>
                      </a:r>
                      <a:r>
                        <a:rPr dirty="0" sz="950" spc="4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6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(via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10" b="1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Ollama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)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40640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8425" marR="326390">
                        <a:lnSpc>
                          <a:spcPct val="129800"/>
                        </a:lnSpc>
                        <a:spcBef>
                          <a:spcPts val="170"/>
                        </a:spcBef>
                      </a:pP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config.py</a:t>
                      </a:r>
                      <a:r>
                        <a:rPr dirty="0" sz="750" spc="-20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95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,</a:t>
                      </a:r>
                      <a:r>
                        <a:rPr dirty="0" sz="950" spc="26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schema_setup.py</a:t>
                      </a:r>
                      <a:r>
                        <a:rPr dirty="0" sz="750" spc="-195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950" spc="-5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,</a:t>
                      </a:r>
                      <a:r>
                        <a:rPr dirty="0" sz="95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solr_client.py</a:t>
                      </a:r>
                      <a:r>
                        <a:rPr dirty="0" sz="750" spc="-215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95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,</a:t>
                      </a:r>
                      <a:r>
                        <a:rPr dirty="0" sz="950" spc="229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ingest.py</a:t>
                      </a:r>
                      <a:r>
                        <a:rPr dirty="0" sz="750" spc="-21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95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,</a:t>
                      </a:r>
                      <a:r>
                        <a:rPr dirty="0" sz="950" spc="229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query.py</a:t>
                      </a:r>
                      <a:r>
                        <a:rPr dirty="0" sz="750" spc="-215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950" spc="-5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,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750" spc="-1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requirements.txt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21590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</a:tr>
              <a:tr h="63309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dirty="0" sz="850" spc="-50">
                          <a:solidFill>
                            <a:srgbClr val="111726"/>
                          </a:solidFill>
                          <a:latin typeface="Arial"/>
                          <a:cs typeface="Arial"/>
                        </a:rPr>
                        <a:t>3</a:t>
                      </a:r>
                      <a:endParaRPr sz="850">
                        <a:latin typeface="Arial"/>
                        <a:cs typeface="Arial"/>
                      </a:endParaRPr>
                    </a:p>
                  </a:txBody>
                  <a:tcPr marL="0" marR="0" marB="0" marT="77470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120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ChromaDB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64769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3025" marR="120650">
                        <a:lnSpc>
                          <a:spcPct val="116399"/>
                        </a:lnSpc>
                        <a:spcBef>
                          <a:spcPts val="320"/>
                        </a:spcBef>
                      </a:pPr>
                      <a:r>
                        <a:rPr dirty="0" sz="950" spc="-9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Chroma</a:t>
                      </a:r>
                      <a:r>
                        <a:rPr dirty="0" sz="950" spc="3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6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(in-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memory,</a:t>
                      </a:r>
                      <a:r>
                        <a:rPr dirty="0" sz="950" spc="50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via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LangChain)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40640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3025" marR="241300">
                        <a:lnSpc>
                          <a:spcPct val="116399"/>
                        </a:lnSpc>
                        <a:spcBef>
                          <a:spcPts val="320"/>
                        </a:spcBef>
                      </a:pPr>
                      <a:r>
                        <a:rPr dirty="0" sz="950" spc="-7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Qwen</a:t>
                      </a:r>
                      <a:r>
                        <a:rPr dirty="0" sz="850" spc="-70">
                          <a:solidFill>
                            <a:srgbClr val="111726"/>
                          </a:solidFill>
                          <a:latin typeface="Arial"/>
                          <a:cs typeface="Arial"/>
                        </a:rPr>
                        <a:t>2</a:t>
                      </a:r>
                      <a:r>
                        <a:rPr dirty="0" sz="950" spc="-7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.</a:t>
                      </a:r>
                      <a:r>
                        <a:rPr dirty="0" sz="850" spc="-70">
                          <a:solidFill>
                            <a:srgbClr val="111726"/>
                          </a:solidFill>
                          <a:latin typeface="Arial"/>
                          <a:cs typeface="Arial"/>
                        </a:rPr>
                        <a:t>5</a:t>
                      </a:r>
                      <a:r>
                        <a:rPr dirty="0" sz="950" spc="-7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-</a:t>
                      </a:r>
                      <a:r>
                        <a:rPr dirty="0" sz="850" spc="-55">
                          <a:solidFill>
                            <a:srgbClr val="111726"/>
                          </a:solidFill>
                          <a:latin typeface="Arial"/>
                          <a:cs typeface="Arial"/>
                        </a:rPr>
                        <a:t>0</a:t>
                      </a:r>
                      <a:r>
                        <a:rPr dirty="0" sz="950" spc="-5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.</a:t>
                      </a:r>
                      <a:r>
                        <a:rPr dirty="0" sz="850" spc="-55">
                          <a:solidFill>
                            <a:srgbClr val="111726"/>
                          </a:solidFill>
                          <a:latin typeface="Arial"/>
                          <a:cs typeface="Arial"/>
                        </a:rPr>
                        <a:t>5</a:t>
                      </a:r>
                      <a:r>
                        <a:rPr dirty="0" sz="950" spc="-5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B-</a:t>
                      </a:r>
                      <a:r>
                        <a:rPr dirty="0" sz="950" spc="-7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Instruct</a:t>
                      </a:r>
                      <a:r>
                        <a:rPr dirty="0" sz="950" spc="50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6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(local,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2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via</a:t>
                      </a:r>
                      <a:r>
                        <a:rPr dirty="0" sz="95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transformers</a:t>
                      </a:r>
                      <a:r>
                        <a:rPr dirty="0" sz="750" spc="-135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950" spc="-5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)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40640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8425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rag_with_chromadb.ipynb</a:t>
                      </a:r>
                      <a:r>
                        <a:rPr dirty="0" sz="750" spc="85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950" spc="-4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(</a:t>
                      </a:r>
                      <a:r>
                        <a:rPr dirty="0" sz="850" spc="-40">
                          <a:solidFill>
                            <a:srgbClr val="111726"/>
                          </a:solidFill>
                          <a:latin typeface="Arial"/>
                          <a:cs typeface="Arial"/>
                        </a:rPr>
                        <a:t>12</a:t>
                      </a:r>
                      <a:r>
                        <a:rPr dirty="0" sz="850" spc="15">
                          <a:solidFill>
                            <a:srgbClr val="111726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cells)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64769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7" name="object 17"/>
          <p:cNvSpPr/>
          <p:nvPr/>
        </p:nvSpPr>
        <p:spPr>
          <a:xfrm>
            <a:off x="4199130" y="4616360"/>
            <a:ext cx="668020" cy="148590"/>
          </a:xfrm>
          <a:custGeom>
            <a:avLst/>
            <a:gdLst/>
            <a:ahLst/>
            <a:cxnLst/>
            <a:rect l="l" t="t" r="r" b="b"/>
            <a:pathLst>
              <a:path w="668020" h="148589">
                <a:moveTo>
                  <a:pt x="644011" y="148311"/>
                </a:moveTo>
                <a:lnTo>
                  <a:pt x="23390" y="148311"/>
                </a:lnTo>
                <a:lnTo>
                  <a:pt x="19949" y="147626"/>
                </a:lnTo>
                <a:lnTo>
                  <a:pt x="0" y="124921"/>
                </a:lnTo>
                <a:lnTo>
                  <a:pt x="0" y="121345"/>
                </a:lnTo>
                <a:lnTo>
                  <a:pt x="0" y="23389"/>
                </a:lnTo>
                <a:lnTo>
                  <a:pt x="23390" y="0"/>
                </a:lnTo>
                <a:lnTo>
                  <a:pt x="644011" y="0"/>
                </a:lnTo>
                <a:lnTo>
                  <a:pt x="667401" y="23389"/>
                </a:lnTo>
                <a:lnTo>
                  <a:pt x="667401" y="124921"/>
                </a:lnTo>
                <a:lnTo>
                  <a:pt x="647451" y="147626"/>
                </a:lnTo>
                <a:lnTo>
                  <a:pt x="644011" y="148311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814920" y="5310733"/>
            <a:ext cx="977900" cy="337185"/>
          </a:xfrm>
          <a:custGeom>
            <a:avLst/>
            <a:gdLst/>
            <a:ahLst/>
            <a:cxnLst/>
            <a:rect l="l" t="t" r="r" b="b"/>
            <a:pathLst>
              <a:path w="977900" h="337185">
                <a:moveTo>
                  <a:pt x="424713" y="23393"/>
                </a:moveTo>
                <a:lnTo>
                  <a:pt x="401320" y="0"/>
                </a:lnTo>
                <a:lnTo>
                  <a:pt x="23393" y="0"/>
                </a:lnTo>
                <a:lnTo>
                  <a:pt x="0" y="23393"/>
                </a:lnTo>
                <a:lnTo>
                  <a:pt x="0" y="121348"/>
                </a:lnTo>
                <a:lnTo>
                  <a:pt x="0" y="124917"/>
                </a:lnTo>
                <a:lnTo>
                  <a:pt x="23393" y="148310"/>
                </a:lnTo>
                <a:lnTo>
                  <a:pt x="401320" y="148310"/>
                </a:lnTo>
                <a:lnTo>
                  <a:pt x="424713" y="124917"/>
                </a:lnTo>
                <a:lnTo>
                  <a:pt x="424713" y="23393"/>
                </a:lnTo>
                <a:close/>
              </a:path>
              <a:path w="977900" h="337185">
                <a:moveTo>
                  <a:pt x="977506" y="212153"/>
                </a:moveTo>
                <a:lnTo>
                  <a:pt x="954125" y="188760"/>
                </a:lnTo>
                <a:lnTo>
                  <a:pt x="23393" y="188760"/>
                </a:lnTo>
                <a:lnTo>
                  <a:pt x="0" y="212153"/>
                </a:lnTo>
                <a:lnTo>
                  <a:pt x="0" y="310108"/>
                </a:lnTo>
                <a:lnTo>
                  <a:pt x="0" y="313677"/>
                </a:lnTo>
                <a:lnTo>
                  <a:pt x="23393" y="337070"/>
                </a:lnTo>
                <a:lnTo>
                  <a:pt x="954125" y="337070"/>
                </a:lnTo>
                <a:lnTo>
                  <a:pt x="977506" y="313677"/>
                </a:lnTo>
                <a:lnTo>
                  <a:pt x="977506" y="212153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2560962" y="5499487"/>
            <a:ext cx="614045" cy="148590"/>
          </a:xfrm>
          <a:custGeom>
            <a:avLst/>
            <a:gdLst/>
            <a:ahLst/>
            <a:cxnLst/>
            <a:rect l="l" t="t" r="r" b="b"/>
            <a:pathLst>
              <a:path w="614044" h="148589">
                <a:moveTo>
                  <a:pt x="590080" y="148311"/>
                </a:moveTo>
                <a:lnTo>
                  <a:pt x="23390" y="148311"/>
                </a:lnTo>
                <a:lnTo>
                  <a:pt x="19950" y="147626"/>
                </a:lnTo>
                <a:lnTo>
                  <a:pt x="0" y="124921"/>
                </a:lnTo>
                <a:lnTo>
                  <a:pt x="0" y="121345"/>
                </a:lnTo>
                <a:lnTo>
                  <a:pt x="0" y="23389"/>
                </a:lnTo>
                <a:lnTo>
                  <a:pt x="23390" y="0"/>
                </a:lnTo>
                <a:lnTo>
                  <a:pt x="590080" y="0"/>
                </a:lnTo>
                <a:lnTo>
                  <a:pt x="613470" y="23389"/>
                </a:lnTo>
                <a:lnTo>
                  <a:pt x="613470" y="124921"/>
                </a:lnTo>
                <a:lnTo>
                  <a:pt x="593520" y="147626"/>
                </a:lnTo>
                <a:lnTo>
                  <a:pt x="590080" y="148311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5095740" y="5499487"/>
            <a:ext cx="668020" cy="148590"/>
          </a:xfrm>
          <a:custGeom>
            <a:avLst/>
            <a:gdLst/>
            <a:ahLst/>
            <a:cxnLst/>
            <a:rect l="l" t="t" r="r" b="b"/>
            <a:pathLst>
              <a:path w="668020" h="148589">
                <a:moveTo>
                  <a:pt x="644011" y="148311"/>
                </a:moveTo>
                <a:lnTo>
                  <a:pt x="23389" y="148311"/>
                </a:lnTo>
                <a:lnTo>
                  <a:pt x="19949" y="147626"/>
                </a:lnTo>
                <a:lnTo>
                  <a:pt x="0" y="124921"/>
                </a:lnTo>
                <a:lnTo>
                  <a:pt x="0" y="121345"/>
                </a:lnTo>
                <a:lnTo>
                  <a:pt x="0" y="23389"/>
                </a:lnTo>
                <a:lnTo>
                  <a:pt x="23389" y="0"/>
                </a:lnTo>
                <a:lnTo>
                  <a:pt x="644011" y="0"/>
                </a:lnTo>
                <a:lnTo>
                  <a:pt x="667401" y="23389"/>
                </a:lnTo>
                <a:lnTo>
                  <a:pt x="667401" y="124921"/>
                </a:lnTo>
                <a:lnTo>
                  <a:pt x="647451" y="147626"/>
                </a:lnTo>
                <a:lnTo>
                  <a:pt x="644011" y="148311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4131716" y="5863525"/>
            <a:ext cx="977900" cy="148590"/>
          </a:xfrm>
          <a:custGeom>
            <a:avLst/>
            <a:gdLst/>
            <a:ahLst/>
            <a:cxnLst/>
            <a:rect l="l" t="t" r="r" b="b"/>
            <a:pathLst>
              <a:path w="977900" h="148589">
                <a:moveTo>
                  <a:pt x="954117" y="148311"/>
                </a:moveTo>
                <a:lnTo>
                  <a:pt x="23389" y="148311"/>
                </a:lnTo>
                <a:lnTo>
                  <a:pt x="19949" y="147626"/>
                </a:lnTo>
                <a:lnTo>
                  <a:pt x="0" y="124921"/>
                </a:lnTo>
                <a:lnTo>
                  <a:pt x="0" y="121345"/>
                </a:lnTo>
                <a:lnTo>
                  <a:pt x="0" y="23389"/>
                </a:lnTo>
                <a:lnTo>
                  <a:pt x="23389" y="0"/>
                </a:lnTo>
                <a:lnTo>
                  <a:pt x="954117" y="0"/>
                </a:lnTo>
                <a:lnTo>
                  <a:pt x="977507" y="23389"/>
                </a:lnTo>
                <a:lnTo>
                  <a:pt x="977507" y="124921"/>
                </a:lnTo>
                <a:lnTo>
                  <a:pt x="957557" y="147626"/>
                </a:lnTo>
                <a:lnTo>
                  <a:pt x="954117" y="148311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5163155" y="5863525"/>
            <a:ext cx="546100" cy="148590"/>
          </a:xfrm>
          <a:custGeom>
            <a:avLst/>
            <a:gdLst/>
            <a:ahLst/>
            <a:cxnLst/>
            <a:rect l="l" t="t" r="r" b="b"/>
            <a:pathLst>
              <a:path w="546100" h="148589">
                <a:moveTo>
                  <a:pt x="522666" y="148311"/>
                </a:moveTo>
                <a:lnTo>
                  <a:pt x="23390" y="148311"/>
                </a:lnTo>
                <a:lnTo>
                  <a:pt x="19950" y="147626"/>
                </a:lnTo>
                <a:lnTo>
                  <a:pt x="0" y="124921"/>
                </a:lnTo>
                <a:lnTo>
                  <a:pt x="0" y="121345"/>
                </a:lnTo>
                <a:lnTo>
                  <a:pt x="0" y="23389"/>
                </a:lnTo>
                <a:lnTo>
                  <a:pt x="23390" y="0"/>
                </a:lnTo>
                <a:lnTo>
                  <a:pt x="522666" y="0"/>
                </a:lnTo>
                <a:lnTo>
                  <a:pt x="546056" y="23389"/>
                </a:lnTo>
                <a:lnTo>
                  <a:pt x="546056" y="124921"/>
                </a:lnTo>
                <a:lnTo>
                  <a:pt x="526106" y="147626"/>
                </a:lnTo>
                <a:lnTo>
                  <a:pt x="522666" y="148311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814920" y="6059029"/>
            <a:ext cx="2494915" cy="148590"/>
          </a:xfrm>
          <a:custGeom>
            <a:avLst/>
            <a:gdLst/>
            <a:ahLst/>
            <a:cxnLst/>
            <a:rect l="l" t="t" r="r" b="b"/>
            <a:pathLst>
              <a:path w="2494915" h="148589">
                <a:moveTo>
                  <a:pt x="1166266" y="23393"/>
                </a:moveTo>
                <a:lnTo>
                  <a:pt x="1142885" y="0"/>
                </a:lnTo>
                <a:lnTo>
                  <a:pt x="23393" y="0"/>
                </a:lnTo>
                <a:lnTo>
                  <a:pt x="0" y="23393"/>
                </a:lnTo>
                <a:lnTo>
                  <a:pt x="0" y="121348"/>
                </a:lnTo>
                <a:lnTo>
                  <a:pt x="0" y="124929"/>
                </a:lnTo>
                <a:lnTo>
                  <a:pt x="23393" y="148310"/>
                </a:lnTo>
                <a:lnTo>
                  <a:pt x="1142885" y="148310"/>
                </a:lnTo>
                <a:lnTo>
                  <a:pt x="1166266" y="124929"/>
                </a:lnTo>
                <a:lnTo>
                  <a:pt x="1166266" y="23393"/>
                </a:lnTo>
                <a:close/>
              </a:path>
              <a:path w="2494915" h="148589">
                <a:moveTo>
                  <a:pt x="2494330" y="23393"/>
                </a:moveTo>
                <a:lnTo>
                  <a:pt x="2470950" y="0"/>
                </a:lnTo>
                <a:lnTo>
                  <a:pt x="1230109" y="0"/>
                </a:lnTo>
                <a:lnTo>
                  <a:pt x="1206715" y="23393"/>
                </a:lnTo>
                <a:lnTo>
                  <a:pt x="1206715" y="121348"/>
                </a:lnTo>
                <a:lnTo>
                  <a:pt x="1206715" y="124929"/>
                </a:lnTo>
                <a:lnTo>
                  <a:pt x="1230109" y="148310"/>
                </a:lnTo>
                <a:lnTo>
                  <a:pt x="2470950" y="148310"/>
                </a:lnTo>
                <a:lnTo>
                  <a:pt x="2494330" y="124929"/>
                </a:lnTo>
                <a:lnTo>
                  <a:pt x="2494330" y="23393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 txBox="1"/>
          <p:nvPr/>
        </p:nvSpPr>
        <p:spPr>
          <a:xfrm>
            <a:off x="667402" y="4541970"/>
            <a:ext cx="6215380" cy="185293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129539">
              <a:lnSpc>
                <a:spcPct val="128299"/>
              </a:lnSpc>
              <a:spcBef>
                <a:spcPts val="95"/>
              </a:spcBef>
            </a:pPr>
            <a:r>
              <a:rPr dirty="0" sz="1000" spc="-95">
                <a:solidFill>
                  <a:srgbClr val="111726"/>
                </a:solidFill>
                <a:latin typeface="Source Han Sans JP"/>
                <a:cs typeface="Source Han Sans JP"/>
              </a:rPr>
              <a:t>Both</a:t>
            </a:r>
            <a:r>
              <a:rPr dirty="0" sz="1000" spc="-1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100">
                <a:solidFill>
                  <a:srgbClr val="111726"/>
                </a:solidFill>
                <a:latin typeface="Source Han Sans JP"/>
                <a:cs typeface="Source Han Sans JP"/>
              </a:rPr>
              <a:t>PostgreSQL</a:t>
            </a:r>
            <a:r>
              <a:rPr dirty="0" sz="1000" spc="-1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95">
                <a:solidFill>
                  <a:srgbClr val="111726"/>
                </a:solidFill>
                <a:latin typeface="Source Han Sans JP"/>
                <a:cs typeface="Source Han Sans JP"/>
              </a:rPr>
              <a:t>and</a:t>
            </a:r>
            <a:r>
              <a:rPr dirty="0" sz="1000" spc="-10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75">
                <a:solidFill>
                  <a:srgbClr val="111726"/>
                </a:solidFill>
                <a:latin typeface="Source Han Sans JP"/>
                <a:cs typeface="Source Han Sans JP"/>
              </a:rPr>
              <a:t>Solr</a:t>
            </a:r>
            <a:r>
              <a:rPr dirty="0" sz="1000" spc="-1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80">
                <a:solidFill>
                  <a:srgbClr val="111726"/>
                </a:solidFill>
                <a:latin typeface="Source Han Sans JP"/>
                <a:cs typeface="Source Han Sans JP"/>
              </a:rPr>
              <a:t>pipelines</a:t>
            </a:r>
            <a:r>
              <a:rPr dirty="0" sz="1000" spc="-10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90">
                <a:solidFill>
                  <a:srgbClr val="111726"/>
                </a:solidFill>
                <a:latin typeface="Source Han Sans JP"/>
                <a:cs typeface="Source Han Sans JP"/>
              </a:rPr>
              <a:t>index</a:t>
            </a:r>
            <a:r>
              <a:rPr dirty="0" sz="1000" spc="-1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90">
                <a:solidFill>
                  <a:srgbClr val="111726"/>
                </a:solidFill>
                <a:latin typeface="Source Han Sans JP"/>
                <a:cs typeface="Source Han Sans JP"/>
              </a:rPr>
              <a:t>the</a:t>
            </a:r>
            <a:r>
              <a:rPr dirty="0" sz="1000" spc="-10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100">
                <a:solidFill>
                  <a:srgbClr val="111726"/>
                </a:solidFill>
                <a:latin typeface="Source Han Sans JP"/>
                <a:cs typeface="Source Han Sans JP"/>
              </a:rPr>
              <a:t>same</a:t>
            </a:r>
            <a:r>
              <a:rPr dirty="0" sz="1000" spc="-1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90">
                <a:solidFill>
                  <a:srgbClr val="111726"/>
                </a:solidFill>
                <a:latin typeface="Source Han Sans JP"/>
                <a:cs typeface="Source Han Sans JP"/>
              </a:rPr>
              <a:t>source</a:t>
            </a:r>
            <a:r>
              <a:rPr dirty="0" sz="1000" spc="-1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100">
                <a:solidFill>
                  <a:srgbClr val="111726"/>
                </a:solidFill>
                <a:latin typeface="Source Han Sans JP"/>
                <a:cs typeface="Source Han Sans JP"/>
              </a:rPr>
              <a:t>document</a:t>
            </a:r>
            <a:r>
              <a:rPr dirty="0" sz="1000" spc="-10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60">
                <a:solidFill>
                  <a:srgbClr val="111726"/>
                </a:solidFill>
                <a:latin typeface="Source Han Sans JP"/>
                <a:cs typeface="Source Han Sans JP"/>
              </a:rPr>
              <a:t>(</a:t>
            </a:r>
            <a:r>
              <a:rPr dirty="0" sz="1000" spc="10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800">
                <a:solidFill>
                  <a:srgbClr val="111726"/>
                </a:solidFill>
                <a:latin typeface="Courier New"/>
                <a:cs typeface="Courier New"/>
              </a:rPr>
              <a:t>sample.pdf</a:t>
            </a:r>
            <a:r>
              <a:rPr dirty="0" sz="800" spc="-35">
                <a:solidFill>
                  <a:srgbClr val="111726"/>
                </a:solidFill>
                <a:latin typeface="Courier New"/>
                <a:cs typeface="Courier New"/>
              </a:rPr>
              <a:t> </a:t>
            </a:r>
            <a:r>
              <a:rPr dirty="0" sz="950" spc="-204">
                <a:solidFill>
                  <a:srgbClr val="111726"/>
                </a:solidFill>
                <a:latin typeface="Arial"/>
                <a:cs typeface="Arial"/>
              </a:rPr>
              <a:t>—</a:t>
            </a:r>
            <a:r>
              <a:rPr dirty="0" sz="950" spc="-55">
                <a:solidFill>
                  <a:srgbClr val="111726"/>
                </a:solidFill>
                <a:latin typeface="Arial"/>
                <a:cs typeface="Arial"/>
              </a:rPr>
              <a:t> </a:t>
            </a:r>
            <a:r>
              <a:rPr dirty="0" sz="1000" spc="-100">
                <a:solidFill>
                  <a:srgbClr val="111726"/>
                </a:solidFill>
                <a:latin typeface="Source Han Sans JP"/>
                <a:cs typeface="Source Han Sans JP"/>
              </a:rPr>
              <a:t>an</a:t>
            </a:r>
            <a:r>
              <a:rPr dirty="0" sz="1000" spc="-10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95">
                <a:solidFill>
                  <a:srgbClr val="111726"/>
                </a:solidFill>
                <a:latin typeface="Source Han Sans JP"/>
                <a:cs typeface="Source Han Sans JP"/>
              </a:rPr>
              <a:t>"HSE</a:t>
            </a:r>
            <a:r>
              <a:rPr dirty="0" sz="1000" spc="-1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95">
                <a:solidFill>
                  <a:srgbClr val="111726"/>
                </a:solidFill>
                <a:latin typeface="Source Han Sans JP"/>
                <a:cs typeface="Source Han Sans JP"/>
              </a:rPr>
              <a:t>Dashboard</a:t>
            </a:r>
            <a:r>
              <a:rPr dirty="0" sz="1000" spc="-10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80">
                <a:solidFill>
                  <a:srgbClr val="111726"/>
                </a:solidFill>
                <a:latin typeface="Source Han Sans JP"/>
                <a:cs typeface="Source Han Sans JP"/>
              </a:rPr>
              <a:t>Project</a:t>
            </a:r>
            <a:r>
              <a:rPr dirty="0" sz="1000" spc="-1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30">
                <a:solidFill>
                  <a:srgbClr val="111726"/>
                </a:solidFill>
                <a:latin typeface="Source Han Sans JP"/>
                <a:cs typeface="Source Han Sans JP"/>
              </a:rPr>
              <a:t>Plan"),</a:t>
            </a:r>
            <a:r>
              <a:rPr dirty="0" sz="1000" spc="500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95">
                <a:solidFill>
                  <a:srgbClr val="111726"/>
                </a:solidFill>
                <a:latin typeface="Source Han Sans JP"/>
                <a:cs typeface="Source Han Sans JP"/>
              </a:rPr>
              <a:t>and</a:t>
            </a:r>
            <a:r>
              <a:rPr dirty="0" sz="1000" spc="-1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90">
                <a:solidFill>
                  <a:srgbClr val="111726"/>
                </a:solidFill>
                <a:latin typeface="Source Han Sans JP"/>
                <a:cs typeface="Source Han Sans JP"/>
              </a:rPr>
              <a:t>the</a:t>
            </a:r>
            <a:r>
              <a:rPr dirty="0" sz="1000" spc="-1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105">
                <a:solidFill>
                  <a:srgbClr val="111726"/>
                </a:solidFill>
                <a:latin typeface="Source Han Sans JP"/>
                <a:cs typeface="Source Han Sans JP"/>
              </a:rPr>
              <a:t>ChromaDB</a:t>
            </a:r>
            <a:r>
              <a:rPr dirty="0" sz="1000" spc="-1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100">
                <a:solidFill>
                  <a:srgbClr val="111726"/>
                </a:solidFill>
                <a:latin typeface="Source Han Sans JP"/>
                <a:cs typeface="Source Han Sans JP"/>
              </a:rPr>
              <a:t>notebook</a:t>
            </a:r>
            <a:r>
              <a:rPr dirty="0" sz="1000" spc="-10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75">
                <a:solidFill>
                  <a:srgbClr val="111726"/>
                </a:solidFill>
                <a:latin typeface="Source Han Sans JP"/>
                <a:cs typeface="Source Han Sans JP"/>
              </a:rPr>
              <a:t>lets</a:t>
            </a:r>
            <a:r>
              <a:rPr dirty="0" sz="1000" spc="-1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90">
                <a:solidFill>
                  <a:srgbClr val="111726"/>
                </a:solidFill>
                <a:latin typeface="Source Han Sans JP"/>
                <a:cs typeface="Source Han Sans JP"/>
              </a:rPr>
              <a:t>the</a:t>
            </a:r>
            <a:r>
              <a:rPr dirty="0" sz="1000" spc="-1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80">
                <a:solidFill>
                  <a:srgbClr val="111726"/>
                </a:solidFill>
                <a:latin typeface="Source Han Sans JP"/>
                <a:cs typeface="Source Han Sans JP"/>
              </a:rPr>
              <a:t>user</a:t>
            </a:r>
            <a:r>
              <a:rPr dirty="0" sz="1000" spc="-1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90">
                <a:solidFill>
                  <a:srgbClr val="111726"/>
                </a:solidFill>
                <a:latin typeface="Source Han Sans JP"/>
                <a:cs typeface="Source Han Sans JP"/>
              </a:rPr>
              <a:t>upload</a:t>
            </a:r>
            <a:r>
              <a:rPr dirty="0" sz="1000" spc="-10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90">
                <a:solidFill>
                  <a:srgbClr val="111726"/>
                </a:solidFill>
                <a:latin typeface="Source Han Sans JP"/>
                <a:cs typeface="Source Han Sans JP"/>
              </a:rPr>
              <a:t>any</a:t>
            </a:r>
            <a:r>
              <a:rPr dirty="0" sz="1000" spc="-1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100">
                <a:solidFill>
                  <a:srgbClr val="111726"/>
                </a:solidFill>
                <a:latin typeface="Source Han Sans JP"/>
                <a:cs typeface="Source Han Sans JP"/>
              </a:rPr>
              <a:t>PDF</a:t>
            </a:r>
            <a:r>
              <a:rPr dirty="0" sz="1000" spc="-1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10">
                <a:solidFill>
                  <a:srgbClr val="111726"/>
                </a:solidFill>
                <a:latin typeface="Source Han Sans JP"/>
                <a:cs typeface="Source Han Sans JP"/>
              </a:rPr>
              <a:t>interactively.</a:t>
            </a:r>
            <a:endParaRPr sz="1000">
              <a:latin typeface="Source Han Sans JP"/>
              <a:cs typeface="Source Han Sans JP"/>
            </a:endParaRPr>
          </a:p>
          <a:p>
            <a:pPr marL="147320">
              <a:lnSpc>
                <a:spcPct val="100000"/>
              </a:lnSpc>
              <a:spcBef>
                <a:spcPts val="1345"/>
              </a:spcBef>
            </a:pPr>
            <a:r>
              <a:rPr dirty="0" sz="1000" spc="-114" b="1">
                <a:solidFill>
                  <a:srgbClr val="111726"/>
                </a:solidFill>
                <a:latin typeface="Source Han Sans JP"/>
                <a:cs typeface="Source Han Sans JP"/>
              </a:rPr>
              <a:t>On</a:t>
            </a:r>
            <a:r>
              <a:rPr dirty="0" sz="1000" spc="-10" b="1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85" b="1">
                <a:solidFill>
                  <a:srgbClr val="111726"/>
                </a:solidFill>
                <a:latin typeface="Source Han Sans JP"/>
                <a:cs typeface="Source Han Sans JP"/>
              </a:rPr>
              <a:t>real</a:t>
            </a:r>
            <a:r>
              <a:rPr dirty="0" sz="1000" spc="-10" b="1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80" b="1">
                <a:solidFill>
                  <a:srgbClr val="111726"/>
                </a:solidFill>
                <a:latin typeface="Source Han Sans JP"/>
                <a:cs typeface="Source Han Sans JP"/>
              </a:rPr>
              <a:t>vs.</a:t>
            </a:r>
            <a:r>
              <a:rPr dirty="0" sz="1000" spc="-10" b="1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85" b="1">
                <a:solidFill>
                  <a:srgbClr val="111726"/>
                </a:solidFill>
                <a:latin typeface="Source Han Sans JP"/>
                <a:cs typeface="Source Han Sans JP"/>
              </a:rPr>
              <a:t>illustrative</a:t>
            </a:r>
            <a:r>
              <a:rPr dirty="0" sz="1000" spc="-10" b="1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90" b="1">
                <a:solidFill>
                  <a:srgbClr val="111726"/>
                </a:solidFill>
                <a:latin typeface="Source Han Sans JP"/>
                <a:cs typeface="Source Han Sans JP"/>
              </a:rPr>
              <a:t>outputs:</a:t>
            </a:r>
            <a:r>
              <a:rPr dirty="0" sz="1000" spc="-15" b="1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90">
                <a:solidFill>
                  <a:srgbClr val="111726"/>
                </a:solidFill>
                <a:latin typeface="Source Han Sans JP"/>
                <a:cs typeface="Source Han Sans JP"/>
              </a:rPr>
              <a:t>the</a:t>
            </a:r>
            <a:r>
              <a:rPr dirty="0" sz="1000" spc="-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100">
                <a:solidFill>
                  <a:srgbClr val="111726"/>
                </a:solidFill>
                <a:latin typeface="Source Han Sans JP"/>
                <a:cs typeface="Source Han Sans JP"/>
              </a:rPr>
              <a:t>PostgreSQL</a:t>
            </a:r>
            <a:r>
              <a:rPr dirty="0" sz="1000" spc="-10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100">
                <a:solidFill>
                  <a:srgbClr val="111726"/>
                </a:solidFill>
                <a:latin typeface="Source Han Sans JP"/>
                <a:cs typeface="Source Han Sans JP"/>
              </a:rPr>
              <a:t>notebook</a:t>
            </a:r>
            <a:r>
              <a:rPr dirty="0" sz="1000" spc="-10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85">
                <a:solidFill>
                  <a:srgbClr val="111726"/>
                </a:solidFill>
                <a:latin typeface="Source Han Sans JP"/>
                <a:cs typeface="Source Han Sans JP"/>
              </a:rPr>
              <a:t>(Part</a:t>
            </a:r>
            <a:r>
              <a:rPr dirty="0" sz="1000" spc="-10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900" spc="-50">
                <a:solidFill>
                  <a:srgbClr val="111726"/>
                </a:solidFill>
                <a:latin typeface="Arial"/>
                <a:cs typeface="Arial"/>
              </a:rPr>
              <a:t>3</a:t>
            </a:r>
            <a:r>
              <a:rPr dirty="0" sz="1000" spc="-50">
                <a:solidFill>
                  <a:srgbClr val="111726"/>
                </a:solidFill>
                <a:latin typeface="Source Han Sans JP"/>
                <a:cs typeface="Source Han Sans JP"/>
              </a:rPr>
              <a:t>)</a:t>
            </a:r>
            <a:r>
              <a:rPr dirty="0" sz="1000" spc="-10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100">
                <a:solidFill>
                  <a:srgbClr val="111726"/>
                </a:solidFill>
                <a:latin typeface="Source Han Sans JP"/>
                <a:cs typeface="Source Han Sans JP"/>
              </a:rPr>
              <a:t>was</a:t>
            </a:r>
            <a:r>
              <a:rPr dirty="0" sz="1000" spc="-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95">
                <a:solidFill>
                  <a:srgbClr val="111726"/>
                </a:solidFill>
                <a:latin typeface="Source Han Sans JP"/>
                <a:cs typeface="Source Han Sans JP"/>
              </a:rPr>
              <a:t>executed</a:t>
            </a:r>
            <a:r>
              <a:rPr dirty="0" sz="1000" spc="-10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85">
                <a:solidFill>
                  <a:srgbClr val="111726"/>
                </a:solidFill>
                <a:latin typeface="Source Han Sans JP"/>
                <a:cs typeface="Source Han Sans JP"/>
              </a:rPr>
              <a:t>in</a:t>
            </a:r>
            <a:r>
              <a:rPr dirty="0" sz="1000" spc="-10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85">
                <a:solidFill>
                  <a:srgbClr val="111726"/>
                </a:solidFill>
                <a:latin typeface="Source Han Sans JP"/>
                <a:cs typeface="Source Han Sans JP"/>
              </a:rPr>
              <a:t>Colab</a:t>
            </a:r>
            <a:r>
              <a:rPr dirty="0" sz="1000" spc="-10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85">
                <a:solidFill>
                  <a:srgbClr val="111726"/>
                </a:solidFill>
                <a:latin typeface="Source Han Sans JP"/>
                <a:cs typeface="Source Han Sans JP"/>
              </a:rPr>
              <a:t>with</a:t>
            </a:r>
            <a:r>
              <a:rPr dirty="0" sz="1000" spc="-10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65">
                <a:solidFill>
                  <a:srgbClr val="111726"/>
                </a:solidFill>
                <a:latin typeface="Source Han Sans JP"/>
                <a:cs typeface="Source Han Sans JP"/>
              </a:rPr>
              <a:t>its</a:t>
            </a:r>
            <a:r>
              <a:rPr dirty="0" sz="1000" spc="-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85">
                <a:solidFill>
                  <a:srgbClr val="111726"/>
                </a:solidFill>
                <a:latin typeface="Source Han Sans JP"/>
                <a:cs typeface="Source Han Sans JP"/>
              </a:rPr>
              <a:t>outputs</a:t>
            </a:r>
            <a:r>
              <a:rPr dirty="0" sz="1000" spc="-10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90">
                <a:solidFill>
                  <a:srgbClr val="111726"/>
                </a:solidFill>
                <a:latin typeface="Source Han Sans JP"/>
                <a:cs typeface="Source Han Sans JP"/>
              </a:rPr>
              <a:t>saved</a:t>
            </a:r>
            <a:r>
              <a:rPr dirty="0" sz="1000" spc="-10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85">
                <a:solidFill>
                  <a:srgbClr val="111726"/>
                </a:solidFill>
                <a:latin typeface="Source Han Sans JP"/>
                <a:cs typeface="Source Han Sans JP"/>
              </a:rPr>
              <a:t>in</a:t>
            </a:r>
            <a:r>
              <a:rPr dirty="0" sz="1000" spc="-10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25">
                <a:solidFill>
                  <a:srgbClr val="111726"/>
                </a:solidFill>
                <a:latin typeface="Source Han Sans JP"/>
                <a:cs typeface="Source Han Sans JP"/>
              </a:rPr>
              <a:t>the</a:t>
            </a:r>
            <a:endParaRPr sz="1000">
              <a:latin typeface="Source Han Sans JP"/>
              <a:cs typeface="Source Han Sans JP"/>
            </a:endParaRPr>
          </a:p>
          <a:p>
            <a:pPr marL="173990">
              <a:lnSpc>
                <a:spcPct val="100000"/>
              </a:lnSpc>
              <a:spcBef>
                <a:spcPts val="180"/>
              </a:spcBef>
            </a:pPr>
            <a:r>
              <a:rPr dirty="0" sz="800">
                <a:solidFill>
                  <a:srgbClr val="111726"/>
                </a:solidFill>
                <a:latin typeface="Courier New"/>
                <a:cs typeface="Courier New"/>
              </a:rPr>
              <a:t>.ipynb</a:t>
            </a:r>
            <a:r>
              <a:rPr dirty="0" sz="800" spc="-20">
                <a:solidFill>
                  <a:srgbClr val="111726"/>
                </a:solidFill>
                <a:latin typeface="Courier New"/>
                <a:cs typeface="Courier New"/>
              </a:rPr>
              <a:t> </a:t>
            </a:r>
            <a:r>
              <a:rPr dirty="0" sz="950" spc="-35">
                <a:solidFill>
                  <a:srgbClr val="111726"/>
                </a:solidFill>
                <a:latin typeface="Arial"/>
                <a:cs typeface="Arial"/>
              </a:rPr>
              <a:t>ﬁ</a:t>
            </a:r>
            <a:r>
              <a:rPr dirty="0" sz="1000" spc="-35">
                <a:solidFill>
                  <a:srgbClr val="111726"/>
                </a:solidFill>
                <a:latin typeface="Source Han Sans JP"/>
                <a:cs typeface="Source Han Sans JP"/>
              </a:rPr>
              <a:t>le.</a:t>
            </a:r>
            <a:r>
              <a:rPr dirty="0" sz="1000" spc="-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85">
                <a:solidFill>
                  <a:srgbClr val="111726"/>
                </a:solidFill>
                <a:latin typeface="Source Han Sans JP"/>
                <a:cs typeface="Source Han Sans JP"/>
              </a:rPr>
              <a:t>In</a:t>
            </a:r>
            <a:r>
              <a:rPr dirty="0" sz="1000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80">
                <a:solidFill>
                  <a:srgbClr val="111726"/>
                </a:solidFill>
                <a:latin typeface="Source Han Sans JP"/>
                <a:cs typeface="Source Han Sans JP"/>
              </a:rPr>
              <a:t>addition,</a:t>
            </a:r>
            <a:r>
              <a:rPr dirty="0" sz="1000" spc="-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90">
                <a:solidFill>
                  <a:srgbClr val="111726"/>
                </a:solidFill>
                <a:latin typeface="Source Han Sans JP"/>
                <a:cs typeface="Source Han Sans JP"/>
              </a:rPr>
              <a:t>the</a:t>
            </a:r>
            <a:r>
              <a:rPr dirty="0" sz="1000" spc="-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90">
                <a:solidFill>
                  <a:srgbClr val="111726"/>
                </a:solidFill>
                <a:latin typeface="Source Han Sans JP"/>
                <a:cs typeface="Source Han Sans JP"/>
              </a:rPr>
              <a:t>person</a:t>
            </a:r>
            <a:r>
              <a:rPr dirty="0" sz="1000" spc="-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90">
                <a:solidFill>
                  <a:srgbClr val="111726"/>
                </a:solidFill>
                <a:latin typeface="Source Han Sans JP"/>
                <a:cs typeface="Source Han Sans JP"/>
              </a:rPr>
              <a:t>running</a:t>
            </a:r>
            <a:r>
              <a:rPr dirty="0" sz="1000" spc="-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70">
                <a:solidFill>
                  <a:srgbClr val="111726"/>
                </a:solidFill>
                <a:latin typeface="Source Han Sans JP"/>
                <a:cs typeface="Source Han Sans JP"/>
              </a:rPr>
              <a:t>this</a:t>
            </a:r>
            <a:r>
              <a:rPr dirty="0" sz="1000" spc="-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95">
                <a:solidFill>
                  <a:srgbClr val="111726"/>
                </a:solidFill>
                <a:latin typeface="Source Han Sans JP"/>
                <a:cs typeface="Source Han Sans JP"/>
              </a:rPr>
              <a:t>documentation</a:t>
            </a:r>
            <a:r>
              <a:rPr dirty="0" sz="1000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80">
                <a:solidFill>
                  <a:srgbClr val="111726"/>
                </a:solidFill>
                <a:latin typeface="Source Han Sans JP"/>
                <a:cs typeface="Source Han Sans JP"/>
              </a:rPr>
              <a:t>project</a:t>
            </a:r>
            <a:r>
              <a:rPr dirty="0" sz="1000" spc="-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85">
                <a:solidFill>
                  <a:srgbClr val="111726"/>
                </a:solidFill>
                <a:latin typeface="Source Han Sans JP"/>
                <a:cs typeface="Source Han Sans JP"/>
              </a:rPr>
              <a:t>supplied</a:t>
            </a:r>
            <a:r>
              <a:rPr dirty="0" sz="1000" spc="-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110" b="1">
                <a:solidFill>
                  <a:srgbClr val="111726"/>
                </a:solidFill>
                <a:latin typeface="Source Han Sans JP"/>
                <a:cs typeface="Source Han Sans JP"/>
              </a:rPr>
              <a:t>VS</a:t>
            </a:r>
            <a:r>
              <a:rPr dirty="0" sz="1000" spc="-5" b="1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105" b="1">
                <a:solidFill>
                  <a:srgbClr val="111726"/>
                </a:solidFill>
                <a:latin typeface="Source Han Sans JP"/>
                <a:cs typeface="Source Han Sans JP"/>
              </a:rPr>
              <a:t>Code</a:t>
            </a:r>
            <a:r>
              <a:rPr dirty="0" sz="1000" spc="-5" b="1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95" b="1">
                <a:solidFill>
                  <a:srgbClr val="111726"/>
                </a:solidFill>
                <a:latin typeface="Source Han Sans JP"/>
                <a:cs typeface="Source Han Sans JP"/>
              </a:rPr>
              <a:t>terminal</a:t>
            </a:r>
            <a:r>
              <a:rPr dirty="0" sz="1000" spc="-5" b="1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100" b="1">
                <a:solidFill>
                  <a:srgbClr val="111726"/>
                </a:solidFill>
                <a:latin typeface="Source Han Sans JP"/>
                <a:cs typeface="Source Han Sans JP"/>
              </a:rPr>
              <a:t>screenshots</a:t>
            </a:r>
            <a:r>
              <a:rPr dirty="0" sz="1000" spc="-10" b="1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25">
                <a:solidFill>
                  <a:srgbClr val="111726"/>
                </a:solidFill>
                <a:latin typeface="Source Han Sans JP"/>
                <a:cs typeface="Source Han Sans JP"/>
              </a:rPr>
              <a:t>of</a:t>
            </a:r>
            <a:endParaRPr sz="1000">
              <a:latin typeface="Source Han Sans JP"/>
              <a:cs typeface="Source Han Sans JP"/>
            </a:endParaRPr>
          </a:p>
          <a:p>
            <a:pPr marL="147320" marR="192405" indent="26670">
              <a:lnSpc>
                <a:spcPct val="122800"/>
              </a:lnSpc>
              <a:spcBef>
                <a:spcPts val="15"/>
              </a:spcBef>
            </a:pPr>
            <a:r>
              <a:rPr dirty="0" sz="800">
                <a:solidFill>
                  <a:srgbClr val="111726"/>
                </a:solidFill>
                <a:latin typeface="Courier New"/>
                <a:cs typeface="Courier New"/>
              </a:rPr>
              <a:t>rag_pipeline.py</a:t>
            </a:r>
            <a:r>
              <a:rPr dirty="0" sz="800" spc="-65">
                <a:solidFill>
                  <a:srgbClr val="111726"/>
                </a:solidFill>
                <a:latin typeface="Courier New"/>
                <a:cs typeface="Courier New"/>
              </a:rPr>
              <a:t> </a:t>
            </a:r>
            <a:r>
              <a:rPr dirty="0" sz="1000" spc="-85">
                <a:solidFill>
                  <a:srgbClr val="111726"/>
                </a:solidFill>
                <a:latin typeface="Source Han Sans JP"/>
                <a:cs typeface="Source Han Sans JP"/>
              </a:rPr>
              <a:t>(Postgres)</a:t>
            </a:r>
            <a:r>
              <a:rPr dirty="0" sz="1000" spc="-2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55">
                <a:solidFill>
                  <a:srgbClr val="111726"/>
                </a:solidFill>
                <a:latin typeface="Source Han Sans JP"/>
                <a:cs typeface="Source Han Sans JP"/>
              </a:rPr>
              <a:t>and</a:t>
            </a:r>
            <a:r>
              <a:rPr dirty="0" sz="1000" spc="200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800">
                <a:solidFill>
                  <a:srgbClr val="111726"/>
                </a:solidFill>
                <a:latin typeface="Courier New"/>
                <a:cs typeface="Courier New"/>
              </a:rPr>
              <a:t>ingest.py</a:t>
            </a:r>
            <a:r>
              <a:rPr dirty="0" sz="800" spc="-65">
                <a:solidFill>
                  <a:srgbClr val="111726"/>
                </a:solidFill>
                <a:latin typeface="Courier New"/>
                <a:cs typeface="Courier New"/>
              </a:rPr>
              <a:t> </a:t>
            </a:r>
            <a:r>
              <a:rPr dirty="0" sz="1000" spc="-70">
                <a:solidFill>
                  <a:srgbClr val="111726"/>
                </a:solidFill>
                <a:latin typeface="Source Han Sans JP"/>
                <a:cs typeface="Source Han Sans JP"/>
              </a:rPr>
              <a:t>(Solr)</a:t>
            </a:r>
            <a:r>
              <a:rPr dirty="0" sz="1000" spc="-2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75">
                <a:solidFill>
                  <a:srgbClr val="111726"/>
                </a:solidFill>
                <a:latin typeface="Source Han Sans JP"/>
                <a:cs typeface="Source Han Sans JP"/>
              </a:rPr>
              <a:t>actually</a:t>
            </a:r>
            <a:r>
              <a:rPr dirty="0" sz="1000" spc="-2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90">
                <a:solidFill>
                  <a:srgbClr val="111726"/>
                </a:solidFill>
                <a:latin typeface="Source Han Sans JP"/>
                <a:cs typeface="Source Han Sans JP"/>
              </a:rPr>
              <a:t>being</a:t>
            </a:r>
            <a:r>
              <a:rPr dirty="0" sz="1000" spc="-30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95">
                <a:solidFill>
                  <a:srgbClr val="111726"/>
                </a:solidFill>
                <a:latin typeface="Source Han Sans JP"/>
                <a:cs typeface="Source Han Sans JP"/>
              </a:rPr>
              <a:t>executed</a:t>
            </a:r>
            <a:r>
              <a:rPr dirty="0" sz="1000" spc="-2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70">
                <a:solidFill>
                  <a:srgbClr val="111726"/>
                </a:solidFill>
                <a:latin typeface="Source Han Sans JP"/>
                <a:cs typeface="Source Han Sans JP"/>
              </a:rPr>
              <a:t>against</a:t>
            </a:r>
            <a:r>
              <a:rPr dirty="0" sz="1000" spc="19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800">
                <a:solidFill>
                  <a:srgbClr val="111726"/>
                </a:solidFill>
                <a:latin typeface="Courier New"/>
                <a:cs typeface="Courier New"/>
              </a:rPr>
              <a:t>sample.pdf</a:t>
            </a:r>
            <a:r>
              <a:rPr dirty="0" sz="800" spc="-65">
                <a:solidFill>
                  <a:srgbClr val="111726"/>
                </a:solidFill>
                <a:latin typeface="Courier New"/>
                <a:cs typeface="Courier New"/>
              </a:rPr>
              <a:t> </a:t>
            </a:r>
            <a:r>
              <a:rPr dirty="0" sz="1000" spc="-105">
                <a:solidFill>
                  <a:srgbClr val="111726"/>
                </a:solidFill>
                <a:latin typeface="Source Han Sans JP"/>
                <a:cs typeface="Source Han Sans JP"/>
              </a:rPr>
              <a:t>on</a:t>
            </a:r>
            <a:r>
              <a:rPr dirty="0" sz="1000" spc="-2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70">
                <a:solidFill>
                  <a:srgbClr val="111726"/>
                </a:solidFill>
                <a:latin typeface="Source Han Sans JP"/>
                <a:cs typeface="Source Han Sans JP"/>
              </a:rPr>
              <a:t>their</a:t>
            </a:r>
            <a:r>
              <a:rPr dirty="0" sz="1000" spc="-25">
                <a:solidFill>
                  <a:srgbClr val="111726"/>
                </a:solidFill>
                <a:latin typeface="Source Han Sans JP"/>
                <a:cs typeface="Source Han Sans JP"/>
              </a:rPr>
              <a:t> own</a:t>
            </a:r>
            <a:r>
              <a:rPr dirty="0" sz="1000" spc="500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90">
                <a:solidFill>
                  <a:srgbClr val="111726"/>
                </a:solidFill>
                <a:latin typeface="Source Han Sans JP"/>
                <a:cs typeface="Source Han Sans JP"/>
              </a:rPr>
              <a:t>machine.</a:t>
            </a:r>
            <a:r>
              <a:rPr dirty="0" sz="1000" spc="-20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90">
                <a:solidFill>
                  <a:srgbClr val="111726"/>
                </a:solidFill>
                <a:latin typeface="Source Han Sans JP"/>
                <a:cs typeface="Source Han Sans JP"/>
              </a:rPr>
              <a:t>Wherever</a:t>
            </a:r>
            <a:r>
              <a:rPr dirty="0" sz="1000" spc="-1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90">
                <a:solidFill>
                  <a:srgbClr val="111726"/>
                </a:solidFill>
                <a:latin typeface="Source Han Sans JP"/>
                <a:cs typeface="Source Han Sans JP"/>
              </a:rPr>
              <a:t>a</a:t>
            </a:r>
            <a:r>
              <a:rPr dirty="0" sz="1000" spc="-1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75">
                <a:solidFill>
                  <a:srgbClr val="111726"/>
                </a:solidFill>
                <a:latin typeface="Source Han Sans JP"/>
                <a:cs typeface="Source Han Sans JP"/>
              </a:rPr>
              <a:t>real</a:t>
            </a:r>
            <a:r>
              <a:rPr dirty="0" sz="1000" spc="-1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90">
                <a:solidFill>
                  <a:srgbClr val="111726"/>
                </a:solidFill>
                <a:latin typeface="Source Han Sans JP"/>
                <a:cs typeface="Source Han Sans JP"/>
              </a:rPr>
              <a:t>captured</a:t>
            </a:r>
            <a:r>
              <a:rPr dirty="0" sz="1000" spc="-20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85">
                <a:solidFill>
                  <a:srgbClr val="111726"/>
                </a:solidFill>
                <a:latin typeface="Source Han Sans JP"/>
                <a:cs typeface="Source Han Sans JP"/>
              </a:rPr>
              <a:t>output</a:t>
            </a:r>
            <a:r>
              <a:rPr dirty="0" sz="1000" spc="-1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80">
                <a:solidFill>
                  <a:srgbClr val="111726"/>
                </a:solidFill>
                <a:latin typeface="Source Han Sans JP"/>
                <a:cs typeface="Source Han Sans JP"/>
              </a:rPr>
              <a:t>exists</a:t>
            </a:r>
            <a:r>
              <a:rPr dirty="0" sz="1000" spc="-1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950" spc="-204">
                <a:solidFill>
                  <a:srgbClr val="111726"/>
                </a:solidFill>
                <a:latin typeface="Arial"/>
                <a:cs typeface="Arial"/>
              </a:rPr>
              <a:t>—</a:t>
            </a:r>
            <a:r>
              <a:rPr dirty="0" sz="950" spc="-55">
                <a:solidFill>
                  <a:srgbClr val="111726"/>
                </a:solidFill>
                <a:latin typeface="Arial"/>
                <a:cs typeface="Arial"/>
              </a:rPr>
              <a:t> </a:t>
            </a:r>
            <a:r>
              <a:rPr dirty="0" sz="1000" spc="-90">
                <a:solidFill>
                  <a:srgbClr val="111726"/>
                </a:solidFill>
                <a:latin typeface="Source Han Sans JP"/>
                <a:cs typeface="Source Han Sans JP"/>
              </a:rPr>
              <a:t>from</a:t>
            </a:r>
            <a:r>
              <a:rPr dirty="0" sz="1000" spc="-1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90">
                <a:solidFill>
                  <a:srgbClr val="111726"/>
                </a:solidFill>
                <a:latin typeface="Source Han Sans JP"/>
                <a:cs typeface="Source Han Sans JP"/>
              </a:rPr>
              <a:t>the</a:t>
            </a:r>
            <a:r>
              <a:rPr dirty="0" sz="1000" spc="-20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100">
                <a:solidFill>
                  <a:srgbClr val="111726"/>
                </a:solidFill>
                <a:latin typeface="Source Han Sans JP"/>
                <a:cs typeface="Source Han Sans JP"/>
              </a:rPr>
              <a:t>notebook</a:t>
            </a:r>
            <a:r>
              <a:rPr dirty="0" sz="1000" spc="-1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950" spc="-40">
                <a:solidFill>
                  <a:srgbClr val="111726"/>
                </a:solidFill>
                <a:latin typeface="Arial"/>
                <a:cs typeface="Arial"/>
              </a:rPr>
              <a:t>ﬁ</a:t>
            </a:r>
            <a:r>
              <a:rPr dirty="0" sz="1000" spc="-40">
                <a:solidFill>
                  <a:srgbClr val="111726"/>
                </a:solidFill>
                <a:latin typeface="Source Han Sans JP"/>
                <a:cs typeface="Source Han Sans JP"/>
              </a:rPr>
              <a:t>le</a:t>
            </a:r>
            <a:r>
              <a:rPr dirty="0" sz="1000" spc="-1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80">
                <a:solidFill>
                  <a:srgbClr val="111726"/>
                </a:solidFill>
                <a:latin typeface="Source Han Sans JP"/>
                <a:cs typeface="Source Han Sans JP"/>
              </a:rPr>
              <a:t>or</a:t>
            </a:r>
            <a:r>
              <a:rPr dirty="0" sz="1000" spc="-1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90">
                <a:solidFill>
                  <a:srgbClr val="111726"/>
                </a:solidFill>
                <a:latin typeface="Source Han Sans JP"/>
                <a:cs typeface="Source Han Sans JP"/>
              </a:rPr>
              <a:t>from</a:t>
            </a:r>
            <a:r>
              <a:rPr dirty="0" sz="1000" spc="-1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90">
                <a:solidFill>
                  <a:srgbClr val="111726"/>
                </a:solidFill>
                <a:latin typeface="Source Han Sans JP"/>
                <a:cs typeface="Source Han Sans JP"/>
              </a:rPr>
              <a:t>a</a:t>
            </a:r>
            <a:r>
              <a:rPr dirty="0" sz="1000" spc="-20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90">
                <a:solidFill>
                  <a:srgbClr val="111726"/>
                </a:solidFill>
                <a:latin typeface="Source Han Sans JP"/>
                <a:cs typeface="Source Han Sans JP"/>
              </a:rPr>
              <a:t>screenshot</a:t>
            </a:r>
            <a:r>
              <a:rPr dirty="0" sz="1000" spc="-1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950" spc="-204">
                <a:solidFill>
                  <a:srgbClr val="111726"/>
                </a:solidFill>
                <a:latin typeface="Arial"/>
                <a:cs typeface="Arial"/>
              </a:rPr>
              <a:t>—</a:t>
            </a:r>
            <a:r>
              <a:rPr dirty="0" sz="950" spc="-55">
                <a:solidFill>
                  <a:srgbClr val="111726"/>
                </a:solidFill>
                <a:latin typeface="Arial"/>
                <a:cs typeface="Arial"/>
              </a:rPr>
              <a:t> </a:t>
            </a:r>
            <a:r>
              <a:rPr dirty="0" sz="1000" spc="-65">
                <a:solidFill>
                  <a:srgbClr val="111726"/>
                </a:solidFill>
                <a:latin typeface="Source Han Sans JP"/>
                <a:cs typeface="Source Han Sans JP"/>
              </a:rPr>
              <a:t>it</a:t>
            </a:r>
            <a:r>
              <a:rPr dirty="0" sz="1000" spc="-1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70">
                <a:solidFill>
                  <a:srgbClr val="111726"/>
                </a:solidFill>
                <a:latin typeface="Source Han Sans JP"/>
                <a:cs typeface="Source Han Sans JP"/>
              </a:rPr>
              <a:t>is</a:t>
            </a:r>
            <a:r>
              <a:rPr dirty="0" sz="1000" spc="-20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100">
                <a:solidFill>
                  <a:srgbClr val="111726"/>
                </a:solidFill>
                <a:latin typeface="Source Han Sans JP"/>
                <a:cs typeface="Source Han Sans JP"/>
              </a:rPr>
              <a:t>shown</a:t>
            </a:r>
            <a:r>
              <a:rPr dirty="0" sz="1000" spc="-1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10">
                <a:solidFill>
                  <a:srgbClr val="111726"/>
                </a:solidFill>
                <a:latin typeface="Source Han Sans JP"/>
                <a:cs typeface="Source Han Sans JP"/>
              </a:rPr>
              <a:t>below </a:t>
            </a:r>
            <a:r>
              <a:rPr dirty="0" sz="1000" spc="-80">
                <a:solidFill>
                  <a:srgbClr val="111726"/>
                </a:solidFill>
                <a:latin typeface="Source Han Sans JP"/>
                <a:cs typeface="Source Han Sans JP"/>
              </a:rPr>
              <a:t>labeled</a:t>
            </a:r>
            <a:r>
              <a:rPr dirty="0" sz="1000" spc="-2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100" b="1">
                <a:solidFill>
                  <a:srgbClr val="111726"/>
                </a:solidFill>
                <a:latin typeface="Source Han Sans JP"/>
                <a:cs typeface="Source Han Sans JP"/>
              </a:rPr>
              <a:t>"Actual</a:t>
            </a:r>
            <a:r>
              <a:rPr dirty="0" sz="1000" spc="-25" b="1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100" b="1">
                <a:solidFill>
                  <a:srgbClr val="111726"/>
                </a:solidFill>
                <a:latin typeface="Source Han Sans JP"/>
                <a:cs typeface="Source Han Sans JP"/>
              </a:rPr>
              <a:t>captured</a:t>
            </a:r>
            <a:r>
              <a:rPr dirty="0" sz="1000" spc="-20" b="1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105" b="1">
                <a:solidFill>
                  <a:srgbClr val="111726"/>
                </a:solidFill>
                <a:latin typeface="Source Han Sans JP"/>
                <a:cs typeface="Source Han Sans JP"/>
              </a:rPr>
              <a:t>output."</a:t>
            </a:r>
            <a:r>
              <a:rPr dirty="0" sz="1000" spc="-30" b="1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90">
                <a:solidFill>
                  <a:srgbClr val="111726"/>
                </a:solidFill>
                <a:latin typeface="Source Han Sans JP"/>
                <a:cs typeface="Source Han Sans JP"/>
              </a:rPr>
              <a:t>Anything</a:t>
            </a:r>
            <a:r>
              <a:rPr dirty="0" sz="1000" spc="-20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95">
                <a:solidFill>
                  <a:srgbClr val="111726"/>
                </a:solidFill>
                <a:latin typeface="Source Han Sans JP"/>
                <a:cs typeface="Source Han Sans JP"/>
              </a:rPr>
              <a:t>not</a:t>
            </a:r>
            <a:r>
              <a:rPr dirty="0" sz="1000" spc="-2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75">
                <a:solidFill>
                  <a:srgbClr val="111726"/>
                </a:solidFill>
                <a:latin typeface="Source Han Sans JP"/>
                <a:cs typeface="Source Han Sans JP"/>
              </a:rPr>
              <a:t>actually</a:t>
            </a:r>
            <a:r>
              <a:rPr dirty="0" sz="1000" spc="-20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85">
                <a:solidFill>
                  <a:srgbClr val="111726"/>
                </a:solidFill>
                <a:latin typeface="Source Han Sans JP"/>
                <a:cs typeface="Source Han Sans JP"/>
              </a:rPr>
              <a:t>run</a:t>
            </a:r>
            <a:r>
              <a:rPr dirty="0" sz="1000" spc="-2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40">
                <a:solidFill>
                  <a:srgbClr val="111726"/>
                </a:solidFill>
                <a:latin typeface="Source Han Sans JP"/>
                <a:cs typeface="Source Han Sans JP"/>
              </a:rPr>
              <a:t>(e.g.</a:t>
            </a:r>
            <a:r>
              <a:rPr dirty="0" sz="1000" spc="204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800">
                <a:solidFill>
                  <a:srgbClr val="111726"/>
                </a:solidFill>
                <a:latin typeface="Courier New"/>
                <a:cs typeface="Courier New"/>
              </a:rPr>
              <a:t>schema_setup.py</a:t>
            </a:r>
            <a:r>
              <a:rPr dirty="0" sz="800" spc="-260">
                <a:solidFill>
                  <a:srgbClr val="111726"/>
                </a:solidFill>
                <a:latin typeface="Courier New"/>
                <a:cs typeface="Courier New"/>
              </a:rPr>
              <a:t> </a:t>
            </a:r>
            <a:r>
              <a:rPr dirty="0" sz="1000">
                <a:solidFill>
                  <a:srgbClr val="111726"/>
                </a:solidFill>
                <a:latin typeface="Source Han Sans JP"/>
                <a:cs typeface="Source Han Sans JP"/>
              </a:rPr>
              <a:t>,</a:t>
            </a:r>
            <a:r>
              <a:rPr dirty="0" sz="1000" spc="210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800">
                <a:solidFill>
                  <a:srgbClr val="111726"/>
                </a:solidFill>
                <a:latin typeface="Courier New"/>
                <a:cs typeface="Courier New"/>
              </a:rPr>
              <a:t>query.py</a:t>
            </a:r>
            <a:r>
              <a:rPr dirty="0" sz="800" spc="-260">
                <a:solidFill>
                  <a:srgbClr val="111726"/>
                </a:solidFill>
                <a:latin typeface="Courier New"/>
                <a:cs typeface="Courier New"/>
              </a:rPr>
              <a:t> </a:t>
            </a:r>
            <a:r>
              <a:rPr dirty="0" sz="1000" spc="-50">
                <a:solidFill>
                  <a:srgbClr val="111726"/>
                </a:solidFill>
                <a:latin typeface="Source Han Sans JP"/>
                <a:cs typeface="Source Han Sans JP"/>
              </a:rPr>
              <a:t>,</a:t>
            </a:r>
            <a:r>
              <a:rPr dirty="0" sz="1000" spc="-20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95">
                <a:solidFill>
                  <a:srgbClr val="111726"/>
                </a:solidFill>
                <a:latin typeface="Source Han Sans JP"/>
                <a:cs typeface="Source Han Sans JP"/>
              </a:rPr>
              <a:t>and</a:t>
            </a:r>
            <a:r>
              <a:rPr dirty="0" sz="1000" spc="-2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90">
                <a:solidFill>
                  <a:srgbClr val="111726"/>
                </a:solidFill>
                <a:latin typeface="Source Han Sans JP"/>
                <a:cs typeface="Source Han Sans JP"/>
              </a:rPr>
              <a:t>the</a:t>
            </a:r>
            <a:r>
              <a:rPr dirty="0" sz="1000" spc="-20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25">
                <a:solidFill>
                  <a:srgbClr val="111726"/>
                </a:solidFill>
                <a:latin typeface="Source Han Sans JP"/>
                <a:cs typeface="Source Han Sans JP"/>
              </a:rPr>
              <a:t>raw</a:t>
            </a:r>
            <a:r>
              <a:rPr dirty="0" sz="1000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800">
                <a:solidFill>
                  <a:srgbClr val="111726"/>
                </a:solidFill>
                <a:latin typeface="Courier New"/>
                <a:cs typeface="Courier New"/>
              </a:rPr>
              <a:t>retrieve_context()</a:t>
            </a:r>
            <a:r>
              <a:rPr dirty="0" sz="800" spc="-240">
                <a:solidFill>
                  <a:srgbClr val="111726"/>
                </a:solidFill>
                <a:latin typeface="Courier New"/>
                <a:cs typeface="Courier New"/>
              </a:rPr>
              <a:t> </a:t>
            </a:r>
            <a:r>
              <a:rPr dirty="0" sz="1000" spc="-70">
                <a:solidFill>
                  <a:srgbClr val="111726"/>
                </a:solidFill>
                <a:latin typeface="Source Han Sans JP"/>
                <a:cs typeface="Source Han Sans JP"/>
              </a:rPr>
              <a:t>/</a:t>
            </a:r>
            <a:r>
              <a:rPr dirty="0" sz="1000" spc="1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800">
                <a:solidFill>
                  <a:srgbClr val="111726"/>
                </a:solidFill>
                <a:latin typeface="Courier New"/>
                <a:cs typeface="Courier New"/>
              </a:rPr>
              <a:t>solr_client.search()</a:t>
            </a:r>
            <a:r>
              <a:rPr dirty="0" sz="800" spc="-20">
                <a:solidFill>
                  <a:srgbClr val="111726"/>
                </a:solidFill>
                <a:latin typeface="Courier New"/>
                <a:cs typeface="Courier New"/>
              </a:rPr>
              <a:t> </a:t>
            </a:r>
            <a:r>
              <a:rPr dirty="0" sz="1000" spc="-80">
                <a:solidFill>
                  <a:srgbClr val="111726"/>
                </a:solidFill>
                <a:latin typeface="Source Han Sans JP"/>
                <a:cs typeface="Source Han Sans JP"/>
              </a:rPr>
              <a:t>helper</a:t>
            </a:r>
            <a:r>
              <a:rPr dirty="0" sz="1000" spc="-10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85">
                <a:solidFill>
                  <a:srgbClr val="111726"/>
                </a:solidFill>
                <a:latin typeface="Source Han Sans JP"/>
                <a:cs typeface="Source Han Sans JP"/>
              </a:rPr>
              <a:t>output)</a:t>
            </a:r>
            <a:r>
              <a:rPr dirty="0" sz="1000" spc="-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70">
                <a:solidFill>
                  <a:srgbClr val="111726"/>
                </a:solidFill>
                <a:latin typeface="Source Han Sans JP"/>
                <a:cs typeface="Source Han Sans JP"/>
              </a:rPr>
              <a:t>is</a:t>
            </a:r>
            <a:r>
              <a:rPr dirty="0" sz="1000" spc="-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60">
                <a:solidFill>
                  <a:srgbClr val="111726"/>
                </a:solidFill>
                <a:latin typeface="Source Han Sans JP"/>
                <a:cs typeface="Source Han Sans JP"/>
              </a:rPr>
              <a:t>still</a:t>
            </a:r>
            <a:r>
              <a:rPr dirty="0" sz="1000" spc="-10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80">
                <a:solidFill>
                  <a:srgbClr val="111726"/>
                </a:solidFill>
                <a:latin typeface="Source Han Sans JP"/>
                <a:cs typeface="Source Han Sans JP"/>
              </a:rPr>
              <a:t>labeled</a:t>
            </a:r>
            <a:r>
              <a:rPr dirty="0" sz="1000" spc="-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95" b="1">
                <a:solidFill>
                  <a:srgbClr val="111726"/>
                </a:solidFill>
                <a:latin typeface="Source Han Sans JP"/>
                <a:cs typeface="Source Han Sans JP"/>
              </a:rPr>
              <a:t>"Output</a:t>
            </a:r>
            <a:r>
              <a:rPr dirty="0" sz="1000" spc="-5" b="1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95" b="1">
                <a:solidFill>
                  <a:srgbClr val="111726"/>
                </a:solidFill>
                <a:latin typeface="Source Han Sans JP"/>
                <a:cs typeface="Source Han Sans JP"/>
              </a:rPr>
              <a:t>(example)"</a:t>
            </a:r>
            <a:r>
              <a:rPr dirty="0" sz="1000" spc="-15" b="1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95">
                <a:solidFill>
                  <a:srgbClr val="111726"/>
                </a:solidFill>
                <a:latin typeface="Source Han Sans JP"/>
                <a:cs typeface="Source Han Sans JP"/>
              </a:rPr>
              <a:t>and</a:t>
            </a:r>
            <a:r>
              <a:rPr dirty="0" sz="1000" spc="-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70">
                <a:solidFill>
                  <a:srgbClr val="111726"/>
                </a:solidFill>
                <a:latin typeface="Source Han Sans JP"/>
                <a:cs typeface="Source Han Sans JP"/>
              </a:rPr>
              <a:t>is</a:t>
            </a:r>
            <a:r>
              <a:rPr dirty="0" sz="1000" spc="-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90">
                <a:solidFill>
                  <a:srgbClr val="111726"/>
                </a:solidFill>
                <a:latin typeface="Source Han Sans JP"/>
                <a:cs typeface="Source Han Sans JP"/>
              </a:rPr>
              <a:t>a</a:t>
            </a:r>
            <a:r>
              <a:rPr dirty="0" sz="1000" spc="-10">
                <a:solidFill>
                  <a:srgbClr val="111726"/>
                </a:solidFill>
                <a:latin typeface="Source Han Sans JP"/>
                <a:cs typeface="Source Han Sans JP"/>
              </a:rPr>
              <a:t> realistic </a:t>
            </a:r>
            <a:r>
              <a:rPr dirty="0" sz="1000" spc="-75">
                <a:solidFill>
                  <a:srgbClr val="111726"/>
                </a:solidFill>
                <a:latin typeface="Source Han Sans JP"/>
                <a:cs typeface="Source Han Sans JP"/>
              </a:rPr>
              <a:t>illustration</a:t>
            </a:r>
            <a:r>
              <a:rPr dirty="0" sz="1000" spc="-20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80">
                <a:solidFill>
                  <a:srgbClr val="111726"/>
                </a:solidFill>
                <a:latin typeface="Source Han Sans JP"/>
                <a:cs typeface="Source Han Sans JP"/>
              </a:rPr>
              <a:t>only,</a:t>
            </a:r>
            <a:r>
              <a:rPr dirty="0" sz="1000" spc="-1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95">
                <a:solidFill>
                  <a:srgbClr val="111726"/>
                </a:solidFill>
                <a:latin typeface="Source Han Sans JP"/>
                <a:cs typeface="Source Han Sans JP"/>
              </a:rPr>
              <a:t>not</a:t>
            </a:r>
            <a:r>
              <a:rPr dirty="0" sz="1000" spc="-20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90">
                <a:solidFill>
                  <a:srgbClr val="111726"/>
                </a:solidFill>
                <a:latin typeface="Source Han Sans JP"/>
                <a:cs typeface="Source Han Sans JP"/>
              </a:rPr>
              <a:t>a</a:t>
            </a:r>
            <a:r>
              <a:rPr dirty="0" sz="1000" spc="-1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90">
                <a:solidFill>
                  <a:srgbClr val="111726"/>
                </a:solidFill>
                <a:latin typeface="Source Han Sans JP"/>
                <a:cs typeface="Source Han Sans JP"/>
              </a:rPr>
              <a:t>captured</a:t>
            </a:r>
            <a:r>
              <a:rPr dirty="0" sz="1000" spc="-20">
                <a:solidFill>
                  <a:srgbClr val="111726"/>
                </a:solidFill>
                <a:latin typeface="Source Han Sans JP"/>
                <a:cs typeface="Source Han Sans JP"/>
              </a:rPr>
              <a:t> log.</a:t>
            </a:r>
            <a:endParaRPr sz="1000">
              <a:latin typeface="Source Han Sans JP"/>
              <a:cs typeface="Source Han Sans JP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943018" y="7232036"/>
            <a:ext cx="829310" cy="195580"/>
          </a:xfrm>
          <a:custGeom>
            <a:avLst/>
            <a:gdLst/>
            <a:ahLst/>
            <a:cxnLst/>
            <a:rect l="l" t="t" r="r" b="b"/>
            <a:pathLst>
              <a:path w="829310" h="195579">
                <a:moveTo>
                  <a:pt x="805806" y="195501"/>
                </a:moveTo>
                <a:lnTo>
                  <a:pt x="23389" y="195501"/>
                </a:lnTo>
                <a:lnTo>
                  <a:pt x="19950" y="194816"/>
                </a:lnTo>
                <a:lnTo>
                  <a:pt x="0" y="172111"/>
                </a:lnTo>
                <a:lnTo>
                  <a:pt x="0" y="168535"/>
                </a:lnTo>
                <a:lnTo>
                  <a:pt x="0" y="23389"/>
                </a:lnTo>
                <a:lnTo>
                  <a:pt x="23389" y="0"/>
                </a:lnTo>
                <a:lnTo>
                  <a:pt x="805806" y="0"/>
                </a:lnTo>
                <a:lnTo>
                  <a:pt x="829196" y="23389"/>
                </a:lnTo>
                <a:lnTo>
                  <a:pt x="829196" y="172111"/>
                </a:lnTo>
                <a:lnTo>
                  <a:pt x="809246" y="194816"/>
                </a:lnTo>
                <a:lnTo>
                  <a:pt x="805806" y="195501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 txBox="1"/>
          <p:nvPr/>
        </p:nvSpPr>
        <p:spPr>
          <a:xfrm>
            <a:off x="667402" y="6734961"/>
            <a:ext cx="3336925" cy="694690"/>
          </a:xfrm>
          <a:prstGeom prst="rect">
            <a:avLst/>
          </a:prstGeom>
        </p:spPr>
        <p:txBody>
          <a:bodyPr wrap="square" lIns="0" tIns="1130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90"/>
              </a:spcBef>
            </a:pPr>
            <a:r>
              <a:rPr dirty="0" sz="1750" spc="-240" b="1">
                <a:solidFill>
                  <a:srgbClr val="111726"/>
                </a:solidFill>
                <a:latin typeface="Source Han Sans JP"/>
                <a:cs typeface="Source Han Sans JP"/>
              </a:rPr>
              <a:t>PART</a:t>
            </a:r>
            <a:r>
              <a:rPr dirty="0" sz="1750" spc="-60" b="1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550" spc="-70" b="1">
                <a:solidFill>
                  <a:srgbClr val="111726"/>
                </a:solidFill>
                <a:latin typeface="Trebuchet MS"/>
                <a:cs typeface="Trebuchet MS"/>
              </a:rPr>
              <a:t>1</a:t>
            </a:r>
            <a:r>
              <a:rPr dirty="0" sz="1550" spc="-125" b="1">
                <a:solidFill>
                  <a:srgbClr val="111726"/>
                </a:solidFill>
                <a:latin typeface="Trebuchet MS"/>
                <a:cs typeface="Trebuchet MS"/>
              </a:rPr>
              <a:t> </a:t>
            </a:r>
            <a:r>
              <a:rPr dirty="0" sz="1600" spc="-305" b="1">
                <a:solidFill>
                  <a:srgbClr val="111726"/>
                </a:solidFill>
                <a:latin typeface="Arial"/>
                <a:cs typeface="Arial"/>
              </a:rPr>
              <a:t>—</a:t>
            </a:r>
            <a:r>
              <a:rPr dirty="0" sz="1600" spc="-105" b="1">
                <a:solidFill>
                  <a:srgbClr val="111726"/>
                </a:solidFill>
                <a:latin typeface="Arial"/>
                <a:cs typeface="Arial"/>
              </a:rPr>
              <a:t> </a:t>
            </a:r>
            <a:r>
              <a:rPr dirty="0" sz="1750" spc="-204" b="1">
                <a:solidFill>
                  <a:srgbClr val="111726"/>
                </a:solidFill>
                <a:latin typeface="Source Han Sans JP"/>
                <a:cs typeface="Source Han Sans JP"/>
              </a:rPr>
              <a:t>PostgreSQL</a:t>
            </a:r>
            <a:r>
              <a:rPr dirty="0" sz="1750" spc="-55" b="1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750" spc="-180" b="1">
                <a:solidFill>
                  <a:srgbClr val="111726"/>
                </a:solidFill>
                <a:latin typeface="Source Han Sans JP"/>
                <a:cs typeface="Source Han Sans JP"/>
              </a:rPr>
              <a:t>+</a:t>
            </a:r>
            <a:r>
              <a:rPr dirty="0" sz="1750" spc="-50" b="1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750" spc="-190" b="1">
                <a:solidFill>
                  <a:srgbClr val="111726"/>
                </a:solidFill>
                <a:latin typeface="Source Han Sans JP"/>
                <a:cs typeface="Source Han Sans JP"/>
              </a:rPr>
              <a:t>pgvector</a:t>
            </a:r>
            <a:r>
              <a:rPr dirty="0" sz="1750" spc="-55" b="1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750" spc="-140" b="1">
                <a:solidFill>
                  <a:srgbClr val="111726"/>
                </a:solidFill>
                <a:latin typeface="Source Han Sans JP"/>
                <a:cs typeface="Source Han Sans JP"/>
              </a:rPr>
              <a:t>RAG</a:t>
            </a:r>
            <a:endParaRPr sz="1750">
              <a:latin typeface="Source Han Sans JP"/>
              <a:cs typeface="Source Han Sans JP"/>
            </a:endParaRPr>
          </a:p>
          <a:p>
            <a:pPr marL="12700">
              <a:lnSpc>
                <a:spcPct val="100000"/>
              </a:lnSpc>
              <a:spcBef>
                <a:spcPts val="640"/>
              </a:spcBef>
            </a:pPr>
            <a:r>
              <a:rPr dirty="0" sz="1300" spc="-30" b="1">
                <a:solidFill>
                  <a:srgbClr val="111726"/>
                </a:solidFill>
                <a:latin typeface="Trebuchet MS"/>
                <a:cs typeface="Trebuchet MS"/>
              </a:rPr>
              <a:t>1</a:t>
            </a:r>
            <a:r>
              <a:rPr dirty="0" sz="1450" spc="-30" b="1">
                <a:solidFill>
                  <a:srgbClr val="111726"/>
                </a:solidFill>
                <a:latin typeface="Source Han Sans JP"/>
                <a:cs typeface="Source Han Sans JP"/>
              </a:rPr>
              <a:t>.</a:t>
            </a:r>
            <a:r>
              <a:rPr dirty="0" sz="1300" spc="-30" b="1">
                <a:solidFill>
                  <a:srgbClr val="111726"/>
                </a:solidFill>
                <a:latin typeface="Trebuchet MS"/>
                <a:cs typeface="Trebuchet MS"/>
              </a:rPr>
              <a:t>1</a:t>
            </a:r>
            <a:r>
              <a:rPr dirty="0" sz="1300" spc="-60" b="1">
                <a:solidFill>
                  <a:srgbClr val="111726"/>
                </a:solidFill>
                <a:latin typeface="Trebuchet MS"/>
                <a:cs typeface="Trebuchet MS"/>
              </a:rPr>
              <a:t> </a:t>
            </a:r>
            <a:r>
              <a:rPr dirty="0" sz="1100" spc="-10" b="1">
                <a:solidFill>
                  <a:srgbClr val="111726"/>
                </a:solidFill>
                <a:latin typeface="Courier New"/>
                <a:cs typeface="Courier New"/>
              </a:rPr>
              <a:t>config.py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761782" y="7583643"/>
            <a:ext cx="3218180" cy="179895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1718310">
              <a:lnSpc>
                <a:spcPct val="143800"/>
              </a:lnSpc>
              <a:spcBef>
                <a:spcPts val="95"/>
              </a:spcBef>
            </a:pP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DB_USER</a:t>
            </a:r>
            <a:r>
              <a:rPr dirty="0" sz="800" spc="2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=</a:t>
            </a:r>
            <a:r>
              <a:rPr dirty="0" sz="800" spc="2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 spc="-10">
                <a:solidFill>
                  <a:srgbClr val="E4E7EB"/>
                </a:solidFill>
                <a:latin typeface="Courier New"/>
                <a:cs typeface="Courier New"/>
              </a:rPr>
              <a:t>"postgres"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DB_PASSWORD</a:t>
            </a:r>
            <a:r>
              <a:rPr dirty="0" sz="800" spc="3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=</a:t>
            </a:r>
            <a:r>
              <a:rPr dirty="0" sz="800" spc="3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 spc="-10">
                <a:solidFill>
                  <a:srgbClr val="E4E7EB"/>
                </a:solidFill>
                <a:latin typeface="Courier New"/>
                <a:cs typeface="Courier New"/>
              </a:rPr>
              <a:t>"ADMIN123"</a:t>
            </a:r>
            <a:endParaRPr sz="800">
              <a:latin typeface="Courier New"/>
              <a:cs typeface="Courier New"/>
            </a:endParaRPr>
          </a:p>
          <a:p>
            <a:pPr marL="12700" marR="1903095">
              <a:lnSpc>
                <a:spcPct val="143800"/>
              </a:lnSpc>
              <a:spcBef>
                <a:spcPts val="55"/>
              </a:spcBef>
            </a:pP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DB_HOST</a:t>
            </a:r>
            <a:r>
              <a:rPr dirty="0" sz="800" spc="2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=</a:t>
            </a:r>
            <a:r>
              <a:rPr dirty="0" sz="800" spc="2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 spc="-10">
                <a:solidFill>
                  <a:srgbClr val="E4E7EB"/>
                </a:solidFill>
                <a:latin typeface="Courier New"/>
                <a:cs typeface="Courier New"/>
              </a:rPr>
              <a:t>"localhost"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DB_PORT</a:t>
            </a:r>
            <a:r>
              <a:rPr dirty="0" sz="800" spc="2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=</a:t>
            </a:r>
            <a:r>
              <a:rPr dirty="0" sz="800" spc="2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 spc="-10">
                <a:solidFill>
                  <a:srgbClr val="E4E7EB"/>
                </a:solidFill>
                <a:latin typeface="Courier New"/>
                <a:cs typeface="Courier New"/>
              </a:rPr>
              <a:t>"5432"</a:t>
            </a:r>
            <a:endParaRPr sz="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420"/>
              </a:spcBef>
            </a:pP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DB_NAME</a:t>
            </a:r>
            <a:r>
              <a:rPr dirty="0" sz="800" spc="2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=</a:t>
            </a:r>
            <a:r>
              <a:rPr dirty="0" sz="800" spc="2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 spc="-10">
                <a:solidFill>
                  <a:srgbClr val="E4E7EB"/>
                </a:solidFill>
                <a:latin typeface="Courier New"/>
                <a:cs typeface="Courier New"/>
              </a:rPr>
              <a:t>"rag_pgvector_db"</a:t>
            </a:r>
            <a:endParaRPr sz="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endParaRPr sz="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DATABASE_URL</a:t>
            </a:r>
            <a:r>
              <a:rPr dirty="0" sz="800" spc="3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=</a:t>
            </a:r>
            <a:r>
              <a:rPr dirty="0" sz="800" spc="3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 spc="-50">
                <a:solidFill>
                  <a:srgbClr val="E4E7EB"/>
                </a:solidFill>
                <a:latin typeface="Courier New"/>
                <a:cs typeface="Courier New"/>
              </a:rPr>
              <a:t>(</a:t>
            </a:r>
            <a:endParaRPr sz="800">
              <a:latin typeface="Courier New"/>
              <a:cs typeface="Courier New"/>
            </a:endParaRPr>
          </a:p>
          <a:p>
            <a:pPr marL="259079">
              <a:lnSpc>
                <a:spcPct val="143800"/>
              </a:lnSpc>
              <a:spcBef>
                <a:spcPts val="55"/>
              </a:spcBef>
            </a:pPr>
            <a:r>
              <a:rPr dirty="0" sz="800" spc="-10">
                <a:solidFill>
                  <a:srgbClr val="E4E7EB"/>
                </a:solidFill>
                <a:latin typeface="Courier New"/>
                <a:cs typeface="Courier New"/>
              </a:rPr>
              <a:t>f"postgresql+psycopg2://{DB_USER}:{DB_PASSWORD}" f"@{DB_HOST}:{DB_PORT}/{DB_NAME}"</a:t>
            </a:r>
            <a:endParaRPr sz="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420"/>
              </a:spcBef>
            </a:pPr>
            <a:r>
              <a:rPr dirty="0" sz="800" spc="-50">
                <a:solidFill>
                  <a:srgbClr val="E4E7EB"/>
                </a:solidFill>
                <a:latin typeface="Courier New"/>
                <a:cs typeface="Courier New"/>
              </a:rPr>
              <a:t>)</a:t>
            </a:r>
            <a:endParaRPr sz="8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80102" y="5061295"/>
            <a:ext cx="6202680" cy="6985"/>
          </a:xfrm>
          <a:custGeom>
            <a:avLst/>
            <a:gdLst/>
            <a:ahLst/>
            <a:cxnLst/>
            <a:rect l="l" t="t" r="r" b="b"/>
            <a:pathLst>
              <a:path w="6202680" h="6985">
                <a:moveTo>
                  <a:pt x="6202119" y="6741"/>
                </a:moveTo>
                <a:lnTo>
                  <a:pt x="0" y="6741"/>
                </a:lnTo>
                <a:lnTo>
                  <a:pt x="0" y="0"/>
                </a:lnTo>
                <a:lnTo>
                  <a:pt x="6202119" y="0"/>
                </a:lnTo>
                <a:lnTo>
                  <a:pt x="6202119" y="6741"/>
                </a:lnTo>
                <a:close/>
              </a:path>
            </a:pathLst>
          </a:custGeom>
          <a:solidFill>
            <a:srgbClr val="E4E7E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680102" y="5539937"/>
            <a:ext cx="6202680" cy="2150745"/>
          </a:xfrm>
          <a:custGeom>
            <a:avLst/>
            <a:gdLst/>
            <a:ahLst/>
            <a:cxnLst/>
            <a:rect l="l" t="t" r="r" b="b"/>
            <a:pathLst>
              <a:path w="6202680" h="2150745">
                <a:moveTo>
                  <a:pt x="6151728" y="2150516"/>
                </a:moveTo>
                <a:lnTo>
                  <a:pt x="50390" y="2150516"/>
                </a:lnTo>
                <a:lnTo>
                  <a:pt x="46883" y="2150170"/>
                </a:lnTo>
                <a:lnTo>
                  <a:pt x="11056" y="2129490"/>
                </a:lnTo>
                <a:lnTo>
                  <a:pt x="0" y="2100127"/>
                </a:lnTo>
                <a:lnTo>
                  <a:pt x="0" y="2096585"/>
                </a:lnTo>
                <a:lnTo>
                  <a:pt x="0" y="50389"/>
                </a:lnTo>
                <a:lnTo>
                  <a:pt x="18300" y="13290"/>
                </a:lnTo>
                <a:lnTo>
                  <a:pt x="50390" y="0"/>
                </a:lnTo>
                <a:lnTo>
                  <a:pt x="6151728" y="0"/>
                </a:lnTo>
                <a:lnTo>
                  <a:pt x="6188826" y="18298"/>
                </a:lnTo>
                <a:lnTo>
                  <a:pt x="6202118" y="50389"/>
                </a:lnTo>
                <a:lnTo>
                  <a:pt x="6202118" y="2100127"/>
                </a:lnTo>
                <a:lnTo>
                  <a:pt x="6183818" y="2137221"/>
                </a:lnTo>
                <a:lnTo>
                  <a:pt x="6155235" y="2150170"/>
                </a:lnTo>
                <a:lnTo>
                  <a:pt x="6151728" y="2150516"/>
                </a:lnTo>
                <a:close/>
              </a:path>
            </a:pathLst>
          </a:custGeom>
          <a:solidFill>
            <a:srgbClr val="0E172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754257" y="652397"/>
            <a:ext cx="1240790" cy="141605"/>
          </a:xfrm>
          <a:custGeom>
            <a:avLst/>
            <a:gdLst/>
            <a:ahLst/>
            <a:cxnLst/>
            <a:rect l="l" t="t" r="r" b="b"/>
            <a:pathLst>
              <a:path w="1240789" h="141604">
                <a:moveTo>
                  <a:pt x="1217033" y="141569"/>
                </a:moveTo>
                <a:lnTo>
                  <a:pt x="23389" y="141569"/>
                </a:lnTo>
                <a:lnTo>
                  <a:pt x="19950" y="140884"/>
                </a:lnTo>
                <a:lnTo>
                  <a:pt x="0" y="118180"/>
                </a:lnTo>
                <a:lnTo>
                  <a:pt x="0" y="114604"/>
                </a:lnTo>
                <a:lnTo>
                  <a:pt x="0" y="23389"/>
                </a:lnTo>
                <a:lnTo>
                  <a:pt x="23389" y="0"/>
                </a:lnTo>
                <a:lnTo>
                  <a:pt x="1217033" y="0"/>
                </a:lnTo>
                <a:lnTo>
                  <a:pt x="1240423" y="23389"/>
                </a:lnTo>
                <a:lnTo>
                  <a:pt x="1240423" y="118180"/>
                </a:lnTo>
                <a:lnTo>
                  <a:pt x="1220473" y="140884"/>
                </a:lnTo>
                <a:lnTo>
                  <a:pt x="1217033" y="141569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5608089" y="652397"/>
            <a:ext cx="647700" cy="141605"/>
          </a:xfrm>
          <a:custGeom>
            <a:avLst/>
            <a:gdLst/>
            <a:ahLst/>
            <a:cxnLst/>
            <a:rect l="l" t="t" r="r" b="b"/>
            <a:pathLst>
              <a:path w="647700" h="141604">
                <a:moveTo>
                  <a:pt x="623787" y="141569"/>
                </a:moveTo>
                <a:lnTo>
                  <a:pt x="23389" y="141569"/>
                </a:lnTo>
                <a:lnTo>
                  <a:pt x="19949" y="140884"/>
                </a:lnTo>
                <a:lnTo>
                  <a:pt x="0" y="118180"/>
                </a:lnTo>
                <a:lnTo>
                  <a:pt x="0" y="114604"/>
                </a:lnTo>
                <a:lnTo>
                  <a:pt x="0" y="23389"/>
                </a:lnTo>
                <a:lnTo>
                  <a:pt x="23389" y="0"/>
                </a:lnTo>
                <a:lnTo>
                  <a:pt x="623787" y="0"/>
                </a:lnTo>
                <a:lnTo>
                  <a:pt x="647177" y="23389"/>
                </a:lnTo>
                <a:lnTo>
                  <a:pt x="647177" y="118180"/>
                </a:lnTo>
                <a:lnTo>
                  <a:pt x="627227" y="140884"/>
                </a:lnTo>
                <a:lnTo>
                  <a:pt x="623787" y="141569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754257" y="1110815"/>
            <a:ext cx="1476375" cy="141605"/>
          </a:xfrm>
          <a:custGeom>
            <a:avLst/>
            <a:gdLst/>
            <a:ahLst/>
            <a:cxnLst/>
            <a:rect l="l" t="t" r="r" b="b"/>
            <a:pathLst>
              <a:path w="1476375" h="141605">
                <a:moveTo>
                  <a:pt x="1452984" y="141569"/>
                </a:moveTo>
                <a:lnTo>
                  <a:pt x="23389" y="141569"/>
                </a:lnTo>
                <a:lnTo>
                  <a:pt x="19950" y="140884"/>
                </a:lnTo>
                <a:lnTo>
                  <a:pt x="0" y="118179"/>
                </a:lnTo>
                <a:lnTo>
                  <a:pt x="0" y="114604"/>
                </a:lnTo>
                <a:lnTo>
                  <a:pt x="0" y="23389"/>
                </a:lnTo>
                <a:lnTo>
                  <a:pt x="23389" y="0"/>
                </a:lnTo>
                <a:lnTo>
                  <a:pt x="1452984" y="0"/>
                </a:lnTo>
                <a:lnTo>
                  <a:pt x="1476373" y="23389"/>
                </a:lnTo>
                <a:lnTo>
                  <a:pt x="1476373" y="118179"/>
                </a:lnTo>
                <a:lnTo>
                  <a:pt x="1456423" y="140884"/>
                </a:lnTo>
                <a:lnTo>
                  <a:pt x="1452984" y="141569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754257" y="1737768"/>
            <a:ext cx="1294765" cy="141605"/>
          </a:xfrm>
          <a:custGeom>
            <a:avLst/>
            <a:gdLst/>
            <a:ahLst/>
            <a:cxnLst/>
            <a:rect l="l" t="t" r="r" b="b"/>
            <a:pathLst>
              <a:path w="1294764" h="141605">
                <a:moveTo>
                  <a:pt x="1270965" y="141569"/>
                </a:moveTo>
                <a:lnTo>
                  <a:pt x="23389" y="141569"/>
                </a:lnTo>
                <a:lnTo>
                  <a:pt x="19950" y="140885"/>
                </a:lnTo>
                <a:lnTo>
                  <a:pt x="0" y="118180"/>
                </a:lnTo>
                <a:lnTo>
                  <a:pt x="0" y="114604"/>
                </a:lnTo>
                <a:lnTo>
                  <a:pt x="0" y="23389"/>
                </a:lnTo>
                <a:lnTo>
                  <a:pt x="23389" y="0"/>
                </a:lnTo>
                <a:lnTo>
                  <a:pt x="1270965" y="0"/>
                </a:lnTo>
                <a:lnTo>
                  <a:pt x="1294355" y="23389"/>
                </a:lnTo>
                <a:lnTo>
                  <a:pt x="1294355" y="118180"/>
                </a:lnTo>
                <a:lnTo>
                  <a:pt x="1274405" y="140885"/>
                </a:lnTo>
                <a:lnTo>
                  <a:pt x="1270965" y="141569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4859790" y="1737768"/>
            <a:ext cx="708025" cy="141605"/>
          </a:xfrm>
          <a:custGeom>
            <a:avLst/>
            <a:gdLst/>
            <a:ahLst/>
            <a:cxnLst/>
            <a:rect l="l" t="t" r="r" b="b"/>
            <a:pathLst>
              <a:path w="708025" h="141605">
                <a:moveTo>
                  <a:pt x="684460" y="141569"/>
                </a:moveTo>
                <a:lnTo>
                  <a:pt x="23390" y="141569"/>
                </a:lnTo>
                <a:lnTo>
                  <a:pt x="19950" y="140885"/>
                </a:lnTo>
                <a:lnTo>
                  <a:pt x="0" y="118180"/>
                </a:lnTo>
                <a:lnTo>
                  <a:pt x="0" y="114604"/>
                </a:lnTo>
                <a:lnTo>
                  <a:pt x="0" y="23389"/>
                </a:lnTo>
                <a:lnTo>
                  <a:pt x="23390" y="0"/>
                </a:lnTo>
                <a:lnTo>
                  <a:pt x="684460" y="0"/>
                </a:lnTo>
                <a:lnTo>
                  <a:pt x="707850" y="23389"/>
                </a:lnTo>
                <a:lnTo>
                  <a:pt x="707850" y="118180"/>
                </a:lnTo>
                <a:lnTo>
                  <a:pt x="687899" y="140885"/>
                </a:lnTo>
                <a:lnTo>
                  <a:pt x="684460" y="141569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754257" y="2196186"/>
            <a:ext cx="998219" cy="141605"/>
          </a:xfrm>
          <a:custGeom>
            <a:avLst/>
            <a:gdLst/>
            <a:ahLst/>
            <a:cxnLst/>
            <a:rect l="l" t="t" r="r" b="b"/>
            <a:pathLst>
              <a:path w="998219" h="141605">
                <a:moveTo>
                  <a:pt x="974342" y="141569"/>
                </a:moveTo>
                <a:lnTo>
                  <a:pt x="23389" y="141569"/>
                </a:lnTo>
                <a:lnTo>
                  <a:pt x="19950" y="140884"/>
                </a:lnTo>
                <a:lnTo>
                  <a:pt x="0" y="118179"/>
                </a:lnTo>
                <a:lnTo>
                  <a:pt x="0" y="114604"/>
                </a:lnTo>
                <a:lnTo>
                  <a:pt x="0" y="23388"/>
                </a:lnTo>
                <a:lnTo>
                  <a:pt x="23389" y="0"/>
                </a:lnTo>
                <a:lnTo>
                  <a:pt x="974342" y="0"/>
                </a:lnTo>
                <a:lnTo>
                  <a:pt x="997732" y="23388"/>
                </a:lnTo>
                <a:lnTo>
                  <a:pt x="997732" y="118179"/>
                </a:lnTo>
                <a:lnTo>
                  <a:pt x="977782" y="140884"/>
                </a:lnTo>
                <a:lnTo>
                  <a:pt x="974342" y="141569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4677772" y="2196186"/>
            <a:ext cx="290195" cy="141605"/>
          </a:xfrm>
          <a:custGeom>
            <a:avLst/>
            <a:gdLst/>
            <a:ahLst/>
            <a:cxnLst/>
            <a:rect l="l" t="t" r="r" b="b"/>
            <a:pathLst>
              <a:path w="290195" h="141605">
                <a:moveTo>
                  <a:pt x="266491" y="141569"/>
                </a:moveTo>
                <a:lnTo>
                  <a:pt x="23390" y="141569"/>
                </a:lnTo>
                <a:lnTo>
                  <a:pt x="19949" y="140884"/>
                </a:lnTo>
                <a:lnTo>
                  <a:pt x="0" y="118179"/>
                </a:lnTo>
                <a:lnTo>
                  <a:pt x="0" y="114604"/>
                </a:lnTo>
                <a:lnTo>
                  <a:pt x="0" y="23388"/>
                </a:lnTo>
                <a:lnTo>
                  <a:pt x="23390" y="0"/>
                </a:lnTo>
                <a:lnTo>
                  <a:pt x="266491" y="0"/>
                </a:lnTo>
                <a:lnTo>
                  <a:pt x="289881" y="23388"/>
                </a:lnTo>
                <a:lnTo>
                  <a:pt x="289881" y="118179"/>
                </a:lnTo>
                <a:lnTo>
                  <a:pt x="269931" y="140884"/>
                </a:lnTo>
                <a:lnTo>
                  <a:pt x="266491" y="141569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754257" y="2486067"/>
            <a:ext cx="1652270" cy="141605"/>
          </a:xfrm>
          <a:custGeom>
            <a:avLst/>
            <a:gdLst/>
            <a:ahLst/>
            <a:cxnLst/>
            <a:rect l="l" t="t" r="r" b="b"/>
            <a:pathLst>
              <a:path w="1652270" h="141605">
                <a:moveTo>
                  <a:pt x="1628261" y="141569"/>
                </a:moveTo>
                <a:lnTo>
                  <a:pt x="23389" y="141569"/>
                </a:lnTo>
                <a:lnTo>
                  <a:pt x="19950" y="140883"/>
                </a:lnTo>
                <a:lnTo>
                  <a:pt x="0" y="118179"/>
                </a:lnTo>
                <a:lnTo>
                  <a:pt x="0" y="114604"/>
                </a:lnTo>
                <a:lnTo>
                  <a:pt x="0" y="23388"/>
                </a:lnTo>
                <a:lnTo>
                  <a:pt x="23389" y="0"/>
                </a:lnTo>
                <a:lnTo>
                  <a:pt x="1628261" y="0"/>
                </a:lnTo>
                <a:lnTo>
                  <a:pt x="1651651" y="23388"/>
                </a:lnTo>
                <a:lnTo>
                  <a:pt x="1651651" y="118179"/>
                </a:lnTo>
                <a:lnTo>
                  <a:pt x="1631701" y="140883"/>
                </a:lnTo>
                <a:lnTo>
                  <a:pt x="1628261" y="141569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2931741" y="2661344"/>
            <a:ext cx="944244" cy="141605"/>
          </a:xfrm>
          <a:custGeom>
            <a:avLst/>
            <a:gdLst/>
            <a:ahLst/>
            <a:cxnLst/>
            <a:rect l="l" t="t" r="r" b="b"/>
            <a:pathLst>
              <a:path w="944245" h="141605">
                <a:moveTo>
                  <a:pt x="920410" y="141569"/>
                </a:moveTo>
                <a:lnTo>
                  <a:pt x="23389" y="141569"/>
                </a:lnTo>
                <a:lnTo>
                  <a:pt x="19949" y="140884"/>
                </a:lnTo>
                <a:lnTo>
                  <a:pt x="0" y="118179"/>
                </a:lnTo>
                <a:lnTo>
                  <a:pt x="0" y="114604"/>
                </a:lnTo>
                <a:lnTo>
                  <a:pt x="0" y="23388"/>
                </a:lnTo>
                <a:lnTo>
                  <a:pt x="23389" y="0"/>
                </a:lnTo>
                <a:lnTo>
                  <a:pt x="920410" y="0"/>
                </a:lnTo>
                <a:lnTo>
                  <a:pt x="943800" y="23388"/>
                </a:lnTo>
                <a:lnTo>
                  <a:pt x="943800" y="118179"/>
                </a:lnTo>
                <a:lnTo>
                  <a:pt x="923850" y="140884"/>
                </a:lnTo>
                <a:lnTo>
                  <a:pt x="920410" y="141569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754257" y="3119762"/>
            <a:ext cx="1240790" cy="141605"/>
          </a:xfrm>
          <a:custGeom>
            <a:avLst/>
            <a:gdLst/>
            <a:ahLst/>
            <a:cxnLst/>
            <a:rect l="l" t="t" r="r" b="b"/>
            <a:pathLst>
              <a:path w="1240789" h="141604">
                <a:moveTo>
                  <a:pt x="1217033" y="141569"/>
                </a:moveTo>
                <a:lnTo>
                  <a:pt x="23389" y="141569"/>
                </a:lnTo>
                <a:lnTo>
                  <a:pt x="19950" y="140884"/>
                </a:lnTo>
                <a:lnTo>
                  <a:pt x="0" y="118180"/>
                </a:lnTo>
                <a:lnTo>
                  <a:pt x="0" y="114604"/>
                </a:lnTo>
                <a:lnTo>
                  <a:pt x="0" y="23388"/>
                </a:lnTo>
                <a:lnTo>
                  <a:pt x="23389" y="0"/>
                </a:lnTo>
                <a:lnTo>
                  <a:pt x="1217033" y="0"/>
                </a:lnTo>
                <a:lnTo>
                  <a:pt x="1240423" y="23388"/>
                </a:lnTo>
                <a:lnTo>
                  <a:pt x="1240423" y="118180"/>
                </a:lnTo>
                <a:lnTo>
                  <a:pt x="1220473" y="140885"/>
                </a:lnTo>
                <a:lnTo>
                  <a:pt x="1217033" y="141569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754253" y="3746715"/>
            <a:ext cx="2036445" cy="316865"/>
          </a:xfrm>
          <a:custGeom>
            <a:avLst/>
            <a:gdLst/>
            <a:ahLst/>
            <a:cxnLst/>
            <a:rect l="l" t="t" r="r" b="b"/>
            <a:pathLst>
              <a:path w="2036445" h="316864">
                <a:moveTo>
                  <a:pt x="856157" y="198666"/>
                </a:moveTo>
                <a:lnTo>
                  <a:pt x="832764" y="175285"/>
                </a:lnTo>
                <a:lnTo>
                  <a:pt x="0" y="175285"/>
                </a:lnTo>
                <a:lnTo>
                  <a:pt x="0" y="316852"/>
                </a:lnTo>
                <a:lnTo>
                  <a:pt x="832764" y="316852"/>
                </a:lnTo>
                <a:lnTo>
                  <a:pt x="856157" y="293458"/>
                </a:lnTo>
                <a:lnTo>
                  <a:pt x="856157" y="198666"/>
                </a:lnTo>
                <a:close/>
              </a:path>
              <a:path w="2036445" h="316864">
                <a:moveTo>
                  <a:pt x="2035911" y="0"/>
                </a:moveTo>
                <a:lnTo>
                  <a:pt x="23393" y="0"/>
                </a:lnTo>
                <a:lnTo>
                  <a:pt x="19951" y="685"/>
                </a:lnTo>
                <a:lnTo>
                  <a:pt x="0" y="23393"/>
                </a:lnTo>
                <a:lnTo>
                  <a:pt x="0" y="118186"/>
                </a:lnTo>
                <a:lnTo>
                  <a:pt x="23393" y="141579"/>
                </a:lnTo>
                <a:lnTo>
                  <a:pt x="2035911" y="141579"/>
                </a:lnTo>
                <a:lnTo>
                  <a:pt x="2035911" y="0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3983393" y="3746715"/>
            <a:ext cx="2285365" cy="316865"/>
          </a:xfrm>
          <a:custGeom>
            <a:avLst/>
            <a:gdLst/>
            <a:ahLst/>
            <a:cxnLst/>
            <a:rect l="l" t="t" r="r" b="b"/>
            <a:pathLst>
              <a:path w="2285365" h="316864">
                <a:moveTo>
                  <a:pt x="525830" y="198666"/>
                </a:moveTo>
                <a:lnTo>
                  <a:pt x="502450" y="175285"/>
                </a:lnTo>
                <a:lnTo>
                  <a:pt x="23393" y="175285"/>
                </a:lnTo>
                <a:lnTo>
                  <a:pt x="0" y="198666"/>
                </a:lnTo>
                <a:lnTo>
                  <a:pt x="0" y="289890"/>
                </a:lnTo>
                <a:lnTo>
                  <a:pt x="0" y="293458"/>
                </a:lnTo>
                <a:lnTo>
                  <a:pt x="23393" y="316852"/>
                </a:lnTo>
                <a:lnTo>
                  <a:pt x="502450" y="316852"/>
                </a:lnTo>
                <a:lnTo>
                  <a:pt x="525830" y="293458"/>
                </a:lnTo>
                <a:lnTo>
                  <a:pt x="525830" y="198666"/>
                </a:lnTo>
                <a:close/>
              </a:path>
              <a:path w="2285365" h="316864">
                <a:moveTo>
                  <a:pt x="1644916" y="23393"/>
                </a:moveTo>
                <a:lnTo>
                  <a:pt x="1621523" y="0"/>
                </a:lnTo>
                <a:lnTo>
                  <a:pt x="488556" y="0"/>
                </a:lnTo>
                <a:lnTo>
                  <a:pt x="465162" y="23393"/>
                </a:lnTo>
                <a:lnTo>
                  <a:pt x="465162" y="114604"/>
                </a:lnTo>
                <a:lnTo>
                  <a:pt x="465162" y="118186"/>
                </a:lnTo>
                <a:lnTo>
                  <a:pt x="488556" y="141579"/>
                </a:lnTo>
                <a:lnTo>
                  <a:pt x="1621523" y="141579"/>
                </a:lnTo>
                <a:lnTo>
                  <a:pt x="1644916" y="118186"/>
                </a:lnTo>
                <a:lnTo>
                  <a:pt x="1644916" y="23393"/>
                </a:lnTo>
                <a:close/>
              </a:path>
              <a:path w="2285365" h="316864">
                <a:moveTo>
                  <a:pt x="2285352" y="198666"/>
                </a:moveTo>
                <a:lnTo>
                  <a:pt x="2261959" y="175285"/>
                </a:lnTo>
                <a:lnTo>
                  <a:pt x="1486281" y="175285"/>
                </a:lnTo>
                <a:lnTo>
                  <a:pt x="1462900" y="198666"/>
                </a:lnTo>
                <a:lnTo>
                  <a:pt x="1462900" y="289890"/>
                </a:lnTo>
                <a:lnTo>
                  <a:pt x="1462900" y="293458"/>
                </a:lnTo>
                <a:lnTo>
                  <a:pt x="1486281" y="316852"/>
                </a:lnTo>
                <a:lnTo>
                  <a:pt x="2261959" y="316852"/>
                </a:lnTo>
                <a:lnTo>
                  <a:pt x="2285352" y="293458"/>
                </a:lnTo>
                <a:lnTo>
                  <a:pt x="2285352" y="198666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754257" y="4211874"/>
            <a:ext cx="2009139" cy="141605"/>
          </a:xfrm>
          <a:custGeom>
            <a:avLst/>
            <a:gdLst/>
            <a:ahLst/>
            <a:cxnLst/>
            <a:rect l="l" t="t" r="r" b="b"/>
            <a:pathLst>
              <a:path w="2009139" h="141604">
                <a:moveTo>
                  <a:pt x="1985557" y="141569"/>
                </a:moveTo>
                <a:lnTo>
                  <a:pt x="23389" y="141569"/>
                </a:lnTo>
                <a:lnTo>
                  <a:pt x="19950" y="140883"/>
                </a:lnTo>
                <a:lnTo>
                  <a:pt x="0" y="118179"/>
                </a:lnTo>
                <a:lnTo>
                  <a:pt x="0" y="114604"/>
                </a:lnTo>
                <a:lnTo>
                  <a:pt x="0" y="23388"/>
                </a:lnTo>
                <a:lnTo>
                  <a:pt x="23389" y="0"/>
                </a:lnTo>
                <a:lnTo>
                  <a:pt x="1985557" y="0"/>
                </a:lnTo>
                <a:lnTo>
                  <a:pt x="2008947" y="23388"/>
                </a:lnTo>
                <a:lnTo>
                  <a:pt x="2008947" y="118179"/>
                </a:lnTo>
                <a:lnTo>
                  <a:pt x="1988997" y="140883"/>
                </a:lnTo>
                <a:lnTo>
                  <a:pt x="1985557" y="141569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2931731" y="4211878"/>
            <a:ext cx="4125595" cy="316865"/>
          </a:xfrm>
          <a:custGeom>
            <a:avLst/>
            <a:gdLst/>
            <a:ahLst/>
            <a:cxnLst/>
            <a:rect l="l" t="t" r="r" b="b"/>
            <a:pathLst>
              <a:path w="4125595" h="316864">
                <a:moveTo>
                  <a:pt x="1631429" y="23393"/>
                </a:moveTo>
                <a:lnTo>
                  <a:pt x="1608035" y="0"/>
                </a:lnTo>
                <a:lnTo>
                  <a:pt x="475068" y="0"/>
                </a:lnTo>
                <a:lnTo>
                  <a:pt x="451675" y="23393"/>
                </a:lnTo>
                <a:lnTo>
                  <a:pt x="451675" y="114604"/>
                </a:lnTo>
                <a:lnTo>
                  <a:pt x="451675" y="118186"/>
                </a:lnTo>
                <a:lnTo>
                  <a:pt x="475068" y="141566"/>
                </a:lnTo>
                <a:lnTo>
                  <a:pt x="1608035" y="141566"/>
                </a:lnTo>
                <a:lnTo>
                  <a:pt x="1631429" y="118186"/>
                </a:lnTo>
                <a:lnTo>
                  <a:pt x="1631429" y="23393"/>
                </a:lnTo>
                <a:close/>
              </a:path>
              <a:path w="4125595" h="316864">
                <a:moveTo>
                  <a:pt x="4125099" y="175272"/>
                </a:moveTo>
                <a:lnTo>
                  <a:pt x="23393" y="175272"/>
                </a:lnTo>
                <a:lnTo>
                  <a:pt x="19951" y="175958"/>
                </a:lnTo>
                <a:lnTo>
                  <a:pt x="0" y="198666"/>
                </a:lnTo>
                <a:lnTo>
                  <a:pt x="0" y="293458"/>
                </a:lnTo>
                <a:lnTo>
                  <a:pt x="23393" y="316852"/>
                </a:lnTo>
                <a:lnTo>
                  <a:pt x="4125099" y="316852"/>
                </a:lnTo>
                <a:lnTo>
                  <a:pt x="4125099" y="175272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graphicFrame>
        <p:nvGraphicFramePr>
          <p:cNvPr id="18" name="object 18"/>
          <p:cNvGraphicFramePr>
            <a:graphicFrameLocks noGrp="1"/>
          </p:cNvGraphicFramePr>
          <p:nvPr/>
        </p:nvGraphicFramePr>
        <p:xfrm>
          <a:off x="680102" y="571498"/>
          <a:ext cx="6484620" cy="40214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77415"/>
                <a:gridCol w="4224020"/>
              </a:tblGrid>
              <a:tr h="457834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DB_USER</a:t>
                      </a:r>
                      <a:r>
                        <a:rPr dirty="0" sz="750" spc="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=</a:t>
                      </a:r>
                      <a:r>
                        <a:rPr dirty="0" sz="750" spc="55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 spc="-1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"postgres"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90170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3025" marR="173990">
                        <a:lnSpc>
                          <a:spcPct val="121100"/>
                        </a:lnSpc>
                        <a:spcBef>
                          <a:spcPts val="270"/>
                        </a:spcBef>
                      </a:pPr>
                      <a:r>
                        <a:rPr dirty="0" sz="950" spc="-9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The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9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PostgreSQL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role/username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the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9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app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6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will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connect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2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as.</a:t>
                      </a:r>
                      <a:r>
                        <a:rPr dirty="0" sz="950" spc="22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"postgres"</a:t>
                      </a:r>
                      <a:r>
                        <a:rPr dirty="0" sz="750" spc="-1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950" spc="-6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is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the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4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default</a:t>
                      </a:r>
                      <a:r>
                        <a:rPr dirty="0" sz="950" spc="50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superuser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created</a:t>
                      </a:r>
                      <a:r>
                        <a:rPr dirty="0" sz="95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by</a:t>
                      </a:r>
                      <a:r>
                        <a:rPr dirty="0" sz="95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9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a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fresh</a:t>
                      </a:r>
                      <a:r>
                        <a:rPr dirty="0" sz="95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9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PostgreSQL</a:t>
                      </a:r>
                      <a:r>
                        <a:rPr dirty="0" sz="95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install.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34290">
                    <a:lnL w="9525">
                      <a:solidFill>
                        <a:srgbClr val="D0D5DA"/>
                      </a:solidFill>
                      <a:prstDash val="solid"/>
                    </a:lnL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</a:tr>
              <a:tr h="626745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DB_PASSWORD</a:t>
                      </a:r>
                      <a:r>
                        <a:rPr dirty="0" sz="750" spc="7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=</a:t>
                      </a:r>
                      <a:r>
                        <a:rPr dirty="0" sz="750" spc="7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 spc="-1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"ADMIN123"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90170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just" marL="73025" marR="27305">
                        <a:lnSpc>
                          <a:spcPct val="118700"/>
                        </a:lnSpc>
                        <a:spcBef>
                          <a:spcPts val="295"/>
                        </a:spcBef>
                      </a:pP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The</a:t>
                      </a:r>
                      <a:r>
                        <a:rPr dirty="0" sz="950" spc="-3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plaintext</a:t>
                      </a:r>
                      <a:r>
                        <a:rPr dirty="0" sz="950" spc="-3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password</a:t>
                      </a:r>
                      <a:r>
                        <a:rPr dirty="0" sz="950" spc="-3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for</a:t>
                      </a:r>
                      <a:r>
                        <a:rPr dirty="0" sz="950" spc="-3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that</a:t>
                      </a:r>
                      <a:r>
                        <a:rPr dirty="0" sz="950" spc="-3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6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role.</a:t>
                      </a:r>
                      <a:r>
                        <a:rPr dirty="0" sz="950" spc="-3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 b="1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Security</a:t>
                      </a:r>
                      <a:r>
                        <a:rPr dirty="0" sz="950" spc="-35" b="1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 b="1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note:</a:t>
                      </a:r>
                      <a:r>
                        <a:rPr dirty="0" sz="950" spc="-35" b="1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hard-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coding</a:t>
                      </a:r>
                      <a:r>
                        <a:rPr dirty="0" sz="950" spc="-3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credentials</a:t>
                      </a:r>
                      <a:r>
                        <a:rPr dirty="0" sz="950" spc="-3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in</a:t>
                      </a:r>
                      <a:r>
                        <a:rPr dirty="0" sz="950" spc="-3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source</a:t>
                      </a:r>
                      <a:r>
                        <a:rPr dirty="0" sz="950" spc="-3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9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code</a:t>
                      </a:r>
                      <a:r>
                        <a:rPr dirty="0" sz="950" spc="-3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6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is</a:t>
                      </a:r>
                      <a:r>
                        <a:rPr dirty="0" sz="950" spc="-3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not</a:t>
                      </a:r>
                      <a:r>
                        <a:rPr dirty="0" sz="950" spc="-3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safe</a:t>
                      </a:r>
                      <a:r>
                        <a:rPr dirty="0" sz="950" spc="-3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for</a:t>
                      </a:r>
                      <a:r>
                        <a:rPr dirty="0" sz="950" spc="-3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anything</a:t>
                      </a:r>
                      <a:r>
                        <a:rPr dirty="0" sz="950" spc="-3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beyond</a:t>
                      </a:r>
                      <a:r>
                        <a:rPr dirty="0" sz="950" spc="-3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local</a:t>
                      </a:r>
                      <a:r>
                        <a:rPr dirty="0" sz="950" spc="-3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experimentation</a:t>
                      </a:r>
                      <a:r>
                        <a:rPr dirty="0" sz="950" spc="-3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00" spc="-180">
                          <a:solidFill>
                            <a:srgbClr val="111726"/>
                          </a:solidFill>
                          <a:latin typeface="Arial"/>
                          <a:cs typeface="Arial"/>
                        </a:rPr>
                        <a:t>—</a:t>
                      </a:r>
                      <a:r>
                        <a:rPr dirty="0" sz="900" spc="-70">
                          <a:solidFill>
                            <a:srgbClr val="111726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50" spc="-6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this</a:t>
                      </a:r>
                      <a:r>
                        <a:rPr dirty="0" sz="950" spc="-3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should</a:t>
                      </a:r>
                      <a:r>
                        <a:rPr dirty="0" sz="950" spc="-3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10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come</a:t>
                      </a:r>
                      <a:r>
                        <a:rPr dirty="0" sz="950" spc="-3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from</a:t>
                      </a:r>
                      <a:r>
                        <a:rPr dirty="0" sz="950" spc="-3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a</a:t>
                      </a:r>
                      <a:r>
                        <a:rPr dirty="0" sz="950" spc="-3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environment</a:t>
                      </a:r>
                      <a:r>
                        <a:rPr dirty="0" sz="950" spc="-3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variable</a:t>
                      </a:r>
                      <a:r>
                        <a:rPr dirty="0" sz="950" spc="-3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or</a:t>
                      </a:r>
                      <a:r>
                        <a:rPr dirty="0" sz="950" spc="-3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secrets</a:t>
                      </a:r>
                      <a:r>
                        <a:rPr dirty="0" sz="950" spc="-3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manager</a:t>
                      </a:r>
                      <a:r>
                        <a:rPr dirty="0" sz="950" spc="-3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in</a:t>
                      </a:r>
                      <a:r>
                        <a:rPr dirty="0" sz="950" spc="-3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a</a:t>
                      </a:r>
                      <a:r>
                        <a:rPr dirty="0" sz="950" spc="-3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real</a:t>
                      </a:r>
                      <a:r>
                        <a:rPr dirty="0" sz="950" spc="-3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deployment.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37465">
                    <a:lnL w="9525">
                      <a:solidFill>
                        <a:srgbClr val="D0D5DA"/>
                      </a:solidFill>
                      <a:prstDash val="solid"/>
                    </a:lnL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</a:tr>
              <a:tr h="457834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DB_HOST</a:t>
                      </a:r>
                      <a:r>
                        <a:rPr dirty="0" sz="750" spc="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=</a:t>
                      </a:r>
                      <a:r>
                        <a:rPr dirty="0" sz="750" spc="55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 spc="-1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"localhost"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90170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3025">
                        <a:lnSpc>
                          <a:spcPct val="121100"/>
                        </a:lnSpc>
                        <a:spcBef>
                          <a:spcPts val="270"/>
                        </a:spcBef>
                      </a:pPr>
                      <a:r>
                        <a:rPr dirty="0" sz="950" spc="-9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The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9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database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server's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network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6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address.</a:t>
                      </a:r>
                      <a:r>
                        <a:rPr dirty="0" sz="950" spc="23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"localhost"</a:t>
                      </a:r>
                      <a:r>
                        <a:rPr dirty="0" sz="750" spc="5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950" spc="-9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means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9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PostgreSQL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6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is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running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5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o</a:t>
                      </a:r>
                      <a:r>
                        <a:rPr dirty="0" sz="950" spc="50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the</a:t>
                      </a:r>
                      <a:r>
                        <a:rPr dirty="0" sz="950" spc="-2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9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same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machine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as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the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Python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script.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34290">
                    <a:lnL w="9525">
                      <a:solidFill>
                        <a:srgbClr val="D0D5DA"/>
                      </a:solidFill>
                      <a:prstDash val="solid"/>
                    </a:lnL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DB_PORT</a:t>
                      </a:r>
                      <a:r>
                        <a:rPr dirty="0" sz="750" spc="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=</a:t>
                      </a:r>
                      <a:r>
                        <a:rPr dirty="0" sz="750" spc="55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 spc="-1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"5432"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90170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3025" marR="21590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950" spc="-9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The</a:t>
                      </a:r>
                      <a:r>
                        <a:rPr dirty="0" sz="950" spc="-2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9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TCP</a:t>
                      </a:r>
                      <a:r>
                        <a:rPr dirty="0" sz="950" spc="-2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port</a:t>
                      </a:r>
                      <a:r>
                        <a:rPr dirty="0" sz="950" spc="-2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9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PostgreSQL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listens</a:t>
                      </a:r>
                      <a:r>
                        <a:rPr dirty="0" sz="950" spc="-2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3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on.</a:t>
                      </a:r>
                      <a:r>
                        <a:rPr dirty="0" sz="950" spc="2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5432</a:t>
                      </a:r>
                      <a:r>
                        <a:rPr dirty="0" sz="750" spc="-25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950" spc="-6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is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Postgres's</a:t>
                      </a:r>
                      <a:r>
                        <a:rPr dirty="0" sz="950" spc="-2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standard</a:t>
                      </a:r>
                      <a:r>
                        <a:rPr dirty="0" sz="950" spc="-2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default</a:t>
                      </a:r>
                      <a:r>
                        <a:rPr dirty="0" sz="950" spc="-2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port.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64769">
                    <a:lnL w="9525">
                      <a:solidFill>
                        <a:srgbClr val="D0D5DA"/>
                      </a:solidFill>
                      <a:prstDash val="solid"/>
                    </a:lnL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</a:tr>
              <a:tr h="633095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DB_NAME</a:t>
                      </a:r>
                      <a:r>
                        <a:rPr dirty="0" sz="750" spc="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=</a:t>
                      </a:r>
                      <a:r>
                        <a:rPr dirty="0" sz="750" spc="55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 spc="-1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"rag_pgvector_db"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90170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3025" marR="12065">
                        <a:lnSpc>
                          <a:spcPct val="121100"/>
                        </a:lnSpc>
                        <a:spcBef>
                          <a:spcPts val="270"/>
                        </a:spcBef>
                      </a:pPr>
                      <a:r>
                        <a:rPr dirty="0" sz="950" spc="-9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The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6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speci</a:t>
                      </a:r>
                      <a:r>
                        <a:rPr dirty="0" sz="900" spc="-60">
                          <a:solidFill>
                            <a:srgbClr val="111726"/>
                          </a:solidFill>
                          <a:latin typeface="Arial"/>
                          <a:cs typeface="Arial"/>
                        </a:rPr>
                        <a:t>ﬁ</a:t>
                      </a:r>
                      <a:r>
                        <a:rPr dirty="0" sz="950" spc="-6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c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9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database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(schema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catalog)</a:t>
                      </a:r>
                      <a:r>
                        <a:rPr dirty="0" sz="95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inside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the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9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PostgreSQL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server</a:t>
                      </a:r>
                      <a:r>
                        <a:rPr dirty="0" sz="95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that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6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will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hold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2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the</a:t>
                      </a:r>
                      <a:r>
                        <a:rPr dirty="0" sz="95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document_chunks</a:t>
                      </a:r>
                      <a:r>
                        <a:rPr dirty="0" sz="750" spc="5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950" spc="-7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table.</a:t>
                      </a:r>
                      <a:r>
                        <a:rPr dirty="0" sz="95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This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9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database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9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must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already</a:t>
                      </a:r>
                      <a:r>
                        <a:rPr dirty="0" sz="95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exist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6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(or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9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be</a:t>
                      </a:r>
                      <a:r>
                        <a:rPr dirty="0" sz="95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created)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before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2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the</a:t>
                      </a:r>
                      <a:r>
                        <a:rPr dirty="0" sz="950" spc="50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script</a:t>
                      </a:r>
                      <a:r>
                        <a:rPr dirty="0" sz="950" spc="-2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runs.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34290">
                    <a:lnL w="9525">
                      <a:solidFill>
                        <a:srgbClr val="D0D5DA"/>
                      </a:solidFill>
                      <a:prstDash val="solid"/>
                    </a:lnL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</a:tr>
              <a:tr h="626745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DATABASE_URL</a:t>
                      </a:r>
                      <a:r>
                        <a:rPr dirty="0" sz="750" spc="75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=</a:t>
                      </a:r>
                      <a:r>
                        <a:rPr dirty="0" sz="750" spc="75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 spc="-1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(...)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90170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3025" marR="58419">
                        <a:lnSpc>
                          <a:spcPct val="118700"/>
                        </a:lnSpc>
                        <a:spcBef>
                          <a:spcPts val="295"/>
                        </a:spcBef>
                      </a:pP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Builds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9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a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SQLAlchemy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 b="1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connection</a:t>
                      </a:r>
                      <a:r>
                        <a:rPr dirty="0" sz="950" spc="-5" b="1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 b="1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string</a:t>
                      </a:r>
                      <a:r>
                        <a:rPr dirty="0" sz="950" spc="-10" b="1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by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concatenating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9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an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6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f-</a:t>
                      </a:r>
                      <a:r>
                        <a:rPr dirty="0" sz="950" spc="-7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string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across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two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2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lines</a:t>
                      </a:r>
                      <a:r>
                        <a:rPr dirty="0" sz="950" spc="50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using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implicit</a:t>
                      </a:r>
                      <a:r>
                        <a:rPr dirty="0" sz="95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string</a:t>
                      </a:r>
                      <a:r>
                        <a:rPr dirty="0" sz="95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concatenation</a:t>
                      </a:r>
                      <a:r>
                        <a:rPr dirty="0" sz="95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(adjacent</a:t>
                      </a:r>
                      <a:r>
                        <a:rPr dirty="0" sz="95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string</a:t>
                      </a:r>
                      <a:r>
                        <a:rPr dirty="0" sz="95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6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literals</a:t>
                      </a:r>
                      <a:r>
                        <a:rPr dirty="0" sz="95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in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parentheses</a:t>
                      </a:r>
                      <a:r>
                        <a:rPr dirty="0" sz="95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are</a:t>
                      </a:r>
                      <a:r>
                        <a:rPr dirty="0" sz="95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joined automatically).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37465">
                    <a:lnL w="9525">
                      <a:solidFill>
                        <a:srgbClr val="D0D5DA"/>
                      </a:solidFill>
                      <a:prstDash val="solid"/>
                    </a:lnL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</a:tr>
              <a:tr h="464820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dirty="0" sz="750" spc="-1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f"postgresql+psycopg2://{DB_USER}:</a:t>
                      </a:r>
                      <a:endParaRPr sz="750">
                        <a:latin typeface="Courier New"/>
                        <a:cs typeface="Courier New"/>
                      </a:endParaRPr>
                    </a:p>
                    <a:p>
                      <a:pPr marL="70485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dirty="0" sz="750" spc="-1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{DB_PASSWORD}"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90170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3025" marR="137795">
                        <a:lnSpc>
                          <a:spcPct val="121100"/>
                        </a:lnSpc>
                        <a:spcBef>
                          <a:spcPts val="270"/>
                        </a:spcBef>
                      </a:pPr>
                      <a:r>
                        <a:rPr dirty="0" sz="950" spc="-9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The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SQLAlchemy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dialect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3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pre</a:t>
                      </a:r>
                      <a:r>
                        <a:rPr dirty="0" sz="900" spc="-35">
                          <a:solidFill>
                            <a:srgbClr val="111726"/>
                          </a:solidFill>
                          <a:latin typeface="Arial"/>
                          <a:cs typeface="Arial"/>
                        </a:rPr>
                        <a:t>ﬁ</a:t>
                      </a:r>
                      <a:r>
                        <a:rPr dirty="0" sz="950" spc="-3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x.</a:t>
                      </a:r>
                      <a:r>
                        <a:rPr dirty="0" sz="950" spc="229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postgresql+psycopg2</a:t>
                      </a:r>
                      <a:r>
                        <a:rPr dirty="0" sz="750" spc="-15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950" spc="-6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tells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SQLAlchemy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to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talk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2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to</a:t>
                      </a:r>
                      <a:r>
                        <a:rPr dirty="0" sz="950" spc="50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9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PostgreSQL</a:t>
                      </a:r>
                      <a:r>
                        <a:rPr dirty="0" sz="950" spc="-2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using</a:t>
                      </a:r>
                      <a:r>
                        <a:rPr dirty="0" sz="950" spc="-2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3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the</a:t>
                      </a:r>
                      <a:r>
                        <a:rPr dirty="0" sz="950" spc="204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psycopg2</a:t>
                      </a:r>
                      <a:r>
                        <a:rPr dirty="0" sz="750" spc="-4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driver,</a:t>
                      </a:r>
                      <a:r>
                        <a:rPr dirty="0" sz="950" spc="-2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followed</a:t>
                      </a:r>
                      <a:r>
                        <a:rPr dirty="0" sz="950" spc="-2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2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by</a:t>
                      </a:r>
                      <a:r>
                        <a:rPr dirty="0" sz="950" spc="20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user:password</a:t>
                      </a:r>
                      <a:r>
                        <a:rPr dirty="0" sz="750" spc="-225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950" spc="-5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.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34290">
                    <a:lnL w="9525">
                      <a:solidFill>
                        <a:srgbClr val="D0D5DA"/>
                      </a:solidFill>
                      <a:prstDash val="solid"/>
                    </a:lnL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</a:tr>
              <a:tr h="464820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dirty="0" sz="750" spc="-1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f"@{DB_HOST}:{DB_PORT}/{DB_NAME}"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90170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3025" marR="21590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950" spc="-7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Appends</a:t>
                      </a:r>
                      <a:r>
                        <a:rPr dirty="0" sz="950" spc="23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@host:port/database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to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complete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the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URL,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producing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something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2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like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  <a:p>
                      <a:pPr marL="100330" marR="21590">
                        <a:lnSpc>
                          <a:spcPct val="100000"/>
                        </a:lnSpc>
                        <a:spcBef>
                          <a:spcPts val="439"/>
                        </a:spcBef>
                      </a:pPr>
                      <a:r>
                        <a:rPr dirty="0" sz="750" spc="-1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postgresql+psycopg2://postgres:ADMIN123@localhost:5432/rag_pgvector_d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64769">
                    <a:lnL w="9525">
                      <a:solidFill>
                        <a:srgbClr val="D0D5DA"/>
                      </a:solidFill>
                      <a:prstDash val="solid"/>
                    </a:lnL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9" name="object 19"/>
          <p:cNvSpPr/>
          <p:nvPr/>
        </p:nvSpPr>
        <p:spPr>
          <a:xfrm>
            <a:off x="943018" y="5243314"/>
            <a:ext cx="1004569" cy="195580"/>
          </a:xfrm>
          <a:custGeom>
            <a:avLst/>
            <a:gdLst/>
            <a:ahLst/>
            <a:cxnLst/>
            <a:rect l="l" t="t" r="r" b="b"/>
            <a:pathLst>
              <a:path w="1004569" h="195579">
                <a:moveTo>
                  <a:pt x="981083" y="195500"/>
                </a:moveTo>
                <a:lnTo>
                  <a:pt x="23389" y="195500"/>
                </a:lnTo>
                <a:lnTo>
                  <a:pt x="19950" y="194815"/>
                </a:lnTo>
                <a:lnTo>
                  <a:pt x="0" y="172112"/>
                </a:lnTo>
                <a:lnTo>
                  <a:pt x="0" y="168535"/>
                </a:lnTo>
                <a:lnTo>
                  <a:pt x="0" y="23389"/>
                </a:lnTo>
                <a:lnTo>
                  <a:pt x="23389" y="0"/>
                </a:lnTo>
                <a:lnTo>
                  <a:pt x="981083" y="0"/>
                </a:lnTo>
                <a:lnTo>
                  <a:pt x="1004473" y="23389"/>
                </a:lnTo>
                <a:lnTo>
                  <a:pt x="1004473" y="172112"/>
                </a:lnTo>
                <a:lnTo>
                  <a:pt x="984523" y="194816"/>
                </a:lnTo>
                <a:lnTo>
                  <a:pt x="981083" y="195500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/>
          <p:nvPr/>
        </p:nvSpPr>
        <p:spPr>
          <a:xfrm>
            <a:off x="667402" y="4708869"/>
            <a:ext cx="5502275" cy="73215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000" spc="-90" b="1">
                <a:solidFill>
                  <a:srgbClr val="111726"/>
                </a:solidFill>
                <a:latin typeface="Source Han Sans JP"/>
                <a:cs typeface="Source Han Sans JP"/>
              </a:rPr>
              <a:t>Output:</a:t>
            </a:r>
            <a:r>
              <a:rPr dirty="0" sz="1000" spc="-20" b="1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80">
                <a:solidFill>
                  <a:srgbClr val="111726"/>
                </a:solidFill>
                <a:latin typeface="Source Han Sans JP"/>
                <a:cs typeface="Source Han Sans JP"/>
              </a:rPr>
              <a:t>This</a:t>
            </a:r>
            <a:r>
              <a:rPr dirty="0" sz="1000" spc="-10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950" spc="-40">
                <a:solidFill>
                  <a:srgbClr val="111726"/>
                </a:solidFill>
                <a:latin typeface="Arial"/>
                <a:cs typeface="Arial"/>
              </a:rPr>
              <a:t>ﬁ</a:t>
            </a:r>
            <a:r>
              <a:rPr dirty="0" sz="1000" spc="-40">
                <a:solidFill>
                  <a:srgbClr val="111726"/>
                </a:solidFill>
                <a:latin typeface="Source Han Sans JP"/>
                <a:cs typeface="Source Han Sans JP"/>
              </a:rPr>
              <a:t>le</a:t>
            </a:r>
            <a:r>
              <a:rPr dirty="0" sz="1000" spc="-1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95">
                <a:solidFill>
                  <a:srgbClr val="111726"/>
                </a:solidFill>
                <a:latin typeface="Source Han Sans JP"/>
                <a:cs typeface="Source Han Sans JP"/>
              </a:rPr>
              <a:t>produces</a:t>
            </a:r>
            <a:r>
              <a:rPr dirty="0" sz="1000" spc="-10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105">
                <a:solidFill>
                  <a:srgbClr val="111726"/>
                </a:solidFill>
                <a:latin typeface="Source Han Sans JP"/>
                <a:cs typeface="Source Han Sans JP"/>
              </a:rPr>
              <a:t>no</a:t>
            </a:r>
            <a:r>
              <a:rPr dirty="0" sz="1000" spc="-1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90">
                <a:solidFill>
                  <a:srgbClr val="111726"/>
                </a:solidFill>
                <a:latin typeface="Source Han Sans JP"/>
                <a:cs typeface="Source Han Sans JP"/>
              </a:rPr>
              <a:t>runtime</a:t>
            </a:r>
            <a:r>
              <a:rPr dirty="0" sz="1000" spc="-10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85">
                <a:solidFill>
                  <a:srgbClr val="111726"/>
                </a:solidFill>
                <a:latin typeface="Source Han Sans JP"/>
                <a:cs typeface="Source Han Sans JP"/>
              </a:rPr>
              <a:t>output</a:t>
            </a:r>
            <a:r>
              <a:rPr dirty="0" sz="1000" spc="-10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100">
                <a:solidFill>
                  <a:srgbClr val="111726"/>
                </a:solidFill>
                <a:latin typeface="Source Han Sans JP"/>
                <a:cs typeface="Source Han Sans JP"/>
              </a:rPr>
              <a:t>by</a:t>
            </a:r>
            <a:r>
              <a:rPr dirty="0" sz="1000" spc="-1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65">
                <a:solidFill>
                  <a:srgbClr val="111726"/>
                </a:solidFill>
                <a:latin typeface="Source Han Sans JP"/>
                <a:cs typeface="Source Han Sans JP"/>
              </a:rPr>
              <a:t>itself</a:t>
            </a:r>
            <a:r>
              <a:rPr dirty="0" sz="1000" spc="-10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950" spc="-204">
                <a:solidFill>
                  <a:srgbClr val="111726"/>
                </a:solidFill>
                <a:latin typeface="Arial"/>
                <a:cs typeface="Arial"/>
              </a:rPr>
              <a:t>—</a:t>
            </a:r>
            <a:r>
              <a:rPr dirty="0" sz="950" spc="-55">
                <a:solidFill>
                  <a:srgbClr val="111726"/>
                </a:solidFill>
                <a:latin typeface="Arial"/>
                <a:cs typeface="Arial"/>
              </a:rPr>
              <a:t> </a:t>
            </a:r>
            <a:r>
              <a:rPr dirty="0" sz="1000" spc="-65">
                <a:solidFill>
                  <a:srgbClr val="111726"/>
                </a:solidFill>
                <a:latin typeface="Source Han Sans JP"/>
                <a:cs typeface="Source Han Sans JP"/>
              </a:rPr>
              <a:t>it</a:t>
            </a:r>
            <a:r>
              <a:rPr dirty="0" sz="1000" spc="-10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80">
                <a:solidFill>
                  <a:srgbClr val="111726"/>
                </a:solidFill>
                <a:latin typeface="Source Han Sans JP"/>
                <a:cs typeface="Source Han Sans JP"/>
              </a:rPr>
              <a:t>only</a:t>
            </a:r>
            <a:r>
              <a:rPr dirty="0" sz="1000" spc="-1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75">
                <a:solidFill>
                  <a:srgbClr val="111726"/>
                </a:solidFill>
                <a:latin typeface="Source Han Sans JP"/>
                <a:cs typeface="Source Han Sans JP"/>
              </a:rPr>
              <a:t>de</a:t>
            </a:r>
            <a:r>
              <a:rPr dirty="0" sz="950" spc="-75">
                <a:solidFill>
                  <a:srgbClr val="111726"/>
                </a:solidFill>
                <a:latin typeface="Arial"/>
                <a:cs typeface="Arial"/>
              </a:rPr>
              <a:t>ﬁ</a:t>
            </a:r>
            <a:r>
              <a:rPr dirty="0" sz="1000" spc="-75">
                <a:solidFill>
                  <a:srgbClr val="111726"/>
                </a:solidFill>
                <a:latin typeface="Source Han Sans JP"/>
                <a:cs typeface="Source Han Sans JP"/>
              </a:rPr>
              <a:t>nes</a:t>
            </a:r>
            <a:r>
              <a:rPr dirty="0" sz="1000" spc="-10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95">
                <a:solidFill>
                  <a:srgbClr val="111726"/>
                </a:solidFill>
                <a:latin typeface="Source Han Sans JP"/>
                <a:cs typeface="Source Han Sans JP"/>
              </a:rPr>
              <a:t>constants</a:t>
            </a:r>
            <a:r>
              <a:rPr dirty="0" sz="1000" spc="-10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90">
                <a:solidFill>
                  <a:srgbClr val="111726"/>
                </a:solidFill>
                <a:latin typeface="Source Han Sans JP"/>
                <a:cs typeface="Source Han Sans JP"/>
              </a:rPr>
              <a:t>imported</a:t>
            </a:r>
            <a:r>
              <a:rPr dirty="0" sz="1000" spc="-1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100">
                <a:solidFill>
                  <a:srgbClr val="111726"/>
                </a:solidFill>
                <a:latin typeface="Source Han Sans JP"/>
                <a:cs typeface="Source Han Sans JP"/>
              </a:rPr>
              <a:t>by</a:t>
            </a:r>
            <a:r>
              <a:rPr dirty="0" sz="1000" spc="-10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85">
                <a:solidFill>
                  <a:srgbClr val="111726"/>
                </a:solidFill>
                <a:latin typeface="Source Han Sans JP"/>
                <a:cs typeface="Source Han Sans JP"/>
              </a:rPr>
              <a:t>other</a:t>
            </a:r>
            <a:r>
              <a:rPr dirty="0" sz="1000" spc="-1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40">
                <a:solidFill>
                  <a:srgbClr val="111726"/>
                </a:solidFill>
                <a:latin typeface="Source Han Sans JP"/>
                <a:cs typeface="Source Han Sans JP"/>
              </a:rPr>
              <a:t>modules.</a:t>
            </a:r>
            <a:endParaRPr sz="1000">
              <a:latin typeface="Source Han Sans JP"/>
              <a:cs typeface="Source Han Sans JP"/>
            </a:endParaRPr>
          </a:p>
          <a:p>
            <a:pPr>
              <a:lnSpc>
                <a:spcPct val="100000"/>
              </a:lnSpc>
              <a:spcBef>
                <a:spcPts val="994"/>
              </a:spcBef>
            </a:pPr>
            <a:endParaRPr sz="850">
              <a:latin typeface="Source Han Sans JP"/>
              <a:cs typeface="Source Han Sans JP"/>
            </a:endParaRPr>
          </a:p>
          <a:p>
            <a:pPr marL="12700">
              <a:lnSpc>
                <a:spcPct val="100000"/>
              </a:lnSpc>
            </a:pPr>
            <a:r>
              <a:rPr dirty="0" sz="1300" spc="-30" b="1">
                <a:solidFill>
                  <a:srgbClr val="111726"/>
                </a:solidFill>
                <a:latin typeface="Trebuchet MS"/>
                <a:cs typeface="Trebuchet MS"/>
              </a:rPr>
              <a:t>1</a:t>
            </a:r>
            <a:r>
              <a:rPr dirty="0" sz="1450" spc="-30" b="1">
                <a:solidFill>
                  <a:srgbClr val="111726"/>
                </a:solidFill>
                <a:latin typeface="Source Han Sans JP"/>
                <a:cs typeface="Source Han Sans JP"/>
              </a:rPr>
              <a:t>.</a:t>
            </a:r>
            <a:r>
              <a:rPr dirty="0" sz="1300" spc="-30" b="1">
                <a:solidFill>
                  <a:srgbClr val="111726"/>
                </a:solidFill>
                <a:latin typeface="Trebuchet MS"/>
                <a:cs typeface="Trebuchet MS"/>
              </a:rPr>
              <a:t>2</a:t>
            </a:r>
            <a:r>
              <a:rPr dirty="0" sz="1300" spc="-60" b="1">
                <a:solidFill>
                  <a:srgbClr val="111726"/>
                </a:solidFill>
                <a:latin typeface="Trebuchet MS"/>
                <a:cs typeface="Trebuchet MS"/>
              </a:rPr>
              <a:t> </a:t>
            </a:r>
            <a:r>
              <a:rPr dirty="0" sz="1100" spc="-10" b="1">
                <a:solidFill>
                  <a:srgbClr val="111726"/>
                </a:solidFill>
                <a:latin typeface="Courier New"/>
                <a:cs typeface="Courier New"/>
              </a:rPr>
              <a:t>database.py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761782" y="5581437"/>
            <a:ext cx="2429510" cy="198755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 marR="5080">
              <a:lnSpc>
                <a:spcPct val="146500"/>
              </a:lnSpc>
              <a:spcBef>
                <a:spcPts val="125"/>
              </a:spcBef>
            </a:pP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from</a:t>
            </a:r>
            <a:r>
              <a:rPr dirty="0" sz="800" spc="3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sqlalchemy</a:t>
            </a:r>
            <a:r>
              <a:rPr dirty="0" sz="800" spc="3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import</a:t>
            </a:r>
            <a:r>
              <a:rPr dirty="0" sz="800" spc="3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 spc="-10">
                <a:solidFill>
                  <a:srgbClr val="E4E7EB"/>
                </a:solidFill>
                <a:latin typeface="Courier New"/>
                <a:cs typeface="Courier New"/>
              </a:rPr>
              <a:t>create_engine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from</a:t>
            </a:r>
            <a:r>
              <a:rPr dirty="0" sz="800" spc="4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sqlalchemy.orm</a:t>
            </a:r>
            <a:r>
              <a:rPr dirty="0" sz="800" spc="4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import</a:t>
            </a:r>
            <a:r>
              <a:rPr dirty="0" sz="800" spc="4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 spc="-10">
                <a:solidFill>
                  <a:srgbClr val="E4E7EB"/>
                </a:solidFill>
                <a:latin typeface="Courier New"/>
                <a:cs typeface="Courier New"/>
              </a:rPr>
              <a:t>sessionmaker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from</a:t>
            </a:r>
            <a:r>
              <a:rPr dirty="0" sz="800" spc="2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config</a:t>
            </a:r>
            <a:r>
              <a:rPr dirty="0" sz="800" spc="3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import</a:t>
            </a:r>
            <a:r>
              <a:rPr dirty="0" sz="800" spc="3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 spc="-10">
                <a:solidFill>
                  <a:srgbClr val="E4E7EB"/>
                </a:solidFill>
                <a:latin typeface="Courier New"/>
                <a:cs typeface="Courier New"/>
              </a:rPr>
              <a:t>DATABASE_URL</a:t>
            </a:r>
            <a:endParaRPr sz="800">
              <a:latin typeface="Courier New"/>
              <a:cs typeface="Courier New"/>
            </a:endParaRPr>
          </a:p>
          <a:p>
            <a:pPr marL="12700" marR="189865">
              <a:lnSpc>
                <a:spcPct val="293100"/>
              </a:lnSpc>
            </a:pP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engine</a:t>
            </a:r>
            <a:r>
              <a:rPr dirty="0" sz="800" spc="2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=</a:t>
            </a:r>
            <a:r>
              <a:rPr dirty="0" sz="800" spc="2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 spc="-10">
                <a:solidFill>
                  <a:srgbClr val="E4E7EB"/>
                </a:solidFill>
                <a:latin typeface="Courier New"/>
                <a:cs typeface="Courier New"/>
              </a:rPr>
              <a:t>create_engine(DATABASE_URL)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SessionLocal</a:t>
            </a:r>
            <a:r>
              <a:rPr dirty="0" sz="800" spc="3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=</a:t>
            </a:r>
            <a:r>
              <a:rPr dirty="0" sz="800" spc="3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 spc="-10">
                <a:solidFill>
                  <a:srgbClr val="E4E7EB"/>
                </a:solidFill>
                <a:latin typeface="Courier New"/>
                <a:cs typeface="Courier New"/>
              </a:rPr>
              <a:t>sessionmaker(</a:t>
            </a:r>
            <a:endParaRPr sz="800">
              <a:latin typeface="Courier New"/>
              <a:cs typeface="Courier New"/>
            </a:endParaRPr>
          </a:p>
          <a:p>
            <a:pPr marL="259079" marR="1114425">
              <a:lnSpc>
                <a:spcPct val="143800"/>
              </a:lnSpc>
            </a:pPr>
            <a:r>
              <a:rPr dirty="0" sz="800" spc="-10">
                <a:solidFill>
                  <a:srgbClr val="E4E7EB"/>
                </a:solidFill>
                <a:latin typeface="Courier New"/>
                <a:cs typeface="Courier New"/>
              </a:rPr>
              <a:t>autocommit=False, autoflush=False,</a:t>
            </a:r>
            <a:endParaRPr sz="800">
              <a:latin typeface="Courier New"/>
              <a:cs typeface="Courier New"/>
            </a:endParaRPr>
          </a:p>
          <a:p>
            <a:pPr marL="259079">
              <a:lnSpc>
                <a:spcPct val="100000"/>
              </a:lnSpc>
              <a:spcBef>
                <a:spcPts val="470"/>
              </a:spcBef>
            </a:pPr>
            <a:r>
              <a:rPr dirty="0" sz="800" spc="-10">
                <a:solidFill>
                  <a:srgbClr val="E4E7EB"/>
                </a:solidFill>
                <a:latin typeface="Courier New"/>
                <a:cs typeface="Courier New"/>
              </a:rPr>
              <a:t>bind=engine</a:t>
            </a:r>
            <a:endParaRPr sz="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420"/>
              </a:spcBef>
            </a:pPr>
            <a:r>
              <a:rPr dirty="0" sz="800" spc="-50">
                <a:solidFill>
                  <a:srgbClr val="E4E7EB"/>
                </a:solidFill>
                <a:latin typeface="Courier New"/>
                <a:cs typeface="Courier New"/>
              </a:rPr>
              <a:t>)</a:t>
            </a:r>
            <a:endParaRPr sz="800">
              <a:latin typeface="Courier New"/>
              <a:cs typeface="Courier New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754253" y="8162352"/>
            <a:ext cx="1328420" cy="316865"/>
          </a:xfrm>
          <a:custGeom>
            <a:avLst/>
            <a:gdLst/>
            <a:ahLst/>
            <a:cxnLst/>
            <a:rect l="l" t="t" r="r" b="b"/>
            <a:pathLst>
              <a:path w="1328420" h="316865">
                <a:moveTo>
                  <a:pt x="795489" y="198678"/>
                </a:moveTo>
                <a:lnTo>
                  <a:pt x="772096" y="175285"/>
                </a:lnTo>
                <a:lnTo>
                  <a:pt x="0" y="175285"/>
                </a:lnTo>
                <a:lnTo>
                  <a:pt x="0" y="316852"/>
                </a:lnTo>
                <a:lnTo>
                  <a:pt x="772096" y="316852"/>
                </a:lnTo>
                <a:lnTo>
                  <a:pt x="795489" y="293458"/>
                </a:lnTo>
                <a:lnTo>
                  <a:pt x="795489" y="198678"/>
                </a:lnTo>
                <a:close/>
              </a:path>
              <a:path w="1328420" h="316865">
                <a:moveTo>
                  <a:pt x="1328064" y="0"/>
                </a:moveTo>
                <a:lnTo>
                  <a:pt x="23393" y="0"/>
                </a:lnTo>
                <a:lnTo>
                  <a:pt x="19951" y="685"/>
                </a:lnTo>
                <a:lnTo>
                  <a:pt x="0" y="23393"/>
                </a:lnTo>
                <a:lnTo>
                  <a:pt x="0" y="118186"/>
                </a:lnTo>
                <a:lnTo>
                  <a:pt x="23393" y="141579"/>
                </a:lnTo>
                <a:lnTo>
                  <a:pt x="1328064" y="141579"/>
                </a:lnTo>
                <a:lnTo>
                  <a:pt x="1328064" y="0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754253" y="8627516"/>
            <a:ext cx="1564005" cy="316865"/>
          </a:xfrm>
          <a:custGeom>
            <a:avLst/>
            <a:gdLst/>
            <a:ahLst/>
            <a:cxnLst/>
            <a:rect l="l" t="t" r="r" b="b"/>
            <a:pathLst>
              <a:path w="1564005" h="316865">
                <a:moveTo>
                  <a:pt x="734809" y="198666"/>
                </a:moveTo>
                <a:lnTo>
                  <a:pt x="711428" y="175272"/>
                </a:lnTo>
                <a:lnTo>
                  <a:pt x="0" y="175272"/>
                </a:lnTo>
                <a:lnTo>
                  <a:pt x="0" y="316852"/>
                </a:lnTo>
                <a:lnTo>
                  <a:pt x="711428" y="316852"/>
                </a:lnTo>
                <a:lnTo>
                  <a:pt x="734809" y="293458"/>
                </a:lnTo>
                <a:lnTo>
                  <a:pt x="734809" y="198666"/>
                </a:lnTo>
                <a:close/>
              </a:path>
              <a:path w="1564005" h="316865">
                <a:moveTo>
                  <a:pt x="1564005" y="0"/>
                </a:moveTo>
                <a:lnTo>
                  <a:pt x="23393" y="0"/>
                </a:lnTo>
                <a:lnTo>
                  <a:pt x="19951" y="685"/>
                </a:lnTo>
                <a:lnTo>
                  <a:pt x="0" y="23393"/>
                </a:lnTo>
                <a:lnTo>
                  <a:pt x="0" y="118186"/>
                </a:lnTo>
                <a:lnTo>
                  <a:pt x="23393" y="141566"/>
                </a:lnTo>
                <a:lnTo>
                  <a:pt x="1564005" y="141566"/>
                </a:lnTo>
                <a:lnTo>
                  <a:pt x="1564005" y="0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3262071" y="8627513"/>
            <a:ext cx="762000" cy="141605"/>
          </a:xfrm>
          <a:custGeom>
            <a:avLst/>
            <a:gdLst/>
            <a:ahLst/>
            <a:cxnLst/>
            <a:rect l="l" t="t" r="r" b="b"/>
            <a:pathLst>
              <a:path w="762000" h="141604">
                <a:moveTo>
                  <a:pt x="738392" y="141568"/>
                </a:moveTo>
                <a:lnTo>
                  <a:pt x="23389" y="141568"/>
                </a:lnTo>
                <a:lnTo>
                  <a:pt x="19950" y="140883"/>
                </a:lnTo>
                <a:lnTo>
                  <a:pt x="0" y="118179"/>
                </a:lnTo>
                <a:lnTo>
                  <a:pt x="0" y="114604"/>
                </a:lnTo>
                <a:lnTo>
                  <a:pt x="0" y="23389"/>
                </a:lnTo>
                <a:lnTo>
                  <a:pt x="23389" y="0"/>
                </a:lnTo>
                <a:lnTo>
                  <a:pt x="738392" y="0"/>
                </a:lnTo>
                <a:lnTo>
                  <a:pt x="761781" y="23389"/>
                </a:lnTo>
                <a:lnTo>
                  <a:pt x="761781" y="118179"/>
                </a:lnTo>
                <a:lnTo>
                  <a:pt x="741831" y="140883"/>
                </a:lnTo>
                <a:lnTo>
                  <a:pt x="738392" y="141568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5756401" y="8627513"/>
            <a:ext cx="472440" cy="141605"/>
          </a:xfrm>
          <a:custGeom>
            <a:avLst/>
            <a:gdLst/>
            <a:ahLst/>
            <a:cxnLst/>
            <a:rect l="l" t="t" r="r" b="b"/>
            <a:pathLst>
              <a:path w="472439" h="141604">
                <a:moveTo>
                  <a:pt x="448510" y="141568"/>
                </a:moveTo>
                <a:lnTo>
                  <a:pt x="23390" y="141568"/>
                </a:lnTo>
                <a:lnTo>
                  <a:pt x="19949" y="140883"/>
                </a:lnTo>
                <a:lnTo>
                  <a:pt x="0" y="118179"/>
                </a:lnTo>
                <a:lnTo>
                  <a:pt x="0" y="114604"/>
                </a:lnTo>
                <a:lnTo>
                  <a:pt x="0" y="23389"/>
                </a:lnTo>
                <a:lnTo>
                  <a:pt x="23390" y="0"/>
                </a:lnTo>
                <a:lnTo>
                  <a:pt x="448510" y="0"/>
                </a:lnTo>
                <a:lnTo>
                  <a:pt x="471900" y="23389"/>
                </a:lnTo>
                <a:lnTo>
                  <a:pt x="471900" y="118179"/>
                </a:lnTo>
                <a:lnTo>
                  <a:pt x="451950" y="140883"/>
                </a:lnTo>
                <a:lnTo>
                  <a:pt x="448510" y="141568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754257" y="9092672"/>
            <a:ext cx="1887855" cy="141605"/>
          </a:xfrm>
          <a:custGeom>
            <a:avLst/>
            <a:gdLst/>
            <a:ahLst/>
            <a:cxnLst/>
            <a:rect l="l" t="t" r="r" b="b"/>
            <a:pathLst>
              <a:path w="1887855" h="141604">
                <a:moveTo>
                  <a:pt x="1864211" y="141568"/>
                </a:moveTo>
                <a:lnTo>
                  <a:pt x="23389" y="141568"/>
                </a:lnTo>
                <a:lnTo>
                  <a:pt x="19950" y="140883"/>
                </a:lnTo>
                <a:lnTo>
                  <a:pt x="0" y="118179"/>
                </a:lnTo>
                <a:lnTo>
                  <a:pt x="0" y="114604"/>
                </a:lnTo>
                <a:lnTo>
                  <a:pt x="0" y="23387"/>
                </a:lnTo>
                <a:lnTo>
                  <a:pt x="23389" y="0"/>
                </a:lnTo>
                <a:lnTo>
                  <a:pt x="1864211" y="0"/>
                </a:lnTo>
                <a:lnTo>
                  <a:pt x="1887601" y="23387"/>
                </a:lnTo>
                <a:lnTo>
                  <a:pt x="1887601" y="118179"/>
                </a:lnTo>
                <a:lnTo>
                  <a:pt x="1867651" y="140883"/>
                </a:lnTo>
                <a:lnTo>
                  <a:pt x="1864211" y="141568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4644064" y="9092672"/>
            <a:ext cx="586740" cy="141605"/>
          </a:xfrm>
          <a:custGeom>
            <a:avLst/>
            <a:gdLst/>
            <a:ahLst/>
            <a:cxnLst/>
            <a:rect l="l" t="t" r="r" b="b"/>
            <a:pathLst>
              <a:path w="586739" h="141604">
                <a:moveTo>
                  <a:pt x="563115" y="141568"/>
                </a:moveTo>
                <a:lnTo>
                  <a:pt x="23390" y="141568"/>
                </a:lnTo>
                <a:lnTo>
                  <a:pt x="19949" y="140883"/>
                </a:lnTo>
                <a:lnTo>
                  <a:pt x="0" y="118179"/>
                </a:lnTo>
                <a:lnTo>
                  <a:pt x="0" y="114604"/>
                </a:lnTo>
                <a:lnTo>
                  <a:pt x="0" y="23387"/>
                </a:lnTo>
                <a:lnTo>
                  <a:pt x="23390" y="0"/>
                </a:lnTo>
                <a:lnTo>
                  <a:pt x="563115" y="0"/>
                </a:lnTo>
                <a:lnTo>
                  <a:pt x="586505" y="23387"/>
                </a:lnTo>
                <a:lnTo>
                  <a:pt x="586505" y="118179"/>
                </a:lnTo>
                <a:lnTo>
                  <a:pt x="566554" y="140883"/>
                </a:lnTo>
                <a:lnTo>
                  <a:pt x="563115" y="141568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754253" y="9382556"/>
            <a:ext cx="1624965" cy="316865"/>
          </a:xfrm>
          <a:custGeom>
            <a:avLst/>
            <a:gdLst/>
            <a:ahLst/>
            <a:cxnLst/>
            <a:rect l="l" t="t" r="r" b="b"/>
            <a:pathLst>
              <a:path w="1624964" h="316865">
                <a:moveTo>
                  <a:pt x="498868" y="0"/>
                </a:moveTo>
                <a:lnTo>
                  <a:pt x="23393" y="0"/>
                </a:lnTo>
                <a:lnTo>
                  <a:pt x="19951" y="685"/>
                </a:lnTo>
                <a:lnTo>
                  <a:pt x="0" y="23393"/>
                </a:lnTo>
                <a:lnTo>
                  <a:pt x="0" y="118186"/>
                </a:lnTo>
                <a:lnTo>
                  <a:pt x="23393" y="141566"/>
                </a:lnTo>
                <a:lnTo>
                  <a:pt x="498868" y="141566"/>
                </a:lnTo>
                <a:lnTo>
                  <a:pt x="498868" y="0"/>
                </a:lnTo>
                <a:close/>
              </a:path>
              <a:path w="1624964" h="316865">
                <a:moveTo>
                  <a:pt x="1624685" y="198666"/>
                </a:moveTo>
                <a:lnTo>
                  <a:pt x="1601292" y="175272"/>
                </a:lnTo>
                <a:lnTo>
                  <a:pt x="0" y="175272"/>
                </a:lnTo>
                <a:lnTo>
                  <a:pt x="0" y="316852"/>
                </a:lnTo>
                <a:lnTo>
                  <a:pt x="1601292" y="316852"/>
                </a:lnTo>
                <a:lnTo>
                  <a:pt x="1624685" y="293458"/>
                </a:lnTo>
                <a:lnTo>
                  <a:pt x="1624685" y="198666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graphicFrame>
        <p:nvGraphicFramePr>
          <p:cNvPr id="29" name="object 29"/>
          <p:cNvGraphicFramePr>
            <a:graphicFrameLocks noGrp="1"/>
          </p:cNvGraphicFramePr>
          <p:nvPr/>
        </p:nvGraphicFramePr>
        <p:xfrm>
          <a:off x="680102" y="7798317"/>
          <a:ext cx="6278880" cy="19665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03120"/>
                <a:gridCol w="4091939"/>
              </a:tblGrid>
              <a:tr h="282575">
                <a:tc>
                  <a:txBody>
                    <a:bodyPr/>
                    <a:lstStyle/>
                    <a:p>
                      <a:pPr marL="70485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950" spc="-20" b="1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Line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64769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marL="73025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950" spc="-10" b="1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Explanation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64769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  <a:solidFill>
                      <a:srgbClr val="F7FAFB"/>
                    </a:solidFill>
                  </a:tcPr>
                </a:tc>
              </a:tr>
              <a:tr h="464820">
                <a:tc>
                  <a:txBody>
                    <a:bodyPr/>
                    <a:lstStyle/>
                    <a:p>
                      <a:pPr marL="70485" marR="695960" indent="26670">
                        <a:lnSpc>
                          <a:spcPct val="153300"/>
                        </a:lnSpc>
                        <a:spcBef>
                          <a:spcPts val="229"/>
                        </a:spcBef>
                      </a:pP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from</a:t>
                      </a:r>
                      <a:r>
                        <a:rPr dirty="0" sz="750" spc="75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sqlalchemy</a:t>
                      </a:r>
                      <a:r>
                        <a:rPr dirty="0" sz="750" spc="8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 spc="-1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import create_engine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29209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3025" marR="115570">
                        <a:lnSpc>
                          <a:spcPct val="116399"/>
                        </a:lnSpc>
                        <a:spcBef>
                          <a:spcPts val="320"/>
                        </a:spcBef>
                      </a:pP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Imports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the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factory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function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used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to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build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9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a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SQLAlchemy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 b="1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Engine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,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which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6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manages</a:t>
                      </a:r>
                      <a:r>
                        <a:rPr dirty="0" sz="950" spc="50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the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connection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pool</a:t>
                      </a:r>
                      <a:r>
                        <a:rPr dirty="0" sz="95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to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the</a:t>
                      </a:r>
                      <a:r>
                        <a:rPr dirty="0" sz="95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database.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40640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</a:tr>
              <a:tr h="464820">
                <a:tc>
                  <a:txBody>
                    <a:bodyPr/>
                    <a:lstStyle/>
                    <a:p>
                      <a:pPr marL="70485" marR="459105" indent="26670">
                        <a:lnSpc>
                          <a:spcPct val="153300"/>
                        </a:lnSpc>
                        <a:spcBef>
                          <a:spcPts val="229"/>
                        </a:spcBef>
                      </a:pP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from</a:t>
                      </a:r>
                      <a:r>
                        <a:rPr dirty="0" sz="750" spc="95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sqlalchemy.orm</a:t>
                      </a:r>
                      <a:r>
                        <a:rPr dirty="0" sz="750" spc="95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 spc="-1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import sessionmaker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29209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3025" marR="118745">
                        <a:lnSpc>
                          <a:spcPct val="121100"/>
                        </a:lnSpc>
                        <a:spcBef>
                          <a:spcPts val="270"/>
                        </a:spcBef>
                      </a:pPr>
                      <a:r>
                        <a:rPr dirty="0" sz="950" spc="-6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Imports</a:t>
                      </a:r>
                      <a:r>
                        <a:rPr dirty="0" sz="950" spc="20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sessionmaker</a:t>
                      </a:r>
                      <a:r>
                        <a:rPr dirty="0" sz="750" spc="-225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950" spc="-5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,</a:t>
                      </a:r>
                      <a:r>
                        <a:rPr dirty="0" sz="950" spc="-2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9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a</a:t>
                      </a:r>
                      <a:r>
                        <a:rPr dirty="0" sz="950" spc="-2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factory</a:t>
                      </a:r>
                      <a:r>
                        <a:rPr dirty="0" sz="950" spc="-2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that</a:t>
                      </a:r>
                      <a:r>
                        <a:rPr dirty="0" sz="950" spc="-2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produces</a:t>
                      </a:r>
                      <a:r>
                        <a:rPr dirty="0" sz="950" spc="-2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6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con</a:t>
                      </a:r>
                      <a:r>
                        <a:rPr dirty="0" sz="900" spc="-60">
                          <a:solidFill>
                            <a:srgbClr val="111726"/>
                          </a:solidFill>
                          <a:latin typeface="Arial"/>
                          <a:cs typeface="Arial"/>
                        </a:rPr>
                        <a:t>ﬁ</a:t>
                      </a:r>
                      <a:r>
                        <a:rPr dirty="0" sz="950" spc="-6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gured</a:t>
                      </a:r>
                      <a:r>
                        <a:rPr dirty="0" sz="950" spc="20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Session</a:t>
                      </a:r>
                      <a:r>
                        <a:rPr dirty="0" sz="750" spc="-3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classes</a:t>
                      </a:r>
                      <a:r>
                        <a:rPr dirty="0" sz="950" spc="-2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for</a:t>
                      </a:r>
                      <a:r>
                        <a:rPr dirty="0" sz="950" spc="50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the</a:t>
                      </a:r>
                      <a:r>
                        <a:rPr dirty="0" sz="95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10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ORM</a:t>
                      </a:r>
                      <a:r>
                        <a:rPr dirty="0" sz="95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layer</a:t>
                      </a:r>
                      <a:r>
                        <a:rPr dirty="0" sz="950" spc="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(used</a:t>
                      </a:r>
                      <a:r>
                        <a:rPr dirty="0" sz="95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to</a:t>
                      </a:r>
                      <a:r>
                        <a:rPr dirty="0" sz="95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9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add/query/commit</a:t>
                      </a:r>
                      <a:r>
                        <a:rPr dirty="0" sz="950" spc="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objects).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34290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from</a:t>
                      </a:r>
                      <a:r>
                        <a:rPr dirty="0" sz="750" spc="65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config</a:t>
                      </a:r>
                      <a:r>
                        <a:rPr dirty="0" sz="750" spc="65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import</a:t>
                      </a:r>
                      <a:r>
                        <a:rPr dirty="0" sz="750" spc="65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 spc="-1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DATABASE_URL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90170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3025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950" spc="-6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Pulls</a:t>
                      </a:r>
                      <a:r>
                        <a:rPr dirty="0" sz="950" spc="-2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in</a:t>
                      </a:r>
                      <a:r>
                        <a:rPr dirty="0" sz="950" spc="-2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the</a:t>
                      </a:r>
                      <a:r>
                        <a:rPr dirty="0" sz="950" spc="-2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connection</a:t>
                      </a:r>
                      <a:r>
                        <a:rPr dirty="0" sz="950" spc="-2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string</a:t>
                      </a:r>
                      <a:r>
                        <a:rPr dirty="0" sz="950" spc="-2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6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built</a:t>
                      </a:r>
                      <a:r>
                        <a:rPr dirty="0" sz="950" spc="-2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in</a:t>
                      </a:r>
                      <a:r>
                        <a:rPr dirty="0" sz="950" spc="20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config.py</a:t>
                      </a:r>
                      <a:r>
                        <a:rPr dirty="0" sz="750" spc="-225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950" spc="-5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.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64769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</a:tr>
              <a:tr h="464820">
                <a:tc>
                  <a:txBody>
                    <a:bodyPr/>
                    <a:lstStyle/>
                    <a:p>
                      <a:pPr marL="70485" marR="426720" indent="26670">
                        <a:lnSpc>
                          <a:spcPct val="153300"/>
                        </a:lnSpc>
                        <a:spcBef>
                          <a:spcPts val="229"/>
                        </a:spcBef>
                      </a:pP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engine</a:t>
                      </a:r>
                      <a:r>
                        <a:rPr dirty="0" sz="750" spc="7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 spc="-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= </a:t>
                      </a:r>
                      <a:r>
                        <a:rPr dirty="0" sz="750" spc="-1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create_engine(DATABASE_URL)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29209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3025" marR="419100">
                        <a:lnSpc>
                          <a:spcPct val="121100"/>
                        </a:lnSpc>
                        <a:spcBef>
                          <a:spcPts val="270"/>
                        </a:spcBef>
                      </a:pP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Creates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the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Engine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object.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This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does</a:t>
                      </a:r>
                      <a:r>
                        <a:rPr dirty="0" sz="95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90" b="1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not</a:t>
                      </a:r>
                      <a:r>
                        <a:rPr dirty="0" sz="950" spc="-5" b="1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open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9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a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connection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immediately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00" spc="-50">
                          <a:solidFill>
                            <a:srgbClr val="111726"/>
                          </a:solidFill>
                          <a:latin typeface="Arial"/>
                          <a:cs typeface="Arial"/>
                        </a:rPr>
                        <a:t>—</a:t>
                      </a:r>
                      <a:r>
                        <a:rPr dirty="0" sz="900" spc="500">
                          <a:solidFill>
                            <a:srgbClr val="111726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connections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are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opened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6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lazily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9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on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00" spc="-45">
                          <a:solidFill>
                            <a:srgbClr val="111726"/>
                          </a:solidFill>
                          <a:latin typeface="Arial"/>
                          <a:cs typeface="Arial"/>
                        </a:rPr>
                        <a:t>ﬁ</a:t>
                      </a:r>
                      <a:r>
                        <a:rPr dirty="0" sz="950" spc="-4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rst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use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and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pooled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for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reuse.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34290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80102" y="3166953"/>
            <a:ext cx="6202680" cy="6985"/>
          </a:xfrm>
          <a:custGeom>
            <a:avLst/>
            <a:gdLst/>
            <a:ahLst/>
            <a:cxnLst/>
            <a:rect l="l" t="t" r="r" b="b"/>
            <a:pathLst>
              <a:path w="6202680" h="6985">
                <a:moveTo>
                  <a:pt x="6202119" y="6741"/>
                </a:moveTo>
                <a:lnTo>
                  <a:pt x="0" y="6741"/>
                </a:lnTo>
                <a:lnTo>
                  <a:pt x="0" y="0"/>
                </a:lnTo>
                <a:lnTo>
                  <a:pt x="6202119" y="0"/>
                </a:lnTo>
                <a:lnTo>
                  <a:pt x="6202119" y="6741"/>
                </a:lnTo>
                <a:close/>
              </a:path>
            </a:pathLst>
          </a:custGeom>
          <a:solidFill>
            <a:srgbClr val="E4E7E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680102" y="3652336"/>
            <a:ext cx="6202680" cy="3566795"/>
          </a:xfrm>
          <a:custGeom>
            <a:avLst/>
            <a:gdLst/>
            <a:ahLst/>
            <a:cxnLst/>
            <a:rect l="l" t="t" r="r" b="b"/>
            <a:pathLst>
              <a:path w="6202680" h="3566795">
                <a:moveTo>
                  <a:pt x="6151728" y="3566218"/>
                </a:moveTo>
                <a:lnTo>
                  <a:pt x="50390" y="3566218"/>
                </a:lnTo>
                <a:lnTo>
                  <a:pt x="46883" y="3565872"/>
                </a:lnTo>
                <a:lnTo>
                  <a:pt x="11056" y="3545191"/>
                </a:lnTo>
                <a:lnTo>
                  <a:pt x="0" y="3515826"/>
                </a:lnTo>
                <a:lnTo>
                  <a:pt x="0" y="3512287"/>
                </a:lnTo>
                <a:lnTo>
                  <a:pt x="0" y="50388"/>
                </a:lnTo>
                <a:lnTo>
                  <a:pt x="18300" y="13290"/>
                </a:lnTo>
                <a:lnTo>
                  <a:pt x="50390" y="0"/>
                </a:lnTo>
                <a:lnTo>
                  <a:pt x="6151728" y="0"/>
                </a:lnTo>
                <a:lnTo>
                  <a:pt x="6188826" y="18296"/>
                </a:lnTo>
                <a:lnTo>
                  <a:pt x="6202118" y="50388"/>
                </a:lnTo>
                <a:lnTo>
                  <a:pt x="6202118" y="3515826"/>
                </a:lnTo>
                <a:lnTo>
                  <a:pt x="6183818" y="3552923"/>
                </a:lnTo>
                <a:lnTo>
                  <a:pt x="6155235" y="3565872"/>
                </a:lnTo>
                <a:lnTo>
                  <a:pt x="6151728" y="3566218"/>
                </a:lnTo>
                <a:close/>
              </a:path>
            </a:pathLst>
          </a:custGeom>
          <a:solidFill>
            <a:srgbClr val="0E172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754257" y="652398"/>
            <a:ext cx="1712595" cy="141605"/>
          </a:xfrm>
          <a:custGeom>
            <a:avLst/>
            <a:gdLst/>
            <a:ahLst/>
            <a:cxnLst/>
            <a:rect l="l" t="t" r="r" b="b"/>
            <a:pathLst>
              <a:path w="1712595" h="141604">
                <a:moveTo>
                  <a:pt x="1688934" y="141568"/>
                </a:moveTo>
                <a:lnTo>
                  <a:pt x="23389" y="141568"/>
                </a:lnTo>
                <a:lnTo>
                  <a:pt x="19950" y="140883"/>
                </a:lnTo>
                <a:lnTo>
                  <a:pt x="0" y="118179"/>
                </a:lnTo>
                <a:lnTo>
                  <a:pt x="0" y="114604"/>
                </a:lnTo>
                <a:lnTo>
                  <a:pt x="0" y="23389"/>
                </a:lnTo>
                <a:lnTo>
                  <a:pt x="23389" y="0"/>
                </a:lnTo>
                <a:lnTo>
                  <a:pt x="1688934" y="0"/>
                </a:lnTo>
                <a:lnTo>
                  <a:pt x="1712324" y="23389"/>
                </a:lnTo>
                <a:lnTo>
                  <a:pt x="1712324" y="118179"/>
                </a:lnTo>
                <a:lnTo>
                  <a:pt x="1692373" y="140883"/>
                </a:lnTo>
                <a:lnTo>
                  <a:pt x="1688934" y="141568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5426071" y="652398"/>
            <a:ext cx="883285" cy="141605"/>
          </a:xfrm>
          <a:custGeom>
            <a:avLst/>
            <a:gdLst/>
            <a:ahLst/>
            <a:cxnLst/>
            <a:rect l="l" t="t" r="r" b="b"/>
            <a:pathLst>
              <a:path w="883285" h="141604">
                <a:moveTo>
                  <a:pt x="859737" y="141568"/>
                </a:moveTo>
                <a:lnTo>
                  <a:pt x="23389" y="141568"/>
                </a:lnTo>
                <a:lnTo>
                  <a:pt x="19949" y="140883"/>
                </a:lnTo>
                <a:lnTo>
                  <a:pt x="0" y="118179"/>
                </a:lnTo>
                <a:lnTo>
                  <a:pt x="0" y="114604"/>
                </a:lnTo>
                <a:lnTo>
                  <a:pt x="0" y="23389"/>
                </a:lnTo>
                <a:lnTo>
                  <a:pt x="23389" y="0"/>
                </a:lnTo>
                <a:lnTo>
                  <a:pt x="859737" y="0"/>
                </a:lnTo>
                <a:lnTo>
                  <a:pt x="883127" y="23389"/>
                </a:lnTo>
                <a:lnTo>
                  <a:pt x="883127" y="118179"/>
                </a:lnTo>
                <a:lnTo>
                  <a:pt x="863176" y="140883"/>
                </a:lnTo>
                <a:lnTo>
                  <a:pt x="859737" y="141568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754257" y="1110815"/>
            <a:ext cx="1058545" cy="141605"/>
          </a:xfrm>
          <a:custGeom>
            <a:avLst/>
            <a:gdLst/>
            <a:ahLst/>
            <a:cxnLst/>
            <a:rect l="l" t="t" r="r" b="b"/>
            <a:pathLst>
              <a:path w="1058545" h="141605">
                <a:moveTo>
                  <a:pt x="1035015" y="141568"/>
                </a:moveTo>
                <a:lnTo>
                  <a:pt x="23389" y="141568"/>
                </a:lnTo>
                <a:lnTo>
                  <a:pt x="19950" y="140883"/>
                </a:lnTo>
                <a:lnTo>
                  <a:pt x="0" y="118180"/>
                </a:lnTo>
                <a:lnTo>
                  <a:pt x="0" y="114604"/>
                </a:lnTo>
                <a:lnTo>
                  <a:pt x="0" y="23389"/>
                </a:lnTo>
                <a:lnTo>
                  <a:pt x="23389" y="0"/>
                </a:lnTo>
                <a:lnTo>
                  <a:pt x="1035015" y="0"/>
                </a:lnTo>
                <a:lnTo>
                  <a:pt x="1058405" y="23389"/>
                </a:lnTo>
                <a:lnTo>
                  <a:pt x="1058405" y="118180"/>
                </a:lnTo>
                <a:lnTo>
                  <a:pt x="1038454" y="140883"/>
                </a:lnTo>
                <a:lnTo>
                  <a:pt x="1035015" y="141568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2857585" y="1279351"/>
            <a:ext cx="586740" cy="141605"/>
          </a:xfrm>
          <a:custGeom>
            <a:avLst/>
            <a:gdLst/>
            <a:ahLst/>
            <a:cxnLst/>
            <a:rect l="l" t="t" r="r" b="b"/>
            <a:pathLst>
              <a:path w="586739" h="141605">
                <a:moveTo>
                  <a:pt x="563115" y="141570"/>
                </a:moveTo>
                <a:lnTo>
                  <a:pt x="23389" y="141570"/>
                </a:lnTo>
                <a:lnTo>
                  <a:pt x="19950" y="140885"/>
                </a:lnTo>
                <a:lnTo>
                  <a:pt x="0" y="118179"/>
                </a:lnTo>
                <a:lnTo>
                  <a:pt x="0" y="114604"/>
                </a:lnTo>
                <a:lnTo>
                  <a:pt x="0" y="23387"/>
                </a:lnTo>
                <a:lnTo>
                  <a:pt x="23389" y="0"/>
                </a:lnTo>
                <a:lnTo>
                  <a:pt x="563115" y="0"/>
                </a:lnTo>
                <a:lnTo>
                  <a:pt x="586504" y="23387"/>
                </a:lnTo>
                <a:lnTo>
                  <a:pt x="586504" y="118179"/>
                </a:lnTo>
                <a:lnTo>
                  <a:pt x="566554" y="140885"/>
                </a:lnTo>
                <a:lnTo>
                  <a:pt x="563115" y="141570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754257" y="1569233"/>
            <a:ext cx="998219" cy="141605"/>
          </a:xfrm>
          <a:custGeom>
            <a:avLst/>
            <a:gdLst/>
            <a:ahLst/>
            <a:cxnLst/>
            <a:rect l="l" t="t" r="r" b="b"/>
            <a:pathLst>
              <a:path w="998219" h="141605">
                <a:moveTo>
                  <a:pt x="974342" y="141568"/>
                </a:moveTo>
                <a:lnTo>
                  <a:pt x="23389" y="141568"/>
                </a:lnTo>
                <a:lnTo>
                  <a:pt x="19950" y="140883"/>
                </a:lnTo>
                <a:lnTo>
                  <a:pt x="0" y="118177"/>
                </a:lnTo>
                <a:lnTo>
                  <a:pt x="0" y="114604"/>
                </a:lnTo>
                <a:lnTo>
                  <a:pt x="0" y="23389"/>
                </a:lnTo>
                <a:lnTo>
                  <a:pt x="23389" y="0"/>
                </a:lnTo>
                <a:lnTo>
                  <a:pt x="974342" y="0"/>
                </a:lnTo>
                <a:lnTo>
                  <a:pt x="997732" y="23389"/>
                </a:lnTo>
                <a:lnTo>
                  <a:pt x="997732" y="118177"/>
                </a:lnTo>
                <a:lnTo>
                  <a:pt x="977782" y="140883"/>
                </a:lnTo>
                <a:lnTo>
                  <a:pt x="974342" y="141568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754257" y="2027650"/>
            <a:ext cx="708025" cy="141605"/>
          </a:xfrm>
          <a:custGeom>
            <a:avLst/>
            <a:gdLst/>
            <a:ahLst/>
            <a:cxnLst/>
            <a:rect l="l" t="t" r="r" b="b"/>
            <a:pathLst>
              <a:path w="708025" h="141605">
                <a:moveTo>
                  <a:pt x="684460" y="141568"/>
                </a:moveTo>
                <a:lnTo>
                  <a:pt x="23389" y="141568"/>
                </a:lnTo>
                <a:lnTo>
                  <a:pt x="19950" y="140881"/>
                </a:lnTo>
                <a:lnTo>
                  <a:pt x="0" y="118177"/>
                </a:lnTo>
                <a:lnTo>
                  <a:pt x="0" y="114604"/>
                </a:lnTo>
                <a:lnTo>
                  <a:pt x="0" y="23389"/>
                </a:lnTo>
                <a:lnTo>
                  <a:pt x="23389" y="0"/>
                </a:lnTo>
                <a:lnTo>
                  <a:pt x="684460" y="0"/>
                </a:lnTo>
                <a:lnTo>
                  <a:pt x="707850" y="23389"/>
                </a:lnTo>
                <a:lnTo>
                  <a:pt x="707850" y="118177"/>
                </a:lnTo>
                <a:lnTo>
                  <a:pt x="687900" y="140881"/>
                </a:lnTo>
                <a:lnTo>
                  <a:pt x="684460" y="141568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3889024" y="2196186"/>
            <a:ext cx="944244" cy="141605"/>
          </a:xfrm>
          <a:custGeom>
            <a:avLst/>
            <a:gdLst/>
            <a:ahLst/>
            <a:cxnLst/>
            <a:rect l="l" t="t" r="r" b="b"/>
            <a:pathLst>
              <a:path w="944245" h="141605">
                <a:moveTo>
                  <a:pt x="920410" y="141568"/>
                </a:moveTo>
                <a:lnTo>
                  <a:pt x="23389" y="141568"/>
                </a:lnTo>
                <a:lnTo>
                  <a:pt x="19949" y="140883"/>
                </a:lnTo>
                <a:lnTo>
                  <a:pt x="0" y="118179"/>
                </a:lnTo>
                <a:lnTo>
                  <a:pt x="0" y="114604"/>
                </a:lnTo>
                <a:lnTo>
                  <a:pt x="0" y="23389"/>
                </a:lnTo>
                <a:lnTo>
                  <a:pt x="23389" y="0"/>
                </a:lnTo>
                <a:lnTo>
                  <a:pt x="920410" y="0"/>
                </a:lnTo>
                <a:lnTo>
                  <a:pt x="943800" y="23389"/>
                </a:lnTo>
                <a:lnTo>
                  <a:pt x="943800" y="118179"/>
                </a:lnTo>
                <a:lnTo>
                  <a:pt x="923850" y="140883"/>
                </a:lnTo>
                <a:lnTo>
                  <a:pt x="920410" y="141568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1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54257" y="2486068"/>
            <a:ext cx="114604" cy="141568"/>
          </a:xfrm>
          <a:prstGeom prst="rect">
            <a:avLst/>
          </a:prstGeom>
        </p:spPr>
      </p:pic>
      <p:sp>
        <p:nvSpPr>
          <p:cNvPr id="12" name="object 12"/>
          <p:cNvSpPr/>
          <p:nvPr/>
        </p:nvSpPr>
        <p:spPr>
          <a:xfrm>
            <a:off x="3376675" y="2486068"/>
            <a:ext cx="1058545" cy="141605"/>
          </a:xfrm>
          <a:custGeom>
            <a:avLst/>
            <a:gdLst/>
            <a:ahLst/>
            <a:cxnLst/>
            <a:rect l="l" t="t" r="r" b="b"/>
            <a:pathLst>
              <a:path w="1058545" h="141605">
                <a:moveTo>
                  <a:pt x="1035015" y="141568"/>
                </a:moveTo>
                <a:lnTo>
                  <a:pt x="23389" y="141568"/>
                </a:lnTo>
                <a:lnTo>
                  <a:pt x="19949" y="140883"/>
                </a:lnTo>
                <a:lnTo>
                  <a:pt x="0" y="118177"/>
                </a:lnTo>
                <a:lnTo>
                  <a:pt x="0" y="114604"/>
                </a:lnTo>
                <a:lnTo>
                  <a:pt x="0" y="23389"/>
                </a:lnTo>
                <a:lnTo>
                  <a:pt x="23389" y="0"/>
                </a:lnTo>
                <a:lnTo>
                  <a:pt x="1035015" y="0"/>
                </a:lnTo>
                <a:lnTo>
                  <a:pt x="1058405" y="23389"/>
                </a:lnTo>
                <a:lnTo>
                  <a:pt x="1058405" y="118177"/>
                </a:lnTo>
                <a:lnTo>
                  <a:pt x="1038455" y="140883"/>
                </a:lnTo>
                <a:lnTo>
                  <a:pt x="1035015" y="141568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graphicFrame>
        <p:nvGraphicFramePr>
          <p:cNvPr id="13" name="object 13"/>
          <p:cNvGraphicFramePr>
            <a:graphicFrameLocks noGrp="1"/>
          </p:cNvGraphicFramePr>
          <p:nvPr/>
        </p:nvGraphicFramePr>
        <p:xfrm>
          <a:off x="680102" y="571501"/>
          <a:ext cx="6278880" cy="21209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03120"/>
                <a:gridCol w="4091939"/>
              </a:tblGrid>
              <a:tr h="457834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SessionLocal</a:t>
                      </a:r>
                      <a:r>
                        <a:rPr dirty="0" sz="750" spc="75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=</a:t>
                      </a:r>
                      <a:r>
                        <a:rPr dirty="0" sz="750" spc="75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 spc="-1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sessionmaker(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90170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3025" marR="126364">
                        <a:lnSpc>
                          <a:spcPct val="121100"/>
                        </a:lnSpc>
                        <a:spcBef>
                          <a:spcPts val="270"/>
                        </a:spcBef>
                      </a:pP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Begins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con</a:t>
                      </a:r>
                      <a:r>
                        <a:rPr dirty="0" sz="900" spc="-70">
                          <a:solidFill>
                            <a:srgbClr val="111726"/>
                          </a:solidFill>
                          <a:latin typeface="Arial"/>
                          <a:cs typeface="Arial"/>
                        </a:rPr>
                        <a:t>ﬁ</a:t>
                      </a:r>
                      <a:r>
                        <a:rPr dirty="0" sz="950" spc="-7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guring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9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a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reusable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session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factory.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5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Calling</a:t>
                      </a:r>
                      <a:r>
                        <a:rPr dirty="0" sz="950" spc="23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SessionLocal()</a:t>
                      </a:r>
                      <a:r>
                        <a:rPr dirty="0" sz="750" spc="-5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950" spc="-7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later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2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will</a:t>
                      </a:r>
                      <a:r>
                        <a:rPr dirty="0" sz="950" spc="50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create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9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a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9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new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9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database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session.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34290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</a:tr>
              <a:tr h="457834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dirty="0" sz="750" spc="-1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autocommit=False,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90170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3025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Disables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9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autocommit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mode,</a:t>
                      </a:r>
                      <a:r>
                        <a:rPr dirty="0" sz="95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so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changes</a:t>
                      </a:r>
                      <a:r>
                        <a:rPr dirty="0" sz="95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are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only</a:t>
                      </a:r>
                      <a:r>
                        <a:rPr dirty="0" sz="95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persisted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to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the</a:t>
                      </a:r>
                      <a:r>
                        <a:rPr dirty="0" sz="95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9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database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2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when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  <a:p>
                      <a:pPr marL="100330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.commit()</a:t>
                      </a:r>
                      <a:r>
                        <a:rPr dirty="0" sz="750" spc="1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950" spc="-6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is</a:t>
                      </a:r>
                      <a:r>
                        <a:rPr dirty="0" sz="95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6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explicitly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called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00" spc="-180">
                          <a:solidFill>
                            <a:srgbClr val="111726"/>
                          </a:solidFill>
                          <a:latin typeface="Arial"/>
                          <a:cs typeface="Arial"/>
                        </a:rPr>
                        <a:t>—</a:t>
                      </a:r>
                      <a:r>
                        <a:rPr dirty="0" sz="900" spc="-40">
                          <a:solidFill>
                            <a:srgbClr val="111726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50" spc="-6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this</a:t>
                      </a:r>
                      <a:r>
                        <a:rPr dirty="0" sz="95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gives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explicit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transaction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control.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64769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</a:tr>
              <a:tr h="457834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dirty="0" sz="750" spc="-1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autoflush=False,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90170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3025" marR="288290">
                        <a:lnSpc>
                          <a:spcPct val="121100"/>
                        </a:lnSpc>
                        <a:spcBef>
                          <a:spcPts val="270"/>
                        </a:spcBef>
                      </a:pP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Prevents</a:t>
                      </a:r>
                      <a:r>
                        <a:rPr dirty="0" sz="95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SQLAlchemy</a:t>
                      </a:r>
                      <a:r>
                        <a:rPr dirty="0" sz="95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from</a:t>
                      </a:r>
                      <a:r>
                        <a:rPr dirty="0" sz="95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automatically</a:t>
                      </a:r>
                      <a:r>
                        <a:rPr dirty="0" sz="95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00" spc="-60">
                          <a:solidFill>
                            <a:srgbClr val="111726"/>
                          </a:solidFill>
                          <a:latin typeface="Arial"/>
                          <a:cs typeface="Arial"/>
                        </a:rPr>
                        <a:t>ﬂ</a:t>
                      </a:r>
                      <a:r>
                        <a:rPr dirty="0" sz="950" spc="-6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ushing</a:t>
                      </a:r>
                      <a:r>
                        <a:rPr dirty="0" sz="950" spc="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pending</a:t>
                      </a:r>
                      <a:r>
                        <a:rPr dirty="0" sz="95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changes</a:t>
                      </a:r>
                      <a:r>
                        <a:rPr dirty="0" sz="95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to</a:t>
                      </a:r>
                      <a:r>
                        <a:rPr dirty="0" sz="95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the</a:t>
                      </a:r>
                      <a:r>
                        <a:rPr dirty="0" sz="950" spc="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2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DB</a:t>
                      </a:r>
                      <a:r>
                        <a:rPr dirty="0" sz="950" spc="50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before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every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query,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giving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the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developer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control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over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9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when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writes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happen.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34290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</a:tr>
              <a:tr h="457834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dirty="0" sz="750" spc="-1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bind=engine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90170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3025" marR="504825">
                        <a:lnSpc>
                          <a:spcPct val="116399"/>
                        </a:lnSpc>
                        <a:spcBef>
                          <a:spcPts val="320"/>
                        </a:spcBef>
                      </a:pP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Binds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6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this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session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factory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to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the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Engine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created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above,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so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every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session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2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it</a:t>
                      </a:r>
                      <a:r>
                        <a:rPr dirty="0" sz="950" spc="50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produces</a:t>
                      </a:r>
                      <a:r>
                        <a:rPr dirty="0" sz="950" spc="-3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talks</a:t>
                      </a:r>
                      <a:r>
                        <a:rPr dirty="0" sz="950" spc="-2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to</a:t>
                      </a:r>
                      <a:r>
                        <a:rPr dirty="0" sz="950" spc="-2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the</a:t>
                      </a:r>
                      <a:r>
                        <a:rPr dirty="0" sz="950" spc="19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rag_pgvector_db</a:t>
                      </a:r>
                      <a:r>
                        <a:rPr dirty="0" sz="750" spc="-4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database.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40640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dirty="0" sz="750" spc="-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)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90170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3025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Closes</a:t>
                      </a:r>
                      <a:r>
                        <a:rPr dirty="0" sz="950" spc="-3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2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the</a:t>
                      </a:r>
                      <a:r>
                        <a:rPr dirty="0" sz="950" spc="19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sessionmaker(...)</a:t>
                      </a:r>
                      <a:r>
                        <a:rPr dirty="0" sz="750" spc="-35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950" spc="-2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call.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64769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4" name="object 14"/>
          <p:cNvSpPr/>
          <p:nvPr/>
        </p:nvSpPr>
        <p:spPr>
          <a:xfrm>
            <a:off x="4017111" y="2843364"/>
            <a:ext cx="424815" cy="148590"/>
          </a:xfrm>
          <a:custGeom>
            <a:avLst/>
            <a:gdLst/>
            <a:ahLst/>
            <a:cxnLst/>
            <a:rect l="l" t="t" r="r" b="b"/>
            <a:pathLst>
              <a:path w="424814" h="148589">
                <a:moveTo>
                  <a:pt x="401320" y="148310"/>
                </a:moveTo>
                <a:lnTo>
                  <a:pt x="23390" y="148310"/>
                </a:lnTo>
                <a:lnTo>
                  <a:pt x="19949" y="147625"/>
                </a:lnTo>
                <a:lnTo>
                  <a:pt x="0" y="124918"/>
                </a:lnTo>
                <a:lnTo>
                  <a:pt x="0" y="121345"/>
                </a:lnTo>
                <a:lnTo>
                  <a:pt x="0" y="23387"/>
                </a:lnTo>
                <a:lnTo>
                  <a:pt x="23390" y="0"/>
                </a:lnTo>
                <a:lnTo>
                  <a:pt x="401320" y="0"/>
                </a:lnTo>
                <a:lnTo>
                  <a:pt x="424710" y="23387"/>
                </a:lnTo>
                <a:lnTo>
                  <a:pt x="424710" y="124918"/>
                </a:lnTo>
                <a:lnTo>
                  <a:pt x="404760" y="147625"/>
                </a:lnTo>
                <a:lnTo>
                  <a:pt x="401320" y="148310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4684514" y="2843364"/>
            <a:ext cx="789305" cy="148590"/>
          </a:xfrm>
          <a:custGeom>
            <a:avLst/>
            <a:gdLst/>
            <a:ahLst/>
            <a:cxnLst/>
            <a:rect l="l" t="t" r="r" b="b"/>
            <a:pathLst>
              <a:path w="789304" h="148589">
                <a:moveTo>
                  <a:pt x="765357" y="148310"/>
                </a:moveTo>
                <a:lnTo>
                  <a:pt x="23389" y="148310"/>
                </a:lnTo>
                <a:lnTo>
                  <a:pt x="19949" y="147625"/>
                </a:lnTo>
                <a:lnTo>
                  <a:pt x="0" y="124918"/>
                </a:lnTo>
                <a:lnTo>
                  <a:pt x="0" y="121345"/>
                </a:lnTo>
                <a:lnTo>
                  <a:pt x="0" y="23387"/>
                </a:lnTo>
                <a:lnTo>
                  <a:pt x="23389" y="0"/>
                </a:lnTo>
                <a:lnTo>
                  <a:pt x="765357" y="0"/>
                </a:lnTo>
                <a:lnTo>
                  <a:pt x="788747" y="23387"/>
                </a:lnTo>
                <a:lnTo>
                  <a:pt x="788747" y="124918"/>
                </a:lnTo>
                <a:lnTo>
                  <a:pt x="768797" y="147625"/>
                </a:lnTo>
                <a:lnTo>
                  <a:pt x="765357" y="148310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943018" y="3348971"/>
            <a:ext cx="829310" cy="195580"/>
          </a:xfrm>
          <a:custGeom>
            <a:avLst/>
            <a:gdLst/>
            <a:ahLst/>
            <a:cxnLst/>
            <a:rect l="l" t="t" r="r" b="b"/>
            <a:pathLst>
              <a:path w="829310" h="195579">
                <a:moveTo>
                  <a:pt x="805806" y="195500"/>
                </a:moveTo>
                <a:lnTo>
                  <a:pt x="23389" y="195500"/>
                </a:lnTo>
                <a:lnTo>
                  <a:pt x="19950" y="194813"/>
                </a:lnTo>
                <a:lnTo>
                  <a:pt x="0" y="172108"/>
                </a:lnTo>
                <a:lnTo>
                  <a:pt x="0" y="168535"/>
                </a:lnTo>
                <a:lnTo>
                  <a:pt x="0" y="23389"/>
                </a:lnTo>
                <a:lnTo>
                  <a:pt x="23389" y="0"/>
                </a:lnTo>
                <a:lnTo>
                  <a:pt x="805806" y="0"/>
                </a:lnTo>
                <a:lnTo>
                  <a:pt x="829196" y="23389"/>
                </a:lnTo>
                <a:lnTo>
                  <a:pt x="829196" y="172108"/>
                </a:lnTo>
                <a:lnTo>
                  <a:pt x="809246" y="194813"/>
                </a:lnTo>
                <a:lnTo>
                  <a:pt x="805806" y="195500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667402" y="2807785"/>
            <a:ext cx="5922645" cy="7391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000" spc="-90" b="1">
                <a:solidFill>
                  <a:srgbClr val="111726"/>
                </a:solidFill>
                <a:latin typeface="Source Han Sans JP"/>
                <a:cs typeface="Source Han Sans JP"/>
              </a:rPr>
              <a:t>Output:</a:t>
            </a:r>
            <a:r>
              <a:rPr dirty="0" sz="1000" spc="-40" b="1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105">
                <a:solidFill>
                  <a:srgbClr val="111726"/>
                </a:solidFill>
                <a:latin typeface="Source Han Sans JP"/>
                <a:cs typeface="Source Han Sans JP"/>
              </a:rPr>
              <a:t>No</a:t>
            </a:r>
            <a:r>
              <a:rPr dirty="0" sz="1000" spc="-30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90">
                <a:solidFill>
                  <a:srgbClr val="111726"/>
                </a:solidFill>
                <a:latin typeface="Source Han Sans JP"/>
                <a:cs typeface="Source Han Sans JP"/>
              </a:rPr>
              <a:t>runtime</a:t>
            </a:r>
            <a:r>
              <a:rPr dirty="0" sz="1000" spc="-30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85">
                <a:solidFill>
                  <a:srgbClr val="111726"/>
                </a:solidFill>
                <a:latin typeface="Source Han Sans JP"/>
                <a:cs typeface="Source Han Sans JP"/>
              </a:rPr>
              <a:t>output</a:t>
            </a:r>
            <a:r>
              <a:rPr dirty="0" sz="1000" spc="-30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950" spc="-204">
                <a:solidFill>
                  <a:srgbClr val="111726"/>
                </a:solidFill>
                <a:latin typeface="Arial"/>
                <a:cs typeface="Arial"/>
              </a:rPr>
              <a:t>—</a:t>
            </a:r>
            <a:r>
              <a:rPr dirty="0" sz="950" spc="-75">
                <a:solidFill>
                  <a:srgbClr val="111726"/>
                </a:solidFill>
                <a:latin typeface="Arial"/>
                <a:cs typeface="Arial"/>
              </a:rPr>
              <a:t> </a:t>
            </a:r>
            <a:r>
              <a:rPr dirty="0" sz="1000" spc="-70">
                <a:solidFill>
                  <a:srgbClr val="111726"/>
                </a:solidFill>
                <a:latin typeface="Source Han Sans JP"/>
                <a:cs typeface="Source Han Sans JP"/>
              </a:rPr>
              <a:t>this</a:t>
            </a:r>
            <a:r>
              <a:rPr dirty="0" sz="1000" spc="-30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95">
                <a:solidFill>
                  <a:srgbClr val="111726"/>
                </a:solidFill>
                <a:latin typeface="Source Han Sans JP"/>
                <a:cs typeface="Source Han Sans JP"/>
              </a:rPr>
              <a:t>module</a:t>
            </a:r>
            <a:r>
              <a:rPr dirty="0" sz="1000" spc="-30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75">
                <a:solidFill>
                  <a:srgbClr val="111726"/>
                </a:solidFill>
                <a:latin typeface="Source Han Sans JP"/>
                <a:cs typeface="Source Han Sans JP"/>
              </a:rPr>
              <a:t>just</a:t>
            </a:r>
            <a:r>
              <a:rPr dirty="0" sz="1000" spc="-30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80">
                <a:solidFill>
                  <a:srgbClr val="111726"/>
                </a:solidFill>
                <a:latin typeface="Source Han Sans JP"/>
                <a:cs typeface="Source Han Sans JP"/>
              </a:rPr>
              <a:t>builds</a:t>
            </a:r>
            <a:r>
              <a:rPr dirty="0" sz="1000" spc="-30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95">
                <a:solidFill>
                  <a:srgbClr val="111726"/>
                </a:solidFill>
                <a:latin typeface="Source Han Sans JP"/>
                <a:cs typeface="Source Han Sans JP"/>
              </a:rPr>
              <a:t>and</a:t>
            </a:r>
            <a:r>
              <a:rPr dirty="0" sz="1000" spc="-3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75">
                <a:solidFill>
                  <a:srgbClr val="111726"/>
                </a:solidFill>
                <a:latin typeface="Source Han Sans JP"/>
                <a:cs typeface="Source Han Sans JP"/>
              </a:rPr>
              <a:t>exposes</a:t>
            </a:r>
            <a:r>
              <a:rPr dirty="0" sz="1000" spc="18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800">
                <a:solidFill>
                  <a:srgbClr val="111726"/>
                </a:solidFill>
                <a:latin typeface="Courier New"/>
                <a:cs typeface="Courier New"/>
              </a:rPr>
              <a:t>engine</a:t>
            </a:r>
            <a:r>
              <a:rPr dirty="0" sz="800" spc="-70">
                <a:solidFill>
                  <a:srgbClr val="111726"/>
                </a:solidFill>
                <a:latin typeface="Courier New"/>
                <a:cs typeface="Courier New"/>
              </a:rPr>
              <a:t> </a:t>
            </a:r>
            <a:r>
              <a:rPr dirty="0" sz="1000" spc="-55">
                <a:solidFill>
                  <a:srgbClr val="111726"/>
                </a:solidFill>
                <a:latin typeface="Source Han Sans JP"/>
                <a:cs typeface="Source Han Sans JP"/>
              </a:rPr>
              <a:t>and</a:t>
            </a:r>
            <a:r>
              <a:rPr dirty="0" sz="1000" spc="180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800">
                <a:solidFill>
                  <a:srgbClr val="111726"/>
                </a:solidFill>
                <a:latin typeface="Courier New"/>
                <a:cs typeface="Courier New"/>
              </a:rPr>
              <a:t>SessionLocal</a:t>
            </a:r>
            <a:r>
              <a:rPr dirty="0" sz="800" spc="-70">
                <a:solidFill>
                  <a:srgbClr val="111726"/>
                </a:solidFill>
                <a:latin typeface="Courier New"/>
                <a:cs typeface="Courier New"/>
              </a:rPr>
              <a:t> </a:t>
            </a:r>
            <a:r>
              <a:rPr dirty="0" sz="1000" spc="-70">
                <a:solidFill>
                  <a:srgbClr val="111726"/>
                </a:solidFill>
                <a:latin typeface="Source Han Sans JP"/>
                <a:cs typeface="Source Han Sans JP"/>
              </a:rPr>
              <a:t>for</a:t>
            </a:r>
            <a:r>
              <a:rPr dirty="0" sz="1000" spc="-30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85">
                <a:solidFill>
                  <a:srgbClr val="111726"/>
                </a:solidFill>
                <a:latin typeface="Source Han Sans JP"/>
                <a:cs typeface="Source Han Sans JP"/>
              </a:rPr>
              <a:t>import</a:t>
            </a:r>
            <a:r>
              <a:rPr dirty="0" sz="1000" spc="-30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45">
                <a:solidFill>
                  <a:srgbClr val="111726"/>
                </a:solidFill>
                <a:latin typeface="Source Han Sans JP"/>
                <a:cs typeface="Source Han Sans JP"/>
              </a:rPr>
              <a:t>elsewhere.</a:t>
            </a:r>
            <a:endParaRPr sz="1000">
              <a:latin typeface="Source Han Sans JP"/>
              <a:cs typeface="Source Han Sans JP"/>
            </a:endParaRPr>
          </a:p>
          <a:p>
            <a:pPr>
              <a:lnSpc>
                <a:spcPct val="100000"/>
              </a:lnSpc>
              <a:spcBef>
                <a:spcPts val="1045"/>
              </a:spcBef>
            </a:pPr>
            <a:endParaRPr sz="850">
              <a:latin typeface="Source Han Sans JP"/>
              <a:cs typeface="Source Han Sans JP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300" spc="-30" b="1">
                <a:solidFill>
                  <a:srgbClr val="111726"/>
                </a:solidFill>
                <a:latin typeface="Trebuchet MS"/>
                <a:cs typeface="Trebuchet MS"/>
              </a:rPr>
              <a:t>1</a:t>
            </a:r>
            <a:r>
              <a:rPr dirty="0" sz="1450" spc="-30" b="1">
                <a:solidFill>
                  <a:srgbClr val="111726"/>
                </a:solidFill>
                <a:latin typeface="Source Han Sans JP"/>
                <a:cs typeface="Source Han Sans JP"/>
              </a:rPr>
              <a:t>.</a:t>
            </a:r>
            <a:r>
              <a:rPr dirty="0" sz="1300" spc="-30" b="1">
                <a:solidFill>
                  <a:srgbClr val="111726"/>
                </a:solidFill>
                <a:latin typeface="Trebuchet MS"/>
                <a:cs typeface="Trebuchet MS"/>
              </a:rPr>
              <a:t>3</a:t>
            </a:r>
            <a:r>
              <a:rPr dirty="0" sz="1300" spc="-60" b="1">
                <a:solidFill>
                  <a:srgbClr val="111726"/>
                </a:solidFill>
                <a:latin typeface="Trebuchet MS"/>
                <a:cs typeface="Trebuchet MS"/>
              </a:rPr>
              <a:t> </a:t>
            </a:r>
            <a:r>
              <a:rPr dirty="0" sz="1100" spc="-10" b="1">
                <a:solidFill>
                  <a:srgbClr val="111726"/>
                </a:solidFill>
                <a:latin typeface="Courier New"/>
                <a:cs typeface="Courier New"/>
              </a:rPr>
              <a:t>models.py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61782" y="3700578"/>
            <a:ext cx="3230880" cy="3402965"/>
          </a:xfrm>
          <a:prstGeom prst="rect">
            <a:avLst/>
          </a:prstGeom>
        </p:spPr>
        <p:txBody>
          <a:bodyPr wrap="square" lIns="0" tIns="654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15"/>
              </a:spcBef>
            </a:pP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from</a:t>
            </a:r>
            <a:r>
              <a:rPr dirty="0" sz="800" spc="4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sqlalchemy.orm</a:t>
            </a:r>
            <a:r>
              <a:rPr dirty="0" sz="800" spc="4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import</a:t>
            </a:r>
            <a:r>
              <a:rPr dirty="0" sz="800" spc="4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 spc="-10">
                <a:solidFill>
                  <a:srgbClr val="E4E7EB"/>
                </a:solidFill>
                <a:latin typeface="Courier New"/>
                <a:cs typeface="Courier New"/>
              </a:rPr>
              <a:t>declarative_base</a:t>
            </a:r>
            <a:endParaRPr sz="800">
              <a:latin typeface="Courier New"/>
              <a:cs typeface="Courier New"/>
            </a:endParaRPr>
          </a:p>
          <a:p>
            <a:pPr marL="12700" marR="5080">
              <a:lnSpc>
                <a:spcPts val="1430"/>
              </a:lnSpc>
              <a:spcBef>
                <a:spcPts val="80"/>
              </a:spcBef>
            </a:pP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from</a:t>
            </a:r>
            <a:r>
              <a:rPr dirty="0" sz="800" spc="3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sqlalchemy</a:t>
            </a:r>
            <a:r>
              <a:rPr dirty="0" sz="800" spc="3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import</a:t>
            </a:r>
            <a:r>
              <a:rPr dirty="0" sz="800" spc="3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Column,</a:t>
            </a:r>
            <a:r>
              <a:rPr dirty="0" sz="800" spc="4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Integer,</a:t>
            </a:r>
            <a:r>
              <a:rPr dirty="0" sz="800" spc="3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String,</a:t>
            </a:r>
            <a:r>
              <a:rPr dirty="0" sz="800" spc="3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 spc="-20">
                <a:solidFill>
                  <a:srgbClr val="E4E7EB"/>
                </a:solidFill>
                <a:latin typeface="Courier New"/>
                <a:cs typeface="Courier New"/>
              </a:rPr>
              <a:t>Text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from</a:t>
            </a:r>
            <a:r>
              <a:rPr dirty="0" sz="800" spc="4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pgvector.sqlalchemy</a:t>
            </a:r>
            <a:r>
              <a:rPr dirty="0" sz="800" spc="5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import</a:t>
            </a:r>
            <a:r>
              <a:rPr dirty="0" sz="800" spc="5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 spc="-10">
                <a:solidFill>
                  <a:srgbClr val="E4E7EB"/>
                </a:solidFill>
                <a:latin typeface="Courier New"/>
                <a:cs typeface="Courier New"/>
              </a:rPr>
              <a:t>Vector</a:t>
            </a:r>
            <a:endParaRPr sz="800">
              <a:latin typeface="Courier New"/>
              <a:cs typeface="Courier New"/>
            </a:endParaRPr>
          </a:p>
          <a:p>
            <a:pPr marL="12700" marR="1607185">
              <a:lnSpc>
                <a:spcPts val="2760"/>
              </a:lnSpc>
              <a:spcBef>
                <a:spcPts val="320"/>
              </a:spcBef>
            </a:pP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Base</a:t>
            </a:r>
            <a:r>
              <a:rPr dirty="0" sz="800" spc="1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=</a:t>
            </a:r>
            <a:r>
              <a:rPr dirty="0" sz="800" spc="1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 spc="-10">
                <a:solidFill>
                  <a:srgbClr val="E4E7EB"/>
                </a:solidFill>
                <a:latin typeface="Courier New"/>
                <a:cs typeface="Courier New"/>
              </a:rPr>
              <a:t>declarative_base()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class</a:t>
            </a:r>
            <a:r>
              <a:rPr dirty="0" sz="800" spc="2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 spc="-10">
                <a:solidFill>
                  <a:srgbClr val="E4E7EB"/>
                </a:solidFill>
                <a:latin typeface="Courier New"/>
                <a:cs typeface="Courier New"/>
              </a:rPr>
              <a:t>DocumentChunk(Base):</a:t>
            </a:r>
            <a:endParaRPr sz="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555"/>
              </a:spcBef>
            </a:pPr>
            <a:endParaRPr sz="800">
              <a:latin typeface="Courier New"/>
              <a:cs typeface="Courier New"/>
            </a:endParaRPr>
          </a:p>
          <a:p>
            <a:pPr marL="259079">
              <a:lnSpc>
                <a:spcPct val="100000"/>
              </a:lnSpc>
            </a:pPr>
            <a:r>
              <a:rPr dirty="0" u="sng" sz="800" spc="290">
                <a:solidFill>
                  <a:srgbClr val="E4E7EB"/>
                </a:solidFill>
                <a:uFill>
                  <a:solidFill>
                    <a:srgbClr val="E3E6EA"/>
                  </a:solidFill>
                </a:uFill>
                <a:latin typeface="Times New Roman"/>
                <a:cs typeface="Times New Roman"/>
              </a:rPr>
              <a:t>  </a:t>
            </a:r>
            <a:r>
              <a:rPr dirty="0" u="none" sz="800">
                <a:solidFill>
                  <a:srgbClr val="E4E7EB"/>
                </a:solidFill>
                <a:latin typeface="Courier New"/>
                <a:cs typeface="Courier New"/>
              </a:rPr>
              <a:t>tablename</a:t>
            </a:r>
            <a:r>
              <a:rPr dirty="0" u="sng" sz="800" spc="385">
                <a:solidFill>
                  <a:srgbClr val="E4E7EB"/>
                </a:solidFill>
                <a:uFill>
                  <a:solidFill>
                    <a:srgbClr val="E3E6EA"/>
                  </a:solidFill>
                </a:uFill>
                <a:latin typeface="Times New Roman"/>
                <a:cs typeface="Times New Roman"/>
              </a:rPr>
              <a:t>  </a:t>
            </a:r>
            <a:r>
              <a:rPr dirty="0" u="none" sz="800" spc="105">
                <a:solidFill>
                  <a:srgbClr val="E4E7EB"/>
                </a:solidFill>
                <a:latin typeface="Times New Roman"/>
                <a:cs typeface="Times New Roman"/>
              </a:rPr>
              <a:t> </a:t>
            </a:r>
            <a:r>
              <a:rPr dirty="0" u="none" sz="800">
                <a:solidFill>
                  <a:srgbClr val="E4E7EB"/>
                </a:solidFill>
                <a:latin typeface="Courier New"/>
                <a:cs typeface="Courier New"/>
              </a:rPr>
              <a:t>=</a:t>
            </a:r>
            <a:r>
              <a:rPr dirty="0" u="none" sz="800" spc="1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u="none" sz="800" spc="-10">
                <a:solidFill>
                  <a:srgbClr val="E4E7EB"/>
                </a:solidFill>
                <a:latin typeface="Courier New"/>
                <a:cs typeface="Courier New"/>
              </a:rPr>
              <a:t>"document_chunks"</a:t>
            </a:r>
            <a:endParaRPr sz="800">
              <a:latin typeface="Courier New"/>
              <a:cs typeface="Courier New"/>
            </a:endParaRPr>
          </a:p>
          <a:p>
            <a:pPr marL="259079" marR="621030">
              <a:lnSpc>
                <a:spcPct val="291200"/>
              </a:lnSpc>
              <a:spcBef>
                <a:spcPts val="20"/>
              </a:spcBef>
            </a:pP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id</a:t>
            </a:r>
            <a:r>
              <a:rPr dirty="0" sz="800" spc="3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=</a:t>
            </a:r>
            <a:r>
              <a:rPr dirty="0" sz="800" spc="3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Column(Integer,</a:t>
            </a:r>
            <a:r>
              <a:rPr dirty="0" sz="800" spc="3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 spc="-10">
                <a:solidFill>
                  <a:srgbClr val="E4E7EB"/>
                </a:solidFill>
                <a:latin typeface="Courier New"/>
                <a:cs typeface="Courier New"/>
              </a:rPr>
              <a:t>primary_key=True)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filename</a:t>
            </a:r>
            <a:r>
              <a:rPr dirty="0" sz="800" spc="2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=</a:t>
            </a:r>
            <a:r>
              <a:rPr dirty="0" sz="800" spc="2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 spc="-10">
                <a:solidFill>
                  <a:srgbClr val="E4E7EB"/>
                </a:solidFill>
                <a:latin typeface="Courier New"/>
                <a:cs typeface="Courier New"/>
              </a:rPr>
              <a:t>Column(String)</a:t>
            </a:r>
            <a:r>
              <a:rPr dirty="0" sz="800" spc="500">
                <a:solidFill>
                  <a:srgbClr val="E4E7EB"/>
                </a:solidFill>
                <a:latin typeface="Courier New"/>
                <a:cs typeface="Courier New"/>
              </a:rPr>
              <a:t> 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chunk_number</a:t>
            </a:r>
            <a:r>
              <a:rPr dirty="0" sz="800" spc="3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=</a:t>
            </a:r>
            <a:r>
              <a:rPr dirty="0" sz="800" spc="3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 spc="-10">
                <a:solidFill>
                  <a:srgbClr val="E4E7EB"/>
                </a:solidFill>
                <a:latin typeface="Courier New"/>
                <a:cs typeface="Courier New"/>
              </a:rPr>
              <a:t>Column(Integer)</a:t>
            </a:r>
            <a:r>
              <a:rPr dirty="0" sz="800" spc="500">
                <a:solidFill>
                  <a:srgbClr val="E4E7EB"/>
                </a:solidFill>
                <a:latin typeface="Courier New"/>
                <a:cs typeface="Courier New"/>
              </a:rPr>
              <a:t> 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content</a:t>
            </a:r>
            <a:r>
              <a:rPr dirty="0" sz="800" spc="2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=</a:t>
            </a:r>
            <a:r>
              <a:rPr dirty="0" sz="800" spc="2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 spc="-10">
                <a:solidFill>
                  <a:srgbClr val="E4E7EB"/>
                </a:solidFill>
                <a:latin typeface="Courier New"/>
                <a:cs typeface="Courier New"/>
              </a:rPr>
              <a:t>Column(Text)</a:t>
            </a:r>
            <a:endParaRPr sz="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endParaRPr sz="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800">
              <a:latin typeface="Courier New"/>
              <a:cs typeface="Courier New"/>
            </a:endParaRPr>
          </a:p>
          <a:p>
            <a:pPr marL="259079">
              <a:lnSpc>
                <a:spcPct val="100000"/>
              </a:lnSpc>
            </a:pP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embedding</a:t>
            </a:r>
            <a:r>
              <a:rPr dirty="0" sz="800" spc="2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=</a:t>
            </a:r>
            <a:r>
              <a:rPr dirty="0" sz="800" spc="3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 spc="-10">
                <a:solidFill>
                  <a:srgbClr val="E4E7EB"/>
                </a:solidFill>
                <a:latin typeface="Courier New"/>
                <a:cs typeface="Courier New"/>
              </a:rPr>
              <a:t>Column(Vector(384))</a:t>
            </a:r>
            <a:endParaRPr sz="800">
              <a:latin typeface="Courier New"/>
              <a:cs typeface="Courier New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754253" y="7697203"/>
            <a:ext cx="1564005" cy="316865"/>
          </a:xfrm>
          <a:custGeom>
            <a:avLst/>
            <a:gdLst/>
            <a:ahLst/>
            <a:cxnLst/>
            <a:rect l="l" t="t" r="r" b="b"/>
            <a:pathLst>
              <a:path w="1564005" h="316865">
                <a:moveTo>
                  <a:pt x="970762" y="198666"/>
                </a:moveTo>
                <a:lnTo>
                  <a:pt x="947369" y="175272"/>
                </a:lnTo>
                <a:lnTo>
                  <a:pt x="0" y="175272"/>
                </a:lnTo>
                <a:lnTo>
                  <a:pt x="0" y="316839"/>
                </a:lnTo>
                <a:lnTo>
                  <a:pt x="947369" y="316839"/>
                </a:lnTo>
                <a:lnTo>
                  <a:pt x="970762" y="293458"/>
                </a:lnTo>
                <a:lnTo>
                  <a:pt x="970762" y="198666"/>
                </a:lnTo>
                <a:close/>
              </a:path>
              <a:path w="1564005" h="316865">
                <a:moveTo>
                  <a:pt x="1564005" y="0"/>
                </a:moveTo>
                <a:lnTo>
                  <a:pt x="23393" y="0"/>
                </a:lnTo>
                <a:lnTo>
                  <a:pt x="19951" y="685"/>
                </a:lnTo>
                <a:lnTo>
                  <a:pt x="0" y="23393"/>
                </a:lnTo>
                <a:lnTo>
                  <a:pt x="0" y="118173"/>
                </a:lnTo>
                <a:lnTo>
                  <a:pt x="23393" y="141566"/>
                </a:lnTo>
                <a:lnTo>
                  <a:pt x="1564005" y="141566"/>
                </a:lnTo>
                <a:lnTo>
                  <a:pt x="1564005" y="0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754253" y="8162352"/>
            <a:ext cx="1800225" cy="316865"/>
          </a:xfrm>
          <a:custGeom>
            <a:avLst/>
            <a:gdLst/>
            <a:ahLst/>
            <a:cxnLst/>
            <a:rect l="l" t="t" r="r" b="b"/>
            <a:pathLst>
              <a:path w="1800225" h="316865">
                <a:moveTo>
                  <a:pt x="1267383" y="198666"/>
                </a:moveTo>
                <a:lnTo>
                  <a:pt x="1244003" y="175285"/>
                </a:lnTo>
                <a:lnTo>
                  <a:pt x="0" y="175285"/>
                </a:lnTo>
                <a:lnTo>
                  <a:pt x="0" y="316852"/>
                </a:lnTo>
                <a:lnTo>
                  <a:pt x="1244003" y="316852"/>
                </a:lnTo>
                <a:lnTo>
                  <a:pt x="1267383" y="293458"/>
                </a:lnTo>
                <a:lnTo>
                  <a:pt x="1267383" y="198666"/>
                </a:lnTo>
                <a:close/>
              </a:path>
              <a:path w="1800225" h="316865">
                <a:moveTo>
                  <a:pt x="1799958" y="0"/>
                </a:moveTo>
                <a:lnTo>
                  <a:pt x="23393" y="0"/>
                </a:lnTo>
                <a:lnTo>
                  <a:pt x="19951" y="685"/>
                </a:lnTo>
                <a:lnTo>
                  <a:pt x="0" y="23393"/>
                </a:lnTo>
                <a:lnTo>
                  <a:pt x="0" y="118186"/>
                </a:lnTo>
                <a:lnTo>
                  <a:pt x="23393" y="141579"/>
                </a:lnTo>
                <a:lnTo>
                  <a:pt x="1799958" y="141579"/>
                </a:lnTo>
                <a:lnTo>
                  <a:pt x="1799958" y="0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754253" y="8627516"/>
            <a:ext cx="1861185" cy="316865"/>
          </a:xfrm>
          <a:custGeom>
            <a:avLst/>
            <a:gdLst/>
            <a:ahLst/>
            <a:cxnLst/>
            <a:rect l="l" t="t" r="r" b="b"/>
            <a:pathLst>
              <a:path w="1861185" h="316865">
                <a:moveTo>
                  <a:pt x="384263" y="198666"/>
                </a:moveTo>
                <a:lnTo>
                  <a:pt x="360870" y="175285"/>
                </a:lnTo>
                <a:lnTo>
                  <a:pt x="0" y="175285"/>
                </a:lnTo>
                <a:lnTo>
                  <a:pt x="0" y="316852"/>
                </a:lnTo>
                <a:lnTo>
                  <a:pt x="360870" y="316852"/>
                </a:lnTo>
                <a:lnTo>
                  <a:pt x="384263" y="293458"/>
                </a:lnTo>
                <a:lnTo>
                  <a:pt x="384263" y="198666"/>
                </a:lnTo>
                <a:close/>
              </a:path>
              <a:path w="1861185" h="316865">
                <a:moveTo>
                  <a:pt x="1860638" y="0"/>
                </a:moveTo>
                <a:lnTo>
                  <a:pt x="23393" y="0"/>
                </a:lnTo>
                <a:lnTo>
                  <a:pt x="19951" y="685"/>
                </a:lnTo>
                <a:lnTo>
                  <a:pt x="0" y="23393"/>
                </a:lnTo>
                <a:lnTo>
                  <a:pt x="0" y="118186"/>
                </a:lnTo>
                <a:lnTo>
                  <a:pt x="23393" y="141566"/>
                </a:lnTo>
                <a:lnTo>
                  <a:pt x="1860638" y="141566"/>
                </a:lnTo>
                <a:lnTo>
                  <a:pt x="1860638" y="0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3774420" y="8627514"/>
            <a:ext cx="411480" cy="141605"/>
          </a:xfrm>
          <a:custGeom>
            <a:avLst/>
            <a:gdLst/>
            <a:ahLst/>
            <a:cxnLst/>
            <a:rect l="l" t="t" r="r" b="b"/>
            <a:pathLst>
              <a:path w="411479" h="141604">
                <a:moveTo>
                  <a:pt x="387837" y="141568"/>
                </a:moveTo>
                <a:lnTo>
                  <a:pt x="23389" y="141568"/>
                </a:lnTo>
                <a:lnTo>
                  <a:pt x="19949" y="140881"/>
                </a:lnTo>
                <a:lnTo>
                  <a:pt x="0" y="118177"/>
                </a:lnTo>
                <a:lnTo>
                  <a:pt x="0" y="114604"/>
                </a:lnTo>
                <a:lnTo>
                  <a:pt x="0" y="23389"/>
                </a:lnTo>
                <a:lnTo>
                  <a:pt x="23389" y="0"/>
                </a:lnTo>
                <a:lnTo>
                  <a:pt x="387837" y="0"/>
                </a:lnTo>
                <a:lnTo>
                  <a:pt x="411227" y="23389"/>
                </a:lnTo>
                <a:lnTo>
                  <a:pt x="411227" y="118177"/>
                </a:lnTo>
                <a:lnTo>
                  <a:pt x="391277" y="140881"/>
                </a:lnTo>
                <a:lnTo>
                  <a:pt x="387837" y="141568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4880013" y="8627516"/>
            <a:ext cx="748665" cy="316865"/>
          </a:xfrm>
          <a:custGeom>
            <a:avLst/>
            <a:gdLst/>
            <a:ahLst/>
            <a:cxnLst/>
            <a:rect l="l" t="t" r="r" b="b"/>
            <a:pathLst>
              <a:path w="748664" h="316865">
                <a:moveTo>
                  <a:pt x="532574" y="23393"/>
                </a:moveTo>
                <a:lnTo>
                  <a:pt x="509181" y="0"/>
                </a:lnTo>
                <a:lnTo>
                  <a:pt x="23380" y="0"/>
                </a:lnTo>
                <a:lnTo>
                  <a:pt x="0" y="23393"/>
                </a:lnTo>
                <a:lnTo>
                  <a:pt x="0" y="114604"/>
                </a:lnTo>
                <a:lnTo>
                  <a:pt x="0" y="118186"/>
                </a:lnTo>
                <a:lnTo>
                  <a:pt x="23380" y="141566"/>
                </a:lnTo>
                <a:lnTo>
                  <a:pt x="509181" y="141566"/>
                </a:lnTo>
                <a:lnTo>
                  <a:pt x="532574" y="118186"/>
                </a:lnTo>
                <a:lnTo>
                  <a:pt x="532574" y="23393"/>
                </a:lnTo>
                <a:close/>
              </a:path>
              <a:path w="748664" h="316865">
                <a:moveTo>
                  <a:pt x="748296" y="198666"/>
                </a:moveTo>
                <a:lnTo>
                  <a:pt x="724903" y="175285"/>
                </a:lnTo>
                <a:lnTo>
                  <a:pt x="360451" y="175285"/>
                </a:lnTo>
                <a:lnTo>
                  <a:pt x="337070" y="198666"/>
                </a:lnTo>
                <a:lnTo>
                  <a:pt x="337070" y="289890"/>
                </a:lnTo>
                <a:lnTo>
                  <a:pt x="337070" y="293458"/>
                </a:lnTo>
                <a:lnTo>
                  <a:pt x="360451" y="316852"/>
                </a:lnTo>
                <a:lnTo>
                  <a:pt x="724903" y="316852"/>
                </a:lnTo>
                <a:lnTo>
                  <a:pt x="748296" y="293458"/>
                </a:lnTo>
                <a:lnTo>
                  <a:pt x="748296" y="198666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754257" y="9092673"/>
            <a:ext cx="1530350" cy="141605"/>
          </a:xfrm>
          <a:custGeom>
            <a:avLst/>
            <a:gdLst/>
            <a:ahLst/>
            <a:cxnLst/>
            <a:rect l="l" t="t" r="r" b="b"/>
            <a:pathLst>
              <a:path w="1530350" h="141604">
                <a:moveTo>
                  <a:pt x="1506915" y="141566"/>
                </a:moveTo>
                <a:lnTo>
                  <a:pt x="23389" y="141566"/>
                </a:lnTo>
                <a:lnTo>
                  <a:pt x="19950" y="140881"/>
                </a:lnTo>
                <a:lnTo>
                  <a:pt x="0" y="118175"/>
                </a:lnTo>
                <a:lnTo>
                  <a:pt x="0" y="114604"/>
                </a:lnTo>
                <a:lnTo>
                  <a:pt x="0" y="23387"/>
                </a:lnTo>
                <a:lnTo>
                  <a:pt x="23389" y="0"/>
                </a:lnTo>
                <a:lnTo>
                  <a:pt x="1506915" y="0"/>
                </a:lnTo>
                <a:lnTo>
                  <a:pt x="1530305" y="23387"/>
                </a:lnTo>
                <a:lnTo>
                  <a:pt x="1530305" y="118175"/>
                </a:lnTo>
                <a:lnTo>
                  <a:pt x="1510355" y="140881"/>
                </a:lnTo>
                <a:lnTo>
                  <a:pt x="1506915" y="141566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5715953" y="9092673"/>
            <a:ext cx="290195" cy="141605"/>
          </a:xfrm>
          <a:custGeom>
            <a:avLst/>
            <a:gdLst/>
            <a:ahLst/>
            <a:cxnLst/>
            <a:rect l="l" t="t" r="r" b="b"/>
            <a:pathLst>
              <a:path w="290195" h="141604">
                <a:moveTo>
                  <a:pt x="266491" y="141566"/>
                </a:moveTo>
                <a:lnTo>
                  <a:pt x="23390" y="141566"/>
                </a:lnTo>
                <a:lnTo>
                  <a:pt x="19949" y="140881"/>
                </a:lnTo>
                <a:lnTo>
                  <a:pt x="0" y="118175"/>
                </a:lnTo>
                <a:lnTo>
                  <a:pt x="0" y="114604"/>
                </a:lnTo>
                <a:lnTo>
                  <a:pt x="0" y="23387"/>
                </a:lnTo>
                <a:lnTo>
                  <a:pt x="23390" y="0"/>
                </a:lnTo>
                <a:lnTo>
                  <a:pt x="266491" y="0"/>
                </a:lnTo>
                <a:lnTo>
                  <a:pt x="289881" y="23387"/>
                </a:lnTo>
                <a:lnTo>
                  <a:pt x="289881" y="118175"/>
                </a:lnTo>
                <a:lnTo>
                  <a:pt x="269931" y="140881"/>
                </a:lnTo>
                <a:lnTo>
                  <a:pt x="266491" y="141566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754257" y="9557832"/>
            <a:ext cx="1591310" cy="141605"/>
          </a:xfrm>
          <a:custGeom>
            <a:avLst/>
            <a:gdLst/>
            <a:ahLst/>
            <a:cxnLst/>
            <a:rect l="l" t="t" r="r" b="b"/>
            <a:pathLst>
              <a:path w="1591310" h="141604">
                <a:moveTo>
                  <a:pt x="1567588" y="141566"/>
                </a:moveTo>
                <a:lnTo>
                  <a:pt x="23389" y="141566"/>
                </a:lnTo>
                <a:lnTo>
                  <a:pt x="19950" y="140881"/>
                </a:lnTo>
                <a:lnTo>
                  <a:pt x="0" y="118179"/>
                </a:lnTo>
                <a:lnTo>
                  <a:pt x="0" y="114604"/>
                </a:lnTo>
                <a:lnTo>
                  <a:pt x="0" y="23387"/>
                </a:lnTo>
                <a:lnTo>
                  <a:pt x="23389" y="0"/>
                </a:lnTo>
                <a:lnTo>
                  <a:pt x="1567588" y="0"/>
                </a:lnTo>
                <a:lnTo>
                  <a:pt x="1590978" y="23387"/>
                </a:lnTo>
                <a:lnTo>
                  <a:pt x="1590978" y="118179"/>
                </a:lnTo>
                <a:lnTo>
                  <a:pt x="1571028" y="140881"/>
                </a:lnTo>
                <a:lnTo>
                  <a:pt x="1567588" y="141566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4805859" y="9557832"/>
            <a:ext cx="822960" cy="141605"/>
          </a:xfrm>
          <a:custGeom>
            <a:avLst/>
            <a:gdLst/>
            <a:ahLst/>
            <a:cxnLst/>
            <a:rect l="l" t="t" r="r" b="b"/>
            <a:pathLst>
              <a:path w="822960" h="141604">
                <a:moveTo>
                  <a:pt x="799065" y="141566"/>
                </a:moveTo>
                <a:lnTo>
                  <a:pt x="23390" y="141566"/>
                </a:lnTo>
                <a:lnTo>
                  <a:pt x="19949" y="140881"/>
                </a:lnTo>
                <a:lnTo>
                  <a:pt x="0" y="118179"/>
                </a:lnTo>
                <a:lnTo>
                  <a:pt x="0" y="114604"/>
                </a:lnTo>
                <a:lnTo>
                  <a:pt x="0" y="23387"/>
                </a:lnTo>
                <a:lnTo>
                  <a:pt x="23390" y="0"/>
                </a:lnTo>
                <a:lnTo>
                  <a:pt x="799065" y="0"/>
                </a:lnTo>
                <a:lnTo>
                  <a:pt x="822454" y="23387"/>
                </a:lnTo>
                <a:lnTo>
                  <a:pt x="822454" y="118179"/>
                </a:lnTo>
                <a:lnTo>
                  <a:pt x="802504" y="140881"/>
                </a:lnTo>
                <a:lnTo>
                  <a:pt x="799065" y="141566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graphicFrame>
        <p:nvGraphicFramePr>
          <p:cNvPr id="28" name="object 28"/>
          <p:cNvGraphicFramePr>
            <a:graphicFrameLocks noGrp="1"/>
          </p:cNvGraphicFramePr>
          <p:nvPr/>
        </p:nvGraphicFramePr>
        <p:xfrm>
          <a:off x="680102" y="7326417"/>
          <a:ext cx="6278880" cy="2438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76450"/>
                <a:gridCol w="4119245"/>
              </a:tblGrid>
              <a:tr h="289560">
                <a:tc>
                  <a:txBody>
                    <a:bodyPr/>
                    <a:lstStyle/>
                    <a:p>
                      <a:pPr marL="70485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950" spc="-20" b="1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Line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64769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950" spc="-10" b="1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Explanation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64769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  <a:solidFill>
                      <a:srgbClr val="F7FAFB"/>
                    </a:solidFill>
                  </a:tcPr>
                </a:tc>
              </a:tr>
              <a:tr h="464820">
                <a:tc>
                  <a:txBody>
                    <a:bodyPr/>
                    <a:lstStyle/>
                    <a:p>
                      <a:pPr marL="70485" marR="432434" indent="26670">
                        <a:lnSpc>
                          <a:spcPct val="153300"/>
                        </a:lnSpc>
                        <a:spcBef>
                          <a:spcPts val="229"/>
                        </a:spcBef>
                      </a:pP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from</a:t>
                      </a:r>
                      <a:r>
                        <a:rPr dirty="0" sz="750" spc="95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sqlalchemy.orm</a:t>
                      </a:r>
                      <a:r>
                        <a:rPr dirty="0" sz="750" spc="95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 spc="-1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import declarative_base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29209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310" marR="348615">
                        <a:lnSpc>
                          <a:spcPct val="116399"/>
                        </a:lnSpc>
                        <a:spcBef>
                          <a:spcPts val="320"/>
                        </a:spcBef>
                      </a:pP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Imports</a:t>
                      </a:r>
                      <a:r>
                        <a:rPr dirty="0" sz="950" spc="-2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the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function</a:t>
                      </a:r>
                      <a:r>
                        <a:rPr dirty="0" sz="950" spc="-2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used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to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create</a:t>
                      </a:r>
                      <a:r>
                        <a:rPr dirty="0" sz="950" spc="-2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the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base</a:t>
                      </a:r>
                      <a:r>
                        <a:rPr dirty="0" sz="950" spc="-2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class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that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5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all</a:t>
                      </a:r>
                      <a:r>
                        <a:rPr dirty="0" sz="950" spc="-2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10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ORM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model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5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classes</a:t>
                      </a:r>
                      <a:r>
                        <a:rPr dirty="0" sz="950" spc="50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inherit</a:t>
                      </a:r>
                      <a:r>
                        <a:rPr dirty="0" sz="950" spc="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from.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40640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</a:tr>
              <a:tr h="464820">
                <a:tc>
                  <a:txBody>
                    <a:bodyPr/>
                    <a:lstStyle/>
                    <a:p>
                      <a:pPr marL="70485" marR="195580" indent="26670">
                        <a:lnSpc>
                          <a:spcPct val="153300"/>
                        </a:lnSpc>
                        <a:spcBef>
                          <a:spcPts val="229"/>
                        </a:spcBef>
                      </a:pP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from</a:t>
                      </a:r>
                      <a:r>
                        <a:rPr dirty="0" sz="750" spc="75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sqlalchemy</a:t>
                      </a:r>
                      <a:r>
                        <a:rPr dirty="0" sz="750" spc="75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import</a:t>
                      </a:r>
                      <a:r>
                        <a:rPr dirty="0" sz="750" spc="8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 spc="-1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Column,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Integer,</a:t>
                      </a:r>
                      <a:r>
                        <a:rPr dirty="0" sz="750" spc="8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String,</a:t>
                      </a:r>
                      <a:r>
                        <a:rPr dirty="0" sz="750" spc="85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 spc="-2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Text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29209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Imports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the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9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column-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type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helpers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used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to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declare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each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table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column.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64769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</a:tr>
              <a:tr h="464820">
                <a:tc>
                  <a:txBody>
                    <a:bodyPr/>
                    <a:lstStyle/>
                    <a:p>
                      <a:pPr marL="70485" marR="136525" indent="26670">
                        <a:lnSpc>
                          <a:spcPct val="153300"/>
                        </a:lnSpc>
                        <a:spcBef>
                          <a:spcPts val="229"/>
                        </a:spcBef>
                      </a:pP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from</a:t>
                      </a:r>
                      <a:r>
                        <a:rPr dirty="0" sz="750" spc="114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pgvector.sqlalchemy</a:t>
                      </a:r>
                      <a:r>
                        <a:rPr dirty="0" sz="750" spc="12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 spc="-1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import Vector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29209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310" marR="245110">
                        <a:lnSpc>
                          <a:spcPct val="121100"/>
                        </a:lnSpc>
                        <a:spcBef>
                          <a:spcPts val="270"/>
                        </a:spcBef>
                      </a:pP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Imports</a:t>
                      </a:r>
                      <a:r>
                        <a:rPr dirty="0" sz="950" spc="-3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the</a:t>
                      </a:r>
                      <a:r>
                        <a:rPr dirty="0" sz="950" spc="-3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5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special</a:t>
                      </a:r>
                      <a:r>
                        <a:rPr dirty="0" sz="950" spc="1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Vector</a:t>
                      </a:r>
                      <a:r>
                        <a:rPr dirty="0" sz="750" spc="-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type</a:t>
                      </a:r>
                      <a:r>
                        <a:rPr dirty="0" sz="950" spc="-3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from</a:t>
                      </a:r>
                      <a:r>
                        <a:rPr dirty="0" sz="950" spc="-3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2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the</a:t>
                      </a:r>
                      <a:r>
                        <a:rPr dirty="0" sz="950" spc="1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pgvector</a:t>
                      </a:r>
                      <a:r>
                        <a:rPr dirty="0" sz="750" spc="-55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SQLAlchemy</a:t>
                      </a:r>
                      <a:r>
                        <a:rPr dirty="0" sz="950" spc="-3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6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integration,</a:t>
                      </a:r>
                      <a:r>
                        <a:rPr dirty="0" sz="950" spc="50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which</a:t>
                      </a:r>
                      <a:r>
                        <a:rPr dirty="0" sz="950" spc="-2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9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maps</a:t>
                      </a:r>
                      <a:r>
                        <a:rPr dirty="0" sz="950" spc="-2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9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a</a:t>
                      </a:r>
                      <a:r>
                        <a:rPr dirty="0" sz="950" spc="-2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Python</a:t>
                      </a:r>
                      <a:r>
                        <a:rPr dirty="0" sz="950" spc="-2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6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list</a:t>
                      </a:r>
                      <a:r>
                        <a:rPr dirty="0" sz="950" spc="-2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of</a:t>
                      </a:r>
                      <a:r>
                        <a:rPr dirty="0" sz="950" spc="-2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00" spc="-60">
                          <a:solidFill>
                            <a:srgbClr val="111726"/>
                          </a:solidFill>
                          <a:latin typeface="Arial"/>
                          <a:cs typeface="Arial"/>
                        </a:rPr>
                        <a:t>ﬂ</a:t>
                      </a:r>
                      <a:r>
                        <a:rPr dirty="0" sz="950" spc="-6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oats</a:t>
                      </a:r>
                      <a:r>
                        <a:rPr dirty="0" sz="950" spc="-2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onto</a:t>
                      </a:r>
                      <a:r>
                        <a:rPr dirty="0" sz="950" spc="-2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Postgres's</a:t>
                      </a:r>
                      <a:r>
                        <a:rPr dirty="0" sz="950" spc="204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vector</a:t>
                      </a:r>
                      <a:r>
                        <a:rPr dirty="0" sz="750" spc="-3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950" spc="-9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column</a:t>
                      </a:r>
                      <a:r>
                        <a:rPr dirty="0" sz="950" spc="-2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type.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34290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</a:tr>
              <a:tr h="464820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Base</a:t>
                      </a:r>
                      <a:r>
                        <a:rPr dirty="0" sz="750" spc="4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=</a:t>
                      </a:r>
                      <a:r>
                        <a:rPr dirty="0" sz="750" spc="4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 spc="-1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declarative_base()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90170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310" marR="75565">
                        <a:lnSpc>
                          <a:spcPct val="121100"/>
                        </a:lnSpc>
                        <a:spcBef>
                          <a:spcPts val="270"/>
                        </a:spcBef>
                      </a:pP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Creates</a:t>
                      </a:r>
                      <a:r>
                        <a:rPr dirty="0" sz="950" spc="-2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the</a:t>
                      </a:r>
                      <a:r>
                        <a:rPr dirty="0" sz="950" spc="-2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declarative</a:t>
                      </a:r>
                      <a:r>
                        <a:rPr dirty="0" sz="950" spc="-2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base</a:t>
                      </a:r>
                      <a:r>
                        <a:rPr dirty="0" sz="950" spc="-2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6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class.</a:t>
                      </a:r>
                      <a:r>
                        <a:rPr dirty="0" sz="950" spc="-2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9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Any</a:t>
                      </a:r>
                      <a:r>
                        <a:rPr dirty="0" sz="950" spc="-2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class</a:t>
                      </a:r>
                      <a:r>
                        <a:rPr dirty="0" sz="950" spc="-2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that</a:t>
                      </a:r>
                      <a:r>
                        <a:rPr dirty="0" sz="950" spc="-2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6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subclasses</a:t>
                      </a:r>
                      <a:r>
                        <a:rPr dirty="0" sz="950" spc="2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Base</a:t>
                      </a:r>
                      <a:r>
                        <a:rPr dirty="0" sz="750" spc="-3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950" spc="-6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is</a:t>
                      </a:r>
                      <a:r>
                        <a:rPr dirty="0" sz="950" spc="-2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6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automatically</a:t>
                      </a:r>
                      <a:r>
                        <a:rPr dirty="0" sz="950" spc="50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registered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as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9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a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9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mapped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table.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34290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class</a:t>
                      </a:r>
                      <a:r>
                        <a:rPr dirty="0" sz="750" spc="6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 spc="-1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DocumentChunk(Base):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90170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Declares</a:t>
                      </a:r>
                      <a:r>
                        <a:rPr dirty="0" sz="950" spc="-2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9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a</a:t>
                      </a:r>
                      <a:r>
                        <a:rPr dirty="0" sz="950" spc="-2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9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new</a:t>
                      </a:r>
                      <a:r>
                        <a:rPr dirty="0" sz="950" spc="-2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10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ORM</a:t>
                      </a:r>
                      <a:r>
                        <a:rPr dirty="0" sz="950" spc="-2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model/table</a:t>
                      </a:r>
                      <a:r>
                        <a:rPr dirty="0" sz="950" spc="-2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named</a:t>
                      </a:r>
                      <a:r>
                        <a:rPr dirty="0" sz="950" spc="2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DocumentChunk</a:t>
                      </a:r>
                      <a:r>
                        <a:rPr dirty="0" sz="750" spc="-22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950" spc="-5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.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64769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80102" y="4002892"/>
            <a:ext cx="6202680" cy="6985"/>
          </a:xfrm>
          <a:custGeom>
            <a:avLst/>
            <a:gdLst/>
            <a:ahLst/>
            <a:cxnLst/>
            <a:rect l="l" t="t" r="r" b="b"/>
            <a:pathLst>
              <a:path w="6202680" h="6985">
                <a:moveTo>
                  <a:pt x="6202119" y="6741"/>
                </a:moveTo>
                <a:lnTo>
                  <a:pt x="0" y="6741"/>
                </a:lnTo>
                <a:lnTo>
                  <a:pt x="0" y="0"/>
                </a:lnTo>
                <a:lnTo>
                  <a:pt x="6202119" y="0"/>
                </a:lnTo>
                <a:lnTo>
                  <a:pt x="6202119" y="6741"/>
                </a:lnTo>
                <a:close/>
              </a:path>
            </a:pathLst>
          </a:custGeom>
          <a:solidFill>
            <a:srgbClr val="E4E7E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680102" y="5196130"/>
            <a:ext cx="6202680" cy="3391535"/>
          </a:xfrm>
          <a:custGeom>
            <a:avLst/>
            <a:gdLst/>
            <a:ahLst/>
            <a:cxnLst/>
            <a:rect l="l" t="t" r="r" b="b"/>
            <a:pathLst>
              <a:path w="6202680" h="3391534">
                <a:moveTo>
                  <a:pt x="6151728" y="3390934"/>
                </a:moveTo>
                <a:lnTo>
                  <a:pt x="50390" y="3390934"/>
                </a:lnTo>
                <a:lnTo>
                  <a:pt x="46883" y="3390588"/>
                </a:lnTo>
                <a:lnTo>
                  <a:pt x="11056" y="3369907"/>
                </a:lnTo>
                <a:lnTo>
                  <a:pt x="0" y="3340544"/>
                </a:lnTo>
                <a:lnTo>
                  <a:pt x="0" y="3337006"/>
                </a:lnTo>
                <a:lnTo>
                  <a:pt x="0" y="50386"/>
                </a:lnTo>
                <a:lnTo>
                  <a:pt x="18300" y="13288"/>
                </a:lnTo>
                <a:lnTo>
                  <a:pt x="50390" y="0"/>
                </a:lnTo>
                <a:lnTo>
                  <a:pt x="6151728" y="0"/>
                </a:lnTo>
                <a:lnTo>
                  <a:pt x="6188826" y="18298"/>
                </a:lnTo>
                <a:lnTo>
                  <a:pt x="6202118" y="50386"/>
                </a:lnTo>
                <a:lnTo>
                  <a:pt x="6202118" y="3340544"/>
                </a:lnTo>
                <a:lnTo>
                  <a:pt x="6183818" y="3377639"/>
                </a:lnTo>
                <a:lnTo>
                  <a:pt x="6155235" y="3390588"/>
                </a:lnTo>
                <a:lnTo>
                  <a:pt x="6151728" y="3390934"/>
                </a:lnTo>
                <a:close/>
              </a:path>
            </a:pathLst>
          </a:custGeom>
          <a:solidFill>
            <a:srgbClr val="0E172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754253" y="652398"/>
            <a:ext cx="1031875" cy="316865"/>
          </a:xfrm>
          <a:custGeom>
            <a:avLst/>
            <a:gdLst/>
            <a:ahLst/>
            <a:cxnLst/>
            <a:rect l="l" t="t" r="r" b="b"/>
            <a:pathLst>
              <a:path w="1031875" h="316865">
                <a:moveTo>
                  <a:pt x="916838" y="0"/>
                </a:moveTo>
                <a:lnTo>
                  <a:pt x="23393" y="0"/>
                </a:lnTo>
                <a:lnTo>
                  <a:pt x="19951" y="685"/>
                </a:lnTo>
                <a:lnTo>
                  <a:pt x="0" y="23393"/>
                </a:lnTo>
                <a:lnTo>
                  <a:pt x="0" y="118186"/>
                </a:lnTo>
                <a:lnTo>
                  <a:pt x="23393" y="141566"/>
                </a:lnTo>
                <a:lnTo>
                  <a:pt x="916838" y="141566"/>
                </a:lnTo>
                <a:lnTo>
                  <a:pt x="916838" y="0"/>
                </a:lnTo>
                <a:close/>
              </a:path>
              <a:path w="1031875" h="316865">
                <a:moveTo>
                  <a:pt x="1031443" y="198666"/>
                </a:moveTo>
                <a:lnTo>
                  <a:pt x="1008049" y="175272"/>
                </a:lnTo>
                <a:lnTo>
                  <a:pt x="0" y="175272"/>
                </a:lnTo>
                <a:lnTo>
                  <a:pt x="0" y="316852"/>
                </a:lnTo>
                <a:lnTo>
                  <a:pt x="1008049" y="316852"/>
                </a:lnTo>
                <a:lnTo>
                  <a:pt x="1031443" y="293458"/>
                </a:lnTo>
                <a:lnTo>
                  <a:pt x="1031443" y="198666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4468788" y="652400"/>
            <a:ext cx="944244" cy="141605"/>
          </a:xfrm>
          <a:custGeom>
            <a:avLst/>
            <a:gdLst/>
            <a:ahLst/>
            <a:cxnLst/>
            <a:rect l="l" t="t" r="r" b="b"/>
            <a:pathLst>
              <a:path w="944245" h="141604">
                <a:moveTo>
                  <a:pt x="920410" y="141566"/>
                </a:moveTo>
                <a:lnTo>
                  <a:pt x="23389" y="141566"/>
                </a:lnTo>
                <a:lnTo>
                  <a:pt x="19949" y="140881"/>
                </a:lnTo>
                <a:lnTo>
                  <a:pt x="0" y="118179"/>
                </a:lnTo>
                <a:lnTo>
                  <a:pt x="0" y="114604"/>
                </a:lnTo>
                <a:lnTo>
                  <a:pt x="0" y="23387"/>
                </a:lnTo>
                <a:lnTo>
                  <a:pt x="23389" y="0"/>
                </a:lnTo>
                <a:lnTo>
                  <a:pt x="920410" y="0"/>
                </a:lnTo>
                <a:lnTo>
                  <a:pt x="943800" y="23387"/>
                </a:lnTo>
                <a:lnTo>
                  <a:pt x="943800" y="118179"/>
                </a:lnTo>
                <a:lnTo>
                  <a:pt x="923850" y="140881"/>
                </a:lnTo>
                <a:lnTo>
                  <a:pt x="920410" y="141566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754253" y="1117561"/>
            <a:ext cx="1213485" cy="316865"/>
          </a:xfrm>
          <a:custGeom>
            <a:avLst/>
            <a:gdLst/>
            <a:ahLst/>
            <a:cxnLst/>
            <a:rect l="l" t="t" r="r" b="b"/>
            <a:pathLst>
              <a:path w="1213485" h="316865">
                <a:moveTo>
                  <a:pt x="1031443" y="198666"/>
                </a:moveTo>
                <a:lnTo>
                  <a:pt x="1008049" y="175272"/>
                </a:lnTo>
                <a:lnTo>
                  <a:pt x="0" y="175272"/>
                </a:lnTo>
                <a:lnTo>
                  <a:pt x="0" y="316852"/>
                </a:lnTo>
                <a:lnTo>
                  <a:pt x="1008049" y="316852"/>
                </a:lnTo>
                <a:lnTo>
                  <a:pt x="1031443" y="293458"/>
                </a:lnTo>
                <a:lnTo>
                  <a:pt x="1031443" y="198666"/>
                </a:lnTo>
                <a:close/>
              </a:path>
              <a:path w="1213485" h="316865">
                <a:moveTo>
                  <a:pt x="1213459" y="0"/>
                </a:moveTo>
                <a:lnTo>
                  <a:pt x="23393" y="0"/>
                </a:lnTo>
                <a:lnTo>
                  <a:pt x="19951" y="685"/>
                </a:lnTo>
                <a:lnTo>
                  <a:pt x="0" y="23393"/>
                </a:lnTo>
                <a:lnTo>
                  <a:pt x="0" y="118173"/>
                </a:lnTo>
                <a:lnTo>
                  <a:pt x="23393" y="141566"/>
                </a:lnTo>
                <a:lnTo>
                  <a:pt x="1213459" y="141566"/>
                </a:lnTo>
                <a:lnTo>
                  <a:pt x="1213459" y="0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628314" y="1117559"/>
            <a:ext cx="175277" cy="141566"/>
          </a:xfrm>
          <a:prstGeom prst="rect">
            <a:avLst/>
          </a:prstGeom>
        </p:spPr>
      </p:pic>
      <p:sp>
        <p:nvSpPr>
          <p:cNvPr id="8" name="object 8"/>
          <p:cNvSpPr/>
          <p:nvPr/>
        </p:nvSpPr>
        <p:spPr>
          <a:xfrm>
            <a:off x="754257" y="1582718"/>
            <a:ext cx="1530350" cy="141605"/>
          </a:xfrm>
          <a:custGeom>
            <a:avLst/>
            <a:gdLst/>
            <a:ahLst/>
            <a:cxnLst/>
            <a:rect l="l" t="t" r="r" b="b"/>
            <a:pathLst>
              <a:path w="1530350" h="141605">
                <a:moveTo>
                  <a:pt x="1506915" y="141570"/>
                </a:moveTo>
                <a:lnTo>
                  <a:pt x="23389" y="141570"/>
                </a:lnTo>
                <a:lnTo>
                  <a:pt x="19950" y="140885"/>
                </a:lnTo>
                <a:lnTo>
                  <a:pt x="0" y="118179"/>
                </a:lnTo>
                <a:lnTo>
                  <a:pt x="0" y="114604"/>
                </a:lnTo>
                <a:lnTo>
                  <a:pt x="0" y="23387"/>
                </a:lnTo>
                <a:lnTo>
                  <a:pt x="23389" y="0"/>
                </a:lnTo>
                <a:lnTo>
                  <a:pt x="1506915" y="0"/>
                </a:lnTo>
                <a:lnTo>
                  <a:pt x="1530305" y="23387"/>
                </a:lnTo>
                <a:lnTo>
                  <a:pt x="1530305" y="118179"/>
                </a:lnTo>
                <a:lnTo>
                  <a:pt x="1510355" y="140885"/>
                </a:lnTo>
                <a:lnTo>
                  <a:pt x="1506915" y="141570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4927205" y="1582718"/>
            <a:ext cx="647700" cy="141605"/>
          </a:xfrm>
          <a:custGeom>
            <a:avLst/>
            <a:gdLst/>
            <a:ahLst/>
            <a:cxnLst/>
            <a:rect l="l" t="t" r="r" b="b"/>
            <a:pathLst>
              <a:path w="647700" h="141605">
                <a:moveTo>
                  <a:pt x="623787" y="141570"/>
                </a:moveTo>
                <a:lnTo>
                  <a:pt x="23390" y="141570"/>
                </a:lnTo>
                <a:lnTo>
                  <a:pt x="19950" y="140885"/>
                </a:lnTo>
                <a:lnTo>
                  <a:pt x="0" y="118179"/>
                </a:lnTo>
                <a:lnTo>
                  <a:pt x="0" y="114604"/>
                </a:lnTo>
                <a:lnTo>
                  <a:pt x="0" y="23387"/>
                </a:lnTo>
                <a:lnTo>
                  <a:pt x="23390" y="0"/>
                </a:lnTo>
                <a:lnTo>
                  <a:pt x="623787" y="0"/>
                </a:lnTo>
                <a:lnTo>
                  <a:pt x="647177" y="23387"/>
                </a:lnTo>
                <a:lnTo>
                  <a:pt x="647177" y="118179"/>
                </a:lnTo>
                <a:lnTo>
                  <a:pt x="627227" y="140885"/>
                </a:lnTo>
                <a:lnTo>
                  <a:pt x="623787" y="141570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754257" y="1872599"/>
            <a:ext cx="1827530" cy="141605"/>
          </a:xfrm>
          <a:custGeom>
            <a:avLst/>
            <a:gdLst/>
            <a:ahLst/>
            <a:cxnLst/>
            <a:rect l="l" t="t" r="r" b="b"/>
            <a:pathLst>
              <a:path w="1827530" h="141605">
                <a:moveTo>
                  <a:pt x="1803538" y="141566"/>
                </a:moveTo>
                <a:lnTo>
                  <a:pt x="23389" y="141566"/>
                </a:lnTo>
                <a:lnTo>
                  <a:pt x="19950" y="140879"/>
                </a:lnTo>
                <a:lnTo>
                  <a:pt x="0" y="118179"/>
                </a:lnTo>
                <a:lnTo>
                  <a:pt x="0" y="114604"/>
                </a:lnTo>
                <a:lnTo>
                  <a:pt x="0" y="23387"/>
                </a:lnTo>
                <a:lnTo>
                  <a:pt x="23389" y="0"/>
                </a:lnTo>
                <a:lnTo>
                  <a:pt x="1803538" y="0"/>
                </a:lnTo>
                <a:lnTo>
                  <a:pt x="1826928" y="23387"/>
                </a:lnTo>
                <a:lnTo>
                  <a:pt x="1826928" y="118179"/>
                </a:lnTo>
                <a:lnTo>
                  <a:pt x="1806978" y="140879"/>
                </a:lnTo>
                <a:lnTo>
                  <a:pt x="1803538" y="141566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754257" y="2331017"/>
            <a:ext cx="1355090" cy="141605"/>
          </a:xfrm>
          <a:custGeom>
            <a:avLst/>
            <a:gdLst/>
            <a:ahLst/>
            <a:cxnLst/>
            <a:rect l="l" t="t" r="r" b="b"/>
            <a:pathLst>
              <a:path w="1355089" h="141605">
                <a:moveTo>
                  <a:pt x="1331638" y="141566"/>
                </a:moveTo>
                <a:lnTo>
                  <a:pt x="23389" y="141566"/>
                </a:lnTo>
                <a:lnTo>
                  <a:pt x="19950" y="140881"/>
                </a:lnTo>
                <a:lnTo>
                  <a:pt x="0" y="118179"/>
                </a:lnTo>
                <a:lnTo>
                  <a:pt x="0" y="114604"/>
                </a:lnTo>
                <a:lnTo>
                  <a:pt x="0" y="23387"/>
                </a:lnTo>
                <a:lnTo>
                  <a:pt x="23389" y="0"/>
                </a:lnTo>
                <a:lnTo>
                  <a:pt x="1331638" y="0"/>
                </a:lnTo>
                <a:lnTo>
                  <a:pt x="1355028" y="23387"/>
                </a:lnTo>
                <a:lnTo>
                  <a:pt x="1355028" y="118179"/>
                </a:lnTo>
                <a:lnTo>
                  <a:pt x="1335077" y="140881"/>
                </a:lnTo>
                <a:lnTo>
                  <a:pt x="1331638" y="141566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5493485" y="2331017"/>
            <a:ext cx="404495" cy="141605"/>
          </a:xfrm>
          <a:custGeom>
            <a:avLst/>
            <a:gdLst/>
            <a:ahLst/>
            <a:cxnLst/>
            <a:rect l="l" t="t" r="r" b="b"/>
            <a:pathLst>
              <a:path w="404495" h="141605">
                <a:moveTo>
                  <a:pt x="381096" y="141566"/>
                </a:moveTo>
                <a:lnTo>
                  <a:pt x="23390" y="141566"/>
                </a:lnTo>
                <a:lnTo>
                  <a:pt x="19949" y="140881"/>
                </a:lnTo>
                <a:lnTo>
                  <a:pt x="0" y="118179"/>
                </a:lnTo>
                <a:lnTo>
                  <a:pt x="0" y="114604"/>
                </a:lnTo>
                <a:lnTo>
                  <a:pt x="0" y="23387"/>
                </a:lnTo>
                <a:lnTo>
                  <a:pt x="23390" y="0"/>
                </a:lnTo>
                <a:lnTo>
                  <a:pt x="381096" y="0"/>
                </a:lnTo>
                <a:lnTo>
                  <a:pt x="404486" y="23387"/>
                </a:lnTo>
                <a:lnTo>
                  <a:pt x="404486" y="118179"/>
                </a:lnTo>
                <a:lnTo>
                  <a:pt x="384535" y="140881"/>
                </a:lnTo>
                <a:lnTo>
                  <a:pt x="381096" y="141566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754257" y="2789434"/>
            <a:ext cx="1887855" cy="141605"/>
          </a:xfrm>
          <a:custGeom>
            <a:avLst/>
            <a:gdLst/>
            <a:ahLst/>
            <a:cxnLst/>
            <a:rect l="l" t="t" r="r" b="b"/>
            <a:pathLst>
              <a:path w="1887855" h="141605">
                <a:moveTo>
                  <a:pt x="1864211" y="141566"/>
                </a:moveTo>
                <a:lnTo>
                  <a:pt x="23389" y="141566"/>
                </a:lnTo>
                <a:lnTo>
                  <a:pt x="19950" y="140881"/>
                </a:lnTo>
                <a:lnTo>
                  <a:pt x="0" y="118179"/>
                </a:lnTo>
                <a:lnTo>
                  <a:pt x="0" y="114604"/>
                </a:lnTo>
                <a:lnTo>
                  <a:pt x="0" y="23387"/>
                </a:lnTo>
                <a:lnTo>
                  <a:pt x="23389" y="0"/>
                </a:lnTo>
                <a:lnTo>
                  <a:pt x="1864211" y="0"/>
                </a:lnTo>
                <a:lnTo>
                  <a:pt x="1887601" y="23387"/>
                </a:lnTo>
                <a:lnTo>
                  <a:pt x="1887601" y="118179"/>
                </a:lnTo>
                <a:lnTo>
                  <a:pt x="1867651" y="140881"/>
                </a:lnTo>
                <a:lnTo>
                  <a:pt x="1864211" y="141566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4886744" y="2789440"/>
            <a:ext cx="1369060" cy="316865"/>
          </a:xfrm>
          <a:custGeom>
            <a:avLst/>
            <a:gdLst/>
            <a:ahLst/>
            <a:cxnLst/>
            <a:rect l="l" t="t" r="r" b="b"/>
            <a:pathLst>
              <a:path w="1369060" h="316864">
                <a:moveTo>
                  <a:pt x="1004481" y="198666"/>
                </a:moveTo>
                <a:lnTo>
                  <a:pt x="981087" y="175272"/>
                </a:lnTo>
                <a:lnTo>
                  <a:pt x="23393" y="175272"/>
                </a:lnTo>
                <a:lnTo>
                  <a:pt x="0" y="198666"/>
                </a:lnTo>
                <a:lnTo>
                  <a:pt x="0" y="289877"/>
                </a:lnTo>
                <a:lnTo>
                  <a:pt x="0" y="293446"/>
                </a:lnTo>
                <a:lnTo>
                  <a:pt x="23393" y="316839"/>
                </a:lnTo>
                <a:lnTo>
                  <a:pt x="981087" y="316839"/>
                </a:lnTo>
                <a:lnTo>
                  <a:pt x="1004481" y="293446"/>
                </a:lnTo>
                <a:lnTo>
                  <a:pt x="1004481" y="198666"/>
                </a:lnTo>
                <a:close/>
              </a:path>
              <a:path w="1369060" h="316864">
                <a:moveTo>
                  <a:pt x="1368513" y="23380"/>
                </a:moveTo>
                <a:lnTo>
                  <a:pt x="1345120" y="0"/>
                </a:lnTo>
                <a:lnTo>
                  <a:pt x="684060" y="0"/>
                </a:lnTo>
                <a:lnTo>
                  <a:pt x="660666" y="23380"/>
                </a:lnTo>
                <a:lnTo>
                  <a:pt x="660666" y="114604"/>
                </a:lnTo>
                <a:lnTo>
                  <a:pt x="660666" y="118173"/>
                </a:lnTo>
                <a:lnTo>
                  <a:pt x="684060" y="141566"/>
                </a:lnTo>
                <a:lnTo>
                  <a:pt x="1345120" y="141566"/>
                </a:lnTo>
                <a:lnTo>
                  <a:pt x="1368513" y="118173"/>
                </a:lnTo>
                <a:lnTo>
                  <a:pt x="1368513" y="23380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graphicFrame>
        <p:nvGraphicFramePr>
          <p:cNvPr id="15" name="object 15"/>
          <p:cNvGraphicFramePr>
            <a:graphicFrameLocks noGrp="1"/>
          </p:cNvGraphicFramePr>
          <p:nvPr/>
        </p:nvGraphicFramePr>
        <p:xfrm>
          <a:off x="680102" y="571503"/>
          <a:ext cx="6278880" cy="27679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76450"/>
                <a:gridCol w="4119245"/>
              </a:tblGrid>
              <a:tr h="464820">
                <a:tc>
                  <a:txBody>
                    <a:bodyPr/>
                    <a:lstStyle/>
                    <a:p>
                      <a:pPr marL="70485" marR="991869" indent="26670">
                        <a:lnSpc>
                          <a:spcPct val="153300"/>
                        </a:lnSpc>
                        <a:spcBef>
                          <a:spcPts val="229"/>
                        </a:spcBef>
                      </a:pPr>
                      <a:r>
                        <a:rPr dirty="0" u="sng" sz="750" spc="285">
                          <a:solidFill>
                            <a:srgbClr val="111726"/>
                          </a:solidFill>
                          <a:uFill>
                            <a:solidFill>
                              <a:srgbClr val="101625"/>
                            </a:solidFill>
                          </a:uFill>
                          <a:latin typeface="Times New Roman"/>
                          <a:cs typeface="Times New Roman"/>
                        </a:rPr>
                        <a:t>  </a:t>
                      </a:r>
                      <a:r>
                        <a:rPr dirty="0" u="none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tablename</a:t>
                      </a:r>
                      <a:r>
                        <a:rPr dirty="0" u="sng" sz="750" spc="385">
                          <a:solidFill>
                            <a:srgbClr val="111726"/>
                          </a:solidFill>
                          <a:uFill>
                            <a:solidFill>
                              <a:srgbClr val="101625"/>
                            </a:solidFill>
                          </a:uFill>
                          <a:latin typeface="Times New Roman"/>
                          <a:cs typeface="Times New Roman"/>
                        </a:rPr>
                        <a:t>  </a:t>
                      </a:r>
                      <a:r>
                        <a:rPr dirty="0" u="none" sz="750" spc="110">
                          <a:solidFill>
                            <a:srgbClr val="111726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u="none" sz="750" spc="-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= </a:t>
                      </a:r>
                      <a:r>
                        <a:rPr dirty="0" u="none" sz="750" spc="-1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"document_chunks"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29209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Sets</a:t>
                      </a:r>
                      <a:r>
                        <a:rPr dirty="0" sz="950" spc="-2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the</a:t>
                      </a:r>
                      <a:r>
                        <a:rPr dirty="0" sz="950" spc="-2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actual</a:t>
                      </a:r>
                      <a:r>
                        <a:rPr dirty="0" sz="950" spc="-2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SQL</a:t>
                      </a:r>
                      <a:r>
                        <a:rPr dirty="0" sz="950" spc="-2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table</a:t>
                      </a:r>
                      <a:r>
                        <a:rPr dirty="0" sz="950" spc="-2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9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name</a:t>
                      </a:r>
                      <a:r>
                        <a:rPr dirty="0" sz="950" spc="-2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to</a:t>
                      </a:r>
                      <a:r>
                        <a:rPr dirty="0" sz="950" spc="20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document_chunks</a:t>
                      </a:r>
                      <a:r>
                        <a:rPr dirty="0" sz="750" spc="-225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950" spc="-5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.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64769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</a:tr>
              <a:tr h="464820">
                <a:tc>
                  <a:txBody>
                    <a:bodyPr/>
                    <a:lstStyle/>
                    <a:p>
                      <a:pPr marL="70485" marR="787400" indent="26670">
                        <a:lnSpc>
                          <a:spcPct val="153300"/>
                        </a:lnSpc>
                        <a:spcBef>
                          <a:spcPts val="229"/>
                        </a:spcBef>
                      </a:pP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id</a:t>
                      </a:r>
                      <a:r>
                        <a:rPr dirty="0" sz="750" spc="3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=</a:t>
                      </a:r>
                      <a:r>
                        <a:rPr dirty="0" sz="750" spc="35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 spc="-1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Column(Integer, primary_key=True)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29209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310" marR="407670">
                        <a:lnSpc>
                          <a:spcPct val="121100"/>
                        </a:lnSpc>
                        <a:spcBef>
                          <a:spcPts val="270"/>
                        </a:spcBef>
                      </a:pPr>
                      <a:r>
                        <a:rPr dirty="0" sz="950" spc="-6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De</a:t>
                      </a:r>
                      <a:r>
                        <a:rPr dirty="0" sz="900" spc="-65">
                          <a:solidFill>
                            <a:srgbClr val="111726"/>
                          </a:solidFill>
                          <a:latin typeface="Arial"/>
                          <a:cs typeface="Arial"/>
                        </a:rPr>
                        <a:t>ﬁ</a:t>
                      </a:r>
                      <a:r>
                        <a:rPr dirty="0" sz="950" spc="-6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nes</a:t>
                      </a:r>
                      <a:r>
                        <a:rPr dirty="0" sz="950" spc="-2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9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an</a:t>
                      </a:r>
                      <a:r>
                        <a:rPr dirty="0" sz="950" spc="-2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auto-incrementing</a:t>
                      </a:r>
                      <a:r>
                        <a:rPr dirty="0" sz="950" spc="-2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integer</a:t>
                      </a:r>
                      <a:r>
                        <a:rPr dirty="0" sz="950" spc="-2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primary</a:t>
                      </a:r>
                      <a:r>
                        <a:rPr dirty="0" sz="950" spc="-2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key</a:t>
                      </a:r>
                      <a:r>
                        <a:rPr dirty="0" sz="950" spc="-2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column</a:t>
                      </a:r>
                      <a:r>
                        <a:rPr dirty="0" sz="950" spc="204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id</a:t>
                      </a:r>
                      <a:r>
                        <a:rPr dirty="0" sz="750" spc="-25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900" spc="-180">
                          <a:solidFill>
                            <a:srgbClr val="111726"/>
                          </a:solidFill>
                          <a:latin typeface="Arial"/>
                          <a:cs typeface="Arial"/>
                        </a:rPr>
                        <a:t>—</a:t>
                      </a:r>
                      <a:r>
                        <a:rPr dirty="0" sz="900" spc="-55">
                          <a:solidFill>
                            <a:srgbClr val="111726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the</a:t>
                      </a:r>
                      <a:r>
                        <a:rPr dirty="0" sz="950" spc="-2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4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unique</a:t>
                      </a:r>
                      <a:r>
                        <a:rPr dirty="0" sz="950" spc="50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6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identi</a:t>
                      </a:r>
                      <a:r>
                        <a:rPr dirty="0" sz="900" spc="-60">
                          <a:solidFill>
                            <a:srgbClr val="111726"/>
                          </a:solidFill>
                          <a:latin typeface="Arial"/>
                          <a:cs typeface="Arial"/>
                        </a:rPr>
                        <a:t>ﬁ</a:t>
                      </a:r>
                      <a:r>
                        <a:rPr dirty="0" sz="950" spc="-6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er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for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each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stored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chunk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2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row.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34290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filename</a:t>
                      </a:r>
                      <a:r>
                        <a:rPr dirty="0" sz="750" spc="55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=</a:t>
                      </a:r>
                      <a:r>
                        <a:rPr dirty="0" sz="750" spc="6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 spc="-1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Column(String)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90170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950" spc="-9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A</a:t>
                      </a:r>
                      <a:r>
                        <a:rPr dirty="0" sz="950" spc="-2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text</a:t>
                      </a:r>
                      <a:r>
                        <a:rPr dirty="0" sz="950" spc="-2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9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column</a:t>
                      </a:r>
                      <a:r>
                        <a:rPr dirty="0" sz="950" spc="-2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storing</a:t>
                      </a:r>
                      <a:r>
                        <a:rPr dirty="0" sz="950" spc="-2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which</a:t>
                      </a:r>
                      <a:r>
                        <a:rPr dirty="0" sz="950" spc="-2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source</a:t>
                      </a:r>
                      <a:r>
                        <a:rPr dirty="0" sz="950" spc="-2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00" spc="-35">
                          <a:solidFill>
                            <a:srgbClr val="111726"/>
                          </a:solidFill>
                          <a:latin typeface="Arial"/>
                          <a:cs typeface="Arial"/>
                        </a:rPr>
                        <a:t>ﬁ</a:t>
                      </a:r>
                      <a:r>
                        <a:rPr dirty="0" sz="950" spc="-3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le</a:t>
                      </a:r>
                      <a:r>
                        <a:rPr dirty="0" sz="950" spc="-2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3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(e.g.</a:t>
                      </a:r>
                      <a:r>
                        <a:rPr dirty="0" sz="950" spc="204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sample.pdf</a:t>
                      </a:r>
                      <a:r>
                        <a:rPr dirty="0" sz="750" spc="-225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950" spc="-6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)</a:t>
                      </a:r>
                      <a:r>
                        <a:rPr dirty="0" sz="950" spc="-2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the</a:t>
                      </a:r>
                      <a:r>
                        <a:rPr dirty="0" sz="950" spc="-2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chunk</a:t>
                      </a:r>
                      <a:r>
                        <a:rPr dirty="0" sz="950" spc="-2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9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came</a:t>
                      </a:r>
                      <a:r>
                        <a:rPr dirty="0" sz="950" spc="-2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from.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64769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</a:tr>
              <a:tr h="457834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chunk_number</a:t>
                      </a:r>
                      <a:r>
                        <a:rPr dirty="0" sz="750" spc="75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=</a:t>
                      </a:r>
                      <a:r>
                        <a:rPr dirty="0" sz="750" spc="75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 spc="-1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Column(Integer)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90170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310" marR="240665">
                        <a:lnSpc>
                          <a:spcPct val="116399"/>
                        </a:lnSpc>
                        <a:spcBef>
                          <a:spcPts val="320"/>
                        </a:spcBef>
                      </a:pP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Stores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the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chunk's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sequential</a:t>
                      </a:r>
                      <a:r>
                        <a:rPr dirty="0" sz="95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index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within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the</a:t>
                      </a:r>
                      <a:r>
                        <a:rPr dirty="0" sz="95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document,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useful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for</a:t>
                      </a:r>
                      <a:r>
                        <a:rPr dirty="0" sz="95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ordering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2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or</a:t>
                      </a:r>
                      <a:r>
                        <a:rPr dirty="0" sz="950" spc="50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debugging</a:t>
                      </a:r>
                      <a:r>
                        <a:rPr dirty="0" sz="950" spc="3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retrieval.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40640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</a:tr>
              <a:tr h="457834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content</a:t>
                      </a:r>
                      <a:r>
                        <a:rPr dirty="0" sz="750" spc="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=</a:t>
                      </a:r>
                      <a:r>
                        <a:rPr dirty="0" sz="750" spc="55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 spc="-1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Column(Text)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90170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310" marR="279400">
                        <a:lnSpc>
                          <a:spcPct val="121100"/>
                        </a:lnSpc>
                        <a:spcBef>
                          <a:spcPts val="270"/>
                        </a:spcBef>
                      </a:pP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Stores</a:t>
                      </a:r>
                      <a:r>
                        <a:rPr dirty="0" sz="950" spc="-2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the</a:t>
                      </a:r>
                      <a:r>
                        <a:rPr dirty="0" sz="950" spc="-2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actual</a:t>
                      </a:r>
                      <a:r>
                        <a:rPr dirty="0" sz="950" spc="-2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chunk</a:t>
                      </a:r>
                      <a:r>
                        <a:rPr dirty="0" sz="950" spc="-2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text</a:t>
                      </a:r>
                      <a:r>
                        <a:rPr dirty="0" sz="950" spc="-2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9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(unbounded</a:t>
                      </a:r>
                      <a:r>
                        <a:rPr dirty="0" sz="950" spc="-2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length,</a:t>
                      </a:r>
                      <a:r>
                        <a:rPr dirty="0" sz="950" spc="-2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5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unlike</a:t>
                      </a:r>
                      <a:r>
                        <a:rPr dirty="0" sz="950" spc="2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String</a:t>
                      </a:r>
                      <a:r>
                        <a:rPr dirty="0" sz="750" spc="-2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which</a:t>
                      </a:r>
                      <a:r>
                        <a:rPr dirty="0" sz="950" spc="-2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6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is</a:t>
                      </a:r>
                      <a:r>
                        <a:rPr dirty="0" sz="950" spc="-2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3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often</a:t>
                      </a:r>
                      <a:r>
                        <a:rPr dirty="0" sz="950" spc="50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length-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limited).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34290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</a:tr>
              <a:tr h="633095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embedding</a:t>
                      </a:r>
                      <a:r>
                        <a:rPr dirty="0" sz="750" spc="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=</a:t>
                      </a:r>
                      <a:r>
                        <a:rPr dirty="0" sz="750" spc="65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 spc="-1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Column(Vector(384))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90170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310" marR="66675">
                        <a:lnSpc>
                          <a:spcPct val="121100"/>
                        </a:lnSpc>
                        <a:spcBef>
                          <a:spcPts val="270"/>
                        </a:spcBef>
                      </a:pP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Stores</a:t>
                      </a:r>
                      <a:r>
                        <a:rPr dirty="0" sz="950" spc="-2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the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9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embedding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vector</a:t>
                      </a:r>
                      <a:r>
                        <a:rPr dirty="0" sz="950" spc="-2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for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the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chunk</a:t>
                      </a:r>
                      <a:r>
                        <a:rPr dirty="0" sz="950" spc="-2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as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9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a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Postgres</a:t>
                      </a:r>
                      <a:r>
                        <a:rPr dirty="0" sz="950" spc="22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vector(384)</a:t>
                      </a:r>
                      <a:r>
                        <a:rPr dirty="0" sz="750" spc="-2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type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00" spc="-180">
                          <a:solidFill>
                            <a:srgbClr val="111726"/>
                          </a:solidFill>
                          <a:latin typeface="Arial"/>
                          <a:cs typeface="Arial"/>
                        </a:rPr>
                        <a:t>—</a:t>
                      </a:r>
                      <a:r>
                        <a:rPr dirty="0" sz="900" spc="-55">
                          <a:solidFill>
                            <a:srgbClr val="111726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850" spc="-25">
                          <a:solidFill>
                            <a:srgbClr val="111726"/>
                          </a:solidFill>
                          <a:latin typeface="Arial"/>
                          <a:cs typeface="Arial"/>
                        </a:rPr>
                        <a:t>384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dimensions</a:t>
                      </a:r>
                      <a:r>
                        <a:rPr dirty="0" sz="950" spc="-2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9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matches</a:t>
                      </a:r>
                      <a:r>
                        <a:rPr dirty="0" sz="950" spc="-2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the</a:t>
                      </a:r>
                      <a:r>
                        <a:rPr dirty="0" sz="950" spc="-2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output</a:t>
                      </a:r>
                      <a:r>
                        <a:rPr dirty="0" sz="950" spc="-2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size</a:t>
                      </a:r>
                      <a:r>
                        <a:rPr dirty="0" sz="950" spc="-2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of</a:t>
                      </a:r>
                      <a:r>
                        <a:rPr dirty="0" sz="950" spc="-2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the</a:t>
                      </a:r>
                      <a:r>
                        <a:rPr dirty="0" sz="950" spc="2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all-MiniLM-L6-v2</a:t>
                      </a:r>
                      <a:r>
                        <a:rPr dirty="0" sz="750" spc="-2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sentence-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transformer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model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used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later.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34290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6" name="object 16"/>
          <p:cNvSpPr/>
          <p:nvPr/>
        </p:nvSpPr>
        <p:spPr>
          <a:xfrm>
            <a:off x="3767678" y="3490543"/>
            <a:ext cx="2029460" cy="148590"/>
          </a:xfrm>
          <a:custGeom>
            <a:avLst/>
            <a:gdLst/>
            <a:ahLst/>
            <a:cxnLst/>
            <a:rect l="l" t="t" r="r" b="b"/>
            <a:pathLst>
              <a:path w="2029460" h="148589">
                <a:moveTo>
                  <a:pt x="2005781" y="148311"/>
                </a:moveTo>
                <a:lnTo>
                  <a:pt x="23389" y="148311"/>
                </a:lnTo>
                <a:lnTo>
                  <a:pt x="19949" y="147626"/>
                </a:lnTo>
                <a:lnTo>
                  <a:pt x="0" y="124920"/>
                </a:lnTo>
                <a:lnTo>
                  <a:pt x="0" y="121345"/>
                </a:lnTo>
                <a:lnTo>
                  <a:pt x="0" y="23387"/>
                </a:lnTo>
                <a:lnTo>
                  <a:pt x="23389" y="0"/>
                </a:lnTo>
                <a:lnTo>
                  <a:pt x="2005781" y="0"/>
                </a:lnTo>
                <a:lnTo>
                  <a:pt x="2029171" y="23387"/>
                </a:lnTo>
                <a:lnTo>
                  <a:pt x="2029171" y="124920"/>
                </a:lnTo>
                <a:lnTo>
                  <a:pt x="2009221" y="147626"/>
                </a:lnTo>
                <a:lnTo>
                  <a:pt x="2005781" y="148311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680102" y="3679304"/>
            <a:ext cx="977900" cy="148590"/>
          </a:xfrm>
          <a:custGeom>
            <a:avLst/>
            <a:gdLst/>
            <a:ahLst/>
            <a:cxnLst/>
            <a:rect l="l" t="t" r="r" b="b"/>
            <a:pathLst>
              <a:path w="977900" h="148589">
                <a:moveTo>
                  <a:pt x="954117" y="148308"/>
                </a:moveTo>
                <a:lnTo>
                  <a:pt x="23389" y="148308"/>
                </a:lnTo>
                <a:lnTo>
                  <a:pt x="19950" y="147623"/>
                </a:lnTo>
                <a:lnTo>
                  <a:pt x="0" y="124917"/>
                </a:lnTo>
                <a:lnTo>
                  <a:pt x="0" y="121345"/>
                </a:lnTo>
                <a:lnTo>
                  <a:pt x="0" y="23387"/>
                </a:lnTo>
                <a:lnTo>
                  <a:pt x="23389" y="0"/>
                </a:lnTo>
                <a:lnTo>
                  <a:pt x="954117" y="0"/>
                </a:lnTo>
                <a:lnTo>
                  <a:pt x="977507" y="23387"/>
                </a:lnTo>
                <a:lnTo>
                  <a:pt x="977507" y="124917"/>
                </a:lnTo>
                <a:lnTo>
                  <a:pt x="957557" y="147623"/>
                </a:lnTo>
                <a:lnTo>
                  <a:pt x="954117" y="148308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943018" y="4184911"/>
            <a:ext cx="1348740" cy="195580"/>
          </a:xfrm>
          <a:custGeom>
            <a:avLst/>
            <a:gdLst/>
            <a:ahLst/>
            <a:cxnLst/>
            <a:rect l="l" t="t" r="r" b="b"/>
            <a:pathLst>
              <a:path w="1348739" h="195579">
                <a:moveTo>
                  <a:pt x="1324896" y="195498"/>
                </a:moveTo>
                <a:lnTo>
                  <a:pt x="23389" y="195498"/>
                </a:lnTo>
                <a:lnTo>
                  <a:pt x="19950" y="194813"/>
                </a:lnTo>
                <a:lnTo>
                  <a:pt x="0" y="172107"/>
                </a:lnTo>
                <a:lnTo>
                  <a:pt x="0" y="168535"/>
                </a:lnTo>
                <a:lnTo>
                  <a:pt x="0" y="23387"/>
                </a:lnTo>
                <a:lnTo>
                  <a:pt x="23389" y="0"/>
                </a:lnTo>
                <a:lnTo>
                  <a:pt x="1324896" y="0"/>
                </a:lnTo>
                <a:lnTo>
                  <a:pt x="1348286" y="23387"/>
                </a:lnTo>
                <a:lnTo>
                  <a:pt x="1348286" y="172107"/>
                </a:lnTo>
                <a:lnTo>
                  <a:pt x="1328336" y="194813"/>
                </a:lnTo>
                <a:lnTo>
                  <a:pt x="1324896" y="195498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/>
          <p:nvPr/>
        </p:nvSpPr>
        <p:spPr>
          <a:xfrm>
            <a:off x="667402" y="3421848"/>
            <a:ext cx="6044565" cy="1684020"/>
          </a:xfrm>
          <a:prstGeom prst="rect">
            <a:avLst/>
          </a:prstGeom>
        </p:spPr>
        <p:txBody>
          <a:bodyPr wrap="square" lIns="0" tIns="495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90"/>
              </a:spcBef>
            </a:pPr>
            <a:r>
              <a:rPr dirty="0" sz="1000" spc="-90" b="1">
                <a:solidFill>
                  <a:srgbClr val="111726"/>
                </a:solidFill>
                <a:latin typeface="Source Han Sans JP"/>
                <a:cs typeface="Source Han Sans JP"/>
              </a:rPr>
              <a:t>Output:</a:t>
            </a:r>
            <a:r>
              <a:rPr dirty="0" sz="1000" spc="-25" b="1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105">
                <a:solidFill>
                  <a:srgbClr val="111726"/>
                </a:solidFill>
                <a:latin typeface="Source Han Sans JP"/>
                <a:cs typeface="Source Han Sans JP"/>
              </a:rPr>
              <a:t>No</a:t>
            </a:r>
            <a:r>
              <a:rPr dirty="0" sz="1000" spc="-20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90">
                <a:solidFill>
                  <a:srgbClr val="111726"/>
                </a:solidFill>
                <a:latin typeface="Source Han Sans JP"/>
                <a:cs typeface="Source Han Sans JP"/>
              </a:rPr>
              <a:t>runtime</a:t>
            </a:r>
            <a:r>
              <a:rPr dirty="0" sz="1000" spc="-1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85">
                <a:solidFill>
                  <a:srgbClr val="111726"/>
                </a:solidFill>
                <a:latin typeface="Source Han Sans JP"/>
                <a:cs typeface="Source Han Sans JP"/>
              </a:rPr>
              <a:t>output</a:t>
            </a:r>
            <a:r>
              <a:rPr dirty="0" sz="1000" spc="-20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950" spc="-204">
                <a:solidFill>
                  <a:srgbClr val="111726"/>
                </a:solidFill>
                <a:latin typeface="Arial"/>
                <a:cs typeface="Arial"/>
              </a:rPr>
              <a:t>—</a:t>
            </a:r>
            <a:r>
              <a:rPr dirty="0" sz="950" spc="-55">
                <a:solidFill>
                  <a:srgbClr val="111726"/>
                </a:solidFill>
                <a:latin typeface="Arial"/>
                <a:cs typeface="Arial"/>
              </a:rPr>
              <a:t> </a:t>
            </a:r>
            <a:r>
              <a:rPr dirty="0" sz="1000" spc="-75">
                <a:solidFill>
                  <a:srgbClr val="111726"/>
                </a:solidFill>
                <a:latin typeface="Source Han Sans JP"/>
                <a:cs typeface="Source Han Sans JP"/>
              </a:rPr>
              <a:t>de</a:t>
            </a:r>
            <a:r>
              <a:rPr dirty="0" sz="950" spc="-75">
                <a:solidFill>
                  <a:srgbClr val="111726"/>
                </a:solidFill>
                <a:latin typeface="Arial"/>
                <a:cs typeface="Arial"/>
              </a:rPr>
              <a:t>ﬁ</a:t>
            </a:r>
            <a:r>
              <a:rPr dirty="0" sz="1000" spc="-75">
                <a:solidFill>
                  <a:srgbClr val="111726"/>
                </a:solidFill>
                <a:latin typeface="Source Han Sans JP"/>
                <a:cs typeface="Source Han Sans JP"/>
              </a:rPr>
              <a:t>nes</a:t>
            </a:r>
            <a:r>
              <a:rPr dirty="0" sz="1000" spc="-20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90">
                <a:solidFill>
                  <a:srgbClr val="111726"/>
                </a:solidFill>
                <a:latin typeface="Source Han Sans JP"/>
                <a:cs typeface="Source Han Sans JP"/>
              </a:rPr>
              <a:t>the</a:t>
            </a:r>
            <a:r>
              <a:rPr dirty="0" sz="1000" spc="-1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100">
                <a:solidFill>
                  <a:srgbClr val="111726"/>
                </a:solidFill>
                <a:latin typeface="Source Han Sans JP"/>
                <a:cs typeface="Source Han Sans JP"/>
              </a:rPr>
              <a:t>schema</a:t>
            </a:r>
            <a:r>
              <a:rPr dirty="0" sz="1000" spc="-20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90">
                <a:solidFill>
                  <a:srgbClr val="111726"/>
                </a:solidFill>
                <a:latin typeface="Source Han Sans JP"/>
                <a:cs typeface="Source Han Sans JP"/>
              </a:rPr>
              <a:t>used</a:t>
            </a:r>
            <a:r>
              <a:rPr dirty="0" sz="1000" spc="-1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75">
                <a:solidFill>
                  <a:srgbClr val="111726"/>
                </a:solidFill>
                <a:latin typeface="Source Han Sans JP"/>
                <a:cs typeface="Source Han Sans JP"/>
              </a:rPr>
              <a:t>when</a:t>
            </a:r>
            <a:r>
              <a:rPr dirty="0" sz="1000" spc="210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800">
                <a:solidFill>
                  <a:srgbClr val="111726"/>
                </a:solidFill>
                <a:latin typeface="Courier New"/>
                <a:cs typeface="Courier New"/>
              </a:rPr>
              <a:t>Base.metadata.create_all(engine)</a:t>
            </a:r>
            <a:r>
              <a:rPr dirty="0" sz="800" spc="-40">
                <a:solidFill>
                  <a:srgbClr val="111726"/>
                </a:solidFill>
                <a:latin typeface="Courier New"/>
                <a:cs typeface="Courier New"/>
              </a:rPr>
              <a:t> </a:t>
            </a:r>
            <a:r>
              <a:rPr dirty="0" sz="1000" spc="-70">
                <a:solidFill>
                  <a:srgbClr val="111726"/>
                </a:solidFill>
                <a:latin typeface="Source Han Sans JP"/>
                <a:cs typeface="Source Han Sans JP"/>
              </a:rPr>
              <a:t>is</a:t>
            </a:r>
            <a:r>
              <a:rPr dirty="0" sz="1000" spc="-20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75">
                <a:solidFill>
                  <a:srgbClr val="111726"/>
                </a:solidFill>
                <a:latin typeface="Source Han Sans JP"/>
                <a:cs typeface="Source Han Sans JP"/>
              </a:rPr>
              <a:t>later</a:t>
            </a:r>
            <a:r>
              <a:rPr dirty="0" sz="1000" spc="-1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75">
                <a:solidFill>
                  <a:srgbClr val="111726"/>
                </a:solidFill>
                <a:latin typeface="Source Han Sans JP"/>
                <a:cs typeface="Source Han Sans JP"/>
              </a:rPr>
              <a:t>called</a:t>
            </a:r>
            <a:r>
              <a:rPr dirty="0" sz="1000" spc="-20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25">
                <a:solidFill>
                  <a:srgbClr val="111726"/>
                </a:solidFill>
                <a:latin typeface="Source Han Sans JP"/>
                <a:cs typeface="Source Han Sans JP"/>
              </a:rPr>
              <a:t>in</a:t>
            </a:r>
            <a:endParaRPr sz="1000">
              <a:latin typeface="Source Han Sans JP"/>
              <a:cs typeface="Source Han Sans JP"/>
            </a:endParaRPr>
          </a:p>
          <a:p>
            <a:pPr marL="39370">
              <a:lnSpc>
                <a:spcPct val="100000"/>
              </a:lnSpc>
              <a:spcBef>
                <a:spcPts val="285"/>
              </a:spcBef>
            </a:pPr>
            <a:r>
              <a:rPr dirty="0" sz="800">
                <a:solidFill>
                  <a:srgbClr val="111726"/>
                </a:solidFill>
                <a:latin typeface="Courier New"/>
                <a:cs typeface="Courier New"/>
              </a:rPr>
              <a:t>rag_pipeline.py</a:t>
            </a:r>
            <a:r>
              <a:rPr dirty="0" sz="800" spc="-200">
                <a:solidFill>
                  <a:srgbClr val="111726"/>
                </a:solidFill>
                <a:latin typeface="Courier New"/>
                <a:cs typeface="Courier New"/>
              </a:rPr>
              <a:t> </a:t>
            </a:r>
            <a:r>
              <a:rPr dirty="0" sz="1000" spc="-50">
                <a:solidFill>
                  <a:srgbClr val="111726"/>
                </a:solidFill>
                <a:latin typeface="Source Han Sans JP"/>
                <a:cs typeface="Source Han Sans JP"/>
              </a:rPr>
              <a:t>.</a:t>
            </a:r>
            <a:endParaRPr sz="1000">
              <a:latin typeface="Source Han Sans JP"/>
              <a:cs typeface="Source Han Sans JP"/>
            </a:endParaRPr>
          </a:p>
          <a:p>
            <a:pPr>
              <a:lnSpc>
                <a:spcPct val="100000"/>
              </a:lnSpc>
              <a:spcBef>
                <a:spcPts val="1145"/>
              </a:spcBef>
            </a:pPr>
            <a:endParaRPr sz="800">
              <a:latin typeface="Source Han Sans JP"/>
              <a:cs typeface="Source Han Sans JP"/>
            </a:endParaRPr>
          </a:p>
          <a:p>
            <a:pPr marL="12700">
              <a:lnSpc>
                <a:spcPct val="100000"/>
              </a:lnSpc>
            </a:pPr>
            <a:r>
              <a:rPr dirty="0" sz="1300" spc="-30" b="1">
                <a:solidFill>
                  <a:srgbClr val="111726"/>
                </a:solidFill>
                <a:latin typeface="Trebuchet MS"/>
                <a:cs typeface="Trebuchet MS"/>
              </a:rPr>
              <a:t>1</a:t>
            </a:r>
            <a:r>
              <a:rPr dirty="0" sz="1450" spc="-30" b="1">
                <a:solidFill>
                  <a:srgbClr val="111726"/>
                </a:solidFill>
                <a:latin typeface="Source Han Sans JP"/>
                <a:cs typeface="Source Han Sans JP"/>
              </a:rPr>
              <a:t>.</a:t>
            </a:r>
            <a:r>
              <a:rPr dirty="0" sz="1300" spc="-30" b="1">
                <a:solidFill>
                  <a:srgbClr val="111726"/>
                </a:solidFill>
                <a:latin typeface="Trebuchet MS"/>
                <a:cs typeface="Trebuchet MS"/>
              </a:rPr>
              <a:t>4</a:t>
            </a:r>
            <a:r>
              <a:rPr dirty="0" sz="1300" spc="-60" b="1">
                <a:solidFill>
                  <a:srgbClr val="111726"/>
                </a:solidFill>
                <a:latin typeface="Trebuchet MS"/>
                <a:cs typeface="Trebuchet MS"/>
              </a:rPr>
              <a:t> </a:t>
            </a:r>
            <a:r>
              <a:rPr dirty="0" sz="1100" spc="-10" b="1">
                <a:solidFill>
                  <a:srgbClr val="111726"/>
                </a:solidFill>
                <a:latin typeface="Courier New"/>
                <a:cs typeface="Courier New"/>
              </a:rPr>
              <a:t>rag_pipeline.py</a:t>
            </a:r>
            <a:endParaRPr sz="1100">
              <a:latin typeface="Courier New"/>
              <a:cs typeface="Courier New"/>
            </a:endParaRPr>
          </a:p>
          <a:p>
            <a:pPr marL="12700" marR="5080">
              <a:lnSpc>
                <a:spcPct val="114999"/>
              </a:lnSpc>
              <a:spcBef>
                <a:spcPts val="760"/>
              </a:spcBef>
            </a:pPr>
            <a:r>
              <a:rPr dirty="0" sz="1000" spc="-80">
                <a:solidFill>
                  <a:srgbClr val="111726"/>
                </a:solidFill>
                <a:latin typeface="Source Han Sans JP"/>
                <a:cs typeface="Source Han Sans JP"/>
              </a:rPr>
              <a:t>This</a:t>
            </a:r>
            <a:r>
              <a:rPr dirty="0" sz="1000" spc="-1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70">
                <a:solidFill>
                  <a:srgbClr val="111726"/>
                </a:solidFill>
                <a:latin typeface="Source Han Sans JP"/>
                <a:cs typeface="Source Han Sans JP"/>
              </a:rPr>
              <a:t>is</a:t>
            </a:r>
            <a:r>
              <a:rPr dirty="0" sz="1000" spc="-1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90">
                <a:solidFill>
                  <a:srgbClr val="111726"/>
                </a:solidFill>
                <a:latin typeface="Source Han Sans JP"/>
                <a:cs typeface="Source Han Sans JP"/>
              </a:rPr>
              <a:t>the</a:t>
            </a:r>
            <a:r>
              <a:rPr dirty="0" sz="1000" spc="-1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100">
                <a:solidFill>
                  <a:srgbClr val="111726"/>
                </a:solidFill>
                <a:latin typeface="Source Han Sans JP"/>
                <a:cs typeface="Source Han Sans JP"/>
              </a:rPr>
              <a:t>main</a:t>
            </a:r>
            <a:r>
              <a:rPr dirty="0" sz="1000" spc="-1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75">
                <a:solidFill>
                  <a:srgbClr val="111726"/>
                </a:solidFill>
                <a:latin typeface="Source Han Sans JP"/>
                <a:cs typeface="Source Han Sans JP"/>
              </a:rPr>
              <a:t>script</a:t>
            </a:r>
            <a:r>
              <a:rPr dirty="0" sz="1000" spc="-1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950" spc="-204">
                <a:solidFill>
                  <a:srgbClr val="111726"/>
                </a:solidFill>
                <a:latin typeface="Arial"/>
                <a:cs typeface="Arial"/>
              </a:rPr>
              <a:t>—</a:t>
            </a:r>
            <a:r>
              <a:rPr dirty="0" sz="950" spc="-55">
                <a:solidFill>
                  <a:srgbClr val="111726"/>
                </a:solidFill>
                <a:latin typeface="Arial"/>
                <a:cs typeface="Arial"/>
              </a:rPr>
              <a:t> </a:t>
            </a:r>
            <a:r>
              <a:rPr dirty="0" sz="1000" spc="-65">
                <a:solidFill>
                  <a:srgbClr val="111726"/>
                </a:solidFill>
                <a:latin typeface="Source Han Sans JP"/>
                <a:cs typeface="Source Han Sans JP"/>
              </a:rPr>
              <a:t>it</a:t>
            </a:r>
            <a:r>
              <a:rPr dirty="0" sz="1000" spc="-1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80">
                <a:solidFill>
                  <a:srgbClr val="111726"/>
                </a:solidFill>
                <a:latin typeface="Source Han Sans JP"/>
                <a:cs typeface="Source Han Sans JP"/>
              </a:rPr>
              <a:t>sets</a:t>
            </a:r>
            <a:r>
              <a:rPr dirty="0" sz="1000" spc="-1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100">
                <a:solidFill>
                  <a:srgbClr val="111726"/>
                </a:solidFill>
                <a:latin typeface="Source Han Sans JP"/>
                <a:cs typeface="Source Han Sans JP"/>
              </a:rPr>
              <a:t>up</a:t>
            </a:r>
            <a:r>
              <a:rPr dirty="0" sz="1000" spc="-1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90">
                <a:solidFill>
                  <a:srgbClr val="111726"/>
                </a:solidFill>
                <a:latin typeface="Source Han Sans JP"/>
                <a:cs typeface="Source Han Sans JP"/>
              </a:rPr>
              <a:t>the</a:t>
            </a:r>
            <a:r>
              <a:rPr dirty="0" sz="1000" spc="-1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95">
                <a:solidFill>
                  <a:srgbClr val="111726"/>
                </a:solidFill>
                <a:latin typeface="Source Han Sans JP"/>
                <a:cs typeface="Source Han Sans JP"/>
              </a:rPr>
              <a:t>DB,</a:t>
            </a:r>
            <a:r>
              <a:rPr dirty="0" sz="1000" spc="-1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95">
                <a:solidFill>
                  <a:srgbClr val="111726"/>
                </a:solidFill>
                <a:latin typeface="Source Han Sans JP"/>
                <a:cs typeface="Source Han Sans JP"/>
              </a:rPr>
              <a:t>loads/chunks/embeds</a:t>
            </a:r>
            <a:r>
              <a:rPr dirty="0" sz="1000" spc="-1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90">
                <a:solidFill>
                  <a:srgbClr val="111726"/>
                </a:solidFill>
                <a:latin typeface="Source Han Sans JP"/>
                <a:cs typeface="Source Han Sans JP"/>
              </a:rPr>
              <a:t>the</a:t>
            </a:r>
            <a:r>
              <a:rPr dirty="0" sz="1000" spc="-1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105">
                <a:solidFill>
                  <a:srgbClr val="111726"/>
                </a:solidFill>
                <a:latin typeface="Source Han Sans JP"/>
                <a:cs typeface="Source Han Sans JP"/>
              </a:rPr>
              <a:t>PDF,</a:t>
            </a:r>
            <a:r>
              <a:rPr dirty="0" sz="1000" spc="-1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85">
                <a:solidFill>
                  <a:srgbClr val="111726"/>
                </a:solidFill>
                <a:latin typeface="Source Han Sans JP"/>
                <a:cs typeface="Source Han Sans JP"/>
              </a:rPr>
              <a:t>stores</a:t>
            </a:r>
            <a:r>
              <a:rPr dirty="0" sz="1000" spc="-1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90">
                <a:solidFill>
                  <a:srgbClr val="111726"/>
                </a:solidFill>
                <a:latin typeface="Source Han Sans JP"/>
                <a:cs typeface="Source Han Sans JP"/>
              </a:rPr>
              <a:t>the</a:t>
            </a:r>
            <a:r>
              <a:rPr dirty="0" sz="1000" spc="-1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80">
                <a:solidFill>
                  <a:srgbClr val="111726"/>
                </a:solidFill>
                <a:latin typeface="Source Han Sans JP"/>
                <a:cs typeface="Source Han Sans JP"/>
              </a:rPr>
              <a:t>vectors,</a:t>
            </a:r>
            <a:r>
              <a:rPr dirty="0" sz="1000" spc="-1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95">
                <a:solidFill>
                  <a:srgbClr val="111726"/>
                </a:solidFill>
                <a:latin typeface="Source Han Sans JP"/>
                <a:cs typeface="Source Han Sans JP"/>
              </a:rPr>
              <a:t>and</a:t>
            </a:r>
            <a:r>
              <a:rPr dirty="0" sz="1000" spc="-1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90">
                <a:solidFill>
                  <a:srgbClr val="111726"/>
                </a:solidFill>
                <a:latin typeface="Source Han Sans JP"/>
                <a:cs typeface="Source Han Sans JP"/>
              </a:rPr>
              <a:t>then</a:t>
            </a:r>
            <a:r>
              <a:rPr dirty="0" sz="1000" spc="-1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85">
                <a:solidFill>
                  <a:srgbClr val="111726"/>
                </a:solidFill>
                <a:latin typeface="Source Han Sans JP"/>
                <a:cs typeface="Source Han Sans JP"/>
              </a:rPr>
              <a:t>runs</a:t>
            </a:r>
            <a:r>
              <a:rPr dirty="0" sz="1000" spc="-1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100">
                <a:solidFill>
                  <a:srgbClr val="111726"/>
                </a:solidFill>
                <a:latin typeface="Source Han Sans JP"/>
                <a:cs typeface="Source Han Sans JP"/>
              </a:rPr>
              <a:t>an</a:t>
            </a:r>
            <a:r>
              <a:rPr dirty="0" sz="1000" spc="-1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45">
                <a:solidFill>
                  <a:srgbClr val="111726"/>
                </a:solidFill>
                <a:latin typeface="Source Han Sans JP"/>
                <a:cs typeface="Source Han Sans JP"/>
              </a:rPr>
              <a:t>interactive</a:t>
            </a:r>
            <a:r>
              <a:rPr dirty="0" sz="1000" spc="500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90">
                <a:solidFill>
                  <a:srgbClr val="111726"/>
                </a:solidFill>
                <a:latin typeface="Source Han Sans JP"/>
                <a:cs typeface="Source Han Sans JP"/>
              </a:rPr>
              <a:t>question-answering</a:t>
            </a:r>
            <a:r>
              <a:rPr dirty="0" sz="1000" spc="80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20">
                <a:solidFill>
                  <a:srgbClr val="111726"/>
                </a:solidFill>
                <a:latin typeface="Source Han Sans JP"/>
                <a:cs typeface="Source Han Sans JP"/>
              </a:rPr>
              <a:t>loop.</a:t>
            </a:r>
            <a:endParaRPr sz="1000">
              <a:latin typeface="Source Han Sans JP"/>
              <a:cs typeface="Source Han Sans JP"/>
            </a:endParaRPr>
          </a:p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dirty="0" sz="1200" spc="-10" b="1">
                <a:solidFill>
                  <a:srgbClr val="111726"/>
                </a:solidFill>
                <a:latin typeface="Source Han Sans JP"/>
                <a:cs typeface="Source Han Sans JP"/>
              </a:rPr>
              <a:t>Imports</a:t>
            </a:r>
            <a:endParaRPr sz="1200">
              <a:latin typeface="Source Han Sans JP"/>
              <a:cs typeface="Source Han Sans JP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761782" y="5244367"/>
            <a:ext cx="4155440" cy="3227705"/>
          </a:xfrm>
          <a:prstGeom prst="rect">
            <a:avLst/>
          </a:prstGeom>
        </p:spPr>
        <p:txBody>
          <a:bodyPr wrap="square" lIns="0" tIns="654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15"/>
              </a:spcBef>
            </a:pP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from</a:t>
            </a:r>
            <a:r>
              <a:rPr dirty="0" sz="800" spc="3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sqlalchemy</a:t>
            </a:r>
            <a:r>
              <a:rPr dirty="0" sz="800" spc="3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import</a:t>
            </a:r>
            <a:r>
              <a:rPr dirty="0" sz="800" spc="3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 spc="-20">
                <a:solidFill>
                  <a:srgbClr val="E4E7EB"/>
                </a:solidFill>
                <a:latin typeface="Courier New"/>
                <a:cs typeface="Courier New"/>
              </a:rPr>
              <a:t>text</a:t>
            </a:r>
            <a:endParaRPr sz="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420"/>
              </a:spcBef>
            </a:pP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from</a:t>
            </a:r>
            <a:r>
              <a:rPr dirty="0" sz="800" spc="4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sqlalchemy.orm</a:t>
            </a:r>
            <a:r>
              <a:rPr dirty="0" sz="800" spc="4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import</a:t>
            </a:r>
            <a:r>
              <a:rPr dirty="0" sz="800" spc="4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 spc="-10">
                <a:solidFill>
                  <a:srgbClr val="E4E7EB"/>
                </a:solidFill>
                <a:latin typeface="Courier New"/>
                <a:cs typeface="Courier New"/>
              </a:rPr>
              <a:t>Session</a:t>
            </a:r>
            <a:endParaRPr sz="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475"/>
              </a:spcBef>
            </a:pPr>
            <a:endParaRPr sz="800">
              <a:latin typeface="Courier New"/>
              <a:cs typeface="Courier New"/>
            </a:endParaRPr>
          </a:p>
          <a:p>
            <a:pPr marL="12700" marR="1607185">
              <a:lnSpc>
                <a:spcPct val="149300"/>
              </a:lnSpc>
            </a:pP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from</a:t>
            </a:r>
            <a:r>
              <a:rPr dirty="0" sz="800" spc="3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database</a:t>
            </a:r>
            <a:r>
              <a:rPr dirty="0" sz="800" spc="3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import</a:t>
            </a:r>
            <a:r>
              <a:rPr dirty="0" sz="800" spc="3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engine,</a:t>
            </a:r>
            <a:r>
              <a:rPr dirty="0" sz="800" spc="3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 spc="-10">
                <a:solidFill>
                  <a:srgbClr val="E4E7EB"/>
                </a:solidFill>
                <a:latin typeface="Courier New"/>
                <a:cs typeface="Courier New"/>
              </a:rPr>
              <a:t>SessionLocal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from</a:t>
            </a:r>
            <a:r>
              <a:rPr dirty="0" sz="800" spc="2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models</a:t>
            </a:r>
            <a:r>
              <a:rPr dirty="0" sz="800" spc="3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import</a:t>
            </a:r>
            <a:r>
              <a:rPr dirty="0" sz="800" spc="3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Base,</a:t>
            </a:r>
            <a:r>
              <a:rPr dirty="0" sz="800" spc="2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 spc="-10">
                <a:solidFill>
                  <a:srgbClr val="E4E7EB"/>
                </a:solidFill>
                <a:latin typeface="Courier New"/>
                <a:cs typeface="Courier New"/>
              </a:rPr>
              <a:t>DocumentChunk</a:t>
            </a:r>
            <a:endParaRPr sz="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894"/>
              </a:spcBef>
            </a:pPr>
            <a:endParaRPr sz="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from</a:t>
            </a:r>
            <a:r>
              <a:rPr dirty="0" sz="800" spc="7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langchain_community.document_loaders</a:t>
            </a:r>
            <a:r>
              <a:rPr dirty="0" sz="800" spc="7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import</a:t>
            </a:r>
            <a:r>
              <a:rPr dirty="0" sz="800" spc="7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 spc="-10">
                <a:solidFill>
                  <a:srgbClr val="E4E7EB"/>
                </a:solidFill>
                <a:latin typeface="Courier New"/>
                <a:cs typeface="Courier New"/>
              </a:rPr>
              <a:t>PyPDFLoader</a:t>
            </a:r>
            <a:endParaRPr sz="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475"/>
              </a:spcBef>
            </a:pP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from</a:t>
            </a:r>
            <a:r>
              <a:rPr dirty="0" sz="800" spc="5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langchain_text_splitters</a:t>
            </a:r>
            <a:r>
              <a:rPr dirty="0" sz="800" spc="5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import</a:t>
            </a:r>
            <a:r>
              <a:rPr dirty="0" sz="800" spc="5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 spc="-10">
                <a:solidFill>
                  <a:srgbClr val="E4E7EB"/>
                </a:solidFill>
                <a:latin typeface="Courier New"/>
                <a:cs typeface="Courier New"/>
              </a:rPr>
              <a:t>RecursiveCharacterTextSplitter</a:t>
            </a:r>
            <a:endParaRPr sz="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endParaRPr sz="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from</a:t>
            </a:r>
            <a:r>
              <a:rPr dirty="0" sz="800" spc="5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sentence_transformers</a:t>
            </a:r>
            <a:r>
              <a:rPr dirty="0" sz="800" spc="5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import</a:t>
            </a:r>
            <a:r>
              <a:rPr dirty="0" sz="800" spc="5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 spc="-10">
                <a:solidFill>
                  <a:srgbClr val="E4E7EB"/>
                </a:solidFill>
                <a:latin typeface="Courier New"/>
                <a:cs typeface="Courier New"/>
              </a:rPr>
              <a:t>SentenceTransformer</a:t>
            </a:r>
            <a:endParaRPr sz="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455"/>
              </a:spcBef>
            </a:pPr>
            <a:endParaRPr sz="800">
              <a:latin typeface="Courier New"/>
              <a:cs typeface="Courier New"/>
            </a:endParaRPr>
          </a:p>
          <a:p>
            <a:pPr marL="259079" marR="2531745" indent="-247015">
              <a:lnSpc>
                <a:spcPct val="145600"/>
              </a:lnSpc>
            </a:pP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from</a:t>
            </a:r>
            <a:r>
              <a:rPr dirty="0" sz="800" spc="3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transformers</a:t>
            </a:r>
            <a:r>
              <a:rPr dirty="0" sz="800" spc="4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import</a:t>
            </a:r>
            <a:r>
              <a:rPr dirty="0" sz="800" spc="3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 spc="-60">
                <a:solidFill>
                  <a:srgbClr val="E4E7EB"/>
                </a:solidFill>
                <a:latin typeface="Courier New"/>
                <a:cs typeface="Courier New"/>
              </a:rPr>
              <a:t>( </a:t>
            </a:r>
            <a:r>
              <a:rPr dirty="0" sz="800" spc="-10">
                <a:solidFill>
                  <a:srgbClr val="E4E7EB"/>
                </a:solidFill>
                <a:latin typeface="Courier New"/>
                <a:cs typeface="Courier New"/>
              </a:rPr>
              <a:t>AutoTokenizer, AutoModelForCausalLM, pipeline,</a:t>
            </a:r>
            <a:endParaRPr sz="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475"/>
              </a:spcBef>
            </a:pPr>
            <a:r>
              <a:rPr dirty="0" sz="800" spc="-50">
                <a:solidFill>
                  <a:srgbClr val="E4E7EB"/>
                </a:solidFill>
                <a:latin typeface="Courier New"/>
                <a:cs typeface="Courier New"/>
              </a:rPr>
              <a:t>)</a:t>
            </a:r>
            <a:endParaRPr sz="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endParaRPr sz="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import</a:t>
            </a:r>
            <a:r>
              <a:rPr dirty="0" sz="800" spc="3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 spc="-10">
                <a:solidFill>
                  <a:srgbClr val="E4E7EB"/>
                </a:solidFill>
                <a:latin typeface="Courier New"/>
                <a:cs typeface="Courier New"/>
              </a:rPr>
              <a:t>torch</a:t>
            </a:r>
            <a:endParaRPr sz="800">
              <a:latin typeface="Courier New"/>
              <a:cs typeface="Courier New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754257" y="9058967"/>
            <a:ext cx="1652270" cy="141605"/>
          </a:xfrm>
          <a:custGeom>
            <a:avLst/>
            <a:gdLst/>
            <a:ahLst/>
            <a:cxnLst/>
            <a:rect l="l" t="t" r="r" b="b"/>
            <a:pathLst>
              <a:path w="1652270" h="141604">
                <a:moveTo>
                  <a:pt x="1628261" y="141566"/>
                </a:moveTo>
                <a:lnTo>
                  <a:pt x="23389" y="141566"/>
                </a:lnTo>
                <a:lnTo>
                  <a:pt x="19950" y="140881"/>
                </a:lnTo>
                <a:lnTo>
                  <a:pt x="0" y="118175"/>
                </a:lnTo>
                <a:lnTo>
                  <a:pt x="0" y="114604"/>
                </a:lnTo>
                <a:lnTo>
                  <a:pt x="0" y="23387"/>
                </a:lnTo>
                <a:lnTo>
                  <a:pt x="23389" y="0"/>
                </a:lnTo>
                <a:lnTo>
                  <a:pt x="1628261" y="0"/>
                </a:lnTo>
                <a:lnTo>
                  <a:pt x="1651651" y="23387"/>
                </a:lnTo>
                <a:lnTo>
                  <a:pt x="1651651" y="118175"/>
                </a:lnTo>
                <a:lnTo>
                  <a:pt x="1631701" y="140881"/>
                </a:lnTo>
                <a:lnTo>
                  <a:pt x="1628261" y="141566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4286768" y="9058967"/>
            <a:ext cx="411480" cy="141605"/>
          </a:xfrm>
          <a:custGeom>
            <a:avLst/>
            <a:gdLst/>
            <a:ahLst/>
            <a:cxnLst/>
            <a:rect l="l" t="t" r="r" b="b"/>
            <a:pathLst>
              <a:path w="411479" h="141604">
                <a:moveTo>
                  <a:pt x="387837" y="141566"/>
                </a:moveTo>
                <a:lnTo>
                  <a:pt x="23390" y="141566"/>
                </a:lnTo>
                <a:lnTo>
                  <a:pt x="19949" y="140881"/>
                </a:lnTo>
                <a:lnTo>
                  <a:pt x="0" y="118175"/>
                </a:lnTo>
                <a:lnTo>
                  <a:pt x="0" y="114604"/>
                </a:lnTo>
                <a:lnTo>
                  <a:pt x="0" y="23387"/>
                </a:lnTo>
                <a:lnTo>
                  <a:pt x="23390" y="0"/>
                </a:lnTo>
                <a:lnTo>
                  <a:pt x="387837" y="0"/>
                </a:lnTo>
                <a:lnTo>
                  <a:pt x="411227" y="23387"/>
                </a:lnTo>
                <a:lnTo>
                  <a:pt x="411227" y="118175"/>
                </a:lnTo>
                <a:lnTo>
                  <a:pt x="391277" y="140881"/>
                </a:lnTo>
                <a:lnTo>
                  <a:pt x="387837" y="141566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754257" y="9524127"/>
            <a:ext cx="2063114" cy="141605"/>
          </a:xfrm>
          <a:custGeom>
            <a:avLst/>
            <a:gdLst/>
            <a:ahLst/>
            <a:cxnLst/>
            <a:rect l="l" t="t" r="r" b="b"/>
            <a:pathLst>
              <a:path w="2063114" h="141604">
                <a:moveTo>
                  <a:pt x="2039488" y="141566"/>
                </a:moveTo>
                <a:lnTo>
                  <a:pt x="23389" y="141566"/>
                </a:lnTo>
                <a:lnTo>
                  <a:pt x="19950" y="140879"/>
                </a:lnTo>
                <a:lnTo>
                  <a:pt x="0" y="118179"/>
                </a:lnTo>
                <a:lnTo>
                  <a:pt x="0" y="114604"/>
                </a:lnTo>
                <a:lnTo>
                  <a:pt x="0" y="23387"/>
                </a:lnTo>
                <a:lnTo>
                  <a:pt x="23389" y="0"/>
                </a:lnTo>
                <a:lnTo>
                  <a:pt x="2039488" y="0"/>
                </a:lnTo>
                <a:lnTo>
                  <a:pt x="2062878" y="23387"/>
                </a:lnTo>
                <a:lnTo>
                  <a:pt x="2062878" y="118179"/>
                </a:lnTo>
                <a:lnTo>
                  <a:pt x="2042928" y="140879"/>
                </a:lnTo>
                <a:lnTo>
                  <a:pt x="2039488" y="141566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5891225" y="9524136"/>
            <a:ext cx="768985" cy="316865"/>
          </a:xfrm>
          <a:custGeom>
            <a:avLst/>
            <a:gdLst/>
            <a:ahLst/>
            <a:cxnLst/>
            <a:rect l="l" t="t" r="r" b="b"/>
            <a:pathLst>
              <a:path w="768984" h="316865">
                <a:moveTo>
                  <a:pt x="694359" y="23380"/>
                </a:moveTo>
                <a:lnTo>
                  <a:pt x="670979" y="0"/>
                </a:lnTo>
                <a:lnTo>
                  <a:pt x="245859" y="0"/>
                </a:lnTo>
                <a:lnTo>
                  <a:pt x="222465" y="23380"/>
                </a:lnTo>
                <a:lnTo>
                  <a:pt x="222465" y="114604"/>
                </a:lnTo>
                <a:lnTo>
                  <a:pt x="222465" y="118173"/>
                </a:lnTo>
                <a:lnTo>
                  <a:pt x="245859" y="141566"/>
                </a:lnTo>
                <a:lnTo>
                  <a:pt x="670979" y="141566"/>
                </a:lnTo>
                <a:lnTo>
                  <a:pt x="694359" y="118173"/>
                </a:lnTo>
                <a:lnTo>
                  <a:pt x="694359" y="23380"/>
                </a:lnTo>
                <a:close/>
              </a:path>
              <a:path w="768984" h="316865">
                <a:moveTo>
                  <a:pt x="768527" y="198666"/>
                </a:moveTo>
                <a:lnTo>
                  <a:pt x="745134" y="175272"/>
                </a:lnTo>
                <a:lnTo>
                  <a:pt x="23393" y="175272"/>
                </a:lnTo>
                <a:lnTo>
                  <a:pt x="0" y="198666"/>
                </a:lnTo>
                <a:lnTo>
                  <a:pt x="0" y="289877"/>
                </a:lnTo>
                <a:lnTo>
                  <a:pt x="0" y="293446"/>
                </a:lnTo>
                <a:lnTo>
                  <a:pt x="23393" y="316839"/>
                </a:lnTo>
                <a:lnTo>
                  <a:pt x="745134" y="316839"/>
                </a:lnTo>
                <a:lnTo>
                  <a:pt x="768527" y="293446"/>
                </a:lnTo>
                <a:lnTo>
                  <a:pt x="768527" y="198666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graphicFrame>
        <p:nvGraphicFramePr>
          <p:cNvPr id="25" name="object 25"/>
          <p:cNvGraphicFramePr>
            <a:graphicFrameLocks noGrp="1"/>
          </p:cNvGraphicFramePr>
          <p:nvPr/>
        </p:nvGraphicFramePr>
        <p:xfrm>
          <a:off x="680102" y="8694931"/>
          <a:ext cx="6278880" cy="13804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128010"/>
                <a:gridCol w="3067050"/>
              </a:tblGrid>
              <a:tr h="282575">
                <a:tc>
                  <a:txBody>
                    <a:bodyPr/>
                    <a:lstStyle/>
                    <a:p>
                      <a:pPr marL="70485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950" spc="-20" b="1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Line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64769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950" spc="-10" b="1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Explanation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64769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  <a:solidFill>
                      <a:srgbClr val="F7FAFB"/>
                    </a:solidFill>
                  </a:tcPr>
                </a:tc>
              </a:tr>
              <a:tr h="464820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from</a:t>
                      </a:r>
                      <a:r>
                        <a:rPr dirty="0" sz="750" spc="75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sqlalchemy</a:t>
                      </a:r>
                      <a:r>
                        <a:rPr dirty="0" sz="750" spc="75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import</a:t>
                      </a:r>
                      <a:r>
                        <a:rPr dirty="0" sz="750" spc="8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 spc="-2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text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90170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 marR="155575">
                        <a:lnSpc>
                          <a:spcPct val="121100"/>
                        </a:lnSpc>
                        <a:spcBef>
                          <a:spcPts val="270"/>
                        </a:spcBef>
                      </a:pPr>
                      <a:r>
                        <a:rPr dirty="0" sz="950" spc="-6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Imports</a:t>
                      </a:r>
                      <a:r>
                        <a:rPr dirty="0" sz="950" spc="19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text()</a:t>
                      </a:r>
                      <a:r>
                        <a:rPr dirty="0" sz="750" spc="-229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950" spc="-5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,</a:t>
                      </a:r>
                      <a:r>
                        <a:rPr dirty="0" sz="950" spc="-2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used</a:t>
                      </a:r>
                      <a:r>
                        <a:rPr dirty="0" sz="950" spc="-2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to</a:t>
                      </a:r>
                      <a:r>
                        <a:rPr dirty="0" sz="950" spc="-2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write</a:t>
                      </a:r>
                      <a:r>
                        <a:rPr dirty="0" sz="950" spc="-2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9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raw</a:t>
                      </a:r>
                      <a:r>
                        <a:rPr dirty="0" sz="950" spc="-2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SQL</a:t>
                      </a:r>
                      <a:r>
                        <a:rPr dirty="0" sz="950" spc="-2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strings</a:t>
                      </a:r>
                      <a:r>
                        <a:rPr dirty="0" sz="950" spc="-3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safely</a:t>
                      </a:r>
                      <a:r>
                        <a:rPr dirty="0" sz="950" spc="-2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4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(with</a:t>
                      </a:r>
                      <a:r>
                        <a:rPr dirty="0" sz="950" spc="50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9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bound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parameters)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instead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of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relying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purely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9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on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the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2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ORM.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34290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</a:tr>
              <a:tr h="633095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from</a:t>
                      </a:r>
                      <a:r>
                        <a:rPr dirty="0" sz="750" spc="85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sqlalchemy.orm</a:t>
                      </a:r>
                      <a:r>
                        <a:rPr dirty="0" sz="750" spc="9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import</a:t>
                      </a:r>
                      <a:r>
                        <a:rPr dirty="0" sz="750" spc="85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 spc="-1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Session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90170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 marR="240029">
                        <a:lnSpc>
                          <a:spcPct val="121100"/>
                        </a:lnSpc>
                        <a:spcBef>
                          <a:spcPts val="270"/>
                        </a:spcBef>
                      </a:pP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Imported</a:t>
                      </a:r>
                      <a:r>
                        <a:rPr dirty="0" sz="950" spc="-2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for</a:t>
                      </a:r>
                      <a:r>
                        <a:rPr dirty="0" sz="950" spc="-2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type-hinting/potential</a:t>
                      </a:r>
                      <a:r>
                        <a:rPr dirty="0" sz="950" spc="-2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use</a:t>
                      </a:r>
                      <a:r>
                        <a:rPr dirty="0" sz="950" spc="-2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of</a:t>
                      </a:r>
                      <a:r>
                        <a:rPr dirty="0" sz="950" spc="-2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the</a:t>
                      </a:r>
                      <a:r>
                        <a:rPr dirty="0" sz="950" spc="204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750" spc="-1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Session </a:t>
                      </a:r>
                      <a:r>
                        <a:rPr dirty="0" sz="950" spc="-7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class</a:t>
                      </a:r>
                      <a:r>
                        <a:rPr dirty="0" sz="950" spc="-3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(not</a:t>
                      </a:r>
                      <a:r>
                        <a:rPr dirty="0" sz="950" spc="-2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directly</a:t>
                      </a:r>
                      <a:r>
                        <a:rPr dirty="0" sz="950" spc="-2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instantiated</a:t>
                      </a:r>
                      <a:r>
                        <a:rPr dirty="0" sz="950" spc="-2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here,</a:t>
                      </a:r>
                      <a:r>
                        <a:rPr dirty="0" sz="950" spc="-2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5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since</a:t>
                      </a:r>
                      <a:r>
                        <a:rPr dirty="0" sz="950" spc="20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750" spc="-1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SessionLocal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already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does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that).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34290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80102" y="4542206"/>
            <a:ext cx="6202680" cy="1436370"/>
          </a:xfrm>
          <a:custGeom>
            <a:avLst/>
            <a:gdLst/>
            <a:ahLst/>
            <a:cxnLst/>
            <a:rect l="l" t="t" r="r" b="b"/>
            <a:pathLst>
              <a:path w="6202680" h="1436370">
                <a:moveTo>
                  <a:pt x="6151728" y="1435922"/>
                </a:moveTo>
                <a:lnTo>
                  <a:pt x="50390" y="1435922"/>
                </a:lnTo>
                <a:lnTo>
                  <a:pt x="46883" y="1435576"/>
                </a:lnTo>
                <a:lnTo>
                  <a:pt x="11056" y="1414898"/>
                </a:lnTo>
                <a:lnTo>
                  <a:pt x="0" y="1385532"/>
                </a:lnTo>
                <a:lnTo>
                  <a:pt x="0" y="1381993"/>
                </a:lnTo>
                <a:lnTo>
                  <a:pt x="0" y="50386"/>
                </a:lnTo>
                <a:lnTo>
                  <a:pt x="18300" y="13288"/>
                </a:lnTo>
                <a:lnTo>
                  <a:pt x="50390" y="0"/>
                </a:lnTo>
                <a:lnTo>
                  <a:pt x="6151728" y="0"/>
                </a:lnTo>
                <a:lnTo>
                  <a:pt x="6188826" y="18295"/>
                </a:lnTo>
                <a:lnTo>
                  <a:pt x="6202118" y="50386"/>
                </a:lnTo>
                <a:lnTo>
                  <a:pt x="6202118" y="1385532"/>
                </a:lnTo>
                <a:lnTo>
                  <a:pt x="6183818" y="1422629"/>
                </a:lnTo>
                <a:lnTo>
                  <a:pt x="6155235" y="1435576"/>
                </a:lnTo>
                <a:lnTo>
                  <a:pt x="6151728" y="1435922"/>
                </a:lnTo>
                <a:close/>
              </a:path>
            </a:pathLst>
          </a:custGeom>
          <a:solidFill>
            <a:srgbClr val="0E172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754257" y="652399"/>
            <a:ext cx="2480945" cy="141605"/>
          </a:xfrm>
          <a:custGeom>
            <a:avLst/>
            <a:gdLst/>
            <a:ahLst/>
            <a:cxnLst/>
            <a:rect l="l" t="t" r="r" b="b"/>
            <a:pathLst>
              <a:path w="2480945" h="141604">
                <a:moveTo>
                  <a:pt x="2457457" y="141566"/>
                </a:moveTo>
                <a:lnTo>
                  <a:pt x="23389" y="141566"/>
                </a:lnTo>
                <a:lnTo>
                  <a:pt x="19950" y="140881"/>
                </a:lnTo>
                <a:lnTo>
                  <a:pt x="0" y="118175"/>
                </a:lnTo>
                <a:lnTo>
                  <a:pt x="0" y="114604"/>
                </a:lnTo>
                <a:lnTo>
                  <a:pt x="0" y="23387"/>
                </a:lnTo>
                <a:lnTo>
                  <a:pt x="23389" y="0"/>
                </a:lnTo>
                <a:lnTo>
                  <a:pt x="2457457" y="0"/>
                </a:lnTo>
                <a:lnTo>
                  <a:pt x="2480847" y="23387"/>
                </a:lnTo>
                <a:lnTo>
                  <a:pt x="2480847" y="118175"/>
                </a:lnTo>
                <a:lnTo>
                  <a:pt x="2460897" y="140881"/>
                </a:lnTo>
                <a:lnTo>
                  <a:pt x="2457457" y="141566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3882283" y="820935"/>
            <a:ext cx="708025" cy="141605"/>
          </a:xfrm>
          <a:custGeom>
            <a:avLst/>
            <a:gdLst/>
            <a:ahLst/>
            <a:cxnLst/>
            <a:rect l="l" t="t" r="r" b="b"/>
            <a:pathLst>
              <a:path w="708025" h="141605">
                <a:moveTo>
                  <a:pt x="684460" y="141566"/>
                </a:moveTo>
                <a:lnTo>
                  <a:pt x="23389" y="141566"/>
                </a:lnTo>
                <a:lnTo>
                  <a:pt x="19950" y="140881"/>
                </a:lnTo>
                <a:lnTo>
                  <a:pt x="0" y="118175"/>
                </a:lnTo>
                <a:lnTo>
                  <a:pt x="0" y="114604"/>
                </a:lnTo>
                <a:lnTo>
                  <a:pt x="0" y="23387"/>
                </a:lnTo>
                <a:lnTo>
                  <a:pt x="23389" y="0"/>
                </a:lnTo>
                <a:lnTo>
                  <a:pt x="684460" y="0"/>
                </a:lnTo>
                <a:lnTo>
                  <a:pt x="707850" y="23387"/>
                </a:lnTo>
                <a:lnTo>
                  <a:pt x="707850" y="118175"/>
                </a:lnTo>
                <a:lnTo>
                  <a:pt x="687900" y="140881"/>
                </a:lnTo>
                <a:lnTo>
                  <a:pt x="684460" y="141566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754257" y="1110816"/>
            <a:ext cx="2305685" cy="141605"/>
          </a:xfrm>
          <a:custGeom>
            <a:avLst/>
            <a:gdLst/>
            <a:ahLst/>
            <a:cxnLst/>
            <a:rect l="l" t="t" r="r" b="b"/>
            <a:pathLst>
              <a:path w="2305685" h="141605">
                <a:moveTo>
                  <a:pt x="2282180" y="141566"/>
                </a:moveTo>
                <a:lnTo>
                  <a:pt x="23389" y="141566"/>
                </a:lnTo>
                <a:lnTo>
                  <a:pt x="19950" y="140879"/>
                </a:lnTo>
                <a:lnTo>
                  <a:pt x="0" y="118179"/>
                </a:lnTo>
                <a:lnTo>
                  <a:pt x="0" y="114604"/>
                </a:lnTo>
                <a:lnTo>
                  <a:pt x="0" y="23387"/>
                </a:lnTo>
                <a:lnTo>
                  <a:pt x="23389" y="0"/>
                </a:lnTo>
                <a:lnTo>
                  <a:pt x="2282180" y="0"/>
                </a:lnTo>
                <a:lnTo>
                  <a:pt x="2305570" y="23387"/>
                </a:lnTo>
                <a:lnTo>
                  <a:pt x="2305570" y="118179"/>
                </a:lnTo>
                <a:lnTo>
                  <a:pt x="2285619" y="140879"/>
                </a:lnTo>
                <a:lnTo>
                  <a:pt x="2282180" y="141566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5358657" y="1110816"/>
            <a:ext cx="822960" cy="141605"/>
          </a:xfrm>
          <a:custGeom>
            <a:avLst/>
            <a:gdLst/>
            <a:ahLst/>
            <a:cxnLst/>
            <a:rect l="l" t="t" r="r" b="b"/>
            <a:pathLst>
              <a:path w="822960" h="141605">
                <a:moveTo>
                  <a:pt x="799064" y="141566"/>
                </a:moveTo>
                <a:lnTo>
                  <a:pt x="23389" y="141566"/>
                </a:lnTo>
                <a:lnTo>
                  <a:pt x="19950" y="140879"/>
                </a:lnTo>
                <a:lnTo>
                  <a:pt x="0" y="118179"/>
                </a:lnTo>
                <a:lnTo>
                  <a:pt x="0" y="114604"/>
                </a:lnTo>
                <a:lnTo>
                  <a:pt x="0" y="23387"/>
                </a:lnTo>
                <a:lnTo>
                  <a:pt x="23389" y="0"/>
                </a:lnTo>
                <a:lnTo>
                  <a:pt x="799064" y="0"/>
                </a:lnTo>
                <a:lnTo>
                  <a:pt x="822454" y="23387"/>
                </a:lnTo>
                <a:lnTo>
                  <a:pt x="822454" y="118179"/>
                </a:lnTo>
                <a:lnTo>
                  <a:pt x="802504" y="140879"/>
                </a:lnTo>
                <a:lnTo>
                  <a:pt x="799064" y="141566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4630582" y="1286094"/>
            <a:ext cx="586740" cy="141605"/>
          </a:xfrm>
          <a:custGeom>
            <a:avLst/>
            <a:gdLst/>
            <a:ahLst/>
            <a:cxnLst/>
            <a:rect l="l" t="t" r="r" b="b"/>
            <a:pathLst>
              <a:path w="586739" h="141605">
                <a:moveTo>
                  <a:pt x="563114" y="141566"/>
                </a:moveTo>
                <a:lnTo>
                  <a:pt x="23390" y="141566"/>
                </a:lnTo>
                <a:lnTo>
                  <a:pt x="19950" y="140879"/>
                </a:lnTo>
                <a:lnTo>
                  <a:pt x="0" y="118175"/>
                </a:lnTo>
                <a:lnTo>
                  <a:pt x="0" y="114604"/>
                </a:lnTo>
                <a:lnTo>
                  <a:pt x="0" y="23387"/>
                </a:lnTo>
                <a:lnTo>
                  <a:pt x="23390" y="0"/>
                </a:lnTo>
                <a:lnTo>
                  <a:pt x="563114" y="0"/>
                </a:lnTo>
                <a:lnTo>
                  <a:pt x="586504" y="23387"/>
                </a:lnTo>
                <a:lnTo>
                  <a:pt x="586504" y="118175"/>
                </a:lnTo>
                <a:lnTo>
                  <a:pt x="566554" y="140879"/>
                </a:lnTo>
                <a:lnTo>
                  <a:pt x="563114" y="141566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754253" y="1575980"/>
            <a:ext cx="2865120" cy="316865"/>
          </a:xfrm>
          <a:custGeom>
            <a:avLst/>
            <a:gdLst/>
            <a:ahLst/>
            <a:cxnLst/>
            <a:rect l="l" t="t" r="r" b="b"/>
            <a:pathLst>
              <a:path w="2865120" h="316864">
                <a:moveTo>
                  <a:pt x="680885" y="198666"/>
                </a:moveTo>
                <a:lnTo>
                  <a:pt x="657491" y="175272"/>
                </a:lnTo>
                <a:lnTo>
                  <a:pt x="0" y="175272"/>
                </a:lnTo>
                <a:lnTo>
                  <a:pt x="0" y="316839"/>
                </a:lnTo>
                <a:lnTo>
                  <a:pt x="657491" y="316839"/>
                </a:lnTo>
                <a:lnTo>
                  <a:pt x="680885" y="293458"/>
                </a:lnTo>
                <a:lnTo>
                  <a:pt x="680885" y="198666"/>
                </a:lnTo>
                <a:close/>
              </a:path>
              <a:path w="2865120" h="316864">
                <a:moveTo>
                  <a:pt x="2865107" y="0"/>
                </a:moveTo>
                <a:lnTo>
                  <a:pt x="23393" y="0"/>
                </a:lnTo>
                <a:lnTo>
                  <a:pt x="19951" y="685"/>
                </a:lnTo>
                <a:lnTo>
                  <a:pt x="0" y="23380"/>
                </a:lnTo>
                <a:lnTo>
                  <a:pt x="0" y="118173"/>
                </a:lnTo>
                <a:lnTo>
                  <a:pt x="23393" y="141566"/>
                </a:lnTo>
                <a:lnTo>
                  <a:pt x="2865107" y="141566"/>
                </a:lnTo>
                <a:lnTo>
                  <a:pt x="2865107" y="0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4354183" y="1744511"/>
            <a:ext cx="526415" cy="141605"/>
          </a:xfrm>
          <a:custGeom>
            <a:avLst/>
            <a:gdLst/>
            <a:ahLst/>
            <a:cxnLst/>
            <a:rect l="l" t="t" r="r" b="b"/>
            <a:pathLst>
              <a:path w="526414" h="141605">
                <a:moveTo>
                  <a:pt x="502442" y="141566"/>
                </a:moveTo>
                <a:lnTo>
                  <a:pt x="23390" y="141566"/>
                </a:lnTo>
                <a:lnTo>
                  <a:pt x="19949" y="140881"/>
                </a:lnTo>
                <a:lnTo>
                  <a:pt x="0" y="118179"/>
                </a:lnTo>
                <a:lnTo>
                  <a:pt x="0" y="114604"/>
                </a:lnTo>
                <a:lnTo>
                  <a:pt x="0" y="23387"/>
                </a:lnTo>
                <a:lnTo>
                  <a:pt x="23390" y="0"/>
                </a:lnTo>
                <a:lnTo>
                  <a:pt x="502442" y="0"/>
                </a:lnTo>
                <a:lnTo>
                  <a:pt x="525832" y="23387"/>
                </a:lnTo>
                <a:lnTo>
                  <a:pt x="525832" y="118179"/>
                </a:lnTo>
                <a:lnTo>
                  <a:pt x="505881" y="140881"/>
                </a:lnTo>
                <a:lnTo>
                  <a:pt x="502442" y="141566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754253" y="2041130"/>
            <a:ext cx="2157730" cy="316865"/>
          </a:xfrm>
          <a:custGeom>
            <a:avLst/>
            <a:gdLst/>
            <a:ahLst/>
            <a:cxnLst/>
            <a:rect l="l" t="t" r="r" b="b"/>
            <a:pathLst>
              <a:path w="2157730" h="316864">
                <a:moveTo>
                  <a:pt x="1799958" y="198678"/>
                </a:moveTo>
                <a:lnTo>
                  <a:pt x="1776577" y="175285"/>
                </a:lnTo>
                <a:lnTo>
                  <a:pt x="0" y="175285"/>
                </a:lnTo>
                <a:lnTo>
                  <a:pt x="0" y="316852"/>
                </a:lnTo>
                <a:lnTo>
                  <a:pt x="1776577" y="316852"/>
                </a:lnTo>
                <a:lnTo>
                  <a:pt x="1799958" y="293458"/>
                </a:lnTo>
                <a:lnTo>
                  <a:pt x="1799958" y="198678"/>
                </a:lnTo>
                <a:close/>
              </a:path>
              <a:path w="2157730" h="316864">
                <a:moveTo>
                  <a:pt x="2157260" y="0"/>
                </a:moveTo>
                <a:lnTo>
                  <a:pt x="23393" y="0"/>
                </a:lnTo>
                <a:lnTo>
                  <a:pt x="19951" y="698"/>
                </a:lnTo>
                <a:lnTo>
                  <a:pt x="0" y="23393"/>
                </a:lnTo>
                <a:lnTo>
                  <a:pt x="0" y="118186"/>
                </a:lnTo>
                <a:lnTo>
                  <a:pt x="23393" y="141579"/>
                </a:lnTo>
                <a:lnTo>
                  <a:pt x="2157260" y="141579"/>
                </a:lnTo>
                <a:lnTo>
                  <a:pt x="2157260" y="0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754253" y="2506293"/>
            <a:ext cx="1982470" cy="316865"/>
          </a:xfrm>
          <a:custGeom>
            <a:avLst/>
            <a:gdLst/>
            <a:ahLst/>
            <a:cxnLst/>
            <a:rect l="l" t="t" r="r" b="b"/>
            <a:pathLst>
              <a:path w="1982470" h="316864">
                <a:moveTo>
                  <a:pt x="1152779" y="198666"/>
                </a:moveTo>
                <a:lnTo>
                  <a:pt x="1129398" y="175272"/>
                </a:lnTo>
                <a:lnTo>
                  <a:pt x="0" y="175272"/>
                </a:lnTo>
                <a:lnTo>
                  <a:pt x="0" y="316852"/>
                </a:lnTo>
                <a:lnTo>
                  <a:pt x="1129398" y="316852"/>
                </a:lnTo>
                <a:lnTo>
                  <a:pt x="1152779" y="293458"/>
                </a:lnTo>
                <a:lnTo>
                  <a:pt x="1152779" y="198666"/>
                </a:lnTo>
                <a:close/>
              </a:path>
              <a:path w="1982470" h="316864">
                <a:moveTo>
                  <a:pt x="1981974" y="0"/>
                </a:moveTo>
                <a:lnTo>
                  <a:pt x="23393" y="0"/>
                </a:lnTo>
                <a:lnTo>
                  <a:pt x="19951" y="685"/>
                </a:lnTo>
                <a:lnTo>
                  <a:pt x="0" y="23393"/>
                </a:lnTo>
                <a:lnTo>
                  <a:pt x="0" y="118186"/>
                </a:lnTo>
                <a:lnTo>
                  <a:pt x="23393" y="141566"/>
                </a:lnTo>
                <a:lnTo>
                  <a:pt x="1981974" y="141566"/>
                </a:lnTo>
                <a:lnTo>
                  <a:pt x="1981974" y="0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754253" y="2978200"/>
            <a:ext cx="2393315" cy="316865"/>
          </a:xfrm>
          <a:custGeom>
            <a:avLst/>
            <a:gdLst/>
            <a:ahLst/>
            <a:cxnLst/>
            <a:rect l="l" t="t" r="r" b="b"/>
            <a:pathLst>
              <a:path w="2393315" h="316864">
                <a:moveTo>
                  <a:pt x="1921306" y="198666"/>
                </a:moveTo>
                <a:lnTo>
                  <a:pt x="1897913" y="175272"/>
                </a:lnTo>
                <a:lnTo>
                  <a:pt x="0" y="175272"/>
                </a:lnTo>
                <a:lnTo>
                  <a:pt x="0" y="316839"/>
                </a:lnTo>
                <a:lnTo>
                  <a:pt x="1897913" y="316839"/>
                </a:lnTo>
                <a:lnTo>
                  <a:pt x="1921306" y="293446"/>
                </a:lnTo>
                <a:lnTo>
                  <a:pt x="1921306" y="198666"/>
                </a:lnTo>
                <a:close/>
              </a:path>
              <a:path w="2393315" h="316864">
                <a:moveTo>
                  <a:pt x="2393213" y="0"/>
                </a:moveTo>
                <a:lnTo>
                  <a:pt x="23393" y="0"/>
                </a:lnTo>
                <a:lnTo>
                  <a:pt x="19951" y="685"/>
                </a:lnTo>
                <a:lnTo>
                  <a:pt x="0" y="23380"/>
                </a:lnTo>
                <a:lnTo>
                  <a:pt x="0" y="118173"/>
                </a:lnTo>
                <a:lnTo>
                  <a:pt x="23393" y="141566"/>
                </a:lnTo>
                <a:lnTo>
                  <a:pt x="2393213" y="141566"/>
                </a:lnTo>
                <a:lnTo>
                  <a:pt x="2393213" y="0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4563167" y="3146729"/>
            <a:ext cx="532765" cy="141605"/>
          </a:xfrm>
          <a:custGeom>
            <a:avLst/>
            <a:gdLst/>
            <a:ahLst/>
            <a:cxnLst/>
            <a:rect l="l" t="t" r="r" b="b"/>
            <a:pathLst>
              <a:path w="532764" h="141604">
                <a:moveTo>
                  <a:pt x="509183" y="141566"/>
                </a:moveTo>
                <a:lnTo>
                  <a:pt x="23390" y="141566"/>
                </a:lnTo>
                <a:lnTo>
                  <a:pt x="19949" y="140881"/>
                </a:lnTo>
                <a:lnTo>
                  <a:pt x="0" y="118175"/>
                </a:lnTo>
                <a:lnTo>
                  <a:pt x="0" y="114604"/>
                </a:lnTo>
                <a:lnTo>
                  <a:pt x="0" y="23387"/>
                </a:lnTo>
                <a:lnTo>
                  <a:pt x="23390" y="0"/>
                </a:lnTo>
                <a:lnTo>
                  <a:pt x="509183" y="0"/>
                </a:lnTo>
                <a:lnTo>
                  <a:pt x="532573" y="23387"/>
                </a:lnTo>
                <a:lnTo>
                  <a:pt x="532573" y="118175"/>
                </a:lnTo>
                <a:lnTo>
                  <a:pt x="512623" y="140881"/>
                </a:lnTo>
                <a:lnTo>
                  <a:pt x="509183" y="141566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754257" y="3605147"/>
            <a:ext cx="762000" cy="141605"/>
          </a:xfrm>
          <a:custGeom>
            <a:avLst/>
            <a:gdLst/>
            <a:ahLst/>
            <a:cxnLst/>
            <a:rect l="l" t="t" r="r" b="b"/>
            <a:pathLst>
              <a:path w="762000" h="141604">
                <a:moveTo>
                  <a:pt x="738392" y="141566"/>
                </a:moveTo>
                <a:lnTo>
                  <a:pt x="23389" y="141566"/>
                </a:lnTo>
                <a:lnTo>
                  <a:pt x="19950" y="140879"/>
                </a:lnTo>
                <a:lnTo>
                  <a:pt x="0" y="118175"/>
                </a:lnTo>
                <a:lnTo>
                  <a:pt x="0" y="114604"/>
                </a:lnTo>
                <a:lnTo>
                  <a:pt x="0" y="23387"/>
                </a:lnTo>
                <a:lnTo>
                  <a:pt x="23389" y="0"/>
                </a:lnTo>
                <a:lnTo>
                  <a:pt x="738392" y="0"/>
                </a:lnTo>
                <a:lnTo>
                  <a:pt x="761781" y="23387"/>
                </a:lnTo>
                <a:lnTo>
                  <a:pt x="761781" y="118175"/>
                </a:lnTo>
                <a:lnTo>
                  <a:pt x="741831" y="140879"/>
                </a:lnTo>
                <a:lnTo>
                  <a:pt x="738392" y="141566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graphicFrame>
        <p:nvGraphicFramePr>
          <p:cNvPr id="15" name="object 15"/>
          <p:cNvGraphicFramePr>
            <a:graphicFrameLocks noGrp="1"/>
          </p:cNvGraphicFramePr>
          <p:nvPr/>
        </p:nvGraphicFramePr>
        <p:xfrm>
          <a:off x="680102" y="571502"/>
          <a:ext cx="6278880" cy="35775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128010"/>
                <a:gridCol w="3067050"/>
              </a:tblGrid>
              <a:tr h="457834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from</a:t>
                      </a:r>
                      <a:r>
                        <a:rPr dirty="0" sz="750" spc="7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database</a:t>
                      </a:r>
                      <a:r>
                        <a:rPr dirty="0" sz="750" spc="75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import</a:t>
                      </a:r>
                      <a:r>
                        <a:rPr dirty="0" sz="750" spc="7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engine,</a:t>
                      </a:r>
                      <a:r>
                        <a:rPr dirty="0" sz="750" spc="75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 spc="-1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SessionLocal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90170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Imports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the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Engine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and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session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factory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6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built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2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in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  <a:p>
                      <a:pPr marL="99060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database.py</a:t>
                      </a:r>
                      <a:r>
                        <a:rPr dirty="0" sz="750" spc="-145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950" spc="-5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.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64769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</a:tr>
              <a:tr h="464820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from</a:t>
                      </a:r>
                      <a:r>
                        <a:rPr dirty="0" sz="750" spc="6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models</a:t>
                      </a:r>
                      <a:r>
                        <a:rPr dirty="0" sz="750" spc="65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import</a:t>
                      </a:r>
                      <a:r>
                        <a:rPr dirty="0" sz="750" spc="65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Base,</a:t>
                      </a:r>
                      <a:r>
                        <a:rPr dirty="0" sz="750" spc="65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 spc="-1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DocumentChunk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90170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 marR="419100">
                        <a:lnSpc>
                          <a:spcPct val="121100"/>
                        </a:lnSpc>
                        <a:spcBef>
                          <a:spcPts val="270"/>
                        </a:spcBef>
                      </a:pP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Imports</a:t>
                      </a:r>
                      <a:r>
                        <a:rPr dirty="0" sz="950" spc="-3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the</a:t>
                      </a:r>
                      <a:r>
                        <a:rPr dirty="0" sz="950" spc="-3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10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ORM</a:t>
                      </a:r>
                      <a:r>
                        <a:rPr dirty="0" sz="950" spc="-2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base</a:t>
                      </a:r>
                      <a:r>
                        <a:rPr dirty="0" sz="950" spc="-3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and</a:t>
                      </a:r>
                      <a:r>
                        <a:rPr dirty="0" sz="950" spc="-2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the</a:t>
                      </a:r>
                      <a:r>
                        <a:rPr dirty="0" sz="950" spc="19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DocumentChunk</a:t>
                      </a:r>
                      <a:r>
                        <a:rPr dirty="0" sz="750" spc="-4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950" spc="-4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table</a:t>
                      </a:r>
                      <a:r>
                        <a:rPr dirty="0" sz="950" spc="50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6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de</a:t>
                      </a:r>
                      <a:r>
                        <a:rPr dirty="0" sz="900" spc="-65">
                          <a:solidFill>
                            <a:srgbClr val="111726"/>
                          </a:solidFill>
                          <a:latin typeface="Arial"/>
                          <a:cs typeface="Arial"/>
                        </a:rPr>
                        <a:t>ﬁ</a:t>
                      </a:r>
                      <a:r>
                        <a:rPr dirty="0" sz="950" spc="-6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nition</a:t>
                      </a:r>
                      <a:r>
                        <a:rPr dirty="0" sz="950" spc="-3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5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from</a:t>
                      </a:r>
                      <a:r>
                        <a:rPr dirty="0" sz="950" spc="20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models.py</a:t>
                      </a:r>
                      <a:r>
                        <a:rPr dirty="0" sz="750" spc="-229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950" spc="-5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.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34290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</a:tr>
              <a:tr h="464820">
                <a:tc>
                  <a:txBody>
                    <a:bodyPr/>
                    <a:lstStyle/>
                    <a:p>
                      <a:pPr marL="70485" marR="182245" indent="26670">
                        <a:lnSpc>
                          <a:spcPct val="153300"/>
                        </a:lnSpc>
                        <a:spcBef>
                          <a:spcPts val="229"/>
                        </a:spcBef>
                      </a:pP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from</a:t>
                      </a:r>
                      <a:r>
                        <a:rPr dirty="0" sz="750" spc="18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langchain_community.document_loaders</a:t>
                      </a:r>
                      <a:r>
                        <a:rPr dirty="0" sz="750" spc="19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 spc="-1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import PyPDFLoader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29209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 marR="236854">
                        <a:lnSpc>
                          <a:spcPct val="116399"/>
                        </a:lnSpc>
                        <a:spcBef>
                          <a:spcPts val="320"/>
                        </a:spcBef>
                      </a:pP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Imports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LangChain's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PDF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loader,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which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extracts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each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3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PDF</a:t>
                      </a:r>
                      <a:r>
                        <a:rPr dirty="0" sz="950" spc="50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9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page</a:t>
                      </a:r>
                      <a:r>
                        <a:rPr dirty="0" sz="950" spc="-3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as</a:t>
                      </a:r>
                      <a:r>
                        <a:rPr dirty="0" sz="950" spc="-3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a</a:t>
                      </a:r>
                      <a:r>
                        <a:rPr dirty="0" sz="950" spc="1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Document</a:t>
                      </a:r>
                      <a:r>
                        <a:rPr dirty="0" sz="750" spc="-55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object.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40640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</a:tr>
              <a:tr h="464820">
                <a:tc>
                  <a:txBody>
                    <a:bodyPr/>
                    <a:lstStyle/>
                    <a:p>
                      <a:pPr marL="70485" marR="892175" indent="26670">
                        <a:lnSpc>
                          <a:spcPct val="153300"/>
                        </a:lnSpc>
                        <a:spcBef>
                          <a:spcPts val="229"/>
                        </a:spcBef>
                      </a:pP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from</a:t>
                      </a:r>
                      <a:r>
                        <a:rPr dirty="0" sz="750" spc="135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langchain_text_splitters</a:t>
                      </a:r>
                      <a:r>
                        <a:rPr dirty="0" sz="750" spc="14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 spc="-1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import RecursiveCharacterTextSplitter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29209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 marR="267335">
                        <a:lnSpc>
                          <a:spcPct val="121100"/>
                        </a:lnSpc>
                        <a:spcBef>
                          <a:spcPts val="270"/>
                        </a:spcBef>
                      </a:pP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Imports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the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text</a:t>
                      </a:r>
                      <a:r>
                        <a:rPr dirty="0" sz="95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splitter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that</a:t>
                      </a:r>
                      <a:r>
                        <a:rPr dirty="0" sz="95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breaks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long</a:t>
                      </a:r>
                      <a:r>
                        <a:rPr dirty="0" sz="95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9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documents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4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into</a:t>
                      </a:r>
                      <a:r>
                        <a:rPr dirty="0" sz="950" spc="50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overlapping</a:t>
                      </a:r>
                      <a:r>
                        <a:rPr dirty="0" sz="950" spc="4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chunks.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34290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</a:tr>
              <a:tr h="471805">
                <a:tc>
                  <a:txBody>
                    <a:bodyPr/>
                    <a:lstStyle/>
                    <a:p>
                      <a:pPr marL="70485" marR="1069975" indent="26670">
                        <a:lnSpc>
                          <a:spcPct val="153300"/>
                        </a:lnSpc>
                        <a:spcBef>
                          <a:spcPts val="229"/>
                        </a:spcBef>
                      </a:pP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from</a:t>
                      </a:r>
                      <a:r>
                        <a:rPr dirty="0" sz="750" spc="125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sentence_transformers</a:t>
                      </a:r>
                      <a:r>
                        <a:rPr dirty="0" sz="750" spc="125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 spc="-1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import SentenceTransformer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29209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 marR="360680">
                        <a:lnSpc>
                          <a:spcPct val="121100"/>
                        </a:lnSpc>
                        <a:spcBef>
                          <a:spcPts val="270"/>
                        </a:spcBef>
                      </a:pP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Imports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the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class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used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to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load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9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a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pretrained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embedding</a:t>
                      </a:r>
                      <a:r>
                        <a:rPr dirty="0" sz="950" spc="50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model</a:t>
                      </a:r>
                      <a:r>
                        <a:rPr dirty="0" sz="950" spc="-3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and</a:t>
                      </a:r>
                      <a:r>
                        <a:rPr dirty="0" sz="950" spc="-2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turn</a:t>
                      </a:r>
                      <a:r>
                        <a:rPr dirty="0" sz="950" spc="-3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text</a:t>
                      </a:r>
                      <a:r>
                        <a:rPr dirty="0" sz="950" spc="-2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into</a:t>
                      </a:r>
                      <a:r>
                        <a:rPr dirty="0" sz="950" spc="-3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vectors.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34290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</a:tr>
              <a:tr h="626745">
                <a:tc>
                  <a:txBody>
                    <a:bodyPr/>
                    <a:lstStyle/>
                    <a:p>
                      <a:pPr marL="70485" marR="655320" indent="26670">
                        <a:lnSpc>
                          <a:spcPct val="153300"/>
                        </a:lnSpc>
                        <a:spcBef>
                          <a:spcPts val="229"/>
                        </a:spcBef>
                      </a:pP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from</a:t>
                      </a:r>
                      <a:r>
                        <a:rPr dirty="0" sz="750" spc="8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transformers</a:t>
                      </a:r>
                      <a:r>
                        <a:rPr dirty="0" sz="750" spc="8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import</a:t>
                      </a:r>
                      <a:r>
                        <a:rPr dirty="0" sz="750" spc="85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 spc="-1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(AutoTokenizer,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AutoModelForCausalLM,</a:t>
                      </a:r>
                      <a:r>
                        <a:rPr dirty="0" sz="750" spc="195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 spc="-1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pipeline,)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29209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 marR="72390">
                        <a:lnSpc>
                          <a:spcPct val="118700"/>
                        </a:lnSpc>
                        <a:spcBef>
                          <a:spcPts val="295"/>
                        </a:spcBef>
                      </a:pP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Imports</a:t>
                      </a:r>
                      <a:r>
                        <a:rPr dirty="0" sz="950" spc="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Hugging</a:t>
                      </a:r>
                      <a:r>
                        <a:rPr dirty="0" sz="950" spc="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Face's</a:t>
                      </a:r>
                      <a:r>
                        <a:rPr dirty="0" sz="950" spc="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generic</a:t>
                      </a:r>
                      <a:r>
                        <a:rPr dirty="0" sz="950" spc="2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tokenizer/model</a:t>
                      </a:r>
                      <a:r>
                        <a:rPr dirty="0" sz="950" spc="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loaders</a:t>
                      </a:r>
                      <a:r>
                        <a:rPr dirty="0" sz="950" spc="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3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and</a:t>
                      </a:r>
                      <a:r>
                        <a:rPr dirty="0" sz="950" spc="50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the</a:t>
                      </a:r>
                      <a:r>
                        <a:rPr dirty="0" sz="950" spc="-2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high-</a:t>
                      </a:r>
                      <a:r>
                        <a:rPr dirty="0" sz="950" spc="-4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level</a:t>
                      </a:r>
                      <a:r>
                        <a:rPr dirty="0" sz="950" spc="2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pipeline</a:t>
                      </a:r>
                      <a:r>
                        <a:rPr dirty="0" sz="750" spc="-2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helper,</a:t>
                      </a:r>
                      <a:r>
                        <a:rPr dirty="0" sz="950" spc="-2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used</a:t>
                      </a:r>
                      <a:r>
                        <a:rPr dirty="0" sz="950" spc="-2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later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to</a:t>
                      </a:r>
                      <a:r>
                        <a:rPr dirty="0" sz="950" spc="-2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run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the</a:t>
                      </a:r>
                      <a:r>
                        <a:rPr dirty="0" sz="950" spc="-2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local</a:t>
                      </a:r>
                      <a:r>
                        <a:rPr dirty="0" sz="950" spc="50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9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Qwen</a:t>
                      </a:r>
                      <a:r>
                        <a:rPr dirty="0" sz="950" spc="-2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2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LLM.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37465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</a:tr>
              <a:tr h="626745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import</a:t>
                      </a:r>
                      <a:r>
                        <a:rPr dirty="0" sz="750" spc="7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 spc="-1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torch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90170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 marR="171450">
                        <a:lnSpc>
                          <a:spcPct val="118700"/>
                        </a:lnSpc>
                        <a:spcBef>
                          <a:spcPts val="295"/>
                        </a:spcBef>
                      </a:pP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Imports</a:t>
                      </a:r>
                      <a:r>
                        <a:rPr dirty="0" sz="950" spc="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9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PyTorch,</a:t>
                      </a:r>
                      <a:r>
                        <a:rPr dirty="0" sz="950" spc="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the</a:t>
                      </a:r>
                      <a:r>
                        <a:rPr dirty="0" sz="950" spc="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deep-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learning</a:t>
                      </a:r>
                      <a:r>
                        <a:rPr dirty="0" sz="950" spc="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framework</a:t>
                      </a:r>
                      <a:r>
                        <a:rPr dirty="0" sz="950" spc="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the</a:t>
                      </a:r>
                      <a:r>
                        <a:rPr dirty="0" sz="950" spc="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6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models</a:t>
                      </a:r>
                      <a:r>
                        <a:rPr dirty="0" sz="950" spc="50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run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9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on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(used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implicitly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for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tensor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operations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and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device placement).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37465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6" name="object 16"/>
          <p:cNvSpPr txBox="1"/>
          <p:nvPr/>
        </p:nvSpPr>
        <p:spPr>
          <a:xfrm>
            <a:off x="667402" y="4237787"/>
            <a:ext cx="1021080" cy="2139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200" spc="-120" b="1">
                <a:solidFill>
                  <a:srgbClr val="111726"/>
                </a:solidFill>
                <a:latin typeface="Source Han Sans JP"/>
                <a:cs typeface="Source Han Sans JP"/>
              </a:rPr>
              <a:t>Database</a:t>
            </a:r>
            <a:r>
              <a:rPr dirty="0" sz="1200" spc="-20" b="1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200" spc="-100" b="1">
                <a:solidFill>
                  <a:srgbClr val="111726"/>
                </a:solidFill>
                <a:latin typeface="Source Han Sans JP"/>
                <a:cs typeface="Source Han Sans JP"/>
              </a:rPr>
              <a:t>Setup</a:t>
            </a:r>
            <a:endParaRPr sz="1200">
              <a:latin typeface="Source Han Sans JP"/>
              <a:cs typeface="Source Han Sans JP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61782" y="4642760"/>
            <a:ext cx="3970654" cy="121412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800" spc="-10">
                <a:solidFill>
                  <a:srgbClr val="E4E7EB"/>
                </a:solidFill>
                <a:latin typeface="Courier New"/>
                <a:cs typeface="Courier New"/>
              </a:rPr>
              <a:t>Base.metadata.create_all(engine)</a:t>
            </a:r>
            <a:endParaRPr sz="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endParaRPr sz="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with</a:t>
            </a:r>
            <a:r>
              <a:rPr dirty="0" sz="800" spc="3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engine.connect()</a:t>
            </a:r>
            <a:r>
              <a:rPr dirty="0" sz="800" spc="4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as</a:t>
            </a:r>
            <a:r>
              <a:rPr dirty="0" sz="800" spc="3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 spc="-20">
                <a:solidFill>
                  <a:srgbClr val="E4E7EB"/>
                </a:solidFill>
                <a:latin typeface="Courier New"/>
                <a:cs typeface="Courier New"/>
              </a:rPr>
              <a:t>conn:</a:t>
            </a:r>
            <a:endParaRPr sz="800">
              <a:latin typeface="Courier New"/>
              <a:cs typeface="Courier New"/>
            </a:endParaRPr>
          </a:p>
          <a:p>
            <a:pPr marL="259079" marR="5080">
              <a:lnSpc>
                <a:spcPts val="1430"/>
              </a:lnSpc>
              <a:spcBef>
                <a:spcPts val="75"/>
              </a:spcBef>
            </a:pP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conn.execute(text("CREATE</a:t>
            </a:r>
            <a:r>
              <a:rPr dirty="0" sz="800" spc="4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EXTENSION</a:t>
            </a:r>
            <a:r>
              <a:rPr dirty="0" sz="800" spc="4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IF</a:t>
            </a:r>
            <a:r>
              <a:rPr dirty="0" sz="800" spc="4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NOT</a:t>
            </a:r>
            <a:r>
              <a:rPr dirty="0" sz="800" spc="4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EXISTS</a:t>
            </a:r>
            <a:r>
              <a:rPr dirty="0" sz="800" spc="4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 spc="-10">
                <a:solidFill>
                  <a:srgbClr val="E4E7EB"/>
                </a:solidFill>
                <a:latin typeface="Courier New"/>
                <a:cs typeface="Courier New"/>
              </a:rPr>
              <a:t>vector;")) conn.commit()</a:t>
            </a:r>
            <a:endParaRPr sz="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775"/>
              </a:spcBef>
            </a:pPr>
            <a:endParaRPr sz="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print("Database</a:t>
            </a:r>
            <a:r>
              <a:rPr dirty="0" sz="800" spc="5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Connected</a:t>
            </a:r>
            <a:r>
              <a:rPr dirty="0" sz="800" spc="6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 spc="-10">
                <a:solidFill>
                  <a:srgbClr val="E4E7EB"/>
                </a:solidFill>
                <a:latin typeface="Courier New"/>
                <a:cs typeface="Courier New"/>
              </a:rPr>
              <a:t>Successfully!")</a:t>
            </a:r>
            <a:endParaRPr sz="800">
              <a:latin typeface="Courier New"/>
              <a:cs typeface="Courier New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754257" y="6450032"/>
            <a:ext cx="1948814" cy="141605"/>
          </a:xfrm>
          <a:custGeom>
            <a:avLst/>
            <a:gdLst/>
            <a:ahLst/>
            <a:cxnLst/>
            <a:rect l="l" t="t" r="r" b="b"/>
            <a:pathLst>
              <a:path w="1948814" h="141604">
                <a:moveTo>
                  <a:pt x="1924884" y="141566"/>
                </a:moveTo>
                <a:lnTo>
                  <a:pt x="23389" y="141566"/>
                </a:lnTo>
                <a:lnTo>
                  <a:pt x="19950" y="140881"/>
                </a:lnTo>
                <a:lnTo>
                  <a:pt x="0" y="118175"/>
                </a:lnTo>
                <a:lnTo>
                  <a:pt x="0" y="114604"/>
                </a:lnTo>
                <a:lnTo>
                  <a:pt x="0" y="23387"/>
                </a:lnTo>
                <a:lnTo>
                  <a:pt x="23389" y="0"/>
                </a:lnTo>
                <a:lnTo>
                  <a:pt x="1924884" y="0"/>
                </a:lnTo>
                <a:lnTo>
                  <a:pt x="1948274" y="23387"/>
                </a:lnTo>
                <a:lnTo>
                  <a:pt x="1948274" y="118175"/>
                </a:lnTo>
                <a:lnTo>
                  <a:pt x="1928323" y="140881"/>
                </a:lnTo>
                <a:lnTo>
                  <a:pt x="1924884" y="141566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3686772" y="6450037"/>
            <a:ext cx="2899410" cy="316865"/>
          </a:xfrm>
          <a:custGeom>
            <a:avLst/>
            <a:gdLst/>
            <a:ahLst/>
            <a:cxnLst/>
            <a:rect l="l" t="t" r="r" b="b"/>
            <a:pathLst>
              <a:path w="2899409" h="316865">
                <a:moveTo>
                  <a:pt x="2197709" y="198666"/>
                </a:moveTo>
                <a:lnTo>
                  <a:pt x="2174316" y="175272"/>
                </a:lnTo>
                <a:lnTo>
                  <a:pt x="1398651" y="175272"/>
                </a:lnTo>
                <a:lnTo>
                  <a:pt x="1375257" y="198666"/>
                </a:lnTo>
                <a:lnTo>
                  <a:pt x="1375257" y="289877"/>
                </a:lnTo>
                <a:lnTo>
                  <a:pt x="1375257" y="293458"/>
                </a:lnTo>
                <a:lnTo>
                  <a:pt x="1398651" y="316839"/>
                </a:lnTo>
                <a:lnTo>
                  <a:pt x="2174316" y="316839"/>
                </a:lnTo>
                <a:lnTo>
                  <a:pt x="2197709" y="293458"/>
                </a:lnTo>
                <a:lnTo>
                  <a:pt x="2197709" y="198666"/>
                </a:lnTo>
                <a:close/>
              </a:path>
              <a:path w="2899409" h="316865">
                <a:moveTo>
                  <a:pt x="2898813" y="23380"/>
                </a:moveTo>
                <a:lnTo>
                  <a:pt x="2875432" y="0"/>
                </a:lnTo>
                <a:lnTo>
                  <a:pt x="23393" y="0"/>
                </a:lnTo>
                <a:lnTo>
                  <a:pt x="0" y="23380"/>
                </a:lnTo>
                <a:lnTo>
                  <a:pt x="0" y="114604"/>
                </a:lnTo>
                <a:lnTo>
                  <a:pt x="0" y="118173"/>
                </a:lnTo>
                <a:lnTo>
                  <a:pt x="23393" y="141566"/>
                </a:lnTo>
                <a:lnTo>
                  <a:pt x="2875432" y="141566"/>
                </a:lnTo>
                <a:lnTo>
                  <a:pt x="2898813" y="118173"/>
                </a:lnTo>
                <a:lnTo>
                  <a:pt x="2898813" y="23380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754257" y="7090468"/>
            <a:ext cx="1827530" cy="141605"/>
          </a:xfrm>
          <a:custGeom>
            <a:avLst/>
            <a:gdLst/>
            <a:ahLst/>
            <a:cxnLst/>
            <a:rect l="l" t="t" r="r" b="b"/>
            <a:pathLst>
              <a:path w="1827530" h="141604">
                <a:moveTo>
                  <a:pt x="1803538" y="141566"/>
                </a:moveTo>
                <a:lnTo>
                  <a:pt x="23389" y="141566"/>
                </a:lnTo>
                <a:lnTo>
                  <a:pt x="19950" y="140881"/>
                </a:lnTo>
                <a:lnTo>
                  <a:pt x="0" y="118175"/>
                </a:lnTo>
                <a:lnTo>
                  <a:pt x="0" y="114604"/>
                </a:lnTo>
                <a:lnTo>
                  <a:pt x="0" y="23387"/>
                </a:lnTo>
                <a:lnTo>
                  <a:pt x="23389" y="0"/>
                </a:lnTo>
                <a:lnTo>
                  <a:pt x="1803538" y="0"/>
                </a:lnTo>
                <a:lnTo>
                  <a:pt x="1826928" y="23387"/>
                </a:lnTo>
                <a:lnTo>
                  <a:pt x="1826928" y="118175"/>
                </a:lnTo>
                <a:lnTo>
                  <a:pt x="1806978" y="140881"/>
                </a:lnTo>
                <a:lnTo>
                  <a:pt x="1803538" y="141566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3841834" y="7259004"/>
            <a:ext cx="290195" cy="141605"/>
          </a:xfrm>
          <a:custGeom>
            <a:avLst/>
            <a:gdLst/>
            <a:ahLst/>
            <a:cxnLst/>
            <a:rect l="l" t="t" r="r" b="b"/>
            <a:pathLst>
              <a:path w="290195" h="141604">
                <a:moveTo>
                  <a:pt x="266492" y="141566"/>
                </a:moveTo>
                <a:lnTo>
                  <a:pt x="23389" y="141566"/>
                </a:lnTo>
                <a:lnTo>
                  <a:pt x="19949" y="140879"/>
                </a:lnTo>
                <a:lnTo>
                  <a:pt x="0" y="118175"/>
                </a:lnTo>
                <a:lnTo>
                  <a:pt x="0" y="114604"/>
                </a:lnTo>
                <a:lnTo>
                  <a:pt x="0" y="23384"/>
                </a:lnTo>
                <a:lnTo>
                  <a:pt x="23389" y="0"/>
                </a:lnTo>
                <a:lnTo>
                  <a:pt x="266492" y="0"/>
                </a:lnTo>
                <a:lnTo>
                  <a:pt x="289881" y="23384"/>
                </a:lnTo>
                <a:lnTo>
                  <a:pt x="289881" y="118175"/>
                </a:lnTo>
                <a:lnTo>
                  <a:pt x="269931" y="140879"/>
                </a:lnTo>
                <a:lnTo>
                  <a:pt x="266492" y="141566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754253" y="7548892"/>
            <a:ext cx="2279015" cy="316865"/>
          </a:xfrm>
          <a:custGeom>
            <a:avLst/>
            <a:gdLst/>
            <a:ahLst/>
            <a:cxnLst/>
            <a:rect l="l" t="t" r="r" b="b"/>
            <a:pathLst>
              <a:path w="2279015" h="316865">
                <a:moveTo>
                  <a:pt x="1267383" y="198666"/>
                </a:moveTo>
                <a:lnTo>
                  <a:pt x="1244003" y="175272"/>
                </a:lnTo>
                <a:lnTo>
                  <a:pt x="0" y="175272"/>
                </a:lnTo>
                <a:lnTo>
                  <a:pt x="0" y="316839"/>
                </a:lnTo>
                <a:lnTo>
                  <a:pt x="1244003" y="316839"/>
                </a:lnTo>
                <a:lnTo>
                  <a:pt x="1267383" y="293446"/>
                </a:lnTo>
                <a:lnTo>
                  <a:pt x="1267383" y="198666"/>
                </a:lnTo>
                <a:close/>
              </a:path>
              <a:path w="2279015" h="316865">
                <a:moveTo>
                  <a:pt x="2278608" y="0"/>
                </a:moveTo>
                <a:lnTo>
                  <a:pt x="23393" y="0"/>
                </a:lnTo>
                <a:lnTo>
                  <a:pt x="19951" y="673"/>
                </a:lnTo>
                <a:lnTo>
                  <a:pt x="0" y="23380"/>
                </a:lnTo>
                <a:lnTo>
                  <a:pt x="0" y="118173"/>
                </a:lnTo>
                <a:lnTo>
                  <a:pt x="23393" y="141566"/>
                </a:lnTo>
                <a:lnTo>
                  <a:pt x="2278608" y="141566"/>
                </a:lnTo>
                <a:lnTo>
                  <a:pt x="2278608" y="0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4711479" y="7548885"/>
            <a:ext cx="526415" cy="141605"/>
          </a:xfrm>
          <a:custGeom>
            <a:avLst/>
            <a:gdLst/>
            <a:ahLst/>
            <a:cxnLst/>
            <a:rect l="l" t="t" r="r" b="b"/>
            <a:pathLst>
              <a:path w="526414" h="141604">
                <a:moveTo>
                  <a:pt x="502442" y="141566"/>
                </a:moveTo>
                <a:lnTo>
                  <a:pt x="23389" y="141566"/>
                </a:lnTo>
                <a:lnTo>
                  <a:pt x="19949" y="140881"/>
                </a:lnTo>
                <a:lnTo>
                  <a:pt x="0" y="118175"/>
                </a:lnTo>
                <a:lnTo>
                  <a:pt x="0" y="114604"/>
                </a:lnTo>
                <a:lnTo>
                  <a:pt x="0" y="23387"/>
                </a:lnTo>
                <a:lnTo>
                  <a:pt x="23389" y="0"/>
                </a:lnTo>
                <a:lnTo>
                  <a:pt x="502442" y="0"/>
                </a:lnTo>
                <a:lnTo>
                  <a:pt x="525831" y="23387"/>
                </a:lnTo>
                <a:lnTo>
                  <a:pt x="525831" y="118175"/>
                </a:lnTo>
                <a:lnTo>
                  <a:pt x="505881" y="140881"/>
                </a:lnTo>
                <a:lnTo>
                  <a:pt x="502442" y="141566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3632848" y="7724164"/>
            <a:ext cx="822960" cy="316865"/>
          </a:xfrm>
          <a:custGeom>
            <a:avLst/>
            <a:gdLst/>
            <a:ahLst/>
            <a:cxnLst/>
            <a:rect l="l" t="t" r="r" b="b"/>
            <a:pathLst>
              <a:path w="822960" h="316865">
                <a:moveTo>
                  <a:pt x="768515" y="23393"/>
                </a:moveTo>
                <a:lnTo>
                  <a:pt x="745134" y="0"/>
                </a:lnTo>
                <a:lnTo>
                  <a:pt x="380682" y="0"/>
                </a:lnTo>
                <a:lnTo>
                  <a:pt x="357289" y="23393"/>
                </a:lnTo>
                <a:lnTo>
                  <a:pt x="357289" y="114604"/>
                </a:lnTo>
                <a:lnTo>
                  <a:pt x="357289" y="118173"/>
                </a:lnTo>
                <a:lnTo>
                  <a:pt x="380682" y="141566"/>
                </a:lnTo>
                <a:lnTo>
                  <a:pt x="745134" y="141566"/>
                </a:lnTo>
                <a:lnTo>
                  <a:pt x="768515" y="118173"/>
                </a:lnTo>
                <a:lnTo>
                  <a:pt x="768515" y="23393"/>
                </a:lnTo>
                <a:close/>
              </a:path>
              <a:path w="822960" h="316865">
                <a:moveTo>
                  <a:pt x="822452" y="198666"/>
                </a:moveTo>
                <a:lnTo>
                  <a:pt x="799058" y="175285"/>
                </a:lnTo>
                <a:lnTo>
                  <a:pt x="23380" y="175285"/>
                </a:lnTo>
                <a:lnTo>
                  <a:pt x="0" y="198666"/>
                </a:lnTo>
                <a:lnTo>
                  <a:pt x="0" y="289877"/>
                </a:lnTo>
                <a:lnTo>
                  <a:pt x="0" y="293458"/>
                </a:lnTo>
                <a:lnTo>
                  <a:pt x="23380" y="316852"/>
                </a:lnTo>
                <a:lnTo>
                  <a:pt x="799058" y="316852"/>
                </a:lnTo>
                <a:lnTo>
                  <a:pt x="822452" y="293458"/>
                </a:lnTo>
                <a:lnTo>
                  <a:pt x="822452" y="198666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25" name="object 2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214819" y="7724163"/>
            <a:ext cx="229208" cy="141566"/>
          </a:xfrm>
          <a:prstGeom prst="rect">
            <a:avLst/>
          </a:prstGeom>
        </p:spPr>
      </p:pic>
      <p:pic>
        <p:nvPicPr>
          <p:cNvPr id="26" name="object 2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497959" y="7724163"/>
            <a:ext cx="229208" cy="141566"/>
          </a:xfrm>
          <a:prstGeom prst="rect">
            <a:avLst/>
          </a:prstGeom>
        </p:spPr>
      </p:pic>
      <p:sp>
        <p:nvSpPr>
          <p:cNvPr id="27" name="object 27"/>
          <p:cNvSpPr/>
          <p:nvPr/>
        </p:nvSpPr>
        <p:spPr>
          <a:xfrm>
            <a:off x="754257" y="8189322"/>
            <a:ext cx="822960" cy="141605"/>
          </a:xfrm>
          <a:custGeom>
            <a:avLst/>
            <a:gdLst/>
            <a:ahLst/>
            <a:cxnLst/>
            <a:rect l="l" t="t" r="r" b="b"/>
            <a:pathLst>
              <a:path w="822960" h="141604">
                <a:moveTo>
                  <a:pt x="799065" y="141566"/>
                </a:moveTo>
                <a:lnTo>
                  <a:pt x="23389" y="141566"/>
                </a:lnTo>
                <a:lnTo>
                  <a:pt x="19950" y="140879"/>
                </a:lnTo>
                <a:lnTo>
                  <a:pt x="0" y="118175"/>
                </a:lnTo>
                <a:lnTo>
                  <a:pt x="0" y="114604"/>
                </a:lnTo>
                <a:lnTo>
                  <a:pt x="0" y="23387"/>
                </a:lnTo>
                <a:lnTo>
                  <a:pt x="23389" y="0"/>
                </a:lnTo>
                <a:lnTo>
                  <a:pt x="799065" y="0"/>
                </a:lnTo>
                <a:lnTo>
                  <a:pt x="822454" y="23387"/>
                </a:lnTo>
                <a:lnTo>
                  <a:pt x="822454" y="118175"/>
                </a:lnTo>
                <a:lnTo>
                  <a:pt x="802504" y="140879"/>
                </a:lnTo>
                <a:lnTo>
                  <a:pt x="799065" y="141566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4010370" y="8189322"/>
            <a:ext cx="998219" cy="141605"/>
          </a:xfrm>
          <a:custGeom>
            <a:avLst/>
            <a:gdLst/>
            <a:ahLst/>
            <a:cxnLst/>
            <a:rect l="l" t="t" r="r" b="b"/>
            <a:pathLst>
              <a:path w="998220" h="141604">
                <a:moveTo>
                  <a:pt x="974342" y="141566"/>
                </a:moveTo>
                <a:lnTo>
                  <a:pt x="23390" y="141566"/>
                </a:lnTo>
                <a:lnTo>
                  <a:pt x="19950" y="140879"/>
                </a:lnTo>
                <a:lnTo>
                  <a:pt x="0" y="118175"/>
                </a:lnTo>
                <a:lnTo>
                  <a:pt x="0" y="114604"/>
                </a:lnTo>
                <a:lnTo>
                  <a:pt x="0" y="23387"/>
                </a:lnTo>
                <a:lnTo>
                  <a:pt x="23390" y="0"/>
                </a:lnTo>
                <a:lnTo>
                  <a:pt x="974342" y="0"/>
                </a:lnTo>
                <a:lnTo>
                  <a:pt x="997732" y="23387"/>
                </a:lnTo>
                <a:lnTo>
                  <a:pt x="997732" y="118175"/>
                </a:lnTo>
                <a:lnTo>
                  <a:pt x="977781" y="140879"/>
                </a:lnTo>
                <a:lnTo>
                  <a:pt x="974342" y="141566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754253" y="8479205"/>
            <a:ext cx="1503680" cy="316865"/>
          </a:xfrm>
          <a:custGeom>
            <a:avLst/>
            <a:gdLst/>
            <a:ahLst/>
            <a:cxnLst/>
            <a:rect l="l" t="t" r="r" b="b"/>
            <a:pathLst>
              <a:path w="1503680" h="316865">
                <a:moveTo>
                  <a:pt x="916838" y="198666"/>
                </a:moveTo>
                <a:lnTo>
                  <a:pt x="893445" y="175272"/>
                </a:lnTo>
                <a:lnTo>
                  <a:pt x="0" y="175272"/>
                </a:lnTo>
                <a:lnTo>
                  <a:pt x="0" y="316852"/>
                </a:lnTo>
                <a:lnTo>
                  <a:pt x="893445" y="316852"/>
                </a:lnTo>
                <a:lnTo>
                  <a:pt x="916838" y="293458"/>
                </a:lnTo>
                <a:lnTo>
                  <a:pt x="916838" y="198666"/>
                </a:lnTo>
                <a:close/>
              </a:path>
              <a:path w="1503680" h="316865">
                <a:moveTo>
                  <a:pt x="1503337" y="0"/>
                </a:moveTo>
                <a:lnTo>
                  <a:pt x="23393" y="0"/>
                </a:lnTo>
                <a:lnTo>
                  <a:pt x="19951" y="685"/>
                </a:lnTo>
                <a:lnTo>
                  <a:pt x="0" y="23393"/>
                </a:lnTo>
                <a:lnTo>
                  <a:pt x="0" y="118173"/>
                </a:lnTo>
                <a:lnTo>
                  <a:pt x="23393" y="141566"/>
                </a:lnTo>
                <a:lnTo>
                  <a:pt x="1503337" y="141566"/>
                </a:lnTo>
                <a:lnTo>
                  <a:pt x="1503337" y="0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6039541" y="8479202"/>
            <a:ext cx="499109" cy="141605"/>
          </a:xfrm>
          <a:custGeom>
            <a:avLst/>
            <a:gdLst/>
            <a:ahLst/>
            <a:cxnLst/>
            <a:rect l="l" t="t" r="r" b="b"/>
            <a:pathLst>
              <a:path w="499109" h="141604">
                <a:moveTo>
                  <a:pt x="498865" y="141568"/>
                </a:moveTo>
                <a:lnTo>
                  <a:pt x="23389" y="141568"/>
                </a:lnTo>
                <a:lnTo>
                  <a:pt x="19949" y="140883"/>
                </a:lnTo>
                <a:lnTo>
                  <a:pt x="0" y="118177"/>
                </a:lnTo>
                <a:lnTo>
                  <a:pt x="0" y="23388"/>
                </a:lnTo>
                <a:lnTo>
                  <a:pt x="23389" y="0"/>
                </a:lnTo>
                <a:lnTo>
                  <a:pt x="498865" y="0"/>
                </a:lnTo>
                <a:lnTo>
                  <a:pt x="498865" y="141568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3369934" y="8654477"/>
            <a:ext cx="1388745" cy="141605"/>
          </a:xfrm>
          <a:custGeom>
            <a:avLst/>
            <a:gdLst/>
            <a:ahLst/>
            <a:cxnLst/>
            <a:rect l="l" t="t" r="r" b="b"/>
            <a:pathLst>
              <a:path w="1388745" h="141604">
                <a:moveTo>
                  <a:pt x="1365345" y="141571"/>
                </a:moveTo>
                <a:lnTo>
                  <a:pt x="0" y="141571"/>
                </a:lnTo>
                <a:lnTo>
                  <a:pt x="0" y="0"/>
                </a:lnTo>
                <a:lnTo>
                  <a:pt x="1365345" y="0"/>
                </a:lnTo>
                <a:lnTo>
                  <a:pt x="1368784" y="688"/>
                </a:lnTo>
                <a:lnTo>
                  <a:pt x="1388734" y="23391"/>
                </a:lnTo>
                <a:lnTo>
                  <a:pt x="1388734" y="118183"/>
                </a:lnTo>
                <a:lnTo>
                  <a:pt x="1365345" y="141571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graphicFrame>
        <p:nvGraphicFramePr>
          <p:cNvPr id="32" name="object 32"/>
          <p:cNvGraphicFramePr>
            <a:graphicFrameLocks noGrp="1"/>
          </p:cNvGraphicFramePr>
          <p:nvPr/>
        </p:nvGraphicFramePr>
        <p:xfrm>
          <a:off x="680102" y="6085994"/>
          <a:ext cx="6278880" cy="27819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615565"/>
                <a:gridCol w="3579495"/>
              </a:tblGrid>
              <a:tr h="282575">
                <a:tc>
                  <a:txBody>
                    <a:bodyPr/>
                    <a:lstStyle/>
                    <a:p>
                      <a:pPr marL="70485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950" spc="-20" b="1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Line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64769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marL="69850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950" spc="-10" b="1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Explanation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64769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  <a:solidFill>
                      <a:srgbClr val="F7FAFB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dirty="0" sz="750" spc="-1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Base.metadata.create_all(engine)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90170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0" marR="83185">
                        <a:lnSpc>
                          <a:spcPct val="121100"/>
                        </a:lnSpc>
                        <a:spcBef>
                          <a:spcPts val="270"/>
                        </a:spcBef>
                      </a:pPr>
                      <a:r>
                        <a:rPr dirty="0" sz="950" spc="-5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Issues</a:t>
                      </a:r>
                      <a:r>
                        <a:rPr dirty="0" sz="950" spc="204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CREATE</a:t>
                      </a:r>
                      <a:r>
                        <a:rPr dirty="0" sz="750" spc="55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TABLE</a:t>
                      </a:r>
                      <a:r>
                        <a:rPr dirty="0" sz="750" spc="55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IF</a:t>
                      </a:r>
                      <a:r>
                        <a:rPr dirty="0" sz="750" spc="55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NOT</a:t>
                      </a:r>
                      <a:r>
                        <a:rPr dirty="0" sz="750" spc="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EXISTS</a:t>
                      </a:r>
                      <a:r>
                        <a:rPr dirty="0" sz="750" spc="55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document_chunks</a:t>
                      </a:r>
                      <a:r>
                        <a:rPr dirty="0" sz="750" spc="55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 spc="-1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(...)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against</a:t>
                      </a:r>
                      <a:r>
                        <a:rPr dirty="0" sz="950" spc="-2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the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database,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9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based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9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on</a:t>
                      </a:r>
                      <a:r>
                        <a:rPr dirty="0" sz="950" spc="-2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2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the</a:t>
                      </a:r>
                      <a:r>
                        <a:rPr dirty="0" sz="950" spc="2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DocumentChunk</a:t>
                      </a:r>
                      <a:r>
                        <a:rPr dirty="0" sz="750" spc="-1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model.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5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If</a:t>
                      </a:r>
                      <a:r>
                        <a:rPr dirty="0" sz="950" spc="-2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the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3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table</a:t>
                      </a:r>
                      <a:r>
                        <a:rPr dirty="0" sz="950" spc="50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already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exists,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6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this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6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is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9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a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no-</a:t>
                      </a:r>
                      <a:r>
                        <a:rPr dirty="0" sz="950" spc="-2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op.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34290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</a:tr>
              <a:tr h="457834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with</a:t>
                      </a:r>
                      <a:r>
                        <a:rPr dirty="0" sz="750" spc="8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engine.connect()</a:t>
                      </a:r>
                      <a:r>
                        <a:rPr dirty="0" sz="750" spc="8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as</a:t>
                      </a:r>
                      <a:r>
                        <a:rPr dirty="0" sz="750" spc="85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 spc="-1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conn: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90170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0" marR="288290">
                        <a:lnSpc>
                          <a:spcPct val="116399"/>
                        </a:lnSpc>
                        <a:spcBef>
                          <a:spcPts val="320"/>
                        </a:spcBef>
                      </a:pP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Opens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9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a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9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raw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DBAPI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connection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from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the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pool,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automatically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5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closed</a:t>
                      </a:r>
                      <a:r>
                        <a:rPr dirty="0" sz="950" spc="50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9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when</a:t>
                      </a:r>
                      <a:r>
                        <a:rPr dirty="0" sz="950" spc="-3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2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the</a:t>
                      </a:r>
                      <a:r>
                        <a:rPr dirty="0" sz="950" spc="13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with</a:t>
                      </a:r>
                      <a:r>
                        <a:rPr dirty="0" sz="750" spc="-8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block</a:t>
                      </a:r>
                      <a:r>
                        <a:rPr dirty="0" sz="950" spc="-3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exits.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40640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marL="70485" marR="261620" indent="26670">
                        <a:lnSpc>
                          <a:spcPct val="153300"/>
                        </a:lnSpc>
                        <a:spcBef>
                          <a:spcPts val="229"/>
                        </a:spcBef>
                      </a:pP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conn.execute(text("CREATE</a:t>
                      </a:r>
                      <a:r>
                        <a:rPr dirty="0" sz="750" spc="16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EXTENSION</a:t>
                      </a:r>
                      <a:r>
                        <a:rPr dirty="0" sz="750" spc="165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 spc="-25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IF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NOT</a:t>
                      </a:r>
                      <a:r>
                        <a:rPr dirty="0" sz="750" spc="55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EXISTS</a:t>
                      </a:r>
                      <a:r>
                        <a:rPr dirty="0" sz="750" spc="6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 spc="-1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vector;"))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29209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0" marR="114935">
                        <a:lnSpc>
                          <a:spcPct val="121100"/>
                        </a:lnSpc>
                        <a:spcBef>
                          <a:spcPts val="270"/>
                        </a:spcBef>
                      </a:pP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Runs</a:t>
                      </a:r>
                      <a:r>
                        <a:rPr dirty="0" sz="950" spc="-2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9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raw</a:t>
                      </a:r>
                      <a:r>
                        <a:rPr dirty="0" sz="950" spc="-2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SQL</a:t>
                      </a:r>
                      <a:r>
                        <a:rPr dirty="0" sz="950" spc="-2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to</a:t>
                      </a:r>
                      <a:r>
                        <a:rPr dirty="0" sz="950" spc="-2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enable</a:t>
                      </a:r>
                      <a:r>
                        <a:rPr dirty="0" sz="950" spc="-2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2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the</a:t>
                      </a:r>
                      <a:r>
                        <a:rPr dirty="0" sz="950" spc="20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pgvector</a:t>
                      </a:r>
                      <a:r>
                        <a:rPr dirty="0" sz="750" spc="-3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950" spc="-9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PostgreSQL</a:t>
                      </a:r>
                      <a:r>
                        <a:rPr dirty="0" sz="950" spc="-2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extension,</a:t>
                      </a:r>
                      <a:r>
                        <a:rPr dirty="0" sz="950" spc="-2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which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provides</a:t>
                      </a:r>
                      <a:r>
                        <a:rPr dirty="0" sz="950" spc="-3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2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the</a:t>
                      </a:r>
                      <a:r>
                        <a:rPr dirty="0" sz="950" spc="20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vector</a:t>
                      </a:r>
                      <a:r>
                        <a:rPr dirty="0" sz="750" spc="-35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950" spc="-9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column</a:t>
                      </a:r>
                      <a:r>
                        <a:rPr dirty="0" sz="950" spc="-2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type</a:t>
                      </a:r>
                      <a:r>
                        <a:rPr dirty="0" sz="950" spc="-2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and</a:t>
                      </a:r>
                      <a:r>
                        <a:rPr dirty="0" sz="950" spc="-2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distance</a:t>
                      </a:r>
                      <a:r>
                        <a:rPr dirty="0" sz="950" spc="-3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operators</a:t>
                      </a:r>
                      <a:r>
                        <a:rPr dirty="0" sz="950" spc="-2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6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(</a:t>
                      </a:r>
                      <a:r>
                        <a:rPr dirty="0" sz="950" spc="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&lt;=&gt;</a:t>
                      </a:r>
                      <a:r>
                        <a:rPr dirty="0" sz="750" spc="-229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95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,</a:t>
                      </a:r>
                      <a:r>
                        <a:rPr dirty="0" sz="950" spc="19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&lt;-&gt;</a:t>
                      </a:r>
                      <a:r>
                        <a:rPr dirty="0" sz="750" spc="-229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950" spc="-5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,</a:t>
                      </a:r>
                      <a:r>
                        <a:rPr dirty="0" sz="950" spc="50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4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etc.).</a:t>
                      </a:r>
                      <a:r>
                        <a:rPr dirty="0" sz="950" spc="19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IF</a:t>
                      </a:r>
                      <a:r>
                        <a:rPr dirty="0" sz="750" spc="3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NOT</a:t>
                      </a:r>
                      <a:r>
                        <a:rPr dirty="0" sz="750" spc="35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EXISTS</a:t>
                      </a:r>
                      <a:r>
                        <a:rPr dirty="0" sz="750" spc="-4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950" spc="-9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makes</a:t>
                      </a:r>
                      <a:r>
                        <a:rPr dirty="0" sz="950" spc="-2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5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it</a:t>
                      </a:r>
                      <a:r>
                        <a:rPr dirty="0" sz="950" spc="-3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safe</a:t>
                      </a:r>
                      <a:r>
                        <a:rPr dirty="0" sz="950" spc="-2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to</a:t>
                      </a:r>
                      <a:r>
                        <a:rPr dirty="0" sz="950" spc="-3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6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re-</a:t>
                      </a:r>
                      <a:r>
                        <a:rPr dirty="0" sz="950" spc="-2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run.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34290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dirty="0" sz="750" spc="-1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conn.commit()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90170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0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950" spc="-9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Commits</a:t>
                      </a:r>
                      <a:r>
                        <a:rPr dirty="0" sz="950" spc="-2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the</a:t>
                      </a:r>
                      <a:r>
                        <a:rPr dirty="0" sz="950" spc="20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CREATE</a:t>
                      </a:r>
                      <a:r>
                        <a:rPr dirty="0" sz="750" spc="45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EXTENSION</a:t>
                      </a:r>
                      <a:r>
                        <a:rPr dirty="0" sz="750" spc="-3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950" spc="-10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DDL</a:t>
                      </a:r>
                      <a:r>
                        <a:rPr dirty="0" sz="950" spc="-2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statement</a:t>
                      </a:r>
                      <a:r>
                        <a:rPr dirty="0" sz="950" spc="-2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so</a:t>
                      </a:r>
                      <a:r>
                        <a:rPr dirty="0" sz="950" spc="-2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5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it</a:t>
                      </a:r>
                      <a:r>
                        <a:rPr dirty="0" sz="950" spc="-2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6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is</a:t>
                      </a:r>
                      <a:r>
                        <a:rPr dirty="0" sz="950" spc="-2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persisted.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64769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</a:tr>
              <a:tr h="471805">
                <a:tc>
                  <a:txBody>
                    <a:bodyPr/>
                    <a:lstStyle/>
                    <a:p>
                      <a:pPr marL="70485" marR="1030605" indent="26670">
                        <a:lnSpc>
                          <a:spcPct val="153300"/>
                        </a:lnSpc>
                        <a:spcBef>
                          <a:spcPts val="229"/>
                        </a:spcBef>
                      </a:pP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print("Database</a:t>
                      </a:r>
                      <a:r>
                        <a:rPr dirty="0" sz="750" spc="145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 spc="-1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Connected Successfully!")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29209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0" marR="334010">
                        <a:lnSpc>
                          <a:spcPct val="138600"/>
                        </a:lnSpc>
                        <a:spcBef>
                          <a:spcPts val="70"/>
                        </a:spcBef>
                      </a:pPr>
                      <a:r>
                        <a:rPr dirty="0" sz="950" spc="-7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Con</a:t>
                      </a:r>
                      <a:r>
                        <a:rPr dirty="0" sz="900" spc="-70">
                          <a:solidFill>
                            <a:srgbClr val="111726"/>
                          </a:solidFill>
                          <a:latin typeface="Arial"/>
                          <a:cs typeface="Arial"/>
                        </a:rPr>
                        <a:t>ﬁ</a:t>
                      </a:r>
                      <a:r>
                        <a:rPr dirty="0" sz="950" spc="-7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rms</a:t>
                      </a:r>
                      <a:r>
                        <a:rPr dirty="0" sz="950" spc="-2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to</a:t>
                      </a:r>
                      <a:r>
                        <a:rPr dirty="0" sz="950" spc="-2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the</a:t>
                      </a:r>
                      <a:r>
                        <a:rPr dirty="0" sz="950" spc="-2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console</a:t>
                      </a:r>
                      <a:r>
                        <a:rPr dirty="0" sz="950" spc="-2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that</a:t>
                      </a:r>
                      <a:r>
                        <a:rPr dirty="0" sz="950" spc="-2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setup</a:t>
                      </a:r>
                      <a:r>
                        <a:rPr dirty="0" sz="950" spc="-2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succeeded.</a:t>
                      </a:r>
                      <a:r>
                        <a:rPr dirty="0" sz="950" spc="-2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65" b="1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Output:</a:t>
                      </a:r>
                      <a:r>
                        <a:rPr dirty="0" sz="950" spc="200" b="1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750" spc="-1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Database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Connected</a:t>
                      </a:r>
                      <a:r>
                        <a:rPr dirty="0" sz="750" spc="95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 spc="-1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Successfully!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8890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3" name="object 33"/>
          <p:cNvSpPr txBox="1"/>
          <p:nvPr/>
        </p:nvSpPr>
        <p:spPr>
          <a:xfrm>
            <a:off x="667402" y="8950049"/>
            <a:ext cx="621030" cy="2139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200" spc="-125" b="1">
                <a:solidFill>
                  <a:srgbClr val="111726"/>
                </a:solidFill>
                <a:latin typeface="Source Han Sans JP"/>
                <a:cs typeface="Source Han Sans JP"/>
              </a:rPr>
              <a:t>Load</a:t>
            </a:r>
            <a:r>
              <a:rPr dirty="0" sz="1200" spc="-35" b="1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200" spc="-105" b="1">
                <a:solidFill>
                  <a:srgbClr val="111726"/>
                </a:solidFill>
                <a:latin typeface="Source Han Sans JP"/>
                <a:cs typeface="Source Han Sans JP"/>
              </a:rPr>
              <a:t>PDF</a:t>
            </a:r>
            <a:endParaRPr sz="1200">
              <a:latin typeface="Source Han Sans JP"/>
              <a:cs typeface="Source Han Sans JP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80102" y="571501"/>
            <a:ext cx="6202680" cy="1436370"/>
          </a:xfrm>
          <a:custGeom>
            <a:avLst/>
            <a:gdLst/>
            <a:ahLst/>
            <a:cxnLst/>
            <a:rect l="l" t="t" r="r" b="b"/>
            <a:pathLst>
              <a:path w="6202680" h="1436370">
                <a:moveTo>
                  <a:pt x="6151728" y="1435925"/>
                </a:moveTo>
                <a:lnTo>
                  <a:pt x="50390" y="1435925"/>
                </a:lnTo>
                <a:lnTo>
                  <a:pt x="46883" y="1435579"/>
                </a:lnTo>
                <a:lnTo>
                  <a:pt x="11056" y="1414898"/>
                </a:lnTo>
                <a:lnTo>
                  <a:pt x="0" y="1385532"/>
                </a:lnTo>
                <a:lnTo>
                  <a:pt x="0" y="1381993"/>
                </a:lnTo>
                <a:lnTo>
                  <a:pt x="0" y="50389"/>
                </a:lnTo>
                <a:lnTo>
                  <a:pt x="18300" y="13288"/>
                </a:lnTo>
                <a:lnTo>
                  <a:pt x="50390" y="0"/>
                </a:lnTo>
                <a:lnTo>
                  <a:pt x="6151728" y="0"/>
                </a:lnTo>
                <a:lnTo>
                  <a:pt x="6188826" y="18295"/>
                </a:lnTo>
                <a:lnTo>
                  <a:pt x="6202118" y="50389"/>
                </a:lnTo>
                <a:lnTo>
                  <a:pt x="6202118" y="1385532"/>
                </a:lnTo>
                <a:lnTo>
                  <a:pt x="6183818" y="1422629"/>
                </a:lnTo>
                <a:lnTo>
                  <a:pt x="6155235" y="1435579"/>
                </a:lnTo>
                <a:lnTo>
                  <a:pt x="6151728" y="1435925"/>
                </a:lnTo>
                <a:close/>
              </a:path>
            </a:pathLst>
          </a:custGeom>
          <a:solidFill>
            <a:srgbClr val="0E172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680102" y="4650068"/>
            <a:ext cx="6202680" cy="1611630"/>
          </a:xfrm>
          <a:custGeom>
            <a:avLst/>
            <a:gdLst/>
            <a:ahLst/>
            <a:cxnLst/>
            <a:rect l="l" t="t" r="r" b="b"/>
            <a:pathLst>
              <a:path w="6202680" h="1611629">
                <a:moveTo>
                  <a:pt x="6151728" y="1611199"/>
                </a:moveTo>
                <a:lnTo>
                  <a:pt x="50390" y="1611199"/>
                </a:lnTo>
                <a:lnTo>
                  <a:pt x="46883" y="1610853"/>
                </a:lnTo>
                <a:lnTo>
                  <a:pt x="11056" y="1590172"/>
                </a:lnTo>
                <a:lnTo>
                  <a:pt x="0" y="1560809"/>
                </a:lnTo>
                <a:lnTo>
                  <a:pt x="0" y="1557271"/>
                </a:lnTo>
                <a:lnTo>
                  <a:pt x="0" y="50389"/>
                </a:lnTo>
                <a:lnTo>
                  <a:pt x="18300" y="13285"/>
                </a:lnTo>
                <a:lnTo>
                  <a:pt x="50390" y="0"/>
                </a:lnTo>
                <a:lnTo>
                  <a:pt x="6151728" y="0"/>
                </a:lnTo>
                <a:lnTo>
                  <a:pt x="6188826" y="18295"/>
                </a:lnTo>
                <a:lnTo>
                  <a:pt x="6202118" y="50389"/>
                </a:lnTo>
                <a:lnTo>
                  <a:pt x="6202118" y="1560809"/>
                </a:lnTo>
                <a:lnTo>
                  <a:pt x="6183818" y="1597903"/>
                </a:lnTo>
                <a:lnTo>
                  <a:pt x="6155235" y="1610853"/>
                </a:lnTo>
                <a:lnTo>
                  <a:pt x="6151728" y="1611199"/>
                </a:lnTo>
                <a:close/>
              </a:path>
            </a:pathLst>
          </a:custGeom>
          <a:solidFill>
            <a:srgbClr val="0E172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761782" y="672055"/>
            <a:ext cx="2429510" cy="121412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PDF_PATH</a:t>
            </a:r>
            <a:r>
              <a:rPr dirty="0" sz="800" spc="2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=</a:t>
            </a:r>
            <a:r>
              <a:rPr dirty="0" sz="800" spc="2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 spc="-10">
                <a:solidFill>
                  <a:srgbClr val="E4E7EB"/>
                </a:solidFill>
                <a:latin typeface="Courier New"/>
                <a:cs typeface="Courier New"/>
              </a:rPr>
              <a:t>"sample.pdf"</a:t>
            </a:r>
            <a:endParaRPr sz="800">
              <a:latin typeface="Courier New"/>
              <a:cs typeface="Courier New"/>
            </a:endParaRPr>
          </a:p>
          <a:p>
            <a:pPr marL="12700" marR="5080">
              <a:lnSpc>
                <a:spcPct val="290300"/>
              </a:lnSpc>
              <a:spcBef>
                <a:spcPts val="25"/>
              </a:spcBef>
            </a:pP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loader</a:t>
            </a:r>
            <a:r>
              <a:rPr dirty="0" sz="800" spc="2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=</a:t>
            </a:r>
            <a:r>
              <a:rPr dirty="0" sz="800" spc="2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 spc="-10">
                <a:solidFill>
                  <a:srgbClr val="E4E7EB"/>
                </a:solidFill>
                <a:latin typeface="Courier New"/>
                <a:cs typeface="Courier New"/>
              </a:rPr>
              <a:t>PyPDFLoader(PDF_PATH)</a:t>
            </a:r>
            <a:r>
              <a:rPr dirty="0" sz="800" spc="50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documents</a:t>
            </a:r>
            <a:r>
              <a:rPr dirty="0" sz="800" spc="2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=</a:t>
            </a:r>
            <a:r>
              <a:rPr dirty="0" sz="800" spc="3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 spc="-10">
                <a:solidFill>
                  <a:srgbClr val="E4E7EB"/>
                </a:solidFill>
                <a:latin typeface="Courier New"/>
                <a:cs typeface="Courier New"/>
              </a:rPr>
              <a:t>loader.load()</a:t>
            </a:r>
            <a:r>
              <a:rPr dirty="0" sz="800" spc="50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print(f"Loaded</a:t>
            </a:r>
            <a:r>
              <a:rPr dirty="0" sz="800" spc="7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{len(documents)}</a:t>
            </a:r>
            <a:r>
              <a:rPr dirty="0" sz="800" spc="7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 spc="-10">
                <a:solidFill>
                  <a:srgbClr val="E4E7EB"/>
                </a:solidFill>
                <a:latin typeface="Courier New"/>
                <a:cs typeface="Courier New"/>
              </a:rPr>
              <a:t>pages")</a:t>
            </a:r>
            <a:endParaRPr sz="800">
              <a:latin typeface="Courier New"/>
              <a:cs typeface="Courier New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54257" y="2479327"/>
            <a:ext cx="1416050" cy="141605"/>
          </a:xfrm>
          <a:custGeom>
            <a:avLst/>
            <a:gdLst/>
            <a:ahLst/>
            <a:cxnLst/>
            <a:rect l="l" t="t" r="r" b="b"/>
            <a:pathLst>
              <a:path w="1416050" h="141605">
                <a:moveTo>
                  <a:pt x="1392311" y="141566"/>
                </a:moveTo>
                <a:lnTo>
                  <a:pt x="23389" y="141566"/>
                </a:lnTo>
                <a:lnTo>
                  <a:pt x="19950" y="140879"/>
                </a:lnTo>
                <a:lnTo>
                  <a:pt x="0" y="118175"/>
                </a:lnTo>
                <a:lnTo>
                  <a:pt x="0" y="114604"/>
                </a:lnTo>
                <a:lnTo>
                  <a:pt x="0" y="23387"/>
                </a:lnTo>
                <a:lnTo>
                  <a:pt x="23389" y="0"/>
                </a:lnTo>
                <a:lnTo>
                  <a:pt x="1392311" y="0"/>
                </a:lnTo>
                <a:lnTo>
                  <a:pt x="1415700" y="23387"/>
                </a:lnTo>
                <a:lnTo>
                  <a:pt x="1415700" y="118175"/>
                </a:lnTo>
                <a:lnTo>
                  <a:pt x="1395750" y="140879"/>
                </a:lnTo>
                <a:lnTo>
                  <a:pt x="1392311" y="141566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754253" y="2769209"/>
            <a:ext cx="1267460" cy="316865"/>
          </a:xfrm>
          <a:custGeom>
            <a:avLst/>
            <a:gdLst/>
            <a:ahLst/>
            <a:cxnLst/>
            <a:rect l="l" t="t" r="r" b="b"/>
            <a:pathLst>
              <a:path w="1267460" h="316864">
                <a:moveTo>
                  <a:pt x="498868" y="0"/>
                </a:moveTo>
                <a:lnTo>
                  <a:pt x="23393" y="0"/>
                </a:lnTo>
                <a:lnTo>
                  <a:pt x="19951" y="685"/>
                </a:lnTo>
                <a:lnTo>
                  <a:pt x="0" y="23393"/>
                </a:lnTo>
                <a:lnTo>
                  <a:pt x="0" y="118186"/>
                </a:lnTo>
                <a:lnTo>
                  <a:pt x="23393" y="141566"/>
                </a:lnTo>
                <a:lnTo>
                  <a:pt x="498868" y="141566"/>
                </a:lnTo>
                <a:lnTo>
                  <a:pt x="498868" y="0"/>
                </a:lnTo>
                <a:close/>
              </a:path>
              <a:path w="1267460" h="316864">
                <a:moveTo>
                  <a:pt x="1267383" y="198666"/>
                </a:moveTo>
                <a:lnTo>
                  <a:pt x="1244003" y="175272"/>
                </a:lnTo>
                <a:lnTo>
                  <a:pt x="0" y="175272"/>
                </a:lnTo>
                <a:lnTo>
                  <a:pt x="0" y="316852"/>
                </a:lnTo>
                <a:lnTo>
                  <a:pt x="1244003" y="316852"/>
                </a:lnTo>
                <a:lnTo>
                  <a:pt x="1267383" y="293458"/>
                </a:lnTo>
                <a:lnTo>
                  <a:pt x="1267383" y="198666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754257" y="3234367"/>
            <a:ext cx="1530350" cy="141605"/>
          </a:xfrm>
          <a:custGeom>
            <a:avLst/>
            <a:gdLst/>
            <a:ahLst/>
            <a:cxnLst/>
            <a:rect l="l" t="t" r="r" b="b"/>
            <a:pathLst>
              <a:path w="1530350" h="141604">
                <a:moveTo>
                  <a:pt x="1506915" y="141566"/>
                </a:moveTo>
                <a:lnTo>
                  <a:pt x="23389" y="141566"/>
                </a:lnTo>
                <a:lnTo>
                  <a:pt x="19950" y="140879"/>
                </a:lnTo>
                <a:lnTo>
                  <a:pt x="0" y="118175"/>
                </a:lnTo>
                <a:lnTo>
                  <a:pt x="0" y="114604"/>
                </a:lnTo>
                <a:lnTo>
                  <a:pt x="0" y="23387"/>
                </a:lnTo>
                <a:lnTo>
                  <a:pt x="23389" y="0"/>
                </a:lnTo>
                <a:lnTo>
                  <a:pt x="1506915" y="0"/>
                </a:lnTo>
                <a:lnTo>
                  <a:pt x="1530305" y="23387"/>
                </a:lnTo>
                <a:lnTo>
                  <a:pt x="1530305" y="118175"/>
                </a:lnTo>
                <a:lnTo>
                  <a:pt x="1510355" y="140879"/>
                </a:lnTo>
                <a:lnTo>
                  <a:pt x="1506915" y="141566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4880013" y="3234371"/>
            <a:ext cx="539750" cy="316865"/>
          </a:xfrm>
          <a:custGeom>
            <a:avLst/>
            <a:gdLst/>
            <a:ahLst/>
            <a:cxnLst/>
            <a:rect l="l" t="t" r="r" b="b"/>
            <a:pathLst>
              <a:path w="539750" h="316864">
                <a:moveTo>
                  <a:pt x="525830" y="23380"/>
                </a:moveTo>
                <a:lnTo>
                  <a:pt x="502437" y="0"/>
                </a:lnTo>
                <a:lnTo>
                  <a:pt x="23380" y="0"/>
                </a:lnTo>
                <a:lnTo>
                  <a:pt x="0" y="23380"/>
                </a:lnTo>
                <a:lnTo>
                  <a:pt x="0" y="114604"/>
                </a:lnTo>
                <a:lnTo>
                  <a:pt x="0" y="118173"/>
                </a:lnTo>
                <a:lnTo>
                  <a:pt x="23380" y="141566"/>
                </a:lnTo>
                <a:lnTo>
                  <a:pt x="502437" y="141566"/>
                </a:lnTo>
                <a:lnTo>
                  <a:pt x="525830" y="118173"/>
                </a:lnTo>
                <a:lnTo>
                  <a:pt x="525830" y="23380"/>
                </a:lnTo>
                <a:close/>
              </a:path>
              <a:path w="539750" h="316864">
                <a:moveTo>
                  <a:pt x="539305" y="198666"/>
                </a:moveTo>
                <a:lnTo>
                  <a:pt x="515924" y="175272"/>
                </a:lnTo>
                <a:lnTo>
                  <a:pt x="36868" y="175272"/>
                </a:lnTo>
                <a:lnTo>
                  <a:pt x="13474" y="198666"/>
                </a:lnTo>
                <a:lnTo>
                  <a:pt x="13474" y="289877"/>
                </a:lnTo>
                <a:lnTo>
                  <a:pt x="13474" y="293458"/>
                </a:lnTo>
                <a:lnTo>
                  <a:pt x="36868" y="316839"/>
                </a:lnTo>
                <a:lnTo>
                  <a:pt x="515924" y="316839"/>
                </a:lnTo>
                <a:lnTo>
                  <a:pt x="539305" y="293458"/>
                </a:lnTo>
                <a:lnTo>
                  <a:pt x="539305" y="198666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3147466" y="3409644"/>
            <a:ext cx="762000" cy="141605"/>
          </a:xfrm>
          <a:custGeom>
            <a:avLst/>
            <a:gdLst/>
            <a:ahLst/>
            <a:cxnLst/>
            <a:rect l="l" t="t" r="r" b="b"/>
            <a:pathLst>
              <a:path w="762000" h="141604">
                <a:moveTo>
                  <a:pt x="738392" y="141566"/>
                </a:moveTo>
                <a:lnTo>
                  <a:pt x="23389" y="141566"/>
                </a:lnTo>
                <a:lnTo>
                  <a:pt x="19950" y="140881"/>
                </a:lnTo>
                <a:lnTo>
                  <a:pt x="0" y="118179"/>
                </a:lnTo>
                <a:lnTo>
                  <a:pt x="0" y="114604"/>
                </a:lnTo>
                <a:lnTo>
                  <a:pt x="0" y="23387"/>
                </a:lnTo>
                <a:lnTo>
                  <a:pt x="23389" y="0"/>
                </a:lnTo>
                <a:lnTo>
                  <a:pt x="738392" y="0"/>
                </a:lnTo>
                <a:lnTo>
                  <a:pt x="761782" y="23387"/>
                </a:lnTo>
                <a:lnTo>
                  <a:pt x="761782" y="118179"/>
                </a:lnTo>
                <a:lnTo>
                  <a:pt x="741831" y="140881"/>
                </a:lnTo>
                <a:lnTo>
                  <a:pt x="738392" y="141566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754253" y="3874807"/>
            <a:ext cx="1449705" cy="316865"/>
          </a:xfrm>
          <a:custGeom>
            <a:avLst/>
            <a:gdLst/>
            <a:ahLst/>
            <a:cxnLst/>
            <a:rect l="l" t="t" r="r" b="b"/>
            <a:pathLst>
              <a:path w="1449705" h="316864">
                <a:moveTo>
                  <a:pt x="856157" y="0"/>
                </a:moveTo>
                <a:lnTo>
                  <a:pt x="23393" y="0"/>
                </a:lnTo>
                <a:lnTo>
                  <a:pt x="19951" y="685"/>
                </a:lnTo>
                <a:lnTo>
                  <a:pt x="0" y="23393"/>
                </a:lnTo>
                <a:lnTo>
                  <a:pt x="0" y="118173"/>
                </a:lnTo>
                <a:lnTo>
                  <a:pt x="23393" y="141566"/>
                </a:lnTo>
                <a:lnTo>
                  <a:pt x="856157" y="141566"/>
                </a:lnTo>
                <a:lnTo>
                  <a:pt x="856157" y="0"/>
                </a:lnTo>
                <a:close/>
              </a:path>
              <a:path w="1449705" h="316864">
                <a:moveTo>
                  <a:pt x="1449412" y="198666"/>
                </a:moveTo>
                <a:lnTo>
                  <a:pt x="1426019" y="175272"/>
                </a:lnTo>
                <a:lnTo>
                  <a:pt x="0" y="175272"/>
                </a:lnTo>
                <a:lnTo>
                  <a:pt x="0" y="316852"/>
                </a:lnTo>
                <a:lnTo>
                  <a:pt x="1426019" y="316852"/>
                </a:lnTo>
                <a:lnTo>
                  <a:pt x="1449412" y="293458"/>
                </a:lnTo>
                <a:lnTo>
                  <a:pt x="1449412" y="198666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3551952" y="4043339"/>
            <a:ext cx="937260" cy="141605"/>
          </a:xfrm>
          <a:custGeom>
            <a:avLst/>
            <a:gdLst/>
            <a:ahLst/>
            <a:cxnLst/>
            <a:rect l="l" t="t" r="r" b="b"/>
            <a:pathLst>
              <a:path w="937260" h="141604">
                <a:moveTo>
                  <a:pt x="913668" y="141566"/>
                </a:moveTo>
                <a:lnTo>
                  <a:pt x="23389" y="141566"/>
                </a:lnTo>
                <a:lnTo>
                  <a:pt x="19949" y="140879"/>
                </a:lnTo>
                <a:lnTo>
                  <a:pt x="0" y="118175"/>
                </a:lnTo>
                <a:lnTo>
                  <a:pt x="0" y="114604"/>
                </a:lnTo>
                <a:lnTo>
                  <a:pt x="0" y="23387"/>
                </a:lnTo>
                <a:lnTo>
                  <a:pt x="23389" y="0"/>
                </a:lnTo>
                <a:lnTo>
                  <a:pt x="913668" y="0"/>
                </a:lnTo>
                <a:lnTo>
                  <a:pt x="937059" y="23387"/>
                </a:lnTo>
                <a:lnTo>
                  <a:pt x="937059" y="118175"/>
                </a:lnTo>
                <a:lnTo>
                  <a:pt x="917108" y="140879"/>
                </a:lnTo>
                <a:lnTo>
                  <a:pt x="913668" y="141566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4671030" y="4043339"/>
            <a:ext cx="647700" cy="141605"/>
          </a:xfrm>
          <a:custGeom>
            <a:avLst/>
            <a:gdLst/>
            <a:ahLst/>
            <a:cxnLst/>
            <a:rect l="l" t="t" r="r" b="b"/>
            <a:pathLst>
              <a:path w="647700" h="141604">
                <a:moveTo>
                  <a:pt x="623787" y="141566"/>
                </a:moveTo>
                <a:lnTo>
                  <a:pt x="23390" y="141566"/>
                </a:lnTo>
                <a:lnTo>
                  <a:pt x="19949" y="140879"/>
                </a:lnTo>
                <a:lnTo>
                  <a:pt x="0" y="118175"/>
                </a:lnTo>
                <a:lnTo>
                  <a:pt x="0" y="114604"/>
                </a:lnTo>
                <a:lnTo>
                  <a:pt x="0" y="23387"/>
                </a:lnTo>
                <a:lnTo>
                  <a:pt x="23390" y="0"/>
                </a:lnTo>
                <a:lnTo>
                  <a:pt x="623787" y="0"/>
                </a:lnTo>
                <a:lnTo>
                  <a:pt x="647177" y="23387"/>
                </a:lnTo>
                <a:lnTo>
                  <a:pt x="647177" y="118175"/>
                </a:lnTo>
                <a:lnTo>
                  <a:pt x="627227" y="140879"/>
                </a:lnTo>
                <a:lnTo>
                  <a:pt x="623787" y="141566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graphicFrame>
        <p:nvGraphicFramePr>
          <p:cNvPr id="13" name="object 13"/>
          <p:cNvGraphicFramePr>
            <a:graphicFrameLocks noGrp="1"/>
          </p:cNvGraphicFramePr>
          <p:nvPr/>
        </p:nvGraphicFramePr>
        <p:xfrm>
          <a:off x="680102" y="2115289"/>
          <a:ext cx="6278880" cy="21418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01189"/>
                <a:gridCol w="4294505"/>
              </a:tblGrid>
              <a:tr h="282575">
                <a:tc>
                  <a:txBody>
                    <a:bodyPr/>
                    <a:lstStyle/>
                    <a:p>
                      <a:pPr marL="70485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950" spc="-20" b="1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Line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64769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marL="73025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950" spc="-10" b="1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Explanation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64769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  <a:solidFill>
                      <a:srgbClr val="F7FAFB"/>
                    </a:solidFill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PDF_PATH</a:t>
                      </a:r>
                      <a:r>
                        <a:rPr dirty="0" sz="750" spc="55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=</a:t>
                      </a:r>
                      <a:r>
                        <a:rPr dirty="0" sz="750" spc="6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 spc="-1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"sample.pdf"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90170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3025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950" spc="-9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Path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to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the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PDF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00" spc="-35">
                          <a:solidFill>
                            <a:srgbClr val="111726"/>
                          </a:solidFill>
                          <a:latin typeface="Arial"/>
                          <a:cs typeface="Arial"/>
                        </a:rPr>
                        <a:t>ﬁ</a:t>
                      </a:r>
                      <a:r>
                        <a:rPr dirty="0" sz="950" spc="-3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le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to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ingest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(expected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in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the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working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directory).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64769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</a:tr>
              <a:tr h="464820">
                <a:tc>
                  <a:txBody>
                    <a:bodyPr/>
                    <a:lstStyle/>
                    <a:p>
                      <a:pPr marL="70485" marR="579755" indent="26670">
                        <a:lnSpc>
                          <a:spcPct val="153300"/>
                        </a:lnSpc>
                        <a:spcBef>
                          <a:spcPts val="229"/>
                        </a:spcBef>
                      </a:pP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loader</a:t>
                      </a:r>
                      <a:r>
                        <a:rPr dirty="0" sz="750" spc="7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 spc="-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= </a:t>
                      </a:r>
                      <a:r>
                        <a:rPr dirty="0" sz="750" spc="-1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PyPDFLoader(PDF_PATH)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29209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3025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Instantiates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9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a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loader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con</a:t>
                      </a:r>
                      <a:r>
                        <a:rPr dirty="0" sz="900" spc="-75">
                          <a:solidFill>
                            <a:srgbClr val="111726"/>
                          </a:solidFill>
                          <a:latin typeface="Arial"/>
                          <a:cs typeface="Arial"/>
                        </a:rPr>
                        <a:t>ﬁ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gured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to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read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that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2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PDF.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64769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documents</a:t>
                      </a:r>
                      <a:r>
                        <a:rPr dirty="0" sz="750" spc="6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=</a:t>
                      </a:r>
                      <a:r>
                        <a:rPr dirty="0" sz="750" spc="65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 spc="-1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loader.load()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90170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3025" marR="188595">
                        <a:lnSpc>
                          <a:spcPct val="121100"/>
                        </a:lnSpc>
                        <a:spcBef>
                          <a:spcPts val="270"/>
                        </a:spcBef>
                      </a:pP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Parses</a:t>
                      </a:r>
                      <a:r>
                        <a:rPr dirty="0" sz="950" spc="-2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the</a:t>
                      </a:r>
                      <a:r>
                        <a:rPr dirty="0" sz="950" spc="-2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PDF</a:t>
                      </a:r>
                      <a:r>
                        <a:rPr dirty="0" sz="950" spc="-2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and</a:t>
                      </a:r>
                      <a:r>
                        <a:rPr dirty="0" sz="950" spc="-2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returns</a:t>
                      </a:r>
                      <a:r>
                        <a:rPr dirty="0" sz="950" spc="-2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9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a</a:t>
                      </a:r>
                      <a:r>
                        <a:rPr dirty="0" sz="950" spc="-2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6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list</a:t>
                      </a:r>
                      <a:r>
                        <a:rPr dirty="0" sz="950" spc="-2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of</a:t>
                      </a:r>
                      <a:r>
                        <a:rPr dirty="0" sz="950" spc="-2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LangChain</a:t>
                      </a:r>
                      <a:r>
                        <a:rPr dirty="0" sz="950" spc="2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Document</a:t>
                      </a:r>
                      <a:r>
                        <a:rPr dirty="0" sz="750" spc="-35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objects</a:t>
                      </a:r>
                      <a:r>
                        <a:rPr dirty="0" sz="950" spc="-2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00" spc="-180">
                          <a:solidFill>
                            <a:srgbClr val="111726"/>
                          </a:solidFill>
                          <a:latin typeface="Arial"/>
                          <a:cs typeface="Arial"/>
                        </a:rPr>
                        <a:t>—</a:t>
                      </a:r>
                      <a:r>
                        <a:rPr dirty="0" sz="900" spc="-60">
                          <a:solidFill>
                            <a:srgbClr val="111726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one</a:t>
                      </a:r>
                      <a:r>
                        <a:rPr dirty="0" sz="950" spc="-2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per</a:t>
                      </a:r>
                      <a:r>
                        <a:rPr dirty="0" sz="950" spc="-2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page,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each</a:t>
                      </a:r>
                      <a:r>
                        <a:rPr dirty="0" sz="950" spc="-3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4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with</a:t>
                      </a:r>
                      <a:r>
                        <a:rPr dirty="0" sz="950" spc="19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page_content</a:t>
                      </a:r>
                      <a:r>
                        <a:rPr dirty="0" sz="750" spc="-45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(extracted</a:t>
                      </a:r>
                      <a:r>
                        <a:rPr dirty="0" sz="950" spc="-2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text)</a:t>
                      </a:r>
                      <a:r>
                        <a:rPr dirty="0" sz="950" spc="-3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4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and</a:t>
                      </a:r>
                      <a:r>
                        <a:rPr dirty="0" sz="950" spc="19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metadata</a:t>
                      </a:r>
                      <a:r>
                        <a:rPr dirty="0" sz="750" spc="-45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950" spc="-6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(e.g.</a:t>
                      </a:r>
                      <a:r>
                        <a:rPr dirty="0" sz="950" spc="-2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9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page</a:t>
                      </a:r>
                      <a:r>
                        <a:rPr dirty="0" sz="950" spc="-3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9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number,</a:t>
                      </a:r>
                      <a:r>
                        <a:rPr dirty="0" sz="950" spc="-2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3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source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path).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34290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</a:tr>
              <a:tr h="464820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dirty="0" sz="750" spc="-1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print(f"Loaded</a:t>
                      </a:r>
                      <a:endParaRPr sz="750">
                        <a:latin typeface="Courier New"/>
                        <a:cs typeface="Courier New"/>
                      </a:endParaRPr>
                    </a:p>
                    <a:p>
                      <a:pPr marL="70485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{len(documents)}</a:t>
                      </a:r>
                      <a:r>
                        <a:rPr dirty="0" sz="750" spc="155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 spc="-1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pages")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90170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3025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Reports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9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how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9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many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pages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were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extracted.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 b="1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Output:</a:t>
                      </a:r>
                      <a:r>
                        <a:rPr dirty="0" sz="950" spc="-15" b="1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con</a:t>
                      </a:r>
                      <a:r>
                        <a:rPr dirty="0" sz="900" spc="-75">
                          <a:solidFill>
                            <a:srgbClr val="111726"/>
                          </a:solidFill>
                          <a:latin typeface="Arial"/>
                          <a:cs typeface="Arial"/>
                        </a:rPr>
                        <a:t>ﬁ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rmed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by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9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an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actual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run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2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(see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  <a:p>
                      <a:pPr marL="73025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dirty="0" sz="950" spc="-6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§</a:t>
                      </a:r>
                      <a:r>
                        <a:rPr dirty="0" sz="850" spc="-65">
                          <a:solidFill>
                            <a:srgbClr val="111726"/>
                          </a:solidFill>
                          <a:latin typeface="Arial"/>
                          <a:cs typeface="Arial"/>
                        </a:rPr>
                        <a:t>1</a:t>
                      </a:r>
                      <a:r>
                        <a:rPr dirty="0" sz="950" spc="-6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.</a:t>
                      </a:r>
                      <a:r>
                        <a:rPr dirty="0" sz="850" spc="-65">
                          <a:solidFill>
                            <a:srgbClr val="111726"/>
                          </a:solidFill>
                          <a:latin typeface="Arial"/>
                          <a:cs typeface="Arial"/>
                        </a:rPr>
                        <a:t>5</a:t>
                      </a:r>
                      <a:r>
                        <a:rPr dirty="0" sz="850" spc="-55">
                          <a:solidFill>
                            <a:srgbClr val="111726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below)</a:t>
                      </a:r>
                      <a:r>
                        <a:rPr dirty="0" sz="950" spc="-3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to</a:t>
                      </a:r>
                      <a:r>
                        <a:rPr dirty="0" sz="950" spc="-3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2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be</a:t>
                      </a:r>
                      <a:r>
                        <a:rPr dirty="0" sz="950" spc="1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Loaded</a:t>
                      </a:r>
                      <a:r>
                        <a:rPr dirty="0" sz="750" spc="2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15</a:t>
                      </a:r>
                      <a:r>
                        <a:rPr dirty="0" sz="750" spc="25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pages</a:t>
                      </a:r>
                      <a:r>
                        <a:rPr dirty="0" sz="750" spc="-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950" spc="-3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for</a:t>
                      </a:r>
                      <a:r>
                        <a:rPr dirty="0" sz="950" spc="1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sample.pdf</a:t>
                      </a:r>
                      <a:r>
                        <a:rPr dirty="0" sz="750" spc="-235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950" spc="-5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.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64769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4" name="object 14"/>
          <p:cNvSpPr txBox="1"/>
          <p:nvPr/>
        </p:nvSpPr>
        <p:spPr>
          <a:xfrm>
            <a:off x="667402" y="4345649"/>
            <a:ext cx="1127125" cy="2139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200" spc="-125" b="1">
                <a:solidFill>
                  <a:srgbClr val="111726"/>
                </a:solidFill>
                <a:latin typeface="Source Han Sans JP"/>
                <a:cs typeface="Source Han Sans JP"/>
              </a:rPr>
              <a:t>Chunk</a:t>
            </a:r>
            <a:r>
              <a:rPr dirty="0" sz="1200" spc="-30" b="1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200" spc="-114" b="1">
                <a:solidFill>
                  <a:srgbClr val="111726"/>
                </a:solidFill>
                <a:latin typeface="Source Han Sans JP"/>
                <a:cs typeface="Source Han Sans JP"/>
              </a:rPr>
              <a:t>Document</a:t>
            </a:r>
            <a:endParaRPr sz="1200">
              <a:latin typeface="Source Han Sans JP"/>
              <a:cs typeface="Source Han Sans JP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61782" y="4698308"/>
            <a:ext cx="2738120" cy="144843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59079" marR="128270" indent="-247015">
              <a:lnSpc>
                <a:spcPct val="143800"/>
              </a:lnSpc>
              <a:spcBef>
                <a:spcPts val="95"/>
              </a:spcBef>
            </a:pP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splitter</a:t>
            </a:r>
            <a:r>
              <a:rPr dirty="0" sz="800" spc="2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=</a:t>
            </a:r>
            <a:r>
              <a:rPr dirty="0" sz="800" spc="2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 spc="-10">
                <a:solidFill>
                  <a:srgbClr val="E4E7EB"/>
                </a:solidFill>
                <a:latin typeface="Courier New"/>
                <a:cs typeface="Courier New"/>
              </a:rPr>
              <a:t>RecursiveCharacterTextSplitter( chunk_size=500,</a:t>
            </a:r>
            <a:endParaRPr sz="800">
              <a:latin typeface="Courier New"/>
              <a:cs typeface="Courier New"/>
            </a:endParaRPr>
          </a:p>
          <a:p>
            <a:pPr marL="259079">
              <a:lnSpc>
                <a:spcPct val="100000"/>
              </a:lnSpc>
              <a:spcBef>
                <a:spcPts val="475"/>
              </a:spcBef>
            </a:pPr>
            <a:r>
              <a:rPr dirty="0" sz="800" spc="-10">
                <a:solidFill>
                  <a:srgbClr val="E4E7EB"/>
                </a:solidFill>
                <a:latin typeface="Courier New"/>
                <a:cs typeface="Courier New"/>
              </a:rPr>
              <a:t>chunk_overlap=100,</a:t>
            </a:r>
            <a:endParaRPr sz="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420"/>
              </a:spcBef>
            </a:pPr>
            <a:r>
              <a:rPr dirty="0" sz="800" spc="-50">
                <a:solidFill>
                  <a:srgbClr val="E4E7EB"/>
                </a:solidFill>
                <a:latin typeface="Courier New"/>
                <a:cs typeface="Courier New"/>
              </a:rPr>
              <a:t>)</a:t>
            </a:r>
            <a:endParaRPr sz="800">
              <a:latin typeface="Courier New"/>
              <a:cs typeface="Courier New"/>
            </a:endParaRPr>
          </a:p>
          <a:p>
            <a:pPr marL="12700" marR="5080">
              <a:lnSpc>
                <a:spcPct val="293100"/>
              </a:lnSpc>
            </a:pP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chunks</a:t>
            </a:r>
            <a:r>
              <a:rPr dirty="0" sz="800" spc="2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=</a:t>
            </a:r>
            <a:r>
              <a:rPr dirty="0" sz="800" spc="2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 spc="-10">
                <a:solidFill>
                  <a:srgbClr val="E4E7EB"/>
                </a:solidFill>
                <a:latin typeface="Courier New"/>
                <a:cs typeface="Courier New"/>
              </a:rPr>
              <a:t>splitter.split_documents(documents)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print(f"Created</a:t>
            </a:r>
            <a:r>
              <a:rPr dirty="0" sz="800" spc="6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{len(chunks)}</a:t>
            </a:r>
            <a:r>
              <a:rPr dirty="0" sz="800" spc="7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 spc="-10">
                <a:solidFill>
                  <a:srgbClr val="E4E7EB"/>
                </a:solidFill>
                <a:latin typeface="Courier New"/>
                <a:cs typeface="Courier New"/>
              </a:rPr>
              <a:t>chunks")</a:t>
            </a:r>
            <a:endParaRPr sz="800">
              <a:latin typeface="Courier New"/>
              <a:cs typeface="Courier New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754253" y="6733171"/>
            <a:ext cx="1861185" cy="316865"/>
          </a:xfrm>
          <a:custGeom>
            <a:avLst/>
            <a:gdLst/>
            <a:ahLst/>
            <a:cxnLst/>
            <a:rect l="l" t="t" r="r" b="b"/>
            <a:pathLst>
              <a:path w="1861185" h="316865">
                <a:moveTo>
                  <a:pt x="620204" y="0"/>
                </a:moveTo>
                <a:lnTo>
                  <a:pt x="23393" y="0"/>
                </a:lnTo>
                <a:lnTo>
                  <a:pt x="19951" y="685"/>
                </a:lnTo>
                <a:lnTo>
                  <a:pt x="0" y="23393"/>
                </a:lnTo>
                <a:lnTo>
                  <a:pt x="0" y="118186"/>
                </a:lnTo>
                <a:lnTo>
                  <a:pt x="23393" y="141579"/>
                </a:lnTo>
                <a:lnTo>
                  <a:pt x="620204" y="141579"/>
                </a:lnTo>
                <a:lnTo>
                  <a:pt x="620204" y="0"/>
                </a:lnTo>
                <a:close/>
              </a:path>
              <a:path w="1861185" h="316865">
                <a:moveTo>
                  <a:pt x="1860638" y="198666"/>
                </a:moveTo>
                <a:lnTo>
                  <a:pt x="1837245" y="175285"/>
                </a:lnTo>
                <a:lnTo>
                  <a:pt x="0" y="175285"/>
                </a:lnTo>
                <a:lnTo>
                  <a:pt x="0" y="316852"/>
                </a:lnTo>
                <a:lnTo>
                  <a:pt x="1837245" y="316852"/>
                </a:lnTo>
                <a:lnTo>
                  <a:pt x="1860638" y="293458"/>
                </a:lnTo>
                <a:lnTo>
                  <a:pt x="1860638" y="198666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754257" y="7360125"/>
            <a:ext cx="944244" cy="141605"/>
          </a:xfrm>
          <a:custGeom>
            <a:avLst/>
            <a:gdLst/>
            <a:ahLst/>
            <a:cxnLst/>
            <a:rect l="l" t="t" r="r" b="b"/>
            <a:pathLst>
              <a:path w="944244" h="141604">
                <a:moveTo>
                  <a:pt x="920410" y="141566"/>
                </a:moveTo>
                <a:lnTo>
                  <a:pt x="23389" y="141566"/>
                </a:lnTo>
                <a:lnTo>
                  <a:pt x="19950" y="140879"/>
                </a:lnTo>
                <a:lnTo>
                  <a:pt x="0" y="118175"/>
                </a:lnTo>
                <a:lnTo>
                  <a:pt x="0" y="114604"/>
                </a:lnTo>
                <a:lnTo>
                  <a:pt x="0" y="23387"/>
                </a:lnTo>
                <a:lnTo>
                  <a:pt x="23389" y="0"/>
                </a:lnTo>
                <a:lnTo>
                  <a:pt x="920410" y="0"/>
                </a:lnTo>
                <a:lnTo>
                  <a:pt x="943800" y="23387"/>
                </a:lnTo>
                <a:lnTo>
                  <a:pt x="943800" y="118175"/>
                </a:lnTo>
                <a:lnTo>
                  <a:pt x="923850" y="140879"/>
                </a:lnTo>
                <a:lnTo>
                  <a:pt x="920410" y="141566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754257" y="7818542"/>
            <a:ext cx="1119505" cy="141605"/>
          </a:xfrm>
          <a:custGeom>
            <a:avLst/>
            <a:gdLst/>
            <a:ahLst/>
            <a:cxnLst/>
            <a:rect l="l" t="t" r="r" b="b"/>
            <a:pathLst>
              <a:path w="1119505" h="141604">
                <a:moveTo>
                  <a:pt x="1095688" y="141566"/>
                </a:moveTo>
                <a:lnTo>
                  <a:pt x="23389" y="141566"/>
                </a:lnTo>
                <a:lnTo>
                  <a:pt x="19950" y="140879"/>
                </a:lnTo>
                <a:lnTo>
                  <a:pt x="0" y="118175"/>
                </a:lnTo>
                <a:lnTo>
                  <a:pt x="0" y="114604"/>
                </a:lnTo>
                <a:lnTo>
                  <a:pt x="0" y="23387"/>
                </a:lnTo>
                <a:lnTo>
                  <a:pt x="23389" y="0"/>
                </a:lnTo>
                <a:lnTo>
                  <a:pt x="1095688" y="0"/>
                </a:lnTo>
                <a:lnTo>
                  <a:pt x="1119077" y="23387"/>
                </a:lnTo>
                <a:lnTo>
                  <a:pt x="1119077" y="118175"/>
                </a:lnTo>
                <a:lnTo>
                  <a:pt x="1099127" y="140879"/>
                </a:lnTo>
                <a:lnTo>
                  <a:pt x="1095688" y="141566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754253" y="8276958"/>
            <a:ext cx="2096770" cy="316865"/>
          </a:xfrm>
          <a:custGeom>
            <a:avLst/>
            <a:gdLst/>
            <a:ahLst/>
            <a:cxnLst/>
            <a:rect l="l" t="t" r="r" b="b"/>
            <a:pathLst>
              <a:path w="2096770" h="316865">
                <a:moveTo>
                  <a:pt x="498868" y="0"/>
                </a:moveTo>
                <a:lnTo>
                  <a:pt x="23393" y="0"/>
                </a:lnTo>
                <a:lnTo>
                  <a:pt x="19951" y="698"/>
                </a:lnTo>
                <a:lnTo>
                  <a:pt x="0" y="23393"/>
                </a:lnTo>
                <a:lnTo>
                  <a:pt x="0" y="118186"/>
                </a:lnTo>
                <a:lnTo>
                  <a:pt x="23393" y="141579"/>
                </a:lnTo>
                <a:lnTo>
                  <a:pt x="498868" y="141579"/>
                </a:lnTo>
                <a:lnTo>
                  <a:pt x="498868" y="0"/>
                </a:lnTo>
                <a:close/>
              </a:path>
              <a:path w="2096770" h="316865">
                <a:moveTo>
                  <a:pt x="2096579" y="198678"/>
                </a:moveTo>
                <a:lnTo>
                  <a:pt x="2073198" y="175285"/>
                </a:lnTo>
                <a:lnTo>
                  <a:pt x="0" y="175285"/>
                </a:lnTo>
                <a:lnTo>
                  <a:pt x="0" y="316852"/>
                </a:lnTo>
                <a:lnTo>
                  <a:pt x="2073198" y="316852"/>
                </a:lnTo>
                <a:lnTo>
                  <a:pt x="2096579" y="293458"/>
                </a:lnTo>
                <a:lnTo>
                  <a:pt x="2096579" y="198678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5102482" y="8276959"/>
            <a:ext cx="532765" cy="141605"/>
          </a:xfrm>
          <a:custGeom>
            <a:avLst/>
            <a:gdLst/>
            <a:ahLst/>
            <a:cxnLst/>
            <a:rect l="l" t="t" r="r" b="b"/>
            <a:pathLst>
              <a:path w="532764" h="141604">
                <a:moveTo>
                  <a:pt x="509183" y="141563"/>
                </a:moveTo>
                <a:lnTo>
                  <a:pt x="23390" y="141563"/>
                </a:lnTo>
                <a:lnTo>
                  <a:pt x="19950" y="140879"/>
                </a:lnTo>
                <a:lnTo>
                  <a:pt x="0" y="118179"/>
                </a:lnTo>
                <a:lnTo>
                  <a:pt x="0" y="114604"/>
                </a:lnTo>
                <a:lnTo>
                  <a:pt x="0" y="23390"/>
                </a:lnTo>
                <a:lnTo>
                  <a:pt x="23390" y="0"/>
                </a:lnTo>
                <a:lnTo>
                  <a:pt x="509183" y="0"/>
                </a:lnTo>
                <a:lnTo>
                  <a:pt x="532573" y="23390"/>
                </a:lnTo>
                <a:lnTo>
                  <a:pt x="532573" y="118179"/>
                </a:lnTo>
                <a:lnTo>
                  <a:pt x="512623" y="140879"/>
                </a:lnTo>
                <a:lnTo>
                  <a:pt x="509183" y="141563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3626108" y="8452237"/>
            <a:ext cx="526415" cy="141605"/>
          </a:xfrm>
          <a:custGeom>
            <a:avLst/>
            <a:gdLst/>
            <a:ahLst/>
            <a:cxnLst/>
            <a:rect l="l" t="t" r="r" b="b"/>
            <a:pathLst>
              <a:path w="526414" h="141604">
                <a:moveTo>
                  <a:pt x="502441" y="141570"/>
                </a:moveTo>
                <a:lnTo>
                  <a:pt x="23389" y="141570"/>
                </a:lnTo>
                <a:lnTo>
                  <a:pt x="19950" y="140885"/>
                </a:lnTo>
                <a:lnTo>
                  <a:pt x="0" y="118179"/>
                </a:lnTo>
                <a:lnTo>
                  <a:pt x="0" y="114604"/>
                </a:lnTo>
                <a:lnTo>
                  <a:pt x="0" y="23390"/>
                </a:lnTo>
                <a:lnTo>
                  <a:pt x="23389" y="0"/>
                </a:lnTo>
                <a:lnTo>
                  <a:pt x="502441" y="0"/>
                </a:lnTo>
                <a:lnTo>
                  <a:pt x="525831" y="23390"/>
                </a:lnTo>
                <a:lnTo>
                  <a:pt x="525831" y="118179"/>
                </a:lnTo>
                <a:lnTo>
                  <a:pt x="505881" y="140885"/>
                </a:lnTo>
                <a:lnTo>
                  <a:pt x="502441" y="141570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754257" y="8742119"/>
            <a:ext cx="2305685" cy="141605"/>
          </a:xfrm>
          <a:custGeom>
            <a:avLst/>
            <a:gdLst/>
            <a:ahLst/>
            <a:cxnLst/>
            <a:rect l="l" t="t" r="r" b="b"/>
            <a:pathLst>
              <a:path w="2305685" h="141604">
                <a:moveTo>
                  <a:pt x="2282180" y="141563"/>
                </a:moveTo>
                <a:lnTo>
                  <a:pt x="23389" y="141563"/>
                </a:lnTo>
                <a:lnTo>
                  <a:pt x="19950" y="140879"/>
                </a:lnTo>
                <a:lnTo>
                  <a:pt x="0" y="118179"/>
                </a:lnTo>
                <a:lnTo>
                  <a:pt x="0" y="114604"/>
                </a:lnTo>
                <a:lnTo>
                  <a:pt x="0" y="23384"/>
                </a:lnTo>
                <a:lnTo>
                  <a:pt x="23389" y="0"/>
                </a:lnTo>
                <a:lnTo>
                  <a:pt x="2282180" y="0"/>
                </a:lnTo>
                <a:lnTo>
                  <a:pt x="2305570" y="23384"/>
                </a:lnTo>
                <a:lnTo>
                  <a:pt x="2305570" y="118179"/>
                </a:lnTo>
                <a:lnTo>
                  <a:pt x="2285619" y="140879"/>
                </a:lnTo>
                <a:lnTo>
                  <a:pt x="2282180" y="141563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4138457" y="8910655"/>
            <a:ext cx="1058545" cy="141605"/>
          </a:xfrm>
          <a:custGeom>
            <a:avLst/>
            <a:gdLst/>
            <a:ahLst/>
            <a:cxnLst/>
            <a:rect l="l" t="t" r="r" b="b"/>
            <a:pathLst>
              <a:path w="1058545" h="141604">
                <a:moveTo>
                  <a:pt x="1035014" y="141563"/>
                </a:moveTo>
                <a:lnTo>
                  <a:pt x="23390" y="141563"/>
                </a:lnTo>
                <a:lnTo>
                  <a:pt x="19950" y="140879"/>
                </a:lnTo>
                <a:lnTo>
                  <a:pt x="0" y="118179"/>
                </a:lnTo>
                <a:lnTo>
                  <a:pt x="0" y="114604"/>
                </a:lnTo>
                <a:lnTo>
                  <a:pt x="0" y="23384"/>
                </a:lnTo>
                <a:lnTo>
                  <a:pt x="23390" y="0"/>
                </a:lnTo>
                <a:lnTo>
                  <a:pt x="1035014" y="0"/>
                </a:lnTo>
                <a:lnTo>
                  <a:pt x="1058405" y="23384"/>
                </a:lnTo>
                <a:lnTo>
                  <a:pt x="1058405" y="118179"/>
                </a:lnTo>
                <a:lnTo>
                  <a:pt x="1038454" y="140879"/>
                </a:lnTo>
                <a:lnTo>
                  <a:pt x="1035014" y="141563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5378881" y="8910655"/>
            <a:ext cx="647700" cy="141605"/>
          </a:xfrm>
          <a:custGeom>
            <a:avLst/>
            <a:gdLst/>
            <a:ahLst/>
            <a:cxnLst/>
            <a:rect l="l" t="t" r="r" b="b"/>
            <a:pathLst>
              <a:path w="647700" h="141604">
                <a:moveTo>
                  <a:pt x="623787" y="141563"/>
                </a:moveTo>
                <a:lnTo>
                  <a:pt x="23390" y="141563"/>
                </a:lnTo>
                <a:lnTo>
                  <a:pt x="19949" y="140879"/>
                </a:lnTo>
                <a:lnTo>
                  <a:pt x="0" y="118179"/>
                </a:lnTo>
                <a:lnTo>
                  <a:pt x="0" y="114604"/>
                </a:lnTo>
                <a:lnTo>
                  <a:pt x="0" y="23384"/>
                </a:lnTo>
                <a:lnTo>
                  <a:pt x="23390" y="0"/>
                </a:lnTo>
                <a:lnTo>
                  <a:pt x="623787" y="0"/>
                </a:lnTo>
                <a:lnTo>
                  <a:pt x="647177" y="23384"/>
                </a:lnTo>
                <a:lnTo>
                  <a:pt x="647177" y="118179"/>
                </a:lnTo>
                <a:lnTo>
                  <a:pt x="627226" y="140879"/>
                </a:lnTo>
                <a:lnTo>
                  <a:pt x="623787" y="141563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graphicFrame>
        <p:nvGraphicFramePr>
          <p:cNvPr id="25" name="object 25"/>
          <p:cNvGraphicFramePr>
            <a:graphicFrameLocks noGrp="1"/>
          </p:cNvGraphicFramePr>
          <p:nvPr/>
        </p:nvGraphicFramePr>
        <p:xfrm>
          <a:off x="680102" y="6369134"/>
          <a:ext cx="6278880" cy="291655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87295"/>
                <a:gridCol w="3707764"/>
              </a:tblGrid>
              <a:tr h="282575">
                <a:tc>
                  <a:txBody>
                    <a:bodyPr/>
                    <a:lstStyle/>
                    <a:p>
                      <a:pPr marL="70485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950" spc="-20" b="1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Line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64769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marL="72390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950" spc="-10" b="1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Explanation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64769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  <a:solidFill>
                      <a:srgbClr val="F7FAFB"/>
                    </a:solidFill>
                  </a:tcPr>
                </a:tc>
              </a:tr>
              <a:tr h="626745">
                <a:tc>
                  <a:txBody>
                    <a:bodyPr/>
                    <a:lstStyle/>
                    <a:p>
                      <a:pPr marL="70485" marR="574675" indent="26670">
                        <a:lnSpc>
                          <a:spcPct val="153300"/>
                        </a:lnSpc>
                        <a:spcBef>
                          <a:spcPts val="229"/>
                        </a:spcBef>
                      </a:pP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splitter</a:t>
                      </a:r>
                      <a:r>
                        <a:rPr dirty="0" sz="750" spc="85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 spc="-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= </a:t>
                      </a:r>
                      <a:r>
                        <a:rPr dirty="0" sz="750" spc="-1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RecursiveCharacterTextSplitter(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29209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2390" marR="384175">
                        <a:lnSpc>
                          <a:spcPct val="118700"/>
                        </a:lnSpc>
                        <a:spcBef>
                          <a:spcPts val="295"/>
                        </a:spcBef>
                      </a:pP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Creates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9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a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splitter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that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recursively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6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tries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9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a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hierarchy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of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separators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(paragraphs,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then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sentences,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then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words)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to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break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text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as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cleanly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3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as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possible.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37465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</a:tr>
              <a:tr h="457834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dirty="0" sz="750" spc="-1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chunk_size=500,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90170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2390" marR="446405">
                        <a:lnSpc>
                          <a:spcPct val="121100"/>
                        </a:lnSpc>
                        <a:spcBef>
                          <a:spcPts val="270"/>
                        </a:spcBef>
                      </a:pPr>
                      <a:r>
                        <a:rPr dirty="0" sz="950" spc="-9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Target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10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maximum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size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of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each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chunk,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9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measured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in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characters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(~</a:t>
                      </a:r>
                      <a:r>
                        <a:rPr dirty="0" sz="850" spc="-10">
                          <a:solidFill>
                            <a:srgbClr val="111726"/>
                          </a:solidFill>
                          <a:latin typeface="Arial"/>
                          <a:cs typeface="Arial"/>
                        </a:rPr>
                        <a:t>500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characters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per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chunk).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34290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</a:tr>
              <a:tr h="457834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dirty="0" sz="750" spc="-1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chunk_overlap=100,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90170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2390" marR="167640">
                        <a:lnSpc>
                          <a:spcPct val="116399"/>
                        </a:lnSpc>
                        <a:spcBef>
                          <a:spcPts val="320"/>
                        </a:spcBef>
                      </a:pP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Each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chunk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shares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850" spc="-35">
                          <a:solidFill>
                            <a:srgbClr val="111726"/>
                          </a:solidFill>
                          <a:latin typeface="Arial"/>
                          <a:cs typeface="Arial"/>
                        </a:rPr>
                        <a:t>100</a:t>
                      </a:r>
                      <a:r>
                        <a:rPr dirty="0" sz="850" spc="-25">
                          <a:solidFill>
                            <a:srgbClr val="111726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characters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with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the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previous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chunk,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preserving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context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across</a:t>
                      </a:r>
                      <a:r>
                        <a:rPr dirty="0" sz="95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chunk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boundaries</a:t>
                      </a:r>
                      <a:r>
                        <a:rPr dirty="0" sz="95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so</a:t>
                      </a:r>
                      <a:r>
                        <a:rPr dirty="0" sz="95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information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6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isn't</a:t>
                      </a:r>
                      <a:r>
                        <a:rPr dirty="0" sz="95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lost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mid-</a:t>
                      </a:r>
                      <a:r>
                        <a:rPr dirty="0" sz="950" spc="-5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sentence.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40640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</a:tr>
              <a:tr h="464820">
                <a:tc>
                  <a:txBody>
                    <a:bodyPr/>
                    <a:lstStyle/>
                    <a:p>
                      <a:pPr marL="70485" marR="337820" indent="26670">
                        <a:lnSpc>
                          <a:spcPct val="153300"/>
                        </a:lnSpc>
                        <a:spcBef>
                          <a:spcPts val="229"/>
                        </a:spcBef>
                      </a:pP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chunks</a:t>
                      </a:r>
                      <a:r>
                        <a:rPr dirty="0" sz="750" spc="7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 spc="-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= </a:t>
                      </a:r>
                      <a:r>
                        <a:rPr dirty="0" sz="750" spc="-1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splitter.split_documents(documents)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29209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2390" marR="187960">
                        <a:lnSpc>
                          <a:spcPct val="121100"/>
                        </a:lnSpc>
                        <a:spcBef>
                          <a:spcPts val="270"/>
                        </a:spcBef>
                      </a:pP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Applies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the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splitter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to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every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page-</a:t>
                      </a:r>
                      <a:r>
                        <a:rPr dirty="0" sz="950" spc="-4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level</a:t>
                      </a:r>
                      <a:r>
                        <a:rPr dirty="0" sz="950" spc="229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Document</a:t>
                      </a:r>
                      <a:r>
                        <a:rPr dirty="0" sz="750" spc="-215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950" spc="-5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,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producing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2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many</a:t>
                      </a:r>
                      <a:r>
                        <a:rPr dirty="0" sz="950" spc="50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5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smaller</a:t>
                      </a:r>
                      <a:r>
                        <a:rPr dirty="0" sz="950" spc="2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Document</a:t>
                      </a:r>
                      <a:r>
                        <a:rPr dirty="0" sz="750" spc="-2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chunks,</a:t>
                      </a:r>
                      <a:r>
                        <a:rPr dirty="0" sz="950" spc="-2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each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retaining</a:t>
                      </a:r>
                      <a:r>
                        <a:rPr dirty="0" sz="950" spc="-2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the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original</a:t>
                      </a:r>
                      <a:r>
                        <a:rPr dirty="0" sz="950" spc="-2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page's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6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metadata.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34290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</a:tr>
              <a:tr h="626745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print(f"Created</a:t>
                      </a:r>
                      <a:r>
                        <a:rPr dirty="0" sz="750" spc="135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{len(chunks)}</a:t>
                      </a:r>
                      <a:r>
                        <a:rPr dirty="0" sz="750" spc="14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 spc="-1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chunks")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90170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2390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Reports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the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total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chunk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count.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 b="1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Output:</a:t>
                      </a:r>
                      <a:r>
                        <a:rPr dirty="0" sz="950" spc="-15" b="1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con</a:t>
                      </a:r>
                      <a:r>
                        <a:rPr dirty="0" sz="900" spc="-75">
                          <a:solidFill>
                            <a:srgbClr val="111726"/>
                          </a:solidFill>
                          <a:latin typeface="Arial"/>
                          <a:cs typeface="Arial"/>
                        </a:rPr>
                        <a:t>ﬁ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rmed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by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9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an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actual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run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2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(see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  <a:p>
                      <a:pPr marL="72390" marR="321945">
                        <a:lnSpc>
                          <a:spcPts val="1380"/>
                        </a:lnSpc>
                        <a:spcBef>
                          <a:spcPts val="30"/>
                        </a:spcBef>
                      </a:pPr>
                      <a:r>
                        <a:rPr dirty="0" sz="950" spc="-6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§</a:t>
                      </a:r>
                      <a:r>
                        <a:rPr dirty="0" sz="850" spc="-65">
                          <a:solidFill>
                            <a:srgbClr val="111726"/>
                          </a:solidFill>
                          <a:latin typeface="Arial"/>
                          <a:cs typeface="Arial"/>
                        </a:rPr>
                        <a:t>1</a:t>
                      </a:r>
                      <a:r>
                        <a:rPr dirty="0" sz="950" spc="-6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.</a:t>
                      </a:r>
                      <a:r>
                        <a:rPr dirty="0" sz="850" spc="-65">
                          <a:solidFill>
                            <a:srgbClr val="111726"/>
                          </a:solidFill>
                          <a:latin typeface="Arial"/>
                          <a:cs typeface="Arial"/>
                        </a:rPr>
                        <a:t>5</a:t>
                      </a:r>
                      <a:r>
                        <a:rPr dirty="0" sz="850" spc="-55">
                          <a:solidFill>
                            <a:srgbClr val="111726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below)</a:t>
                      </a:r>
                      <a:r>
                        <a:rPr dirty="0" sz="950" spc="-3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to</a:t>
                      </a:r>
                      <a:r>
                        <a:rPr dirty="0" sz="950" spc="-3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2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be</a:t>
                      </a:r>
                      <a:r>
                        <a:rPr dirty="0" sz="950" spc="1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Created</a:t>
                      </a:r>
                      <a:r>
                        <a:rPr dirty="0" sz="750" spc="25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20</a:t>
                      </a:r>
                      <a:r>
                        <a:rPr dirty="0" sz="750" spc="3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chunks</a:t>
                      </a:r>
                      <a:r>
                        <a:rPr dirty="0" sz="750" spc="-45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950" spc="-3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for</a:t>
                      </a:r>
                      <a:r>
                        <a:rPr dirty="0" sz="950" spc="19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sample.pdf</a:t>
                      </a:r>
                      <a:r>
                        <a:rPr dirty="0" sz="750" spc="-45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with</a:t>
                      </a:r>
                      <a:r>
                        <a:rPr dirty="0" sz="950" spc="-3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3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these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settings.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64769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6" name="object 26"/>
          <p:cNvSpPr txBox="1"/>
          <p:nvPr/>
        </p:nvSpPr>
        <p:spPr>
          <a:xfrm>
            <a:off x="667402" y="9374758"/>
            <a:ext cx="1515745" cy="2139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200" spc="-125" b="1">
                <a:solidFill>
                  <a:srgbClr val="111726"/>
                </a:solidFill>
                <a:latin typeface="Source Han Sans JP"/>
                <a:cs typeface="Source Han Sans JP"/>
              </a:rPr>
              <a:t>Load</a:t>
            </a:r>
            <a:r>
              <a:rPr dirty="0" sz="1200" spc="-20" b="1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200" spc="-125" b="1">
                <a:solidFill>
                  <a:srgbClr val="111726"/>
                </a:solidFill>
                <a:latin typeface="Source Han Sans JP"/>
                <a:cs typeface="Source Han Sans JP"/>
              </a:rPr>
              <a:t>Embedding</a:t>
            </a:r>
            <a:r>
              <a:rPr dirty="0" sz="1200" spc="-15" b="1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200" spc="-95" b="1">
                <a:solidFill>
                  <a:srgbClr val="111726"/>
                </a:solidFill>
                <a:latin typeface="Source Han Sans JP"/>
                <a:cs typeface="Source Han Sans JP"/>
              </a:rPr>
              <a:t>Model</a:t>
            </a:r>
            <a:endParaRPr sz="1200">
              <a:latin typeface="Source Han Sans JP"/>
              <a:cs typeface="Source Han Sans JP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80102" y="571506"/>
            <a:ext cx="6202680" cy="1078865"/>
          </a:xfrm>
          <a:custGeom>
            <a:avLst/>
            <a:gdLst/>
            <a:ahLst/>
            <a:cxnLst/>
            <a:rect l="l" t="t" r="r" b="b"/>
            <a:pathLst>
              <a:path w="6202680" h="1078864">
                <a:moveTo>
                  <a:pt x="6151728" y="1078622"/>
                </a:moveTo>
                <a:lnTo>
                  <a:pt x="50390" y="1078622"/>
                </a:lnTo>
                <a:lnTo>
                  <a:pt x="46883" y="1078274"/>
                </a:lnTo>
                <a:lnTo>
                  <a:pt x="11056" y="1057595"/>
                </a:lnTo>
                <a:lnTo>
                  <a:pt x="0" y="1028233"/>
                </a:lnTo>
                <a:lnTo>
                  <a:pt x="0" y="1024697"/>
                </a:lnTo>
                <a:lnTo>
                  <a:pt x="0" y="50382"/>
                </a:lnTo>
                <a:lnTo>
                  <a:pt x="18300" y="13292"/>
                </a:lnTo>
                <a:lnTo>
                  <a:pt x="50390" y="0"/>
                </a:lnTo>
                <a:lnTo>
                  <a:pt x="6151728" y="0"/>
                </a:lnTo>
                <a:lnTo>
                  <a:pt x="6188826" y="18295"/>
                </a:lnTo>
                <a:lnTo>
                  <a:pt x="6202118" y="50382"/>
                </a:lnTo>
                <a:lnTo>
                  <a:pt x="6202118" y="1028233"/>
                </a:lnTo>
                <a:lnTo>
                  <a:pt x="6183818" y="1065330"/>
                </a:lnTo>
                <a:lnTo>
                  <a:pt x="6155235" y="1078274"/>
                </a:lnTo>
                <a:lnTo>
                  <a:pt x="6151728" y="1078622"/>
                </a:lnTo>
                <a:close/>
              </a:path>
            </a:pathLst>
          </a:custGeom>
          <a:solidFill>
            <a:srgbClr val="0E172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680102" y="3996161"/>
            <a:ext cx="6202680" cy="1436370"/>
          </a:xfrm>
          <a:custGeom>
            <a:avLst/>
            <a:gdLst/>
            <a:ahLst/>
            <a:cxnLst/>
            <a:rect l="l" t="t" r="r" b="b"/>
            <a:pathLst>
              <a:path w="6202680" h="1436370">
                <a:moveTo>
                  <a:pt x="6151728" y="1435918"/>
                </a:moveTo>
                <a:lnTo>
                  <a:pt x="50390" y="1435918"/>
                </a:lnTo>
                <a:lnTo>
                  <a:pt x="46883" y="1435576"/>
                </a:lnTo>
                <a:lnTo>
                  <a:pt x="11056" y="1414891"/>
                </a:lnTo>
                <a:lnTo>
                  <a:pt x="0" y="1385529"/>
                </a:lnTo>
                <a:lnTo>
                  <a:pt x="0" y="1381987"/>
                </a:lnTo>
                <a:lnTo>
                  <a:pt x="0" y="50389"/>
                </a:lnTo>
                <a:lnTo>
                  <a:pt x="18300" y="13278"/>
                </a:lnTo>
                <a:lnTo>
                  <a:pt x="50390" y="0"/>
                </a:lnTo>
                <a:lnTo>
                  <a:pt x="6151728" y="0"/>
                </a:lnTo>
                <a:lnTo>
                  <a:pt x="6188826" y="18288"/>
                </a:lnTo>
                <a:lnTo>
                  <a:pt x="6202118" y="50389"/>
                </a:lnTo>
                <a:lnTo>
                  <a:pt x="6202118" y="1385529"/>
                </a:lnTo>
                <a:lnTo>
                  <a:pt x="6183818" y="1422626"/>
                </a:lnTo>
                <a:lnTo>
                  <a:pt x="6155235" y="1435576"/>
                </a:lnTo>
                <a:lnTo>
                  <a:pt x="6151728" y="1435918"/>
                </a:lnTo>
                <a:close/>
              </a:path>
            </a:pathLst>
          </a:custGeom>
          <a:solidFill>
            <a:srgbClr val="0E172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761782" y="619745"/>
            <a:ext cx="2725420" cy="91566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59079" indent="-247015">
              <a:lnSpc>
                <a:spcPct val="143800"/>
              </a:lnSpc>
              <a:spcBef>
                <a:spcPts val="95"/>
              </a:spcBef>
            </a:pP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embedding_model</a:t>
            </a:r>
            <a:r>
              <a:rPr dirty="0" sz="800" spc="4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=</a:t>
            </a:r>
            <a:r>
              <a:rPr dirty="0" sz="800" spc="4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 spc="-10">
                <a:solidFill>
                  <a:srgbClr val="E4E7EB"/>
                </a:solidFill>
                <a:latin typeface="Courier New"/>
                <a:cs typeface="Courier New"/>
              </a:rPr>
              <a:t>SentenceTransformer(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"sentence-transformers/all-MiniLM-L6-</a:t>
            </a:r>
            <a:r>
              <a:rPr dirty="0" sz="800" spc="-25">
                <a:solidFill>
                  <a:srgbClr val="E4E7EB"/>
                </a:solidFill>
                <a:latin typeface="Courier New"/>
                <a:cs typeface="Courier New"/>
              </a:rPr>
              <a:t>v2"</a:t>
            </a:r>
            <a:endParaRPr sz="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475"/>
              </a:spcBef>
            </a:pPr>
            <a:r>
              <a:rPr dirty="0" sz="800" spc="-50">
                <a:solidFill>
                  <a:srgbClr val="E4E7EB"/>
                </a:solidFill>
                <a:latin typeface="Courier New"/>
                <a:cs typeface="Courier New"/>
              </a:rPr>
              <a:t>)</a:t>
            </a:r>
            <a:endParaRPr sz="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endParaRPr sz="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print("Embedding</a:t>
            </a:r>
            <a:r>
              <a:rPr dirty="0" sz="800" spc="5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Model</a:t>
            </a:r>
            <a:r>
              <a:rPr dirty="0" sz="800" spc="5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 spc="-10">
                <a:solidFill>
                  <a:srgbClr val="E4E7EB"/>
                </a:solidFill>
                <a:latin typeface="Courier New"/>
                <a:cs typeface="Courier New"/>
              </a:rPr>
              <a:t>Loaded")</a:t>
            </a:r>
            <a:endParaRPr sz="800">
              <a:latin typeface="Courier New"/>
              <a:cs typeface="Courier New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54253" y="2122029"/>
            <a:ext cx="1213485" cy="316865"/>
          </a:xfrm>
          <a:custGeom>
            <a:avLst/>
            <a:gdLst/>
            <a:ahLst/>
            <a:cxnLst/>
            <a:rect l="l" t="t" r="r" b="b"/>
            <a:pathLst>
              <a:path w="1213485" h="316864">
                <a:moveTo>
                  <a:pt x="1031443" y="0"/>
                </a:moveTo>
                <a:lnTo>
                  <a:pt x="23393" y="0"/>
                </a:lnTo>
                <a:lnTo>
                  <a:pt x="19951" y="685"/>
                </a:lnTo>
                <a:lnTo>
                  <a:pt x="0" y="23393"/>
                </a:lnTo>
                <a:lnTo>
                  <a:pt x="0" y="118186"/>
                </a:lnTo>
                <a:lnTo>
                  <a:pt x="23393" y="141579"/>
                </a:lnTo>
                <a:lnTo>
                  <a:pt x="1031443" y="141579"/>
                </a:lnTo>
                <a:lnTo>
                  <a:pt x="1031443" y="0"/>
                </a:lnTo>
                <a:close/>
              </a:path>
              <a:path w="1213485" h="316864">
                <a:moveTo>
                  <a:pt x="1213459" y="198678"/>
                </a:moveTo>
                <a:lnTo>
                  <a:pt x="1190066" y="175285"/>
                </a:lnTo>
                <a:lnTo>
                  <a:pt x="0" y="175285"/>
                </a:lnTo>
                <a:lnTo>
                  <a:pt x="0" y="316852"/>
                </a:lnTo>
                <a:lnTo>
                  <a:pt x="1190066" y="316852"/>
                </a:lnTo>
                <a:lnTo>
                  <a:pt x="1213459" y="293458"/>
                </a:lnTo>
                <a:lnTo>
                  <a:pt x="1213459" y="198678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2581186" y="2297313"/>
            <a:ext cx="1004569" cy="141605"/>
          </a:xfrm>
          <a:custGeom>
            <a:avLst/>
            <a:gdLst/>
            <a:ahLst/>
            <a:cxnLst/>
            <a:rect l="l" t="t" r="r" b="b"/>
            <a:pathLst>
              <a:path w="1004570" h="141605">
                <a:moveTo>
                  <a:pt x="981083" y="141563"/>
                </a:moveTo>
                <a:lnTo>
                  <a:pt x="23389" y="141563"/>
                </a:lnTo>
                <a:lnTo>
                  <a:pt x="19950" y="140879"/>
                </a:lnTo>
                <a:lnTo>
                  <a:pt x="0" y="118179"/>
                </a:lnTo>
                <a:lnTo>
                  <a:pt x="0" y="114604"/>
                </a:lnTo>
                <a:lnTo>
                  <a:pt x="0" y="23390"/>
                </a:lnTo>
                <a:lnTo>
                  <a:pt x="23389" y="0"/>
                </a:lnTo>
                <a:lnTo>
                  <a:pt x="981083" y="0"/>
                </a:lnTo>
                <a:lnTo>
                  <a:pt x="1004473" y="23390"/>
                </a:lnTo>
                <a:lnTo>
                  <a:pt x="1004473" y="118179"/>
                </a:lnTo>
                <a:lnTo>
                  <a:pt x="984523" y="140879"/>
                </a:lnTo>
                <a:lnTo>
                  <a:pt x="981083" y="141563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754253" y="2755721"/>
            <a:ext cx="1624965" cy="316865"/>
          </a:xfrm>
          <a:custGeom>
            <a:avLst/>
            <a:gdLst/>
            <a:ahLst/>
            <a:cxnLst/>
            <a:rect l="l" t="t" r="r" b="b"/>
            <a:pathLst>
              <a:path w="1624964" h="316864">
                <a:moveTo>
                  <a:pt x="795489" y="198666"/>
                </a:moveTo>
                <a:lnTo>
                  <a:pt x="772096" y="175285"/>
                </a:lnTo>
                <a:lnTo>
                  <a:pt x="0" y="175285"/>
                </a:lnTo>
                <a:lnTo>
                  <a:pt x="0" y="316852"/>
                </a:lnTo>
                <a:lnTo>
                  <a:pt x="772096" y="316852"/>
                </a:lnTo>
                <a:lnTo>
                  <a:pt x="795489" y="293471"/>
                </a:lnTo>
                <a:lnTo>
                  <a:pt x="795489" y="198666"/>
                </a:lnTo>
                <a:close/>
              </a:path>
              <a:path w="1624964" h="316864">
                <a:moveTo>
                  <a:pt x="1624685" y="0"/>
                </a:moveTo>
                <a:lnTo>
                  <a:pt x="23393" y="0"/>
                </a:lnTo>
                <a:lnTo>
                  <a:pt x="19951" y="698"/>
                </a:lnTo>
                <a:lnTo>
                  <a:pt x="0" y="23393"/>
                </a:lnTo>
                <a:lnTo>
                  <a:pt x="0" y="118186"/>
                </a:lnTo>
                <a:lnTo>
                  <a:pt x="23393" y="141579"/>
                </a:lnTo>
                <a:lnTo>
                  <a:pt x="1624685" y="141579"/>
                </a:lnTo>
                <a:lnTo>
                  <a:pt x="1624685" y="0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754253" y="3220884"/>
            <a:ext cx="1328420" cy="316865"/>
          </a:xfrm>
          <a:custGeom>
            <a:avLst/>
            <a:gdLst/>
            <a:ahLst/>
            <a:cxnLst/>
            <a:rect l="l" t="t" r="r" b="b"/>
            <a:pathLst>
              <a:path w="1328420" h="316864">
                <a:moveTo>
                  <a:pt x="498868" y="198666"/>
                </a:moveTo>
                <a:lnTo>
                  <a:pt x="475475" y="175272"/>
                </a:lnTo>
                <a:lnTo>
                  <a:pt x="0" y="175272"/>
                </a:lnTo>
                <a:lnTo>
                  <a:pt x="0" y="316852"/>
                </a:lnTo>
                <a:lnTo>
                  <a:pt x="475475" y="316852"/>
                </a:lnTo>
                <a:lnTo>
                  <a:pt x="498868" y="293458"/>
                </a:lnTo>
                <a:lnTo>
                  <a:pt x="498868" y="198666"/>
                </a:lnTo>
                <a:close/>
              </a:path>
              <a:path w="1328420" h="316864">
                <a:moveTo>
                  <a:pt x="1328064" y="0"/>
                </a:moveTo>
                <a:lnTo>
                  <a:pt x="23393" y="0"/>
                </a:lnTo>
                <a:lnTo>
                  <a:pt x="19951" y="685"/>
                </a:lnTo>
                <a:lnTo>
                  <a:pt x="0" y="23393"/>
                </a:lnTo>
                <a:lnTo>
                  <a:pt x="0" y="118186"/>
                </a:lnTo>
                <a:lnTo>
                  <a:pt x="23393" y="141566"/>
                </a:lnTo>
                <a:lnTo>
                  <a:pt x="1328064" y="141566"/>
                </a:lnTo>
                <a:lnTo>
                  <a:pt x="1328064" y="0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4098008" y="3220889"/>
            <a:ext cx="1355090" cy="141605"/>
          </a:xfrm>
          <a:custGeom>
            <a:avLst/>
            <a:gdLst/>
            <a:ahLst/>
            <a:cxnLst/>
            <a:rect l="l" t="t" r="r" b="b"/>
            <a:pathLst>
              <a:path w="1355089" h="141604">
                <a:moveTo>
                  <a:pt x="1331638" y="141563"/>
                </a:moveTo>
                <a:lnTo>
                  <a:pt x="23390" y="141563"/>
                </a:lnTo>
                <a:lnTo>
                  <a:pt x="19950" y="140879"/>
                </a:lnTo>
                <a:lnTo>
                  <a:pt x="0" y="118179"/>
                </a:lnTo>
                <a:lnTo>
                  <a:pt x="0" y="114604"/>
                </a:lnTo>
                <a:lnTo>
                  <a:pt x="0" y="23390"/>
                </a:lnTo>
                <a:lnTo>
                  <a:pt x="23390" y="0"/>
                </a:lnTo>
                <a:lnTo>
                  <a:pt x="1331638" y="0"/>
                </a:lnTo>
                <a:lnTo>
                  <a:pt x="1355028" y="23390"/>
                </a:lnTo>
                <a:lnTo>
                  <a:pt x="1355028" y="118179"/>
                </a:lnTo>
                <a:lnTo>
                  <a:pt x="1335077" y="140879"/>
                </a:lnTo>
                <a:lnTo>
                  <a:pt x="1331638" y="141563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graphicFrame>
        <p:nvGraphicFramePr>
          <p:cNvPr id="10" name="object 10"/>
          <p:cNvGraphicFramePr>
            <a:graphicFrameLocks noGrp="1"/>
          </p:cNvGraphicFramePr>
          <p:nvPr/>
        </p:nvGraphicFramePr>
        <p:xfrm>
          <a:off x="680102" y="1757998"/>
          <a:ext cx="6278880" cy="184530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26895"/>
                <a:gridCol w="4368164"/>
              </a:tblGrid>
              <a:tr h="282575">
                <a:tc>
                  <a:txBody>
                    <a:bodyPr/>
                    <a:lstStyle/>
                    <a:p>
                      <a:pPr marL="70485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950" spc="-20" b="1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Line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64769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marL="72390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950" spc="-10" b="1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Explanation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64769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  <a:solidFill>
                      <a:srgbClr val="F7FAFB"/>
                    </a:solidFill>
                  </a:tcPr>
                </a:tc>
              </a:tr>
              <a:tr h="633095">
                <a:tc>
                  <a:txBody>
                    <a:bodyPr/>
                    <a:lstStyle/>
                    <a:p>
                      <a:pPr marL="70485" marR="564515" indent="26670">
                        <a:lnSpc>
                          <a:spcPct val="153300"/>
                        </a:lnSpc>
                        <a:spcBef>
                          <a:spcPts val="229"/>
                        </a:spcBef>
                      </a:pP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embedding_model</a:t>
                      </a:r>
                      <a:r>
                        <a:rPr dirty="0" sz="750" spc="145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 spc="-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= </a:t>
                      </a:r>
                      <a:r>
                        <a:rPr dirty="0" sz="750" spc="-1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SentenceTransformer(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29209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just" marL="72390" marR="283210">
                        <a:lnSpc>
                          <a:spcPct val="121100"/>
                        </a:lnSpc>
                        <a:spcBef>
                          <a:spcPts val="270"/>
                        </a:spcBef>
                      </a:pP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Downloads</a:t>
                      </a:r>
                      <a:r>
                        <a:rPr dirty="0" sz="950" spc="-3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(on</a:t>
                      </a:r>
                      <a:r>
                        <a:rPr dirty="0" sz="950" spc="-3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00" spc="-45">
                          <a:solidFill>
                            <a:srgbClr val="111726"/>
                          </a:solidFill>
                          <a:latin typeface="Arial"/>
                          <a:cs typeface="Arial"/>
                        </a:rPr>
                        <a:t>ﬁ</a:t>
                      </a:r>
                      <a:r>
                        <a:rPr dirty="0" sz="950" spc="-4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rst</a:t>
                      </a:r>
                      <a:r>
                        <a:rPr dirty="0" sz="950" spc="-3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run,</a:t>
                      </a:r>
                      <a:r>
                        <a:rPr dirty="0" sz="950" spc="-3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from</a:t>
                      </a:r>
                      <a:r>
                        <a:rPr dirty="0" sz="950" spc="-3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Hugging</a:t>
                      </a:r>
                      <a:r>
                        <a:rPr dirty="0" sz="950" spc="-3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9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Face</a:t>
                      </a:r>
                      <a:r>
                        <a:rPr dirty="0" sz="950" spc="-3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Hub,</a:t>
                      </a:r>
                      <a:r>
                        <a:rPr dirty="0" sz="950" spc="-3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then</a:t>
                      </a:r>
                      <a:r>
                        <a:rPr dirty="0" sz="950" spc="-3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caches</a:t>
                      </a:r>
                      <a:r>
                        <a:rPr dirty="0" sz="950" spc="-3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6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locally)</a:t>
                      </a:r>
                      <a:r>
                        <a:rPr dirty="0" sz="950" spc="-3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and</a:t>
                      </a:r>
                      <a:r>
                        <a:rPr dirty="0" sz="950" spc="-3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loads</a:t>
                      </a:r>
                      <a:r>
                        <a:rPr dirty="0" sz="950" spc="-3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the</a:t>
                      </a:r>
                      <a:r>
                        <a:rPr dirty="0" sz="950" spc="-3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750" spc="5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all-MiniLM-L6-</a:t>
                      </a:r>
                      <a:r>
                        <a:rPr dirty="0" sz="750" spc="1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v2</a:t>
                      </a:r>
                      <a:r>
                        <a:rPr dirty="0" sz="750" spc="-55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model</a:t>
                      </a:r>
                      <a:r>
                        <a:rPr dirty="0" sz="950" spc="-3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00" spc="-180">
                          <a:solidFill>
                            <a:srgbClr val="111726"/>
                          </a:solidFill>
                          <a:latin typeface="Arial"/>
                          <a:cs typeface="Arial"/>
                        </a:rPr>
                        <a:t>—</a:t>
                      </a:r>
                      <a:r>
                        <a:rPr dirty="0" sz="900" spc="-70">
                          <a:solidFill>
                            <a:srgbClr val="111726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a</a:t>
                      </a:r>
                      <a:r>
                        <a:rPr dirty="0" sz="950" spc="-3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lightweight</a:t>
                      </a:r>
                      <a:r>
                        <a:rPr dirty="0" sz="950" spc="-3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transformer</a:t>
                      </a:r>
                      <a:r>
                        <a:rPr dirty="0" sz="950" spc="-3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00" spc="-50">
                          <a:solidFill>
                            <a:srgbClr val="111726"/>
                          </a:solidFill>
                          <a:latin typeface="Arial"/>
                          <a:cs typeface="Arial"/>
                        </a:rPr>
                        <a:t>ﬁ</a:t>
                      </a:r>
                      <a:r>
                        <a:rPr dirty="0" sz="950" spc="-5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ne-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tuned</a:t>
                      </a:r>
                      <a:r>
                        <a:rPr dirty="0" sz="950" spc="-3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to</a:t>
                      </a:r>
                      <a:r>
                        <a:rPr dirty="0" sz="950" spc="-3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produce</a:t>
                      </a:r>
                      <a:r>
                        <a:rPr dirty="0" sz="950" spc="-3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850" spc="-35">
                          <a:solidFill>
                            <a:srgbClr val="111726"/>
                          </a:solidFill>
                          <a:latin typeface="Arial"/>
                          <a:cs typeface="Arial"/>
                        </a:rPr>
                        <a:t>384</a:t>
                      </a:r>
                      <a:r>
                        <a:rPr dirty="0" sz="950" spc="-3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-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dimensional</a:t>
                      </a:r>
                      <a:r>
                        <a:rPr dirty="0" sz="950" spc="-3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sentence</a:t>
                      </a:r>
                      <a:r>
                        <a:rPr dirty="0" sz="950" spc="-3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embeddings.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34290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</a:tr>
              <a:tr h="464820">
                <a:tc>
                  <a:txBody>
                    <a:bodyPr/>
                    <a:lstStyle/>
                    <a:p>
                      <a:pPr marL="70485" marR="123825" indent="26670">
                        <a:lnSpc>
                          <a:spcPct val="153300"/>
                        </a:lnSpc>
                        <a:spcBef>
                          <a:spcPts val="229"/>
                        </a:spcBef>
                      </a:pP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"sentence-</a:t>
                      </a:r>
                      <a:r>
                        <a:rPr dirty="0" sz="750" spc="-1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transformers/all-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MiniLM-L6-</a:t>
                      </a:r>
                      <a:r>
                        <a:rPr dirty="0" sz="750" spc="-25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v2"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29209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2390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950" spc="-9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The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Hugging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9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Face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9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Hub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model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identi</a:t>
                      </a:r>
                      <a:r>
                        <a:rPr dirty="0" sz="900" spc="-10">
                          <a:solidFill>
                            <a:srgbClr val="111726"/>
                          </a:solidFill>
                          <a:latin typeface="Arial"/>
                          <a:cs typeface="Arial"/>
                        </a:rPr>
                        <a:t>ﬁ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er.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64769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</a:tr>
              <a:tr h="464820">
                <a:tc>
                  <a:txBody>
                    <a:bodyPr/>
                    <a:lstStyle/>
                    <a:p>
                      <a:pPr marL="70485" marR="419734" indent="26670">
                        <a:lnSpc>
                          <a:spcPct val="153300"/>
                        </a:lnSpc>
                        <a:spcBef>
                          <a:spcPts val="229"/>
                        </a:spcBef>
                      </a:pP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print("Embedding</a:t>
                      </a:r>
                      <a:r>
                        <a:rPr dirty="0" sz="750" spc="155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 spc="-1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Model Loaded")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29209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2390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Console</a:t>
                      </a:r>
                      <a:r>
                        <a:rPr dirty="0" sz="950" spc="-2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con</a:t>
                      </a:r>
                      <a:r>
                        <a:rPr dirty="0" sz="900" spc="-75">
                          <a:solidFill>
                            <a:srgbClr val="111726"/>
                          </a:solidFill>
                          <a:latin typeface="Arial"/>
                          <a:cs typeface="Arial"/>
                        </a:rPr>
                        <a:t>ﬁ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rmation.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65" b="1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Output:</a:t>
                      </a:r>
                      <a:r>
                        <a:rPr dirty="0" sz="950" spc="204" b="1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Embedding</a:t>
                      </a:r>
                      <a:r>
                        <a:rPr dirty="0" sz="750" spc="65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Model</a:t>
                      </a:r>
                      <a:r>
                        <a:rPr dirty="0" sz="750" spc="6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 spc="-1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Loaded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64769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object 11"/>
          <p:cNvSpPr txBox="1"/>
          <p:nvPr/>
        </p:nvSpPr>
        <p:spPr>
          <a:xfrm>
            <a:off x="667402" y="3691734"/>
            <a:ext cx="934085" cy="2139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200" spc="-105" b="1">
                <a:solidFill>
                  <a:srgbClr val="111726"/>
                </a:solidFill>
                <a:latin typeface="Source Han Sans JP"/>
                <a:cs typeface="Source Han Sans JP"/>
              </a:rPr>
              <a:t>Clear</a:t>
            </a:r>
            <a:r>
              <a:rPr dirty="0" sz="1200" spc="-30" b="1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200" spc="-120" b="1">
                <a:solidFill>
                  <a:srgbClr val="111726"/>
                </a:solidFill>
                <a:latin typeface="Source Han Sans JP"/>
                <a:cs typeface="Source Han Sans JP"/>
              </a:rPr>
              <a:t>Old</a:t>
            </a:r>
            <a:r>
              <a:rPr dirty="0" sz="1200" spc="-25" b="1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200" spc="-100" b="1">
                <a:solidFill>
                  <a:srgbClr val="111726"/>
                </a:solidFill>
                <a:latin typeface="Source Han Sans JP"/>
                <a:cs typeface="Source Han Sans JP"/>
              </a:rPr>
              <a:t>Data</a:t>
            </a:r>
            <a:endParaRPr sz="1200">
              <a:latin typeface="Source Han Sans JP"/>
              <a:cs typeface="Source Han Sans JP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61782" y="4096708"/>
            <a:ext cx="2306320" cy="1220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session</a:t>
            </a:r>
            <a:r>
              <a:rPr dirty="0" sz="800" spc="2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=</a:t>
            </a:r>
            <a:r>
              <a:rPr dirty="0" sz="800" spc="2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 spc="-10">
                <a:solidFill>
                  <a:srgbClr val="E4E7EB"/>
                </a:solidFill>
                <a:latin typeface="Courier New"/>
                <a:cs typeface="Courier New"/>
              </a:rPr>
              <a:t>SessionLocal()</a:t>
            </a:r>
            <a:endParaRPr sz="800">
              <a:latin typeface="Courier New"/>
              <a:cs typeface="Courier New"/>
            </a:endParaRPr>
          </a:p>
          <a:p>
            <a:pPr marL="12700" marR="5080">
              <a:lnSpc>
                <a:spcPct val="293100"/>
              </a:lnSpc>
            </a:pPr>
            <a:r>
              <a:rPr dirty="0" sz="800" spc="-10">
                <a:solidFill>
                  <a:srgbClr val="E4E7EB"/>
                </a:solidFill>
                <a:latin typeface="Courier New"/>
                <a:cs typeface="Courier New"/>
              </a:rPr>
              <a:t>session.query(DocumentChunk).delete() session.commit()</a:t>
            </a:r>
            <a:endParaRPr sz="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endParaRPr sz="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print("Old</a:t>
            </a:r>
            <a:r>
              <a:rPr dirty="0" sz="800" spc="5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embeddings</a:t>
            </a:r>
            <a:r>
              <a:rPr dirty="0" sz="800" spc="5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 spc="-10">
                <a:solidFill>
                  <a:srgbClr val="E4E7EB"/>
                </a:solidFill>
                <a:latin typeface="Courier New"/>
                <a:cs typeface="Courier New"/>
              </a:rPr>
              <a:t>deleted")</a:t>
            </a:r>
            <a:endParaRPr sz="800">
              <a:latin typeface="Courier New"/>
              <a:cs typeface="Courier New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754257" y="5903980"/>
            <a:ext cx="1476375" cy="141605"/>
          </a:xfrm>
          <a:custGeom>
            <a:avLst/>
            <a:gdLst/>
            <a:ahLst/>
            <a:cxnLst/>
            <a:rect l="l" t="t" r="r" b="b"/>
            <a:pathLst>
              <a:path w="1476375" h="141604">
                <a:moveTo>
                  <a:pt x="1452984" y="141563"/>
                </a:moveTo>
                <a:lnTo>
                  <a:pt x="23389" y="141563"/>
                </a:lnTo>
                <a:lnTo>
                  <a:pt x="19950" y="140872"/>
                </a:lnTo>
                <a:lnTo>
                  <a:pt x="0" y="118172"/>
                </a:lnTo>
                <a:lnTo>
                  <a:pt x="0" y="114604"/>
                </a:lnTo>
                <a:lnTo>
                  <a:pt x="0" y="23390"/>
                </a:lnTo>
                <a:lnTo>
                  <a:pt x="23389" y="0"/>
                </a:lnTo>
                <a:lnTo>
                  <a:pt x="1452984" y="0"/>
                </a:lnTo>
                <a:lnTo>
                  <a:pt x="1476373" y="23390"/>
                </a:lnTo>
                <a:lnTo>
                  <a:pt x="1476373" y="118172"/>
                </a:lnTo>
                <a:lnTo>
                  <a:pt x="1456423" y="140872"/>
                </a:lnTo>
                <a:lnTo>
                  <a:pt x="1452984" y="141563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754257" y="6362398"/>
            <a:ext cx="2245360" cy="141605"/>
          </a:xfrm>
          <a:custGeom>
            <a:avLst/>
            <a:gdLst/>
            <a:ahLst/>
            <a:cxnLst/>
            <a:rect l="l" t="t" r="r" b="b"/>
            <a:pathLst>
              <a:path w="2245360" h="141604">
                <a:moveTo>
                  <a:pt x="2221507" y="141563"/>
                </a:moveTo>
                <a:lnTo>
                  <a:pt x="23389" y="141563"/>
                </a:lnTo>
                <a:lnTo>
                  <a:pt x="19950" y="140872"/>
                </a:lnTo>
                <a:lnTo>
                  <a:pt x="0" y="118172"/>
                </a:lnTo>
                <a:lnTo>
                  <a:pt x="0" y="114604"/>
                </a:lnTo>
                <a:lnTo>
                  <a:pt x="0" y="23390"/>
                </a:lnTo>
                <a:lnTo>
                  <a:pt x="23389" y="0"/>
                </a:lnTo>
                <a:lnTo>
                  <a:pt x="2221507" y="0"/>
                </a:lnTo>
                <a:lnTo>
                  <a:pt x="2244897" y="23390"/>
                </a:lnTo>
                <a:lnTo>
                  <a:pt x="2244897" y="118172"/>
                </a:lnTo>
                <a:lnTo>
                  <a:pt x="2224947" y="140872"/>
                </a:lnTo>
                <a:lnTo>
                  <a:pt x="2221507" y="141563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3538470" y="6362398"/>
            <a:ext cx="1712595" cy="141605"/>
          </a:xfrm>
          <a:custGeom>
            <a:avLst/>
            <a:gdLst/>
            <a:ahLst/>
            <a:cxnLst/>
            <a:rect l="l" t="t" r="r" b="b"/>
            <a:pathLst>
              <a:path w="1712595" h="141604">
                <a:moveTo>
                  <a:pt x="1688934" y="141563"/>
                </a:moveTo>
                <a:lnTo>
                  <a:pt x="23389" y="141563"/>
                </a:lnTo>
                <a:lnTo>
                  <a:pt x="19949" y="140872"/>
                </a:lnTo>
                <a:lnTo>
                  <a:pt x="0" y="118172"/>
                </a:lnTo>
                <a:lnTo>
                  <a:pt x="0" y="114604"/>
                </a:lnTo>
                <a:lnTo>
                  <a:pt x="0" y="23390"/>
                </a:lnTo>
                <a:lnTo>
                  <a:pt x="23389" y="0"/>
                </a:lnTo>
                <a:lnTo>
                  <a:pt x="1688934" y="0"/>
                </a:lnTo>
                <a:lnTo>
                  <a:pt x="1712323" y="23390"/>
                </a:lnTo>
                <a:lnTo>
                  <a:pt x="1712323" y="118172"/>
                </a:lnTo>
                <a:lnTo>
                  <a:pt x="1692374" y="140872"/>
                </a:lnTo>
                <a:lnTo>
                  <a:pt x="1688934" y="141563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754257" y="6820815"/>
            <a:ext cx="998219" cy="141605"/>
          </a:xfrm>
          <a:custGeom>
            <a:avLst/>
            <a:gdLst/>
            <a:ahLst/>
            <a:cxnLst/>
            <a:rect l="l" t="t" r="r" b="b"/>
            <a:pathLst>
              <a:path w="998219" h="141604">
                <a:moveTo>
                  <a:pt x="974342" y="141563"/>
                </a:moveTo>
                <a:lnTo>
                  <a:pt x="23389" y="141563"/>
                </a:lnTo>
                <a:lnTo>
                  <a:pt x="19950" y="140879"/>
                </a:lnTo>
                <a:lnTo>
                  <a:pt x="0" y="118179"/>
                </a:lnTo>
                <a:lnTo>
                  <a:pt x="0" y="114604"/>
                </a:lnTo>
                <a:lnTo>
                  <a:pt x="0" y="23384"/>
                </a:lnTo>
                <a:lnTo>
                  <a:pt x="23389" y="0"/>
                </a:lnTo>
                <a:lnTo>
                  <a:pt x="974342" y="0"/>
                </a:lnTo>
                <a:lnTo>
                  <a:pt x="997732" y="23384"/>
                </a:lnTo>
                <a:lnTo>
                  <a:pt x="997732" y="118179"/>
                </a:lnTo>
                <a:lnTo>
                  <a:pt x="977782" y="140879"/>
                </a:lnTo>
                <a:lnTo>
                  <a:pt x="974342" y="141563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754257" y="7110696"/>
            <a:ext cx="1887855" cy="141605"/>
          </a:xfrm>
          <a:custGeom>
            <a:avLst/>
            <a:gdLst/>
            <a:ahLst/>
            <a:cxnLst/>
            <a:rect l="l" t="t" r="r" b="b"/>
            <a:pathLst>
              <a:path w="1887855" h="141604">
                <a:moveTo>
                  <a:pt x="1864211" y="141563"/>
                </a:moveTo>
                <a:lnTo>
                  <a:pt x="23389" y="141563"/>
                </a:lnTo>
                <a:lnTo>
                  <a:pt x="19950" y="140879"/>
                </a:lnTo>
                <a:lnTo>
                  <a:pt x="0" y="118179"/>
                </a:lnTo>
                <a:lnTo>
                  <a:pt x="0" y="114604"/>
                </a:lnTo>
                <a:lnTo>
                  <a:pt x="0" y="23390"/>
                </a:lnTo>
                <a:lnTo>
                  <a:pt x="23389" y="0"/>
                </a:lnTo>
                <a:lnTo>
                  <a:pt x="1864211" y="0"/>
                </a:lnTo>
                <a:lnTo>
                  <a:pt x="1887601" y="23390"/>
                </a:lnTo>
                <a:lnTo>
                  <a:pt x="1887601" y="118179"/>
                </a:lnTo>
                <a:lnTo>
                  <a:pt x="1867651" y="140879"/>
                </a:lnTo>
                <a:lnTo>
                  <a:pt x="1864211" y="141563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4650806" y="7110696"/>
            <a:ext cx="1355090" cy="141605"/>
          </a:xfrm>
          <a:custGeom>
            <a:avLst/>
            <a:gdLst/>
            <a:ahLst/>
            <a:cxnLst/>
            <a:rect l="l" t="t" r="r" b="b"/>
            <a:pathLst>
              <a:path w="1355089" h="141604">
                <a:moveTo>
                  <a:pt x="1331638" y="141563"/>
                </a:moveTo>
                <a:lnTo>
                  <a:pt x="23389" y="141563"/>
                </a:lnTo>
                <a:lnTo>
                  <a:pt x="19949" y="140879"/>
                </a:lnTo>
                <a:lnTo>
                  <a:pt x="0" y="118179"/>
                </a:lnTo>
                <a:lnTo>
                  <a:pt x="0" y="114604"/>
                </a:lnTo>
                <a:lnTo>
                  <a:pt x="0" y="23390"/>
                </a:lnTo>
                <a:lnTo>
                  <a:pt x="23389" y="0"/>
                </a:lnTo>
                <a:lnTo>
                  <a:pt x="1331638" y="0"/>
                </a:lnTo>
                <a:lnTo>
                  <a:pt x="1355028" y="23390"/>
                </a:lnTo>
                <a:lnTo>
                  <a:pt x="1355028" y="118179"/>
                </a:lnTo>
                <a:lnTo>
                  <a:pt x="1335077" y="140879"/>
                </a:lnTo>
                <a:lnTo>
                  <a:pt x="1331638" y="141563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graphicFrame>
        <p:nvGraphicFramePr>
          <p:cNvPr id="19" name="object 19"/>
          <p:cNvGraphicFramePr>
            <a:graphicFrameLocks noGrp="1"/>
          </p:cNvGraphicFramePr>
          <p:nvPr/>
        </p:nvGraphicFramePr>
        <p:xfrm>
          <a:off x="680102" y="5539943"/>
          <a:ext cx="6278880" cy="17843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86330"/>
                <a:gridCol w="3808729"/>
              </a:tblGrid>
              <a:tr h="282575">
                <a:tc>
                  <a:txBody>
                    <a:bodyPr/>
                    <a:lstStyle/>
                    <a:p>
                      <a:pPr marL="70485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950" spc="-20" b="1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Line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64769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950" spc="-10" b="1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Explanation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64769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  <a:solidFill>
                      <a:srgbClr val="F7FAFB"/>
                    </a:solidFill>
                  </a:tcPr>
                </a:tc>
              </a:tr>
              <a:tr h="457834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session</a:t>
                      </a:r>
                      <a:r>
                        <a:rPr dirty="0" sz="750" spc="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=</a:t>
                      </a:r>
                      <a:r>
                        <a:rPr dirty="0" sz="750" spc="55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 spc="-1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SessionLocal()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90170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 marR="513080">
                        <a:lnSpc>
                          <a:spcPct val="121100"/>
                        </a:lnSpc>
                        <a:spcBef>
                          <a:spcPts val="270"/>
                        </a:spcBef>
                      </a:pP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Opens</a:t>
                      </a:r>
                      <a:r>
                        <a:rPr dirty="0" sz="950" spc="-2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9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a</a:t>
                      </a:r>
                      <a:r>
                        <a:rPr dirty="0" sz="950" spc="-2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9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new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10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ORM</a:t>
                      </a:r>
                      <a:r>
                        <a:rPr dirty="0" sz="950" spc="-2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session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from</a:t>
                      </a:r>
                      <a:r>
                        <a:rPr dirty="0" sz="950" spc="-2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the</a:t>
                      </a:r>
                      <a:r>
                        <a:rPr dirty="0" sz="950" spc="-2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factory,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used</a:t>
                      </a:r>
                      <a:r>
                        <a:rPr dirty="0" sz="950" spc="-2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for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5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all</a:t>
                      </a:r>
                      <a:r>
                        <a:rPr dirty="0" sz="950" spc="-2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6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subsequent</a:t>
                      </a:r>
                      <a:r>
                        <a:rPr dirty="0" sz="950" spc="50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9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database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operations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in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6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this</a:t>
                      </a:r>
                      <a:r>
                        <a:rPr dirty="0" sz="95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script.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34290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</a:tr>
              <a:tr h="457834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dirty="0" sz="750" spc="-1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session.query(DocumentChunk).delete()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90170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 marR="151765">
                        <a:lnSpc>
                          <a:spcPct val="121100"/>
                        </a:lnSpc>
                        <a:spcBef>
                          <a:spcPts val="270"/>
                        </a:spcBef>
                      </a:pPr>
                      <a:r>
                        <a:rPr dirty="0" sz="950" spc="-7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Issues</a:t>
                      </a:r>
                      <a:r>
                        <a:rPr dirty="0" sz="950" spc="-2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a</a:t>
                      </a:r>
                      <a:r>
                        <a:rPr dirty="0" sz="950" spc="22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DELETE</a:t>
                      </a:r>
                      <a:r>
                        <a:rPr dirty="0" sz="750" spc="6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FROM</a:t>
                      </a:r>
                      <a:r>
                        <a:rPr dirty="0" sz="750" spc="65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document_chunks;</a:t>
                      </a:r>
                      <a:r>
                        <a:rPr dirty="0" sz="750" spc="-15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900" spc="-180">
                          <a:solidFill>
                            <a:srgbClr val="111726"/>
                          </a:solidFill>
                          <a:latin typeface="Arial"/>
                          <a:cs typeface="Arial"/>
                        </a:rPr>
                        <a:t>—</a:t>
                      </a:r>
                      <a:r>
                        <a:rPr dirty="0" sz="900" spc="-55">
                          <a:solidFill>
                            <a:srgbClr val="111726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removes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every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existing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2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row,</a:t>
                      </a:r>
                      <a:r>
                        <a:rPr dirty="0" sz="950" spc="50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so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6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re-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running</a:t>
                      </a:r>
                      <a:r>
                        <a:rPr dirty="0" sz="95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the</a:t>
                      </a:r>
                      <a:r>
                        <a:rPr dirty="0" sz="95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pipeline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doesn't</a:t>
                      </a:r>
                      <a:r>
                        <a:rPr dirty="0" sz="95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duplicate</a:t>
                      </a:r>
                      <a:r>
                        <a:rPr dirty="0" sz="95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old</a:t>
                      </a:r>
                      <a:r>
                        <a:rPr dirty="0" sz="95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embeddings.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34290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dirty="0" sz="750" spc="-1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session.commit()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90170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950" spc="-9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Commits</a:t>
                      </a:r>
                      <a:r>
                        <a:rPr dirty="0" sz="95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the</a:t>
                      </a:r>
                      <a:r>
                        <a:rPr dirty="0" sz="950" spc="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deletion</a:t>
                      </a:r>
                      <a:r>
                        <a:rPr dirty="0" sz="95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transaction.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64769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</a:tr>
              <a:tr h="296545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print("Old</a:t>
                      </a:r>
                      <a:r>
                        <a:rPr dirty="0" sz="750" spc="105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embeddings</a:t>
                      </a:r>
                      <a:r>
                        <a:rPr dirty="0" sz="750" spc="105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 spc="-1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deleted")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90170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Console</a:t>
                      </a:r>
                      <a:r>
                        <a:rPr dirty="0" sz="950" spc="-2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con</a:t>
                      </a:r>
                      <a:r>
                        <a:rPr dirty="0" sz="900" spc="-75">
                          <a:solidFill>
                            <a:srgbClr val="111726"/>
                          </a:solidFill>
                          <a:latin typeface="Arial"/>
                          <a:cs typeface="Arial"/>
                        </a:rPr>
                        <a:t>ﬁ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rmation.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65" b="1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Output:</a:t>
                      </a:r>
                      <a:r>
                        <a:rPr dirty="0" sz="950" spc="210" b="1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Old</a:t>
                      </a:r>
                      <a:r>
                        <a:rPr dirty="0" sz="750" spc="6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embeddings</a:t>
                      </a:r>
                      <a:r>
                        <a:rPr dirty="0" sz="750" spc="55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 spc="-1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deleted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64769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0" name="object 20"/>
          <p:cNvSpPr txBox="1"/>
          <p:nvPr/>
        </p:nvSpPr>
        <p:spPr>
          <a:xfrm>
            <a:off x="667402" y="7406264"/>
            <a:ext cx="1642110" cy="2139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200" spc="-120" b="1">
                <a:solidFill>
                  <a:srgbClr val="111726"/>
                </a:solidFill>
                <a:latin typeface="Source Han Sans JP"/>
                <a:cs typeface="Source Han Sans JP"/>
              </a:rPr>
              <a:t>Store</a:t>
            </a:r>
            <a:r>
              <a:rPr dirty="0" sz="1200" spc="-30" b="1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200" spc="-120" b="1">
                <a:solidFill>
                  <a:srgbClr val="111726"/>
                </a:solidFill>
                <a:latin typeface="Source Han Sans JP"/>
                <a:cs typeface="Source Han Sans JP"/>
              </a:rPr>
              <a:t>Chunks</a:t>
            </a:r>
            <a:r>
              <a:rPr dirty="0" sz="1200" spc="-25" b="1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200" spc="-95" b="1">
                <a:solidFill>
                  <a:srgbClr val="111726"/>
                </a:solidFill>
                <a:latin typeface="Source Han Sans JP"/>
                <a:cs typeface="Source Han Sans JP"/>
              </a:rPr>
              <a:t>in</a:t>
            </a:r>
            <a:r>
              <a:rPr dirty="0" sz="1200" spc="-30" b="1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200" spc="-110" b="1">
                <a:solidFill>
                  <a:srgbClr val="111726"/>
                </a:solidFill>
                <a:latin typeface="Source Han Sans JP"/>
                <a:cs typeface="Source Han Sans JP"/>
              </a:rPr>
              <a:t>Database</a:t>
            </a:r>
            <a:endParaRPr sz="1200">
              <a:latin typeface="Source Han Sans JP"/>
              <a:cs typeface="Source Han Sans JP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80102" y="571504"/>
            <a:ext cx="6202680" cy="3748404"/>
          </a:xfrm>
          <a:custGeom>
            <a:avLst/>
            <a:gdLst/>
            <a:ahLst/>
            <a:cxnLst/>
            <a:rect l="l" t="t" r="r" b="b"/>
            <a:pathLst>
              <a:path w="6202680" h="3748404">
                <a:moveTo>
                  <a:pt x="6151728" y="3748230"/>
                </a:moveTo>
                <a:lnTo>
                  <a:pt x="50390" y="3748230"/>
                </a:lnTo>
                <a:lnTo>
                  <a:pt x="46883" y="3747888"/>
                </a:lnTo>
                <a:lnTo>
                  <a:pt x="11056" y="3727203"/>
                </a:lnTo>
                <a:lnTo>
                  <a:pt x="0" y="3697840"/>
                </a:lnTo>
                <a:lnTo>
                  <a:pt x="0" y="3694305"/>
                </a:lnTo>
                <a:lnTo>
                  <a:pt x="0" y="50382"/>
                </a:lnTo>
                <a:lnTo>
                  <a:pt x="18300" y="13278"/>
                </a:lnTo>
                <a:lnTo>
                  <a:pt x="50390" y="0"/>
                </a:lnTo>
                <a:lnTo>
                  <a:pt x="6151728" y="0"/>
                </a:lnTo>
                <a:lnTo>
                  <a:pt x="6188826" y="18288"/>
                </a:lnTo>
                <a:lnTo>
                  <a:pt x="6202118" y="50382"/>
                </a:lnTo>
                <a:lnTo>
                  <a:pt x="6202118" y="3697840"/>
                </a:lnTo>
                <a:lnTo>
                  <a:pt x="6183818" y="3734938"/>
                </a:lnTo>
                <a:lnTo>
                  <a:pt x="6155235" y="3747888"/>
                </a:lnTo>
                <a:lnTo>
                  <a:pt x="6151728" y="3748230"/>
                </a:lnTo>
                <a:close/>
              </a:path>
            </a:pathLst>
          </a:custGeom>
          <a:solidFill>
            <a:srgbClr val="0E172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761782" y="672057"/>
            <a:ext cx="2738120" cy="3526154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ctr" marR="669925">
              <a:lnSpc>
                <a:spcPct val="100000"/>
              </a:lnSpc>
              <a:spcBef>
                <a:spcPts val="105"/>
              </a:spcBef>
            </a:pP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print("Generating</a:t>
            </a:r>
            <a:r>
              <a:rPr dirty="0" sz="800" spc="8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 spc="-10">
                <a:solidFill>
                  <a:srgbClr val="E4E7EB"/>
                </a:solidFill>
                <a:latin typeface="Courier New"/>
                <a:cs typeface="Courier New"/>
              </a:rPr>
              <a:t>embeddings...")</a:t>
            </a:r>
            <a:endParaRPr sz="800">
              <a:latin typeface="Courier New"/>
              <a:cs typeface="Courier New"/>
            </a:endParaRPr>
          </a:p>
          <a:p>
            <a:pPr marL="259079" marR="313055" indent="-247015">
              <a:lnSpc>
                <a:spcPct val="293100"/>
              </a:lnSpc>
            </a:pP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for</a:t>
            </a:r>
            <a:r>
              <a:rPr dirty="0" sz="800" spc="2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index,</a:t>
            </a:r>
            <a:r>
              <a:rPr dirty="0" sz="800" spc="2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chunk</a:t>
            </a:r>
            <a:r>
              <a:rPr dirty="0" sz="800" spc="2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in</a:t>
            </a:r>
            <a:r>
              <a:rPr dirty="0" sz="800" spc="2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 spc="-10">
                <a:solidFill>
                  <a:srgbClr val="E4E7EB"/>
                </a:solidFill>
                <a:latin typeface="Courier New"/>
                <a:cs typeface="Courier New"/>
              </a:rPr>
              <a:t>enumerate(chunks):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embedding</a:t>
            </a:r>
            <a:r>
              <a:rPr dirty="0" sz="800" spc="2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=</a:t>
            </a:r>
            <a:r>
              <a:rPr dirty="0" sz="800" spc="3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 spc="-10">
                <a:solidFill>
                  <a:srgbClr val="E4E7EB"/>
                </a:solidFill>
                <a:latin typeface="Courier New"/>
                <a:cs typeface="Courier New"/>
              </a:rPr>
              <a:t>embedding_model.encode(</a:t>
            </a:r>
            <a:endParaRPr sz="800">
              <a:latin typeface="Courier New"/>
              <a:cs typeface="Courier New"/>
            </a:endParaRPr>
          </a:p>
          <a:p>
            <a:pPr algn="ctr" marR="608330">
              <a:lnSpc>
                <a:spcPct val="100000"/>
              </a:lnSpc>
              <a:spcBef>
                <a:spcPts val="420"/>
              </a:spcBef>
            </a:pPr>
            <a:r>
              <a:rPr dirty="0" sz="800" spc="-10">
                <a:solidFill>
                  <a:srgbClr val="E4E7EB"/>
                </a:solidFill>
                <a:latin typeface="Courier New"/>
                <a:cs typeface="Courier New"/>
              </a:rPr>
              <a:t>chunk.page_content</a:t>
            </a:r>
            <a:endParaRPr sz="800">
              <a:latin typeface="Courier New"/>
              <a:cs typeface="Courier New"/>
            </a:endParaRPr>
          </a:p>
          <a:p>
            <a:pPr marL="259079">
              <a:lnSpc>
                <a:spcPct val="100000"/>
              </a:lnSpc>
              <a:spcBef>
                <a:spcPts val="420"/>
              </a:spcBef>
            </a:pPr>
            <a:r>
              <a:rPr dirty="0" sz="800" spc="-10">
                <a:solidFill>
                  <a:srgbClr val="E4E7EB"/>
                </a:solidFill>
                <a:latin typeface="Courier New"/>
                <a:cs typeface="Courier New"/>
              </a:rPr>
              <a:t>).tolist()</a:t>
            </a:r>
            <a:endParaRPr sz="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500"/>
              </a:spcBef>
            </a:pPr>
            <a:endParaRPr sz="800">
              <a:latin typeface="Courier New"/>
              <a:cs typeface="Courier New"/>
            </a:endParaRPr>
          </a:p>
          <a:p>
            <a:pPr marL="505459" marR="559435" indent="-247015">
              <a:lnSpc>
                <a:spcPct val="146500"/>
              </a:lnSpc>
            </a:pP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record</a:t>
            </a:r>
            <a:r>
              <a:rPr dirty="0" sz="800" spc="2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=</a:t>
            </a:r>
            <a:r>
              <a:rPr dirty="0" sz="800" spc="2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 spc="-10">
                <a:solidFill>
                  <a:srgbClr val="E4E7EB"/>
                </a:solidFill>
                <a:latin typeface="Courier New"/>
                <a:cs typeface="Courier New"/>
              </a:rPr>
              <a:t>DocumentChunk( filename=PDF_PATH, chunk_number=index, content=chunk.page_content, embedding=embedding,</a:t>
            </a:r>
            <a:endParaRPr sz="800">
              <a:latin typeface="Courier New"/>
              <a:cs typeface="Courier New"/>
            </a:endParaRPr>
          </a:p>
          <a:p>
            <a:pPr marL="259079">
              <a:lnSpc>
                <a:spcPct val="100000"/>
              </a:lnSpc>
              <a:spcBef>
                <a:spcPts val="420"/>
              </a:spcBef>
            </a:pPr>
            <a:r>
              <a:rPr dirty="0" sz="800" spc="-50">
                <a:solidFill>
                  <a:srgbClr val="E4E7EB"/>
                </a:solidFill>
                <a:latin typeface="Courier New"/>
                <a:cs typeface="Courier New"/>
              </a:rPr>
              <a:t>)</a:t>
            </a:r>
            <a:endParaRPr sz="800">
              <a:latin typeface="Courier New"/>
              <a:cs typeface="Courier New"/>
            </a:endParaRPr>
          </a:p>
          <a:p>
            <a:pPr marL="12700" marR="1299210" indent="246379">
              <a:lnSpc>
                <a:spcPct val="293100"/>
              </a:lnSpc>
            </a:pPr>
            <a:r>
              <a:rPr dirty="0" sz="800" spc="-10">
                <a:solidFill>
                  <a:srgbClr val="E4E7EB"/>
                </a:solidFill>
                <a:latin typeface="Courier New"/>
                <a:cs typeface="Courier New"/>
              </a:rPr>
              <a:t>session.add(record) session.commit()</a:t>
            </a:r>
            <a:endParaRPr sz="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894"/>
              </a:spcBef>
            </a:pPr>
            <a:endParaRPr sz="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print("All</a:t>
            </a:r>
            <a:r>
              <a:rPr dirty="0" sz="800" spc="4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embeddings</a:t>
            </a:r>
            <a:r>
              <a:rPr dirty="0" sz="800" spc="4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stored</a:t>
            </a:r>
            <a:r>
              <a:rPr dirty="0" sz="800" spc="4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 spc="-10">
                <a:solidFill>
                  <a:srgbClr val="E4E7EB"/>
                </a:solidFill>
                <a:latin typeface="Courier New"/>
                <a:cs typeface="Courier New"/>
              </a:rPr>
              <a:t>successfully!")</a:t>
            </a:r>
            <a:endParaRPr sz="800">
              <a:latin typeface="Courier New"/>
              <a:cs typeface="Courier New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54257" y="4791642"/>
            <a:ext cx="2009139" cy="141605"/>
          </a:xfrm>
          <a:custGeom>
            <a:avLst/>
            <a:gdLst/>
            <a:ahLst/>
            <a:cxnLst/>
            <a:rect l="l" t="t" r="r" b="b"/>
            <a:pathLst>
              <a:path w="2009139" h="141604">
                <a:moveTo>
                  <a:pt x="1985557" y="141563"/>
                </a:moveTo>
                <a:lnTo>
                  <a:pt x="23389" y="141563"/>
                </a:lnTo>
                <a:lnTo>
                  <a:pt x="19950" y="140872"/>
                </a:lnTo>
                <a:lnTo>
                  <a:pt x="0" y="118172"/>
                </a:lnTo>
                <a:lnTo>
                  <a:pt x="0" y="114604"/>
                </a:lnTo>
                <a:lnTo>
                  <a:pt x="0" y="23390"/>
                </a:lnTo>
                <a:lnTo>
                  <a:pt x="23389" y="0"/>
                </a:lnTo>
                <a:lnTo>
                  <a:pt x="1985557" y="0"/>
                </a:lnTo>
                <a:lnTo>
                  <a:pt x="2008947" y="23390"/>
                </a:lnTo>
                <a:lnTo>
                  <a:pt x="2008947" y="118172"/>
                </a:lnTo>
                <a:lnTo>
                  <a:pt x="1988997" y="140872"/>
                </a:lnTo>
                <a:lnTo>
                  <a:pt x="1985557" y="141563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2985672" y="4960177"/>
            <a:ext cx="1470025" cy="141605"/>
          </a:xfrm>
          <a:custGeom>
            <a:avLst/>
            <a:gdLst/>
            <a:ahLst/>
            <a:cxnLst/>
            <a:rect l="l" t="t" r="r" b="b"/>
            <a:pathLst>
              <a:path w="1470025" h="141604">
                <a:moveTo>
                  <a:pt x="1446242" y="141563"/>
                </a:moveTo>
                <a:lnTo>
                  <a:pt x="23389" y="141563"/>
                </a:lnTo>
                <a:lnTo>
                  <a:pt x="19950" y="140872"/>
                </a:lnTo>
                <a:lnTo>
                  <a:pt x="0" y="118179"/>
                </a:lnTo>
                <a:lnTo>
                  <a:pt x="0" y="114604"/>
                </a:lnTo>
                <a:lnTo>
                  <a:pt x="0" y="23384"/>
                </a:lnTo>
                <a:lnTo>
                  <a:pt x="23389" y="0"/>
                </a:lnTo>
                <a:lnTo>
                  <a:pt x="1446242" y="0"/>
                </a:lnTo>
                <a:lnTo>
                  <a:pt x="1469632" y="23384"/>
                </a:lnTo>
                <a:lnTo>
                  <a:pt x="1469632" y="118179"/>
                </a:lnTo>
                <a:lnTo>
                  <a:pt x="1449682" y="140872"/>
                </a:lnTo>
                <a:lnTo>
                  <a:pt x="1446242" y="141563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754253" y="5256796"/>
            <a:ext cx="1153160" cy="316865"/>
          </a:xfrm>
          <a:custGeom>
            <a:avLst/>
            <a:gdLst/>
            <a:ahLst/>
            <a:cxnLst/>
            <a:rect l="l" t="t" r="r" b="b"/>
            <a:pathLst>
              <a:path w="1153160" h="316864">
                <a:moveTo>
                  <a:pt x="1092111" y="198666"/>
                </a:moveTo>
                <a:lnTo>
                  <a:pt x="1068717" y="175285"/>
                </a:lnTo>
                <a:lnTo>
                  <a:pt x="0" y="175285"/>
                </a:lnTo>
                <a:lnTo>
                  <a:pt x="0" y="316839"/>
                </a:lnTo>
                <a:lnTo>
                  <a:pt x="1068717" y="316839"/>
                </a:lnTo>
                <a:lnTo>
                  <a:pt x="1092111" y="293458"/>
                </a:lnTo>
                <a:lnTo>
                  <a:pt x="1092111" y="198666"/>
                </a:lnTo>
                <a:close/>
              </a:path>
              <a:path w="1153160" h="316864">
                <a:moveTo>
                  <a:pt x="1152779" y="0"/>
                </a:moveTo>
                <a:lnTo>
                  <a:pt x="23393" y="0"/>
                </a:lnTo>
                <a:lnTo>
                  <a:pt x="19951" y="685"/>
                </a:lnTo>
                <a:lnTo>
                  <a:pt x="0" y="23393"/>
                </a:lnTo>
                <a:lnTo>
                  <a:pt x="0" y="118186"/>
                </a:lnTo>
                <a:lnTo>
                  <a:pt x="23393" y="141566"/>
                </a:lnTo>
                <a:lnTo>
                  <a:pt x="1152779" y="141566"/>
                </a:lnTo>
                <a:lnTo>
                  <a:pt x="1152779" y="0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5385622" y="5256800"/>
            <a:ext cx="351155" cy="141605"/>
          </a:xfrm>
          <a:custGeom>
            <a:avLst/>
            <a:gdLst/>
            <a:ahLst/>
            <a:cxnLst/>
            <a:rect l="l" t="t" r="r" b="b"/>
            <a:pathLst>
              <a:path w="351154" h="141604">
                <a:moveTo>
                  <a:pt x="327164" y="141563"/>
                </a:moveTo>
                <a:lnTo>
                  <a:pt x="23389" y="141563"/>
                </a:lnTo>
                <a:lnTo>
                  <a:pt x="19949" y="140879"/>
                </a:lnTo>
                <a:lnTo>
                  <a:pt x="0" y="118179"/>
                </a:lnTo>
                <a:lnTo>
                  <a:pt x="0" y="114604"/>
                </a:lnTo>
                <a:lnTo>
                  <a:pt x="0" y="23384"/>
                </a:lnTo>
                <a:lnTo>
                  <a:pt x="23389" y="0"/>
                </a:lnTo>
                <a:lnTo>
                  <a:pt x="327164" y="0"/>
                </a:lnTo>
                <a:lnTo>
                  <a:pt x="350554" y="23384"/>
                </a:lnTo>
                <a:lnTo>
                  <a:pt x="350554" y="118179"/>
                </a:lnTo>
                <a:lnTo>
                  <a:pt x="330604" y="140879"/>
                </a:lnTo>
                <a:lnTo>
                  <a:pt x="327164" y="141563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2985672" y="5432078"/>
            <a:ext cx="762000" cy="141605"/>
          </a:xfrm>
          <a:custGeom>
            <a:avLst/>
            <a:gdLst/>
            <a:ahLst/>
            <a:cxnLst/>
            <a:rect l="l" t="t" r="r" b="b"/>
            <a:pathLst>
              <a:path w="762000" h="141604">
                <a:moveTo>
                  <a:pt x="738392" y="141563"/>
                </a:moveTo>
                <a:lnTo>
                  <a:pt x="23389" y="141563"/>
                </a:lnTo>
                <a:lnTo>
                  <a:pt x="19950" y="140879"/>
                </a:lnTo>
                <a:lnTo>
                  <a:pt x="0" y="118179"/>
                </a:lnTo>
                <a:lnTo>
                  <a:pt x="0" y="114604"/>
                </a:lnTo>
                <a:lnTo>
                  <a:pt x="0" y="23384"/>
                </a:lnTo>
                <a:lnTo>
                  <a:pt x="23389" y="0"/>
                </a:lnTo>
                <a:lnTo>
                  <a:pt x="738392" y="0"/>
                </a:lnTo>
                <a:lnTo>
                  <a:pt x="761782" y="23384"/>
                </a:lnTo>
                <a:lnTo>
                  <a:pt x="761782" y="118179"/>
                </a:lnTo>
                <a:lnTo>
                  <a:pt x="741831" y="140879"/>
                </a:lnTo>
                <a:lnTo>
                  <a:pt x="738392" y="141563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754253" y="5721959"/>
            <a:ext cx="1388745" cy="316865"/>
          </a:xfrm>
          <a:custGeom>
            <a:avLst/>
            <a:gdLst/>
            <a:ahLst/>
            <a:cxnLst/>
            <a:rect l="l" t="t" r="r" b="b"/>
            <a:pathLst>
              <a:path w="1388745" h="316864">
                <a:moveTo>
                  <a:pt x="680885" y="0"/>
                </a:moveTo>
                <a:lnTo>
                  <a:pt x="23393" y="0"/>
                </a:lnTo>
                <a:lnTo>
                  <a:pt x="19951" y="685"/>
                </a:lnTo>
                <a:lnTo>
                  <a:pt x="0" y="23393"/>
                </a:lnTo>
                <a:lnTo>
                  <a:pt x="0" y="118173"/>
                </a:lnTo>
                <a:lnTo>
                  <a:pt x="23393" y="141566"/>
                </a:lnTo>
                <a:lnTo>
                  <a:pt x="680885" y="141566"/>
                </a:lnTo>
                <a:lnTo>
                  <a:pt x="680885" y="0"/>
                </a:lnTo>
                <a:close/>
              </a:path>
              <a:path w="1388745" h="316864">
                <a:moveTo>
                  <a:pt x="1388732" y="198666"/>
                </a:moveTo>
                <a:lnTo>
                  <a:pt x="1365338" y="175272"/>
                </a:lnTo>
                <a:lnTo>
                  <a:pt x="0" y="175272"/>
                </a:lnTo>
                <a:lnTo>
                  <a:pt x="0" y="316839"/>
                </a:lnTo>
                <a:lnTo>
                  <a:pt x="1365338" y="316839"/>
                </a:lnTo>
                <a:lnTo>
                  <a:pt x="1388732" y="293446"/>
                </a:lnTo>
                <a:lnTo>
                  <a:pt x="1388732" y="198666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754257" y="6187118"/>
            <a:ext cx="1119505" cy="141605"/>
          </a:xfrm>
          <a:custGeom>
            <a:avLst/>
            <a:gdLst/>
            <a:ahLst/>
            <a:cxnLst/>
            <a:rect l="l" t="t" r="r" b="b"/>
            <a:pathLst>
              <a:path w="1119505" h="141604">
                <a:moveTo>
                  <a:pt x="1095688" y="141563"/>
                </a:moveTo>
                <a:lnTo>
                  <a:pt x="23389" y="141563"/>
                </a:lnTo>
                <a:lnTo>
                  <a:pt x="19950" y="140879"/>
                </a:lnTo>
                <a:lnTo>
                  <a:pt x="0" y="118179"/>
                </a:lnTo>
                <a:lnTo>
                  <a:pt x="0" y="114604"/>
                </a:lnTo>
                <a:lnTo>
                  <a:pt x="0" y="23384"/>
                </a:lnTo>
                <a:lnTo>
                  <a:pt x="23389" y="0"/>
                </a:lnTo>
                <a:lnTo>
                  <a:pt x="1095688" y="0"/>
                </a:lnTo>
                <a:lnTo>
                  <a:pt x="1119077" y="23384"/>
                </a:lnTo>
                <a:lnTo>
                  <a:pt x="1119077" y="118179"/>
                </a:lnTo>
                <a:lnTo>
                  <a:pt x="1099127" y="140879"/>
                </a:lnTo>
                <a:lnTo>
                  <a:pt x="1095688" y="141563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754257" y="6477000"/>
            <a:ext cx="647700" cy="141605"/>
          </a:xfrm>
          <a:custGeom>
            <a:avLst/>
            <a:gdLst/>
            <a:ahLst/>
            <a:cxnLst/>
            <a:rect l="l" t="t" r="r" b="b"/>
            <a:pathLst>
              <a:path w="647700" h="141604">
                <a:moveTo>
                  <a:pt x="623787" y="141563"/>
                </a:moveTo>
                <a:lnTo>
                  <a:pt x="23389" y="141563"/>
                </a:lnTo>
                <a:lnTo>
                  <a:pt x="19950" y="140879"/>
                </a:lnTo>
                <a:lnTo>
                  <a:pt x="0" y="118179"/>
                </a:lnTo>
                <a:lnTo>
                  <a:pt x="0" y="114604"/>
                </a:lnTo>
                <a:lnTo>
                  <a:pt x="0" y="23384"/>
                </a:lnTo>
                <a:lnTo>
                  <a:pt x="23389" y="0"/>
                </a:lnTo>
                <a:lnTo>
                  <a:pt x="623787" y="0"/>
                </a:lnTo>
                <a:lnTo>
                  <a:pt x="647177" y="23384"/>
                </a:lnTo>
                <a:lnTo>
                  <a:pt x="647177" y="118179"/>
                </a:lnTo>
                <a:lnTo>
                  <a:pt x="627227" y="140879"/>
                </a:lnTo>
                <a:lnTo>
                  <a:pt x="623787" y="141563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3659815" y="6645536"/>
            <a:ext cx="532765" cy="141605"/>
          </a:xfrm>
          <a:custGeom>
            <a:avLst/>
            <a:gdLst/>
            <a:ahLst/>
            <a:cxnLst/>
            <a:rect l="l" t="t" r="r" b="b"/>
            <a:pathLst>
              <a:path w="532764" h="141604">
                <a:moveTo>
                  <a:pt x="509183" y="141563"/>
                </a:moveTo>
                <a:lnTo>
                  <a:pt x="23389" y="141563"/>
                </a:lnTo>
                <a:lnTo>
                  <a:pt x="19950" y="140879"/>
                </a:lnTo>
                <a:lnTo>
                  <a:pt x="0" y="118172"/>
                </a:lnTo>
                <a:lnTo>
                  <a:pt x="0" y="114604"/>
                </a:lnTo>
                <a:lnTo>
                  <a:pt x="0" y="23384"/>
                </a:lnTo>
                <a:lnTo>
                  <a:pt x="23389" y="0"/>
                </a:lnTo>
                <a:lnTo>
                  <a:pt x="509183" y="0"/>
                </a:lnTo>
                <a:lnTo>
                  <a:pt x="532573" y="23384"/>
                </a:lnTo>
                <a:lnTo>
                  <a:pt x="532573" y="118172"/>
                </a:lnTo>
                <a:lnTo>
                  <a:pt x="512622" y="140879"/>
                </a:lnTo>
                <a:lnTo>
                  <a:pt x="509183" y="141563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4920463" y="6645536"/>
            <a:ext cx="411480" cy="141605"/>
          </a:xfrm>
          <a:custGeom>
            <a:avLst/>
            <a:gdLst/>
            <a:ahLst/>
            <a:cxnLst/>
            <a:rect l="l" t="t" r="r" b="b"/>
            <a:pathLst>
              <a:path w="411479" h="141604">
                <a:moveTo>
                  <a:pt x="387837" y="141563"/>
                </a:moveTo>
                <a:lnTo>
                  <a:pt x="23390" y="141563"/>
                </a:lnTo>
                <a:lnTo>
                  <a:pt x="19949" y="140879"/>
                </a:lnTo>
                <a:lnTo>
                  <a:pt x="0" y="118172"/>
                </a:lnTo>
                <a:lnTo>
                  <a:pt x="0" y="114604"/>
                </a:lnTo>
                <a:lnTo>
                  <a:pt x="0" y="23384"/>
                </a:lnTo>
                <a:lnTo>
                  <a:pt x="23390" y="0"/>
                </a:lnTo>
                <a:lnTo>
                  <a:pt x="387837" y="0"/>
                </a:lnTo>
                <a:lnTo>
                  <a:pt x="411227" y="23384"/>
                </a:lnTo>
                <a:lnTo>
                  <a:pt x="411227" y="118172"/>
                </a:lnTo>
                <a:lnTo>
                  <a:pt x="391277" y="140879"/>
                </a:lnTo>
                <a:lnTo>
                  <a:pt x="387837" y="141563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754257" y="6935417"/>
            <a:ext cx="1416050" cy="141605"/>
          </a:xfrm>
          <a:custGeom>
            <a:avLst/>
            <a:gdLst/>
            <a:ahLst/>
            <a:cxnLst/>
            <a:rect l="l" t="t" r="r" b="b"/>
            <a:pathLst>
              <a:path w="1416050" h="141604">
                <a:moveTo>
                  <a:pt x="1392311" y="141563"/>
                </a:moveTo>
                <a:lnTo>
                  <a:pt x="23389" y="141563"/>
                </a:lnTo>
                <a:lnTo>
                  <a:pt x="19950" y="140879"/>
                </a:lnTo>
                <a:lnTo>
                  <a:pt x="0" y="118172"/>
                </a:lnTo>
                <a:lnTo>
                  <a:pt x="0" y="114604"/>
                </a:lnTo>
                <a:lnTo>
                  <a:pt x="0" y="23384"/>
                </a:lnTo>
                <a:lnTo>
                  <a:pt x="23389" y="0"/>
                </a:lnTo>
                <a:lnTo>
                  <a:pt x="1392311" y="0"/>
                </a:lnTo>
                <a:lnTo>
                  <a:pt x="1415700" y="23384"/>
                </a:lnTo>
                <a:lnTo>
                  <a:pt x="1415700" y="118172"/>
                </a:lnTo>
                <a:lnTo>
                  <a:pt x="1395750" y="140879"/>
                </a:lnTo>
                <a:lnTo>
                  <a:pt x="1392311" y="141563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754257" y="7225299"/>
            <a:ext cx="1119505" cy="141605"/>
          </a:xfrm>
          <a:custGeom>
            <a:avLst/>
            <a:gdLst/>
            <a:ahLst/>
            <a:cxnLst/>
            <a:rect l="l" t="t" r="r" b="b"/>
            <a:pathLst>
              <a:path w="1119505" h="141604">
                <a:moveTo>
                  <a:pt x="1095688" y="141563"/>
                </a:moveTo>
                <a:lnTo>
                  <a:pt x="23389" y="141563"/>
                </a:lnTo>
                <a:lnTo>
                  <a:pt x="19950" y="140879"/>
                </a:lnTo>
                <a:lnTo>
                  <a:pt x="0" y="118179"/>
                </a:lnTo>
                <a:lnTo>
                  <a:pt x="0" y="114604"/>
                </a:lnTo>
                <a:lnTo>
                  <a:pt x="0" y="23384"/>
                </a:lnTo>
                <a:lnTo>
                  <a:pt x="23389" y="0"/>
                </a:lnTo>
                <a:lnTo>
                  <a:pt x="1095688" y="0"/>
                </a:lnTo>
                <a:lnTo>
                  <a:pt x="1119077" y="23384"/>
                </a:lnTo>
                <a:lnTo>
                  <a:pt x="1119077" y="118179"/>
                </a:lnTo>
                <a:lnTo>
                  <a:pt x="1099127" y="140879"/>
                </a:lnTo>
                <a:lnTo>
                  <a:pt x="1095688" y="141563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754257" y="7521922"/>
            <a:ext cx="1179830" cy="141605"/>
          </a:xfrm>
          <a:custGeom>
            <a:avLst/>
            <a:gdLst/>
            <a:ahLst/>
            <a:cxnLst/>
            <a:rect l="l" t="t" r="r" b="b"/>
            <a:pathLst>
              <a:path w="1179830" h="141604">
                <a:moveTo>
                  <a:pt x="1156360" y="141563"/>
                </a:moveTo>
                <a:lnTo>
                  <a:pt x="23389" y="141563"/>
                </a:lnTo>
                <a:lnTo>
                  <a:pt x="19950" y="140872"/>
                </a:lnTo>
                <a:lnTo>
                  <a:pt x="0" y="118179"/>
                </a:lnTo>
                <a:lnTo>
                  <a:pt x="0" y="114604"/>
                </a:lnTo>
                <a:lnTo>
                  <a:pt x="0" y="23384"/>
                </a:lnTo>
                <a:lnTo>
                  <a:pt x="23389" y="0"/>
                </a:lnTo>
                <a:lnTo>
                  <a:pt x="1156360" y="0"/>
                </a:lnTo>
                <a:lnTo>
                  <a:pt x="1179750" y="23384"/>
                </a:lnTo>
                <a:lnTo>
                  <a:pt x="1179750" y="118179"/>
                </a:lnTo>
                <a:lnTo>
                  <a:pt x="1159800" y="140872"/>
                </a:lnTo>
                <a:lnTo>
                  <a:pt x="1156360" y="141563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754257" y="7811804"/>
            <a:ext cx="1652270" cy="141605"/>
          </a:xfrm>
          <a:custGeom>
            <a:avLst/>
            <a:gdLst/>
            <a:ahLst/>
            <a:cxnLst/>
            <a:rect l="l" t="t" r="r" b="b"/>
            <a:pathLst>
              <a:path w="1652270" h="141604">
                <a:moveTo>
                  <a:pt x="1628261" y="141563"/>
                </a:moveTo>
                <a:lnTo>
                  <a:pt x="23389" y="141563"/>
                </a:lnTo>
                <a:lnTo>
                  <a:pt x="19950" y="140879"/>
                </a:lnTo>
                <a:lnTo>
                  <a:pt x="0" y="118172"/>
                </a:lnTo>
                <a:lnTo>
                  <a:pt x="0" y="114604"/>
                </a:lnTo>
                <a:lnTo>
                  <a:pt x="0" y="23390"/>
                </a:lnTo>
                <a:lnTo>
                  <a:pt x="23389" y="0"/>
                </a:lnTo>
                <a:lnTo>
                  <a:pt x="1628261" y="0"/>
                </a:lnTo>
                <a:lnTo>
                  <a:pt x="1651651" y="23390"/>
                </a:lnTo>
                <a:lnTo>
                  <a:pt x="1651651" y="118172"/>
                </a:lnTo>
                <a:lnTo>
                  <a:pt x="1631701" y="140879"/>
                </a:lnTo>
                <a:lnTo>
                  <a:pt x="1628261" y="141563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754257" y="8101686"/>
            <a:ext cx="1240790" cy="141605"/>
          </a:xfrm>
          <a:custGeom>
            <a:avLst/>
            <a:gdLst/>
            <a:ahLst/>
            <a:cxnLst/>
            <a:rect l="l" t="t" r="r" b="b"/>
            <a:pathLst>
              <a:path w="1240789" h="141604">
                <a:moveTo>
                  <a:pt x="1217033" y="141563"/>
                </a:moveTo>
                <a:lnTo>
                  <a:pt x="23389" y="141563"/>
                </a:lnTo>
                <a:lnTo>
                  <a:pt x="19950" y="140872"/>
                </a:lnTo>
                <a:lnTo>
                  <a:pt x="0" y="118172"/>
                </a:lnTo>
                <a:lnTo>
                  <a:pt x="0" y="114604"/>
                </a:lnTo>
                <a:lnTo>
                  <a:pt x="0" y="23384"/>
                </a:lnTo>
                <a:lnTo>
                  <a:pt x="23389" y="0"/>
                </a:lnTo>
                <a:lnTo>
                  <a:pt x="1217033" y="0"/>
                </a:lnTo>
                <a:lnTo>
                  <a:pt x="1240423" y="23384"/>
                </a:lnTo>
                <a:lnTo>
                  <a:pt x="1240423" y="118172"/>
                </a:lnTo>
                <a:lnTo>
                  <a:pt x="1220473" y="140872"/>
                </a:lnTo>
                <a:lnTo>
                  <a:pt x="1217033" y="141563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9" name="object 1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54257" y="8391567"/>
            <a:ext cx="114604" cy="141563"/>
          </a:xfrm>
          <a:prstGeom prst="rect">
            <a:avLst/>
          </a:prstGeom>
        </p:spPr>
      </p:pic>
      <p:sp>
        <p:nvSpPr>
          <p:cNvPr id="20" name="object 20"/>
          <p:cNvSpPr/>
          <p:nvPr/>
        </p:nvSpPr>
        <p:spPr>
          <a:xfrm>
            <a:off x="3504762" y="8391567"/>
            <a:ext cx="1119505" cy="141605"/>
          </a:xfrm>
          <a:custGeom>
            <a:avLst/>
            <a:gdLst/>
            <a:ahLst/>
            <a:cxnLst/>
            <a:rect l="l" t="t" r="r" b="b"/>
            <a:pathLst>
              <a:path w="1119504" h="141604">
                <a:moveTo>
                  <a:pt x="1095688" y="141563"/>
                </a:moveTo>
                <a:lnTo>
                  <a:pt x="23389" y="141563"/>
                </a:lnTo>
                <a:lnTo>
                  <a:pt x="19949" y="140872"/>
                </a:lnTo>
                <a:lnTo>
                  <a:pt x="0" y="118172"/>
                </a:lnTo>
                <a:lnTo>
                  <a:pt x="0" y="114604"/>
                </a:lnTo>
                <a:lnTo>
                  <a:pt x="0" y="23384"/>
                </a:lnTo>
                <a:lnTo>
                  <a:pt x="23389" y="0"/>
                </a:lnTo>
                <a:lnTo>
                  <a:pt x="1095688" y="0"/>
                </a:lnTo>
                <a:lnTo>
                  <a:pt x="1119077" y="23384"/>
                </a:lnTo>
                <a:lnTo>
                  <a:pt x="1119077" y="118172"/>
                </a:lnTo>
                <a:lnTo>
                  <a:pt x="1099127" y="140872"/>
                </a:lnTo>
                <a:lnTo>
                  <a:pt x="1095688" y="141563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754257" y="8681449"/>
            <a:ext cx="1179830" cy="141605"/>
          </a:xfrm>
          <a:custGeom>
            <a:avLst/>
            <a:gdLst/>
            <a:ahLst/>
            <a:cxnLst/>
            <a:rect l="l" t="t" r="r" b="b"/>
            <a:pathLst>
              <a:path w="1179830" h="141604">
                <a:moveTo>
                  <a:pt x="1156360" y="141563"/>
                </a:moveTo>
                <a:lnTo>
                  <a:pt x="23389" y="141563"/>
                </a:lnTo>
                <a:lnTo>
                  <a:pt x="19950" y="140879"/>
                </a:lnTo>
                <a:lnTo>
                  <a:pt x="0" y="118172"/>
                </a:lnTo>
                <a:lnTo>
                  <a:pt x="0" y="114604"/>
                </a:lnTo>
                <a:lnTo>
                  <a:pt x="0" y="23384"/>
                </a:lnTo>
                <a:lnTo>
                  <a:pt x="23389" y="0"/>
                </a:lnTo>
                <a:lnTo>
                  <a:pt x="1156360" y="0"/>
                </a:lnTo>
                <a:lnTo>
                  <a:pt x="1179750" y="23384"/>
                </a:lnTo>
                <a:lnTo>
                  <a:pt x="1179750" y="118172"/>
                </a:lnTo>
                <a:lnTo>
                  <a:pt x="1159800" y="140879"/>
                </a:lnTo>
                <a:lnTo>
                  <a:pt x="1156360" y="141563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754257" y="8971330"/>
            <a:ext cx="998219" cy="141605"/>
          </a:xfrm>
          <a:custGeom>
            <a:avLst/>
            <a:gdLst/>
            <a:ahLst/>
            <a:cxnLst/>
            <a:rect l="l" t="t" r="r" b="b"/>
            <a:pathLst>
              <a:path w="998219" h="141604">
                <a:moveTo>
                  <a:pt x="974342" y="141563"/>
                </a:moveTo>
                <a:lnTo>
                  <a:pt x="23389" y="141563"/>
                </a:lnTo>
                <a:lnTo>
                  <a:pt x="19950" y="140879"/>
                </a:lnTo>
                <a:lnTo>
                  <a:pt x="0" y="118179"/>
                </a:lnTo>
                <a:lnTo>
                  <a:pt x="0" y="114604"/>
                </a:lnTo>
                <a:lnTo>
                  <a:pt x="0" y="23384"/>
                </a:lnTo>
                <a:lnTo>
                  <a:pt x="23389" y="0"/>
                </a:lnTo>
                <a:lnTo>
                  <a:pt x="974342" y="0"/>
                </a:lnTo>
                <a:lnTo>
                  <a:pt x="997732" y="23384"/>
                </a:lnTo>
                <a:lnTo>
                  <a:pt x="997732" y="118179"/>
                </a:lnTo>
                <a:lnTo>
                  <a:pt x="977782" y="140879"/>
                </a:lnTo>
                <a:lnTo>
                  <a:pt x="974342" y="141563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4509236" y="8971330"/>
            <a:ext cx="822960" cy="141605"/>
          </a:xfrm>
          <a:custGeom>
            <a:avLst/>
            <a:gdLst/>
            <a:ahLst/>
            <a:cxnLst/>
            <a:rect l="l" t="t" r="r" b="b"/>
            <a:pathLst>
              <a:path w="822960" h="141604">
                <a:moveTo>
                  <a:pt x="799065" y="141563"/>
                </a:moveTo>
                <a:lnTo>
                  <a:pt x="23390" y="141563"/>
                </a:lnTo>
                <a:lnTo>
                  <a:pt x="19949" y="140879"/>
                </a:lnTo>
                <a:lnTo>
                  <a:pt x="0" y="118179"/>
                </a:lnTo>
                <a:lnTo>
                  <a:pt x="0" y="114604"/>
                </a:lnTo>
                <a:lnTo>
                  <a:pt x="0" y="23384"/>
                </a:lnTo>
                <a:lnTo>
                  <a:pt x="23390" y="0"/>
                </a:lnTo>
                <a:lnTo>
                  <a:pt x="799065" y="0"/>
                </a:lnTo>
                <a:lnTo>
                  <a:pt x="822454" y="23384"/>
                </a:lnTo>
                <a:lnTo>
                  <a:pt x="822454" y="118179"/>
                </a:lnTo>
                <a:lnTo>
                  <a:pt x="802504" y="140879"/>
                </a:lnTo>
                <a:lnTo>
                  <a:pt x="799065" y="141563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754253" y="9429736"/>
            <a:ext cx="1685925" cy="316865"/>
          </a:xfrm>
          <a:custGeom>
            <a:avLst/>
            <a:gdLst/>
            <a:ahLst/>
            <a:cxnLst/>
            <a:rect l="l" t="t" r="r" b="b"/>
            <a:pathLst>
              <a:path w="1685925" h="316865">
                <a:moveTo>
                  <a:pt x="916838" y="198666"/>
                </a:moveTo>
                <a:lnTo>
                  <a:pt x="893445" y="175285"/>
                </a:lnTo>
                <a:lnTo>
                  <a:pt x="0" y="175285"/>
                </a:lnTo>
                <a:lnTo>
                  <a:pt x="0" y="316852"/>
                </a:lnTo>
                <a:lnTo>
                  <a:pt x="893445" y="316852"/>
                </a:lnTo>
                <a:lnTo>
                  <a:pt x="916838" y="293458"/>
                </a:lnTo>
                <a:lnTo>
                  <a:pt x="916838" y="198666"/>
                </a:lnTo>
                <a:close/>
              </a:path>
              <a:path w="1685925" h="316865">
                <a:moveTo>
                  <a:pt x="1685353" y="0"/>
                </a:moveTo>
                <a:lnTo>
                  <a:pt x="23393" y="0"/>
                </a:lnTo>
                <a:lnTo>
                  <a:pt x="19951" y="685"/>
                </a:lnTo>
                <a:lnTo>
                  <a:pt x="0" y="23393"/>
                </a:lnTo>
                <a:lnTo>
                  <a:pt x="0" y="118186"/>
                </a:lnTo>
                <a:lnTo>
                  <a:pt x="23393" y="141579"/>
                </a:lnTo>
                <a:lnTo>
                  <a:pt x="1685353" y="141579"/>
                </a:lnTo>
                <a:lnTo>
                  <a:pt x="1685353" y="0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4475529" y="9429748"/>
            <a:ext cx="2124075" cy="141605"/>
          </a:xfrm>
          <a:custGeom>
            <a:avLst/>
            <a:gdLst/>
            <a:ahLst/>
            <a:cxnLst/>
            <a:rect l="l" t="t" r="r" b="b"/>
            <a:pathLst>
              <a:path w="2124075" h="141604">
                <a:moveTo>
                  <a:pt x="2100161" y="141563"/>
                </a:moveTo>
                <a:lnTo>
                  <a:pt x="23390" y="141563"/>
                </a:lnTo>
                <a:lnTo>
                  <a:pt x="19950" y="140872"/>
                </a:lnTo>
                <a:lnTo>
                  <a:pt x="0" y="118172"/>
                </a:lnTo>
                <a:lnTo>
                  <a:pt x="0" y="114604"/>
                </a:lnTo>
                <a:lnTo>
                  <a:pt x="0" y="23384"/>
                </a:lnTo>
                <a:lnTo>
                  <a:pt x="23390" y="0"/>
                </a:lnTo>
                <a:lnTo>
                  <a:pt x="2100161" y="0"/>
                </a:lnTo>
                <a:lnTo>
                  <a:pt x="2123551" y="23384"/>
                </a:lnTo>
                <a:lnTo>
                  <a:pt x="2123551" y="118172"/>
                </a:lnTo>
                <a:lnTo>
                  <a:pt x="2103601" y="140872"/>
                </a:lnTo>
                <a:lnTo>
                  <a:pt x="2100161" y="141563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graphicFrame>
        <p:nvGraphicFramePr>
          <p:cNvPr id="26" name="object 26"/>
          <p:cNvGraphicFramePr>
            <a:graphicFrameLocks noGrp="1"/>
          </p:cNvGraphicFramePr>
          <p:nvPr/>
        </p:nvGraphicFramePr>
        <p:xfrm>
          <a:off x="680102" y="4427604"/>
          <a:ext cx="6278880" cy="53809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231390"/>
                <a:gridCol w="3963670"/>
              </a:tblGrid>
              <a:tr h="282575">
                <a:tc>
                  <a:txBody>
                    <a:bodyPr/>
                    <a:lstStyle/>
                    <a:p>
                      <a:pPr marL="70485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950" spc="-20" b="1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Line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64769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950" spc="-10" b="1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Explanation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64769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  <a:solidFill>
                      <a:srgbClr val="F7FAFB"/>
                    </a:solidFill>
                  </a:tcPr>
                </a:tc>
              </a:tr>
              <a:tr h="464820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print("Generating</a:t>
                      </a:r>
                      <a:r>
                        <a:rPr dirty="0" sz="750" spc="16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 spc="-1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embeddings...")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90170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Informational</a:t>
                      </a:r>
                      <a:r>
                        <a:rPr dirty="0" sz="95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log</a:t>
                      </a:r>
                      <a:r>
                        <a:rPr dirty="0" sz="950" spc="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before</a:t>
                      </a:r>
                      <a:r>
                        <a:rPr dirty="0" sz="950" spc="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the</a:t>
                      </a:r>
                      <a:r>
                        <a:rPr dirty="0" sz="950" spc="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(potentially</a:t>
                      </a:r>
                      <a:r>
                        <a:rPr dirty="0" sz="950" spc="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slow)</a:t>
                      </a:r>
                      <a:r>
                        <a:rPr dirty="0" sz="950" spc="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9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embedding</a:t>
                      </a:r>
                      <a:r>
                        <a:rPr dirty="0" sz="95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loop</a:t>
                      </a:r>
                      <a:r>
                        <a:rPr dirty="0" sz="950" spc="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starts.</a:t>
                      </a:r>
                      <a:r>
                        <a:rPr dirty="0" sz="950" spc="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10" b="1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Output: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  <a:p>
                      <a:pPr marL="95250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Generating</a:t>
                      </a:r>
                      <a:r>
                        <a:rPr dirty="0" sz="750" spc="105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 spc="-1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embeddings...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64769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</a:tr>
              <a:tr h="464820">
                <a:tc>
                  <a:txBody>
                    <a:bodyPr/>
                    <a:lstStyle/>
                    <a:p>
                      <a:pPr marL="70485" marR="1001394" indent="26670">
                        <a:lnSpc>
                          <a:spcPct val="153300"/>
                        </a:lnSpc>
                        <a:spcBef>
                          <a:spcPts val="229"/>
                        </a:spcBef>
                      </a:pP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for</a:t>
                      </a:r>
                      <a:r>
                        <a:rPr dirty="0" sz="750" spc="55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index,</a:t>
                      </a:r>
                      <a:r>
                        <a:rPr dirty="0" sz="750" spc="6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chunk</a:t>
                      </a:r>
                      <a:r>
                        <a:rPr dirty="0" sz="750" spc="6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 spc="-25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in </a:t>
                      </a:r>
                      <a:r>
                        <a:rPr dirty="0" sz="750" spc="-1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enumerate(chunks):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29209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Iterates</a:t>
                      </a:r>
                      <a:r>
                        <a:rPr dirty="0" sz="950" spc="-2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over</a:t>
                      </a:r>
                      <a:r>
                        <a:rPr dirty="0" sz="950" spc="-2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every</a:t>
                      </a:r>
                      <a:r>
                        <a:rPr dirty="0" sz="950" spc="-2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chunk,</a:t>
                      </a:r>
                      <a:r>
                        <a:rPr dirty="0" sz="950" spc="-2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tracking</a:t>
                      </a:r>
                      <a:r>
                        <a:rPr dirty="0" sz="950" spc="-2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6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its</a:t>
                      </a:r>
                      <a:r>
                        <a:rPr dirty="0" sz="950" spc="-2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position</a:t>
                      </a:r>
                      <a:r>
                        <a:rPr dirty="0" sz="950" spc="-2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2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via</a:t>
                      </a:r>
                      <a:r>
                        <a:rPr dirty="0" sz="950" spc="19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index</a:t>
                      </a:r>
                      <a:r>
                        <a:rPr dirty="0" sz="750" spc="-35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(used</a:t>
                      </a:r>
                      <a:r>
                        <a:rPr dirty="0" sz="950" spc="-2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later</a:t>
                      </a:r>
                      <a:r>
                        <a:rPr dirty="0" sz="950" spc="-2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as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  <a:p>
                      <a:pPr marL="9525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chunk_number</a:t>
                      </a:r>
                      <a:r>
                        <a:rPr dirty="0" sz="750" spc="-135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950" spc="-2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).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64769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</a:tr>
              <a:tr h="464820">
                <a:tc>
                  <a:txBody>
                    <a:bodyPr/>
                    <a:lstStyle/>
                    <a:p>
                      <a:pPr marL="70485" marR="791845" indent="26670">
                        <a:lnSpc>
                          <a:spcPct val="153300"/>
                        </a:lnSpc>
                        <a:spcBef>
                          <a:spcPts val="229"/>
                        </a:spcBef>
                      </a:pP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embedding</a:t>
                      </a:r>
                      <a:r>
                        <a:rPr dirty="0" sz="750" spc="95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 spc="-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= </a:t>
                      </a:r>
                      <a:r>
                        <a:rPr dirty="0" sz="750" spc="-1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embedding_model.encode(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29209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 marR="114935">
                        <a:lnSpc>
                          <a:spcPct val="116399"/>
                        </a:lnSpc>
                        <a:spcBef>
                          <a:spcPts val="320"/>
                        </a:spcBef>
                      </a:pP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Runs</a:t>
                      </a:r>
                      <a:r>
                        <a:rPr dirty="0" sz="95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the</a:t>
                      </a:r>
                      <a:r>
                        <a:rPr dirty="0" sz="95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sentence-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transformer's</a:t>
                      </a:r>
                      <a:r>
                        <a:rPr dirty="0" sz="95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forward</a:t>
                      </a:r>
                      <a:r>
                        <a:rPr dirty="0" sz="95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pass</a:t>
                      </a:r>
                      <a:r>
                        <a:rPr dirty="0" sz="950" spc="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9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on</a:t>
                      </a:r>
                      <a:r>
                        <a:rPr dirty="0" sz="95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the</a:t>
                      </a:r>
                      <a:r>
                        <a:rPr dirty="0" sz="95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chunk's</a:t>
                      </a:r>
                      <a:r>
                        <a:rPr dirty="0" sz="95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text</a:t>
                      </a:r>
                      <a:r>
                        <a:rPr dirty="0" sz="95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to</a:t>
                      </a:r>
                      <a:r>
                        <a:rPr dirty="0" sz="950" spc="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9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produce</a:t>
                      </a:r>
                      <a:r>
                        <a:rPr dirty="0" sz="95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5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a</a:t>
                      </a:r>
                      <a:r>
                        <a:rPr dirty="0" sz="950" spc="50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numeric</a:t>
                      </a:r>
                      <a:r>
                        <a:rPr dirty="0" sz="950" spc="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vector.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40640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dirty="0" sz="750" spc="-1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chunk.page_content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90170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950" spc="-9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The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actual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text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of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6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this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chunk,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passed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as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input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to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the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encoder.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64769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</a:tr>
              <a:tr h="457834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dirty="0" sz="750" spc="-1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).tolist()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90170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 marR="202565">
                        <a:lnSpc>
                          <a:spcPct val="116399"/>
                        </a:lnSpc>
                        <a:spcBef>
                          <a:spcPts val="320"/>
                        </a:spcBef>
                      </a:pP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Converts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the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resulting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9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NumPy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array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6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(or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tensor)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to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9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a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plain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Python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6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list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of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00" spc="-30">
                          <a:solidFill>
                            <a:srgbClr val="111726"/>
                          </a:solidFill>
                          <a:latin typeface="Arial"/>
                          <a:cs typeface="Arial"/>
                        </a:rPr>
                        <a:t>ﬂ</a:t>
                      </a:r>
                      <a:r>
                        <a:rPr dirty="0" sz="950" spc="-3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oats,</a:t>
                      </a:r>
                      <a:r>
                        <a:rPr dirty="0" sz="950" spc="50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which</a:t>
                      </a:r>
                      <a:r>
                        <a:rPr dirty="0" sz="950" spc="-3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6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is</a:t>
                      </a:r>
                      <a:r>
                        <a:rPr dirty="0" sz="950" spc="-2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6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what</a:t>
                      </a:r>
                      <a:r>
                        <a:rPr dirty="0" sz="950" spc="19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pgvector</a:t>
                      </a:r>
                      <a:r>
                        <a:rPr dirty="0" sz="750" spc="-229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950" spc="-6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's</a:t>
                      </a:r>
                      <a:r>
                        <a:rPr dirty="0" sz="950" spc="-3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SQLAlchemy</a:t>
                      </a:r>
                      <a:r>
                        <a:rPr dirty="0" sz="950" spc="19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Vector</a:t>
                      </a:r>
                      <a:r>
                        <a:rPr dirty="0" sz="750" spc="-35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type</a:t>
                      </a:r>
                      <a:r>
                        <a:rPr dirty="0" sz="950" spc="-3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and</a:t>
                      </a:r>
                      <a:r>
                        <a:rPr dirty="0" sz="950" spc="-2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psycopg</a:t>
                      </a:r>
                      <a:r>
                        <a:rPr dirty="0" sz="850" spc="-85">
                          <a:solidFill>
                            <a:srgbClr val="111726"/>
                          </a:solidFill>
                          <a:latin typeface="Arial"/>
                          <a:cs typeface="Arial"/>
                        </a:rPr>
                        <a:t>2</a:t>
                      </a:r>
                      <a:r>
                        <a:rPr dirty="0" sz="850" spc="-50">
                          <a:solidFill>
                            <a:srgbClr val="111726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expect.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40640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record</a:t>
                      </a:r>
                      <a:r>
                        <a:rPr dirty="0" sz="750" spc="45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=</a:t>
                      </a:r>
                      <a:r>
                        <a:rPr dirty="0" sz="750" spc="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 spc="-1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DocumentChunk(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90170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Builds</a:t>
                      </a:r>
                      <a:r>
                        <a:rPr dirty="0" sz="950" spc="-2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9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an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10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ORM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object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representing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one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9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row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to</a:t>
                      </a:r>
                      <a:r>
                        <a:rPr dirty="0" sz="950" spc="-2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insert.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64769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</a:tr>
              <a:tr h="296545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dirty="0" sz="750" spc="-1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filename=PDF_PATH,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90170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Stores</a:t>
                      </a:r>
                      <a:r>
                        <a:rPr dirty="0" sz="950" spc="-2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which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00" spc="-35">
                          <a:solidFill>
                            <a:srgbClr val="111726"/>
                          </a:solidFill>
                          <a:latin typeface="Arial"/>
                          <a:cs typeface="Arial"/>
                        </a:rPr>
                        <a:t>ﬁ</a:t>
                      </a:r>
                      <a:r>
                        <a:rPr dirty="0" sz="950" spc="-3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le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6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this</a:t>
                      </a:r>
                      <a:r>
                        <a:rPr dirty="0" sz="950" spc="-2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chunk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9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came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from.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64769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dirty="0" sz="750" spc="-1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chunk_number=index,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90170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Stores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the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chunk's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sequence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number.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64769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dirty="0" sz="750" spc="-1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content=chunk.page_content,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90170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Stores</a:t>
                      </a:r>
                      <a:r>
                        <a:rPr dirty="0" sz="950" spc="-2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the</a:t>
                      </a:r>
                      <a:r>
                        <a:rPr dirty="0" sz="950" spc="-2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9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raw</a:t>
                      </a:r>
                      <a:r>
                        <a:rPr dirty="0" sz="950" spc="-2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chunk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2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text.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64769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dirty="0" sz="750" spc="-1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embedding=embedding,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90170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Stores</a:t>
                      </a:r>
                      <a:r>
                        <a:rPr dirty="0" sz="950" spc="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the</a:t>
                      </a:r>
                      <a:r>
                        <a:rPr dirty="0" sz="950" spc="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850" spc="-40">
                          <a:solidFill>
                            <a:srgbClr val="111726"/>
                          </a:solidFill>
                          <a:latin typeface="Arial"/>
                          <a:cs typeface="Arial"/>
                        </a:rPr>
                        <a:t>384</a:t>
                      </a:r>
                      <a:r>
                        <a:rPr dirty="0" sz="950" spc="-4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-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dimensional</a:t>
                      </a:r>
                      <a:r>
                        <a:rPr dirty="0" sz="950" spc="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vector.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64769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dirty="0" sz="750" spc="-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)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90170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Closes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2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the</a:t>
                      </a:r>
                      <a:r>
                        <a:rPr dirty="0" sz="950" spc="22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DocumentChunk(...)</a:t>
                      </a:r>
                      <a:r>
                        <a:rPr dirty="0" sz="750" spc="-15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constructor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2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call.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64769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dirty="0" sz="750" spc="-1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session.add(record)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90170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Stages</a:t>
                      </a:r>
                      <a:r>
                        <a:rPr dirty="0" sz="950" spc="-2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the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9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new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9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row</a:t>
                      </a:r>
                      <a:r>
                        <a:rPr dirty="0" sz="950" spc="-2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in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the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session</a:t>
                      </a:r>
                      <a:r>
                        <a:rPr dirty="0" sz="950" spc="-2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(not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yet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written</a:t>
                      </a:r>
                      <a:r>
                        <a:rPr dirty="0" sz="950" spc="-2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to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the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2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DB).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64769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</a:tr>
              <a:tr h="457834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dirty="0" sz="750" spc="-1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session.commit()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90170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 marR="177165">
                        <a:lnSpc>
                          <a:spcPct val="121100"/>
                        </a:lnSpc>
                        <a:spcBef>
                          <a:spcPts val="270"/>
                        </a:spcBef>
                      </a:pP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Flushes</a:t>
                      </a:r>
                      <a:r>
                        <a:rPr dirty="0" sz="950" spc="-3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and</a:t>
                      </a:r>
                      <a:r>
                        <a:rPr dirty="0" sz="950" spc="-2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9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commits</a:t>
                      </a:r>
                      <a:r>
                        <a:rPr dirty="0" sz="950" spc="-2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5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all</a:t>
                      </a:r>
                      <a:r>
                        <a:rPr dirty="0" sz="950" spc="-2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6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staged</a:t>
                      </a:r>
                      <a:r>
                        <a:rPr dirty="0" sz="950" spc="20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DocumentChunk</a:t>
                      </a:r>
                      <a:r>
                        <a:rPr dirty="0" sz="750" spc="-25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rows</a:t>
                      </a:r>
                      <a:r>
                        <a:rPr dirty="0" sz="950" spc="-2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in</a:t>
                      </a:r>
                      <a:r>
                        <a:rPr dirty="0" sz="950" spc="-2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9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a</a:t>
                      </a:r>
                      <a:r>
                        <a:rPr dirty="0" sz="950" spc="-2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single</a:t>
                      </a:r>
                      <a:r>
                        <a:rPr dirty="0" sz="950" spc="-2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6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transaction,</a:t>
                      </a:r>
                      <a:r>
                        <a:rPr dirty="0" sz="950" spc="50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writing</a:t>
                      </a:r>
                      <a:r>
                        <a:rPr dirty="0" sz="950" spc="-2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them</a:t>
                      </a:r>
                      <a:r>
                        <a:rPr dirty="0" sz="950" spc="-2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to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PostgreSQL.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34290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</a:tr>
              <a:tr h="464820">
                <a:tc>
                  <a:txBody>
                    <a:bodyPr/>
                    <a:lstStyle/>
                    <a:p>
                      <a:pPr marL="70485" marR="469265" indent="26670">
                        <a:lnSpc>
                          <a:spcPct val="153300"/>
                        </a:lnSpc>
                        <a:spcBef>
                          <a:spcPts val="229"/>
                        </a:spcBef>
                      </a:pP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print("All</a:t>
                      </a:r>
                      <a:r>
                        <a:rPr dirty="0" sz="750" spc="105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embeddings</a:t>
                      </a:r>
                      <a:r>
                        <a:rPr dirty="0" sz="750" spc="105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 spc="-1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stored successfully!")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29209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950" spc="-7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Con</a:t>
                      </a:r>
                      <a:r>
                        <a:rPr dirty="0" sz="900" spc="-70">
                          <a:solidFill>
                            <a:srgbClr val="111726"/>
                          </a:solidFill>
                          <a:latin typeface="Arial"/>
                          <a:cs typeface="Arial"/>
                        </a:rPr>
                        <a:t>ﬁ</a:t>
                      </a:r>
                      <a:r>
                        <a:rPr dirty="0" sz="950" spc="-7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rms</a:t>
                      </a:r>
                      <a:r>
                        <a:rPr dirty="0" sz="950" spc="-2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completion.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65" b="1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Output:</a:t>
                      </a:r>
                      <a:r>
                        <a:rPr dirty="0" sz="950" spc="204" b="1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All</a:t>
                      </a:r>
                      <a:r>
                        <a:rPr dirty="0" sz="750" spc="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embeddings</a:t>
                      </a:r>
                      <a:r>
                        <a:rPr dirty="0" sz="750" spc="55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stored</a:t>
                      </a:r>
                      <a:r>
                        <a:rPr dirty="0" sz="750" spc="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 spc="-1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successfully!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64769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7" name="object 27"/>
          <p:cNvSpPr txBox="1"/>
          <p:nvPr/>
        </p:nvSpPr>
        <p:spPr>
          <a:xfrm>
            <a:off x="667402" y="9900592"/>
            <a:ext cx="1492250" cy="2139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200" spc="-114" b="1">
                <a:solidFill>
                  <a:srgbClr val="111726"/>
                </a:solidFill>
                <a:latin typeface="Source Han Sans JP"/>
                <a:cs typeface="Source Han Sans JP"/>
              </a:rPr>
              <a:t>Vector</a:t>
            </a:r>
            <a:r>
              <a:rPr dirty="0" sz="1200" spc="-20" b="1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200" spc="-114" b="1">
                <a:solidFill>
                  <a:srgbClr val="111726"/>
                </a:solidFill>
                <a:latin typeface="Source Han Sans JP"/>
                <a:cs typeface="Source Han Sans JP"/>
              </a:rPr>
              <a:t>Search</a:t>
            </a:r>
            <a:r>
              <a:rPr dirty="0" sz="1200" spc="-20" b="1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200" spc="-100" b="1">
                <a:solidFill>
                  <a:srgbClr val="111726"/>
                </a:solidFill>
                <a:latin typeface="Source Han Sans JP"/>
                <a:cs typeface="Source Han Sans JP"/>
              </a:rPr>
              <a:t>Function</a:t>
            </a:r>
            <a:endParaRPr sz="1200">
              <a:latin typeface="Source Han Sans JP"/>
              <a:cs typeface="Source Han Sans JP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80102" y="571505"/>
            <a:ext cx="6202680" cy="6061075"/>
          </a:xfrm>
          <a:custGeom>
            <a:avLst/>
            <a:gdLst/>
            <a:ahLst/>
            <a:cxnLst/>
            <a:rect l="l" t="t" r="r" b="b"/>
            <a:pathLst>
              <a:path w="6202680" h="6061075">
                <a:moveTo>
                  <a:pt x="6151728" y="6060542"/>
                </a:moveTo>
                <a:lnTo>
                  <a:pt x="50390" y="6060542"/>
                </a:lnTo>
                <a:lnTo>
                  <a:pt x="46883" y="6060193"/>
                </a:lnTo>
                <a:lnTo>
                  <a:pt x="11056" y="6039521"/>
                </a:lnTo>
                <a:lnTo>
                  <a:pt x="0" y="6010152"/>
                </a:lnTo>
                <a:lnTo>
                  <a:pt x="0" y="6006617"/>
                </a:lnTo>
                <a:lnTo>
                  <a:pt x="0" y="50389"/>
                </a:lnTo>
                <a:lnTo>
                  <a:pt x="18300" y="13285"/>
                </a:lnTo>
                <a:lnTo>
                  <a:pt x="50390" y="0"/>
                </a:lnTo>
                <a:lnTo>
                  <a:pt x="6151728" y="0"/>
                </a:lnTo>
                <a:lnTo>
                  <a:pt x="6188826" y="18288"/>
                </a:lnTo>
                <a:lnTo>
                  <a:pt x="6202118" y="50389"/>
                </a:lnTo>
                <a:lnTo>
                  <a:pt x="6202118" y="6010152"/>
                </a:lnTo>
                <a:lnTo>
                  <a:pt x="6183818" y="6047250"/>
                </a:lnTo>
                <a:lnTo>
                  <a:pt x="6155235" y="6060193"/>
                </a:lnTo>
                <a:lnTo>
                  <a:pt x="6151728" y="6060542"/>
                </a:lnTo>
                <a:close/>
              </a:path>
            </a:pathLst>
          </a:custGeom>
          <a:solidFill>
            <a:srgbClr val="0E172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761782" y="672058"/>
            <a:ext cx="4093845" cy="584517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def</a:t>
            </a:r>
            <a:r>
              <a:rPr dirty="0" sz="800" spc="7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retrieve_context(question,</a:t>
            </a:r>
            <a:r>
              <a:rPr dirty="0" sz="800" spc="7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 spc="-10">
                <a:solidFill>
                  <a:srgbClr val="E4E7EB"/>
                </a:solidFill>
                <a:latin typeface="Courier New"/>
                <a:cs typeface="Courier New"/>
              </a:rPr>
              <a:t>top_k=3):</a:t>
            </a:r>
            <a:endParaRPr sz="800">
              <a:latin typeface="Courier New"/>
              <a:cs typeface="Courier New"/>
            </a:endParaRPr>
          </a:p>
          <a:p>
            <a:pPr marL="259079" marR="5080">
              <a:lnSpc>
                <a:spcPct val="293100"/>
              </a:lnSpc>
            </a:pP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question_embedding</a:t>
            </a:r>
            <a:r>
              <a:rPr dirty="0" sz="800" spc="4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=</a:t>
            </a:r>
            <a:r>
              <a:rPr dirty="0" sz="800" spc="5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 spc="-10">
                <a:solidFill>
                  <a:srgbClr val="E4E7EB"/>
                </a:solidFill>
                <a:latin typeface="Courier New"/>
                <a:cs typeface="Courier New"/>
              </a:rPr>
              <a:t>embedding_model.encode(question).tolist()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sql</a:t>
            </a:r>
            <a:r>
              <a:rPr dirty="0" sz="800" spc="1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=</a:t>
            </a:r>
            <a:r>
              <a:rPr dirty="0" sz="800" spc="1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 spc="-10">
                <a:solidFill>
                  <a:srgbClr val="E4E7EB"/>
                </a:solidFill>
                <a:latin typeface="Courier New"/>
                <a:cs typeface="Courier New"/>
              </a:rPr>
              <a:t>text("""</a:t>
            </a:r>
            <a:endParaRPr sz="800">
              <a:latin typeface="Courier New"/>
              <a:cs typeface="Courier New"/>
            </a:endParaRPr>
          </a:p>
          <a:p>
            <a:pPr marL="259079">
              <a:lnSpc>
                <a:spcPct val="100000"/>
              </a:lnSpc>
              <a:spcBef>
                <a:spcPts val="420"/>
              </a:spcBef>
            </a:pPr>
            <a:r>
              <a:rPr dirty="0" sz="800" spc="-10">
                <a:solidFill>
                  <a:srgbClr val="E4E7EB"/>
                </a:solidFill>
                <a:latin typeface="Courier New"/>
                <a:cs typeface="Courier New"/>
              </a:rPr>
              <a:t>SELECT</a:t>
            </a:r>
            <a:endParaRPr sz="800">
              <a:latin typeface="Courier New"/>
              <a:cs typeface="Courier New"/>
            </a:endParaRPr>
          </a:p>
          <a:p>
            <a:pPr marL="505459">
              <a:lnSpc>
                <a:spcPct val="100000"/>
              </a:lnSpc>
              <a:spcBef>
                <a:spcPts val="420"/>
              </a:spcBef>
            </a:pPr>
            <a:r>
              <a:rPr dirty="0" sz="800" spc="-10">
                <a:solidFill>
                  <a:srgbClr val="E4E7EB"/>
                </a:solidFill>
                <a:latin typeface="Courier New"/>
                <a:cs typeface="Courier New"/>
              </a:rPr>
              <a:t>content,</a:t>
            </a:r>
            <a:endParaRPr sz="800">
              <a:latin typeface="Courier New"/>
              <a:cs typeface="Courier New"/>
            </a:endParaRPr>
          </a:p>
          <a:p>
            <a:pPr marL="259079" marR="374650" indent="246379">
              <a:lnSpc>
                <a:spcPct val="143800"/>
              </a:lnSpc>
              <a:spcBef>
                <a:spcPts val="55"/>
              </a:spcBef>
            </a:pP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embedding</a:t>
            </a:r>
            <a:r>
              <a:rPr dirty="0" sz="800" spc="3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&lt;=&gt;</a:t>
            </a:r>
            <a:r>
              <a:rPr dirty="0" sz="800" spc="3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CAST(:embedding</a:t>
            </a:r>
            <a:r>
              <a:rPr dirty="0" sz="800" spc="3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AS</a:t>
            </a:r>
            <a:r>
              <a:rPr dirty="0" sz="800" spc="3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vector)</a:t>
            </a:r>
            <a:r>
              <a:rPr dirty="0" sz="800" spc="3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AS</a:t>
            </a:r>
            <a:r>
              <a:rPr dirty="0" sz="800" spc="3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 spc="-10">
                <a:solidFill>
                  <a:srgbClr val="E4E7EB"/>
                </a:solidFill>
                <a:latin typeface="Courier New"/>
                <a:cs typeface="Courier New"/>
              </a:rPr>
              <a:t>distance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FROM</a:t>
            </a:r>
            <a:r>
              <a:rPr dirty="0" sz="800" spc="2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 spc="-10">
                <a:solidFill>
                  <a:srgbClr val="E4E7EB"/>
                </a:solidFill>
                <a:latin typeface="Courier New"/>
                <a:cs typeface="Courier New"/>
              </a:rPr>
              <a:t>document_chunks</a:t>
            </a:r>
            <a:endParaRPr sz="800">
              <a:latin typeface="Courier New"/>
              <a:cs typeface="Courier New"/>
            </a:endParaRPr>
          </a:p>
          <a:p>
            <a:pPr marL="259079" marR="805815">
              <a:lnSpc>
                <a:spcPct val="143800"/>
              </a:lnSpc>
              <a:spcBef>
                <a:spcPts val="50"/>
              </a:spcBef>
            </a:pP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ORDER</a:t>
            </a:r>
            <a:r>
              <a:rPr dirty="0" sz="800" spc="3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BY</a:t>
            </a:r>
            <a:r>
              <a:rPr dirty="0" sz="800" spc="3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embedding</a:t>
            </a:r>
            <a:r>
              <a:rPr dirty="0" sz="800" spc="3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&lt;=&gt;</a:t>
            </a:r>
            <a:r>
              <a:rPr dirty="0" sz="800" spc="3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CAST(:embedding</a:t>
            </a:r>
            <a:r>
              <a:rPr dirty="0" sz="800" spc="3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AS</a:t>
            </a:r>
            <a:r>
              <a:rPr dirty="0" sz="800" spc="3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 spc="-10">
                <a:solidFill>
                  <a:srgbClr val="E4E7EB"/>
                </a:solidFill>
                <a:latin typeface="Courier New"/>
                <a:cs typeface="Courier New"/>
              </a:rPr>
              <a:t>vector)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LIMIT</a:t>
            </a:r>
            <a:r>
              <a:rPr dirty="0" sz="800" spc="2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 spc="-10">
                <a:solidFill>
                  <a:srgbClr val="E4E7EB"/>
                </a:solidFill>
                <a:latin typeface="Courier New"/>
                <a:cs typeface="Courier New"/>
              </a:rPr>
              <a:t>:top_k;</a:t>
            </a:r>
            <a:endParaRPr sz="800">
              <a:latin typeface="Courier New"/>
              <a:cs typeface="Courier New"/>
            </a:endParaRPr>
          </a:p>
          <a:p>
            <a:pPr marL="259079">
              <a:lnSpc>
                <a:spcPct val="100000"/>
              </a:lnSpc>
              <a:spcBef>
                <a:spcPts val="420"/>
              </a:spcBef>
            </a:pPr>
            <a:r>
              <a:rPr dirty="0" sz="800" spc="-20">
                <a:solidFill>
                  <a:srgbClr val="E4E7EB"/>
                </a:solidFill>
                <a:latin typeface="Courier New"/>
                <a:cs typeface="Courier New"/>
              </a:rPr>
              <a:t>""")</a:t>
            </a:r>
            <a:endParaRPr sz="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525"/>
              </a:spcBef>
            </a:pPr>
            <a:endParaRPr sz="800">
              <a:latin typeface="Courier New"/>
              <a:cs typeface="Courier New"/>
            </a:endParaRPr>
          </a:p>
          <a:p>
            <a:pPr marL="505459" marR="2285365" indent="-247015">
              <a:lnSpc>
                <a:spcPct val="143800"/>
              </a:lnSpc>
            </a:pP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result</a:t>
            </a:r>
            <a:r>
              <a:rPr dirty="0" sz="800" spc="2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=</a:t>
            </a:r>
            <a:r>
              <a:rPr dirty="0" sz="800" spc="2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 spc="-10">
                <a:solidFill>
                  <a:srgbClr val="E4E7EB"/>
                </a:solidFill>
                <a:latin typeface="Courier New"/>
                <a:cs typeface="Courier New"/>
              </a:rPr>
              <a:t>session.execute( </a:t>
            </a:r>
            <a:r>
              <a:rPr dirty="0" sz="800" spc="-20">
                <a:solidFill>
                  <a:srgbClr val="E4E7EB"/>
                </a:solidFill>
                <a:latin typeface="Courier New"/>
                <a:cs typeface="Courier New"/>
              </a:rPr>
              <a:t>sql,</a:t>
            </a:r>
            <a:endParaRPr sz="800">
              <a:latin typeface="Courier New"/>
              <a:cs typeface="Courier New"/>
            </a:endParaRPr>
          </a:p>
          <a:p>
            <a:pPr marL="505459">
              <a:lnSpc>
                <a:spcPct val="100000"/>
              </a:lnSpc>
              <a:spcBef>
                <a:spcPts val="475"/>
              </a:spcBef>
            </a:pPr>
            <a:r>
              <a:rPr dirty="0" sz="800" spc="-50">
                <a:solidFill>
                  <a:srgbClr val="E4E7EB"/>
                </a:solidFill>
                <a:latin typeface="Courier New"/>
                <a:cs typeface="Courier New"/>
              </a:rPr>
              <a:t>{</a:t>
            </a:r>
            <a:endParaRPr sz="800">
              <a:latin typeface="Courier New"/>
              <a:cs typeface="Courier New"/>
            </a:endParaRPr>
          </a:p>
          <a:p>
            <a:pPr marL="751840" marR="1052830">
              <a:lnSpc>
                <a:spcPts val="1430"/>
              </a:lnSpc>
              <a:spcBef>
                <a:spcPts val="75"/>
              </a:spcBef>
            </a:pP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"embedding":</a:t>
            </a:r>
            <a:r>
              <a:rPr dirty="0" sz="800" spc="5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 spc="-10">
                <a:solidFill>
                  <a:srgbClr val="E4E7EB"/>
                </a:solidFill>
                <a:latin typeface="Courier New"/>
                <a:cs typeface="Courier New"/>
              </a:rPr>
              <a:t>str(question_embedding),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"top_k":</a:t>
            </a:r>
            <a:r>
              <a:rPr dirty="0" sz="800" spc="4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 spc="-10">
                <a:solidFill>
                  <a:srgbClr val="E4E7EB"/>
                </a:solidFill>
                <a:latin typeface="Courier New"/>
                <a:cs typeface="Courier New"/>
              </a:rPr>
              <a:t>top_k</a:t>
            </a:r>
            <a:endParaRPr sz="800">
              <a:latin typeface="Courier New"/>
              <a:cs typeface="Courier New"/>
            </a:endParaRPr>
          </a:p>
          <a:p>
            <a:pPr marL="505459">
              <a:lnSpc>
                <a:spcPct val="100000"/>
              </a:lnSpc>
              <a:spcBef>
                <a:spcPts val="300"/>
              </a:spcBef>
            </a:pPr>
            <a:r>
              <a:rPr dirty="0" sz="800" spc="-50">
                <a:solidFill>
                  <a:srgbClr val="E4E7EB"/>
                </a:solidFill>
                <a:latin typeface="Courier New"/>
                <a:cs typeface="Courier New"/>
              </a:rPr>
              <a:t>}</a:t>
            </a:r>
            <a:endParaRPr sz="800">
              <a:latin typeface="Courier New"/>
              <a:cs typeface="Courier New"/>
            </a:endParaRPr>
          </a:p>
          <a:p>
            <a:pPr marL="259079">
              <a:lnSpc>
                <a:spcPct val="100000"/>
              </a:lnSpc>
              <a:spcBef>
                <a:spcPts val="420"/>
              </a:spcBef>
            </a:pPr>
            <a:r>
              <a:rPr dirty="0" sz="800" spc="-50">
                <a:solidFill>
                  <a:srgbClr val="E4E7EB"/>
                </a:solidFill>
                <a:latin typeface="Courier New"/>
                <a:cs typeface="Courier New"/>
              </a:rPr>
              <a:t>)</a:t>
            </a:r>
            <a:endParaRPr sz="800">
              <a:latin typeface="Courier New"/>
              <a:cs typeface="Courier New"/>
            </a:endParaRPr>
          </a:p>
          <a:p>
            <a:pPr marL="259079" marR="2038985">
              <a:lnSpc>
                <a:spcPct val="293100"/>
              </a:lnSpc>
            </a:pP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context</a:t>
            </a:r>
            <a:r>
              <a:rPr dirty="0" sz="800" spc="2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=</a:t>
            </a:r>
            <a:r>
              <a:rPr dirty="0" sz="800" spc="2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 spc="-25">
                <a:solidFill>
                  <a:srgbClr val="E4E7EB"/>
                </a:solidFill>
                <a:latin typeface="Courier New"/>
                <a:cs typeface="Courier New"/>
              </a:rPr>
              <a:t>""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print("\nRetrieved</a:t>
            </a:r>
            <a:r>
              <a:rPr dirty="0" sz="800" spc="8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 spc="-10">
                <a:solidFill>
                  <a:srgbClr val="E4E7EB"/>
                </a:solidFill>
                <a:latin typeface="Courier New"/>
                <a:cs typeface="Courier New"/>
              </a:rPr>
              <a:t>Chunks\n")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for</a:t>
            </a:r>
            <a:r>
              <a:rPr dirty="0" sz="800" spc="1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row</a:t>
            </a:r>
            <a:r>
              <a:rPr dirty="0" sz="800" spc="1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in</a:t>
            </a:r>
            <a:r>
              <a:rPr dirty="0" sz="800" spc="2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 spc="-10">
                <a:solidFill>
                  <a:srgbClr val="E4E7EB"/>
                </a:solidFill>
                <a:latin typeface="Courier New"/>
                <a:cs typeface="Courier New"/>
              </a:rPr>
              <a:t>result:</a:t>
            </a:r>
            <a:endParaRPr sz="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525"/>
              </a:spcBef>
            </a:pPr>
            <a:endParaRPr sz="800">
              <a:latin typeface="Courier New"/>
              <a:cs typeface="Courier New"/>
            </a:endParaRPr>
          </a:p>
          <a:p>
            <a:pPr marL="505459" marR="2100580">
              <a:lnSpc>
                <a:spcPct val="143800"/>
              </a:lnSpc>
            </a:pP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print("-"</a:t>
            </a:r>
            <a:r>
              <a:rPr dirty="0" sz="800" spc="2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*</a:t>
            </a:r>
            <a:r>
              <a:rPr dirty="0" sz="800" spc="3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 spc="-25">
                <a:solidFill>
                  <a:srgbClr val="E4E7EB"/>
                </a:solidFill>
                <a:latin typeface="Courier New"/>
                <a:cs typeface="Courier New"/>
              </a:rPr>
              <a:t>60) </a:t>
            </a:r>
            <a:r>
              <a:rPr dirty="0" sz="800" spc="-10">
                <a:solidFill>
                  <a:srgbClr val="E4E7EB"/>
                </a:solidFill>
                <a:latin typeface="Courier New"/>
                <a:cs typeface="Courier New"/>
              </a:rPr>
              <a:t>print(row.content[:250])</a:t>
            </a:r>
            <a:endParaRPr sz="800">
              <a:latin typeface="Courier New"/>
              <a:cs typeface="Courier New"/>
            </a:endParaRPr>
          </a:p>
          <a:p>
            <a:pPr marL="259079" marR="1792605" indent="246379">
              <a:lnSpc>
                <a:spcPct val="293100"/>
              </a:lnSpc>
            </a:pP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context</a:t>
            </a:r>
            <a:r>
              <a:rPr dirty="0" sz="800" spc="2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+=</a:t>
            </a:r>
            <a:r>
              <a:rPr dirty="0" sz="800" spc="3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row.content</a:t>
            </a:r>
            <a:r>
              <a:rPr dirty="0" sz="800" spc="3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+</a:t>
            </a:r>
            <a:r>
              <a:rPr dirty="0" sz="800" spc="2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 spc="-20">
                <a:solidFill>
                  <a:srgbClr val="E4E7EB"/>
                </a:solidFill>
                <a:latin typeface="Courier New"/>
                <a:cs typeface="Courier New"/>
              </a:rPr>
              <a:t>"\n"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return</a:t>
            </a:r>
            <a:r>
              <a:rPr dirty="0" sz="800" spc="3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 spc="-10">
                <a:solidFill>
                  <a:srgbClr val="E4E7EB"/>
                </a:solidFill>
                <a:latin typeface="Courier New"/>
                <a:cs typeface="Courier New"/>
              </a:rPr>
              <a:t>context</a:t>
            </a:r>
            <a:endParaRPr sz="800">
              <a:latin typeface="Courier New"/>
              <a:cs typeface="Courier New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54257" y="7103954"/>
            <a:ext cx="2420620" cy="141605"/>
          </a:xfrm>
          <a:custGeom>
            <a:avLst/>
            <a:gdLst/>
            <a:ahLst/>
            <a:cxnLst/>
            <a:rect l="l" t="t" r="r" b="b"/>
            <a:pathLst>
              <a:path w="2420620" h="141604">
                <a:moveTo>
                  <a:pt x="2396784" y="141563"/>
                </a:moveTo>
                <a:lnTo>
                  <a:pt x="23389" y="141563"/>
                </a:lnTo>
                <a:lnTo>
                  <a:pt x="19950" y="140879"/>
                </a:lnTo>
                <a:lnTo>
                  <a:pt x="0" y="118179"/>
                </a:lnTo>
                <a:lnTo>
                  <a:pt x="0" y="114604"/>
                </a:lnTo>
                <a:lnTo>
                  <a:pt x="0" y="23384"/>
                </a:lnTo>
                <a:lnTo>
                  <a:pt x="23389" y="0"/>
                </a:lnTo>
                <a:lnTo>
                  <a:pt x="2396784" y="0"/>
                </a:lnTo>
                <a:lnTo>
                  <a:pt x="2420174" y="23384"/>
                </a:lnTo>
                <a:lnTo>
                  <a:pt x="2420174" y="118179"/>
                </a:lnTo>
                <a:lnTo>
                  <a:pt x="2400224" y="140879"/>
                </a:lnTo>
                <a:lnTo>
                  <a:pt x="2396784" y="141563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5513709" y="7279232"/>
            <a:ext cx="351155" cy="141605"/>
          </a:xfrm>
          <a:custGeom>
            <a:avLst/>
            <a:gdLst/>
            <a:ahLst/>
            <a:cxnLst/>
            <a:rect l="l" t="t" r="r" b="b"/>
            <a:pathLst>
              <a:path w="351154" h="141604">
                <a:moveTo>
                  <a:pt x="327164" y="141563"/>
                </a:moveTo>
                <a:lnTo>
                  <a:pt x="23390" y="141563"/>
                </a:lnTo>
                <a:lnTo>
                  <a:pt x="19950" y="140879"/>
                </a:lnTo>
                <a:lnTo>
                  <a:pt x="0" y="118179"/>
                </a:lnTo>
                <a:lnTo>
                  <a:pt x="0" y="114604"/>
                </a:lnTo>
                <a:lnTo>
                  <a:pt x="0" y="23384"/>
                </a:lnTo>
                <a:lnTo>
                  <a:pt x="23390" y="0"/>
                </a:lnTo>
                <a:lnTo>
                  <a:pt x="327164" y="0"/>
                </a:lnTo>
                <a:lnTo>
                  <a:pt x="350554" y="23384"/>
                </a:lnTo>
                <a:lnTo>
                  <a:pt x="350554" y="118179"/>
                </a:lnTo>
                <a:lnTo>
                  <a:pt x="330604" y="140879"/>
                </a:lnTo>
                <a:lnTo>
                  <a:pt x="327164" y="141563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754253" y="7737652"/>
            <a:ext cx="2454275" cy="316865"/>
          </a:xfrm>
          <a:custGeom>
            <a:avLst/>
            <a:gdLst/>
            <a:ahLst/>
            <a:cxnLst/>
            <a:rect l="l" t="t" r="r" b="b"/>
            <a:pathLst>
              <a:path w="2454275" h="316865">
                <a:moveTo>
                  <a:pt x="1213459" y="0"/>
                </a:moveTo>
                <a:lnTo>
                  <a:pt x="23393" y="0"/>
                </a:lnTo>
                <a:lnTo>
                  <a:pt x="19951" y="685"/>
                </a:lnTo>
                <a:lnTo>
                  <a:pt x="0" y="23380"/>
                </a:lnTo>
                <a:lnTo>
                  <a:pt x="0" y="118173"/>
                </a:lnTo>
                <a:lnTo>
                  <a:pt x="23393" y="141566"/>
                </a:lnTo>
                <a:lnTo>
                  <a:pt x="1213459" y="141566"/>
                </a:lnTo>
                <a:lnTo>
                  <a:pt x="1213459" y="0"/>
                </a:lnTo>
                <a:close/>
              </a:path>
              <a:path w="2454275" h="316865">
                <a:moveTo>
                  <a:pt x="2453881" y="198666"/>
                </a:moveTo>
                <a:lnTo>
                  <a:pt x="2430488" y="175272"/>
                </a:lnTo>
                <a:lnTo>
                  <a:pt x="0" y="175272"/>
                </a:lnTo>
                <a:lnTo>
                  <a:pt x="0" y="316839"/>
                </a:lnTo>
                <a:lnTo>
                  <a:pt x="2430488" y="316839"/>
                </a:lnTo>
                <a:lnTo>
                  <a:pt x="2453881" y="293458"/>
                </a:lnTo>
                <a:lnTo>
                  <a:pt x="2453881" y="198666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754257" y="8364602"/>
            <a:ext cx="1240790" cy="141605"/>
          </a:xfrm>
          <a:custGeom>
            <a:avLst/>
            <a:gdLst/>
            <a:ahLst/>
            <a:cxnLst/>
            <a:rect l="l" t="t" r="r" b="b"/>
            <a:pathLst>
              <a:path w="1240789" h="141604">
                <a:moveTo>
                  <a:pt x="1217033" y="141563"/>
                </a:moveTo>
                <a:lnTo>
                  <a:pt x="23389" y="141563"/>
                </a:lnTo>
                <a:lnTo>
                  <a:pt x="19950" y="140879"/>
                </a:lnTo>
                <a:lnTo>
                  <a:pt x="0" y="118179"/>
                </a:lnTo>
                <a:lnTo>
                  <a:pt x="0" y="114604"/>
                </a:lnTo>
                <a:lnTo>
                  <a:pt x="0" y="23377"/>
                </a:lnTo>
                <a:lnTo>
                  <a:pt x="23389" y="0"/>
                </a:lnTo>
                <a:lnTo>
                  <a:pt x="1217033" y="0"/>
                </a:lnTo>
                <a:lnTo>
                  <a:pt x="1240423" y="23377"/>
                </a:lnTo>
                <a:lnTo>
                  <a:pt x="1240423" y="118179"/>
                </a:lnTo>
                <a:lnTo>
                  <a:pt x="1220473" y="140879"/>
                </a:lnTo>
                <a:lnTo>
                  <a:pt x="1217033" y="141563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4853049" y="8533138"/>
            <a:ext cx="404495" cy="141605"/>
          </a:xfrm>
          <a:custGeom>
            <a:avLst/>
            <a:gdLst/>
            <a:ahLst/>
            <a:cxnLst/>
            <a:rect l="l" t="t" r="r" b="b"/>
            <a:pathLst>
              <a:path w="404495" h="141604">
                <a:moveTo>
                  <a:pt x="381095" y="141563"/>
                </a:moveTo>
                <a:lnTo>
                  <a:pt x="23390" y="141563"/>
                </a:lnTo>
                <a:lnTo>
                  <a:pt x="19949" y="140879"/>
                </a:lnTo>
                <a:lnTo>
                  <a:pt x="0" y="118172"/>
                </a:lnTo>
                <a:lnTo>
                  <a:pt x="0" y="114604"/>
                </a:lnTo>
                <a:lnTo>
                  <a:pt x="0" y="23384"/>
                </a:lnTo>
                <a:lnTo>
                  <a:pt x="23390" y="0"/>
                </a:lnTo>
                <a:lnTo>
                  <a:pt x="381095" y="0"/>
                </a:lnTo>
                <a:lnTo>
                  <a:pt x="404486" y="23384"/>
                </a:lnTo>
                <a:lnTo>
                  <a:pt x="404486" y="118172"/>
                </a:lnTo>
                <a:lnTo>
                  <a:pt x="384535" y="140879"/>
                </a:lnTo>
                <a:lnTo>
                  <a:pt x="381095" y="141563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754253" y="8998292"/>
            <a:ext cx="2865120" cy="316865"/>
          </a:xfrm>
          <a:custGeom>
            <a:avLst/>
            <a:gdLst/>
            <a:ahLst/>
            <a:cxnLst/>
            <a:rect l="l" t="t" r="r" b="b"/>
            <a:pathLst>
              <a:path w="2865120" h="316865">
                <a:moveTo>
                  <a:pt x="1152779" y="198666"/>
                </a:moveTo>
                <a:lnTo>
                  <a:pt x="1129398" y="175285"/>
                </a:lnTo>
                <a:lnTo>
                  <a:pt x="0" y="175285"/>
                </a:lnTo>
                <a:lnTo>
                  <a:pt x="0" y="316852"/>
                </a:lnTo>
                <a:lnTo>
                  <a:pt x="1129398" y="316852"/>
                </a:lnTo>
                <a:lnTo>
                  <a:pt x="1152779" y="293471"/>
                </a:lnTo>
                <a:lnTo>
                  <a:pt x="1152779" y="198666"/>
                </a:lnTo>
                <a:close/>
              </a:path>
              <a:path w="2865120" h="316865">
                <a:moveTo>
                  <a:pt x="2865107" y="0"/>
                </a:moveTo>
                <a:lnTo>
                  <a:pt x="23393" y="0"/>
                </a:lnTo>
                <a:lnTo>
                  <a:pt x="19951" y="698"/>
                </a:lnTo>
                <a:lnTo>
                  <a:pt x="0" y="23393"/>
                </a:lnTo>
                <a:lnTo>
                  <a:pt x="0" y="118186"/>
                </a:lnTo>
                <a:lnTo>
                  <a:pt x="23393" y="141579"/>
                </a:lnTo>
                <a:lnTo>
                  <a:pt x="2865107" y="141579"/>
                </a:lnTo>
                <a:lnTo>
                  <a:pt x="2865107" y="0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524924" y="8998298"/>
            <a:ext cx="235950" cy="141563"/>
          </a:xfrm>
          <a:prstGeom prst="rect">
            <a:avLst/>
          </a:prstGeom>
        </p:spPr>
      </p:pic>
      <p:sp>
        <p:nvSpPr>
          <p:cNvPr id="11" name="object 11"/>
          <p:cNvSpPr/>
          <p:nvPr/>
        </p:nvSpPr>
        <p:spPr>
          <a:xfrm>
            <a:off x="754257" y="9625251"/>
            <a:ext cx="1240790" cy="141605"/>
          </a:xfrm>
          <a:custGeom>
            <a:avLst/>
            <a:gdLst/>
            <a:ahLst/>
            <a:cxnLst/>
            <a:rect l="l" t="t" r="r" b="b"/>
            <a:pathLst>
              <a:path w="1240789" h="141604">
                <a:moveTo>
                  <a:pt x="1217033" y="141563"/>
                </a:moveTo>
                <a:lnTo>
                  <a:pt x="23389" y="141563"/>
                </a:lnTo>
                <a:lnTo>
                  <a:pt x="19950" y="140879"/>
                </a:lnTo>
                <a:lnTo>
                  <a:pt x="0" y="118172"/>
                </a:lnTo>
                <a:lnTo>
                  <a:pt x="0" y="114604"/>
                </a:lnTo>
                <a:lnTo>
                  <a:pt x="0" y="23384"/>
                </a:lnTo>
                <a:lnTo>
                  <a:pt x="23389" y="0"/>
                </a:lnTo>
                <a:lnTo>
                  <a:pt x="1217033" y="0"/>
                </a:lnTo>
                <a:lnTo>
                  <a:pt x="1240423" y="23384"/>
                </a:lnTo>
                <a:lnTo>
                  <a:pt x="1240423" y="118172"/>
                </a:lnTo>
                <a:lnTo>
                  <a:pt x="1220473" y="140879"/>
                </a:lnTo>
                <a:lnTo>
                  <a:pt x="1217033" y="141563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graphicFrame>
        <p:nvGraphicFramePr>
          <p:cNvPr id="12" name="object 12"/>
          <p:cNvGraphicFramePr>
            <a:graphicFrameLocks noGrp="1"/>
          </p:cNvGraphicFramePr>
          <p:nvPr/>
        </p:nvGraphicFramePr>
        <p:xfrm>
          <a:off x="680102" y="6739917"/>
          <a:ext cx="6278880" cy="30918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390900"/>
                <a:gridCol w="2804160"/>
              </a:tblGrid>
              <a:tr h="282575">
                <a:tc>
                  <a:txBody>
                    <a:bodyPr/>
                    <a:lstStyle/>
                    <a:p>
                      <a:pPr marL="70485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950" spc="-20" b="1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Line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64769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950" spc="-10" b="1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Explanation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64769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  <a:solidFill>
                      <a:srgbClr val="F7FAFB"/>
                    </a:solidFill>
                  </a:tcPr>
                </a:tc>
              </a:tr>
              <a:tr h="633095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def</a:t>
                      </a:r>
                      <a:r>
                        <a:rPr dirty="0" sz="750" spc="14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retrieve_context(question,</a:t>
                      </a:r>
                      <a:r>
                        <a:rPr dirty="0" sz="750" spc="145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 spc="-1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top_k=3):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90170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 marR="87630">
                        <a:lnSpc>
                          <a:spcPct val="121100"/>
                        </a:lnSpc>
                        <a:spcBef>
                          <a:spcPts val="270"/>
                        </a:spcBef>
                      </a:pPr>
                      <a:r>
                        <a:rPr dirty="0" sz="950" spc="-6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De</a:t>
                      </a:r>
                      <a:r>
                        <a:rPr dirty="0" sz="900" spc="-65">
                          <a:solidFill>
                            <a:srgbClr val="111726"/>
                          </a:solidFill>
                          <a:latin typeface="Arial"/>
                          <a:cs typeface="Arial"/>
                        </a:rPr>
                        <a:t>ﬁ</a:t>
                      </a:r>
                      <a:r>
                        <a:rPr dirty="0" sz="950" spc="-6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nes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9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a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function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that,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given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9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a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user's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question,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5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returns</a:t>
                      </a:r>
                      <a:r>
                        <a:rPr dirty="0" sz="950" spc="50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the</a:t>
                      </a:r>
                      <a:r>
                        <a:rPr dirty="0" sz="950" spc="-3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9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concatenated</a:t>
                      </a:r>
                      <a:r>
                        <a:rPr dirty="0" sz="950" spc="-3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text</a:t>
                      </a:r>
                      <a:r>
                        <a:rPr dirty="0" sz="950" spc="-3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of</a:t>
                      </a:r>
                      <a:r>
                        <a:rPr dirty="0" sz="950" spc="-3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2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the</a:t>
                      </a:r>
                      <a:r>
                        <a:rPr dirty="0" sz="950" spc="1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top_k</a:t>
                      </a:r>
                      <a:r>
                        <a:rPr dirty="0" sz="750" spc="-45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950" spc="-9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most</a:t>
                      </a:r>
                      <a:r>
                        <a:rPr dirty="0" sz="950" spc="-3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relevant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chunks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(default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850" spc="-25">
                          <a:solidFill>
                            <a:srgbClr val="111726"/>
                          </a:solidFill>
                          <a:latin typeface="Arial"/>
                          <a:cs typeface="Arial"/>
                        </a:rPr>
                        <a:t>3</a:t>
                      </a:r>
                      <a:r>
                        <a:rPr dirty="0" sz="950" spc="-2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).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34290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</a:tr>
              <a:tr h="626745">
                <a:tc>
                  <a:txBody>
                    <a:bodyPr/>
                    <a:lstStyle/>
                    <a:p>
                      <a:pPr marL="70485" marR="886460" indent="26670">
                        <a:lnSpc>
                          <a:spcPct val="153300"/>
                        </a:lnSpc>
                        <a:spcBef>
                          <a:spcPts val="229"/>
                        </a:spcBef>
                      </a:pP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question_embedding</a:t>
                      </a:r>
                      <a:r>
                        <a:rPr dirty="0" sz="750" spc="17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 spc="-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= </a:t>
                      </a:r>
                      <a:r>
                        <a:rPr dirty="0" sz="750" spc="-1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embedding_model.encode(question).tolist()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29209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 marR="74930">
                        <a:lnSpc>
                          <a:spcPct val="118700"/>
                        </a:lnSpc>
                        <a:spcBef>
                          <a:spcPts val="295"/>
                        </a:spcBef>
                      </a:pPr>
                      <a:r>
                        <a:rPr dirty="0" sz="950" spc="-9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Embeds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the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question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with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the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9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same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model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used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for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4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the</a:t>
                      </a:r>
                      <a:r>
                        <a:rPr dirty="0" sz="950" spc="50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9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document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chunks,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so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both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6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live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in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the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9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same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vector </a:t>
                      </a:r>
                      <a:r>
                        <a:rPr dirty="0" sz="950" spc="-9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space</a:t>
                      </a:r>
                      <a:r>
                        <a:rPr dirty="0" sz="950" spc="-2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and</a:t>
                      </a:r>
                      <a:r>
                        <a:rPr dirty="0" sz="950" spc="-3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can</a:t>
                      </a:r>
                      <a:r>
                        <a:rPr dirty="0" sz="950" spc="-2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9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be</a:t>
                      </a:r>
                      <a:r>
                        <a:rPr dirty="0" sz="950" spc="-2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compared.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37465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</a:tr>
              <a:tr h="633095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sql</a:t>
                      </a:r>
                      <a:r>
                        <a:rPr dirty="0" sz="750" spc="35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=</a:t>
                      </a:r>
                      <a:r>
                        <a:rPr dirty="0" sz="750" spc="35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 spc="-1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text("""..."""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90170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 marR="311150">
                        <a:lnSpc>
                          <a:spcPct val="118700"/>
                        </a:lnSpc>
                        <a:spcBef>
                          <a:spcPts val="295"/>
                        </a:spcBef>
                      </a:pP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Begins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9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a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9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raw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parameterized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SQL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query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2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using</a:t>
                      </a:r>
                      <a:r>
                        <a:rPr dirty="0" sz="950" spc="50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SQLAlchemy's</a:t>
                      </a:r>
                      <a:r>
                        <a:rPr dirty="0" sz="950" spc="204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text()</a:t>
                      </a:r>
                      <a:r>
                        <a:rPr dirty="0" sz="750" spc="-225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950" spc="-5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,</a:t>
                      </a:r>
                      <a:r>
                        <a:rPr dirty="0" sz="950" spc="-2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allowing</a:t>
                      </a:r>
                      <a:r>
                        <a:rPr dirty="0" sz="950" spc="-2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use</a:t>
                      </a:r>
                      <a:r>
                        <a:rPr dirty="0" sz="950" spc="-2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of</a:t>
                      </a:r>
                      <a:r>
                        <a:rPr dirty="0" sz="950" spc="-2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pgvector's</a:t>
                      </a:r>
                      <a:r>
                        <a:rPr dirty="0" sz="950" spc="50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distance</a:t>
                      </a:r>
                      <a:r>
                        <a:rPr dirty="0" sz="950" spc="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operator</a:t>
                      </a:r>
                      <a:r>
                        <a:rPr dirty="0" sz="950" spc="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directly.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37465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</a:tr>
              <a:tr h="626745">
                <a:tc>
                  <a:txBody>
                    <a:bodyPr/>
                    <a:lstStyle/>
                    <a:p>
                      <a:pPr marL="70485" marR="445134" indent="26670">
                        <a:lnSpc>
                          <a:spcPct val="153300"/>
                        </a:lnSpc>
                        <a:spcBef>
                          <a:spcPts val="229"/>
                        </a:spcBef>
                      </a:pP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SELECT</a:t>
                      </a:r>
                      <a:r>
                        <a:rPr dirty="0" sz="750" spc="85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content,</a:t>
                      </a:r>
                      <a:r>
                        <a:rPr dirty="0" sz="750" spc="9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embedding</a:t>
                      </a:r>
                      <a:r>
                        <a:rPr dirty="0" sz="750" spc="9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&lt;=&gt;</a:t>
                      </a:r>
                      <a:r>
                        <a:rPr dirty="0" sz="750" spc="9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CAST(:embedding</a:t>
                      </a:r>
                      <a:r>
                        <a:rPr dirty="0" sz="750" spc="9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 spc="-25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AS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vector)</a:t>
                      </a:r>
                      <a:r>
                        <a:rPr dirty="0" sz="750" spc="55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AS</a:t>
                      </a:r>
                      <a:r>
                        <a:rPr dirty="0" sz="750" spc="6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 spc="-1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distance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29209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just" marL="68580" marR="133350">
                        <a:lnSpc>
                          <a:spcPct val="118700"/>
                        </a:lnSpc>
                        <a:spcBef>
                          <a:spcPts val="295"/>
                        </a:spcBef>
                      </a:pPr>
                      <a:r>
                        <a:rPr dirty="0" sz="950" spc="-7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Selects</a:t>
                      </a:r>
                      <a:r>
                        <a:rPr dirty="0" sz="950" spc="-3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each</a:t>
                      </a:r>
                      <a:r>
                        <a:rPr dirty="0" sz="950" spc="-3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chunk's</a:t>
                      </a:r>
                      <a:r>
                        <a:rPr dirty="0" sz="950" spc="-3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text</a:t>
                      </a:r>
                      <a:r>
                        <a:rPr dirty="0" sz="950" spc="-3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plus</a:t>
                      </a:r>
                      <a:r>
                        <a:rPr dirty="0" sz="950" spc="-3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6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its</a:t>
                      </a:r>
                      <a:r>
                        <a:rPr dirty="0" sz="950" spc="-3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cosine</a:t>
                      </a:r>
                      <a:r>
                        <a:rPr dirty="0" sz="950" spc="-3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distance</a:t>
                      </a:r>
                      <a:r>
                        <a:rPr dirty="0" sz="950" spc="-3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5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(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750" spc="1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&lt;=&gt; </a:t>
                      </a:r>
                      <a:r>
                        <a:rPr dirty="0" sz="950" spc="-6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is</a:t>
                      </a:r>
                      <a:r>
                        <a:rPr dirty="0" sz="950" spc="-3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pgvector's</a:t>
                      </a:r>
                      <a:r>
                        <a:rPr dirty="0" sz="950" spc="-3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cosine-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distance</a:t>
                      </a:r>
                      <a:r>
                        <a:rPr dirty="0" sz="950" spc="-3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operator)</a:t>
                      </a:r>
                      <a:r>
                        <a:rPr dirty="0" sz="950" spc="-3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from</a:t>
                      </a:r>
                      <a:r>
                        <a:rPr dirty="0" sz="950" spc="-3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the</a:t>
                      </a:r>
                      <a:r>
                        <a:rPr dirty="0" sz="950" spc="-3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query</a:t>
                      </a:r>
                      <a:r>
                        <a:rPr dirty="0" sz="950" spc="-3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embedding.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37465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FROM</a:t>
                      </a:r>
                      <a:r>
                        <a:rPr dirty="0" sz="750" spc="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 spc="-1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document_chunks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90170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950" spc="-9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Reads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from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the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table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populated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earlier.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64769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80102" y="6315204"/>
            <a:ext cx="6202680" cy="3566795"/>
          </a:xfrm>
          <a:custGeom>
            <a:avLst/>
            <a:gdLst/>
            <a:ahLst/>
            <a:cxnLst/>
            <a:rect l="l" t="t" r="r" b="b"/>
            <a:pathLst>
              <a:path w="6202680" h="3566795">
                <a:moveTo>
                  <a:pt x="6151728" y="3566211"/>
                </a:moveTo>
                <a:lnTo>
                  <a:pt x="50390" y="3566211"/>
                </a:lnTo>
                <a:lnTo>
                  <a:pt x="46883" y="3565863"/>
                </a:lnTo>
                <a:lnTo>
                  <a:pt x="11056" y="3545177"/>
                </a:lnTo>
                <a:lnTo>
                  <a:pt x="0" y="3515822"/>
                </a:lnTo>
                <a:lnTo>
                  <a:pt x="0" y="3512287"/>
                </a:lnTo>
                <a:lnTo>
                  <a:pt x="0" y="50382"/>
                </a:lnTo>
                <a:lnTo>
                  <a:pt x="18300" y="13285"/>
                </a:lnTo>
                <a:lnTo>
                  <a:pt x="50390" y="0"/>
                </a:lnTo>
                <a:lnTo>
                  <a:pt x="6151728" y="0"/>
                </a:lnTo>
                <a:lnTo>
                  <a:pt x="6188826" y="18295"/>
                </a:lnTo>
                <a:lnTo>
                  <a:pt x="6202118" y="50382"/>
                </a:lnTo>
                <a:lnTo>
                  <a:pt x="6202118" y="3515822"/>
                </a:lnTo>
                <a:lnTo>
                  <a:pt x="6183818" y="3552913"/>
                </a:lnTo>
                <a:lnTo>
                  <a:pt x="6155235" y="3565863"/>
                </a:lnTo>
                <a:lnTo>
                  <a:pt x="6151728" y="3566211"/>
                </a:lnTo>
                <a:close/>
              </a:path>
            </a:pathLst>
          </a:custGeom>
          <a:solidFill>
            <a:srgbClr val="0E172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754257" y="652400"/>
            <a:ext cx="2952750" cy="141605"/>
          </a:xfrm>
          <a:custGeom>
            <a:avLst/>
            <a:gdLst/>
            <a:ahLst/>
            <a:cxnLst/>
            <a:rect l="l" t="t" r="r" b="b"/>
            <a:pathLst>
              <a:path w="2952750" h="141604">
                <a:moveTo>
                  <a:pt x="2929357" y="141563"/>
                </a:moveTo>
                <a:lnTo>
                  <a:pt x="23389" y="141563"/>
                </a:lnTo>
                <a:lnTo>
                  <a:pt x="19950" y="140879"/>
                </a:lnTo>
                <a:lnTo>
                  <a:pt x="0" y="118179"/>
                </a:lnTo>
                <a:lnTo>
                  <a:pt x="0" y="114604"/>
                </a:lnTo>
                <a:lnTo>
                  <a:pt x="0" y="23384"/>
                </a:lnTo>
                <a:lnTo>
                  <a:pt x="23389" y="0"/>
                </a:lnTo>
                <a:lnTo>
                  <a:pt x="2929357" y="0"/>
                </a:lnTo>
                <a:lnTo>
                  <a:pt x="2952747" y="23384"/>
                </a:lnTo>
                <a:lnTo>
                  <a:pt x="2952747" y="118179"/>
                </a:lnTo>
                <a:lnTo>
                  <a:pt x="2932797" y="140879"/>
                </a:lnTo>
                <a:lnTo>
                  <a:pt x="2929357" y="141563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754257" y="1104076"/>
            <a:ext cx="822960" cy="141605"/>
          </a:xfrm>
          <a:custGeom>
            <a:avLst/>
            <a:gdLst/>
            <a:ahLst/>
            <a:cxnLst/>
            <a:rect l="l" t="t" r="r" b="b"/>
            <a:pathLst>
              <a:path w="822960" h="141605">
                <a:moveTo>
                  <a:pt x="799065" y="141563"/>
                </a:moveTo>
                <a:lnTo>
                  <a:pt x="23389" y="141563"/>
                </a:lnTo>
                <a:lnTo>
                  <a:pt x="19950" y="140879"/>
                </a:lnTo>
                <a:lnTo>
                  <a:pt x="0" y="118172"/>
                </a:lnTo>
                <a:lnTo>
                  <a:pt x="0" y="114604"/>
                </a:lnTo>
                <a:lnTo>
                  <a:pt x="0" y="23384"/>
                </a:lnTo>
                <a:lnTo>
                  <a:pt x="23389" y="0"/>
                </a:lnTo>
                <a:lnTo>
                  <a:pt x="799065" y="0"/>
                </a:lnTo>
                <a:lnTo>
                  <a:pt x="822454" y="23384"/>
                </a:lnTo>
                <a:lnTo>
                  <a:pt x="822454" y="118172"/>
                </a:lnTo>
                <a:lnTo>
                  <a:pt x="802504" y="140879"/>
                </a:lnTo>
                <a:lnTo>
                  <a:pt x="799065" y="141563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5554159" y="1104076"/>
            <a:ext cx="351155" cy="141605"/>
          </a:xfrm>
          <a:custGeom>
            <a:avLst/>
            <a:gdLst/>
            <a:ahLst/>
            <a:cxnLst/>
            <a:rect l="l" t="t" r="r" b="b"/>
            <a:pathLst>
              <a:path w="351154" h="141605">
                <a:moveTo>
                  <a:pt x="327164" y="141563"/>
                </a:moveTo>
                <a:lnTo>
                  <a:pt x="23389" y="141563"/>
                </a:lnTo>
                <a:lnTo>
                  <a:pt x="19949" y="140879"/>
                </a:lnTo>
                <a:lnTo>
                  <a:pt x="0" y="118172"/>
                </a:lnTo>
                <a:lnTo>
                  <a:pt x="0" y="114604"/>
                </a:lnTo>
                <a:lnTo>
                  <a:pt x="0" y="23384"/>
                </a:lnTo>
                <a:lnTo>
                  <a:pt x="23389" y="0"/>
                </a:lnTo>
                <a:lnTo>
                  <a:pt x="327164" y="0"/>
                </a:lnTo>
                <a:lnTo>
                  <a:pt x="350554" y="23384"/>
                </a:lnTo>
                <a:lnTo>
                  <a:pt x="350554" y="118172"/>
                </a:lnTo>
                <a:lnTo>
                  <a:pt x="330604" y="140879"/>
                </a:lnTo>
                <a:lnTo>
                  <a:pt x="327164" y="141563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754257" y="1393958"/>
            <a:ext cx="290195" cy="141605"/>
          </a:xfrm>
          <a:custGeom>
            <a:avLst/>
            <a:gdLst/>
            <a:ahLst/>
            <a:cxnLst/>
            <a:rect l="l" t="t" r="r" b="b"/>
            <a:pathLst>
              <a:path w="290194" h="141605">
                <a:moveTo>
                  <a:pt x="266491" y="141563"/>
                </a:moveTo>
                <a:lnTo>
                  <a:pt x="23389" y="141563"/>
                </a:lnTo>
                <a:lnTo>
                  <a:pt x="19950" y="140879"/>
                </a:lnTo>
                <a:lnTo>
                  <a:pt x="0" y="118179"/>
                </a:lnTo>
                <a:lnTo>
                  <a:pt x="0" y="114604"/>
                </a:lnTo>
                <a:lnTo>
                  <a:pt x="0" y="23384"/>
                </a:lnTo>
                <a:lnTo>
                  <a:pt x="23389" y="0"/>
                </a:lnTo>
                <a:lnTo>
                  <a:pt x="266491" y="0"/>
                </a:lnTo>
                <a:lnTo>
                  <a:pt x="289881" y="23384"/>
                </a:lnTo>
                <a:lnTo>
                  <a:pt x="289881" y="118179"/>
                </a:lnTo>
                <a:lnTo>
                  <a:pt x="269931" y="140879"/>
                </a:lnTo>
                <a:lnTo>
                  <a:pt x="266491" y="141563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5567641" y="1393958"/>
            <a:ext cx="586740" cy="141605"/>
          </a:xfrm>
          <a:custGeom>
            <a:avLst/>
            <a:gdLst/>
            <a:ahLst/>
            <a:cxnLst/>
            <a:rect l="l" t="t" r="r" b="b"/>
            <a:pathLst>
              <a:path w="586739" h="141605">
                <a:moveTo>
                  <a:pt x="563114" y="141563"/>
                </a:moveTo>
                <a:lnTo>
                  <a:pt x="23390" y="141563"/>
                </a:lnTo>
                <a:lnTo>
                  <a:pt x="19949" y="140879"/>
                </a:lnTo>
                <a:lnTo>
                  <a:pt x="0" y="118179"/>
                </a:lnTo>
                <a:lnTo>
                  <a:pt x="0" y="114604"/>
                </a:lnTo>
                <a:lnTo>
                  <a:pt x="0" y="23384"/>
                </a:lnTo>
                <a:lnTo>
                  <a:pt x="23390" y="0"/>
                </a:lnTo>
                <a:lnTo>
                  <a:pt x="563114" y="0"/>
                </a:lnTo>
                <a:lnTo>
                  <a:pt x="586504" y="23384"/>
                </a:lnTo>
                <a:lnTo>
                  <a:pt x="586504" y="118179"/>
                </a:lnTo>
                <a:lnTo>
                  <a:pt x="566554" y="140879"/>
                </a:lnTo>
                <a:lnTo>
                  <a:pt x="563114" y="141563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754253" y="1683828"/>
            <a:ext cx="2568575" cy="316865"/>
          </a:xfrm>
          <a:custGeom>
            <a:avLst/>
            <a:gdLst/>
            <a:ahLst/>
            <a:cxnLst/>
            <a:rect l="l" t="t" r="r" b="b"/>
            <a:pathLst>
              <a:path w="2568575" h="316864">
                <a:moveTo>
                  <a:pt x="2453881" y="198666"/>
                </a:moveTo>
                <a:lnTo>
                  <a:pt x="2430488" y="175285"/>
                </a:lnTo>
                <a:lnTo>
                  <a:pt x="0" y="175285"/>
                </a:lnTo>
                <a:lnTo>
                  <a:pt x="0" y="316852"/>
                </a:lnTo>
                <a:lnTo>
                  <a:pt x="2430488" y="316852"/>
                </a:lnTo>
                <a:lnTo>
                  <a:pt x="2453881" y="293458"/>
                </a:lnTo>
                <a:lnTo>
                  <a:pt x="2453881" y="198666"/>
                </a:lnTo>
                <a:close/>
              </a:path>
              <a:path w="2568575" h="316864">
                <a:moveTo>
                  <a:pt x="2568486" y="0"/>
                </a:moveTo>
                <a:lnTo>
                  <a:pt x="23393" y="0"/>
                </a:lnTo>
                <a:lnTo>
                  <a:pt x="19951" y="698"/>
                </a:lnTo>
                <a:lnTo>
                  <a:pt x="0" y="23380"/>
                </a:lnTo>
                <a:lnTo>
                  <a:pt x="0" y="118186"/>
                </a:lnTo>
                <a:lnTo>
                  <a:pt x="23393" y="141579"/>
                </a:lnTo>
                <a:lnTo>
                  <a:pt x="2568486" y="141579"/>
                </a:lnTo>
                <a:lnTo>
                  <a:pt x="2568486" y="0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4145198" y="1859117"/>
            <a:ext cx="647700" cy="141605"/>
          </a:xfrm>
          <a:custGeom>
            <a:avLst/>
            <a:gdLst/>
            <a:ahLst/>
            <a:cxnLst/>
            <a:rect l="l" t="t" r="r" b="b"/>
            <a:pathLst>
              <a:path w="647700" h="141605">
                <a:moveTo>
                  <a:pt x="623787" y="141563"/>
                </a:moveTo>
                <a:lnTo>
                  <a:pt x="23390" y="141563"/>
                </a:lnTo>
                <a:lnTo>
                  <a:pt x="19950" y="140879"/>
                </a:lnTo>
                <a:lnTo>
                  <a:pt x="0" y="118172"/>
                </a:lnTo>
                <a:lnTo>
                  <a:pt x="0" y="114604"/>
                </a:lnTo>
                <a:lnTo>
                  <a:pt x="0" y="23384"/>
                </a:lnTo>
                <a:lnTo>
                  <a:pt x="23390" y="0"/>
                </a:lnTo>
                <a:lnTo>
                  <a:pt x="623787" y="0"/>
                </a:lnTo>
                <a:lnTo>
                  <a:pt x="647177" y="23384"/>
                </a:lnTo>
                <a:lnTo>
                  <a:pt x="647177" y="118172"/>
                </a:lnTo>
                <a:lnTo>
                  <a:pt x="627227" y="140879"/>
                </a:lnTo>
                <a:lnTo>
                  <a:pt x="623787" y="141563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5176638" y="2034394"/>
            <a:ext cx="1065530" cy="141605"/>
          </a:xfrm>
          <a:custGeom>
            <a:avLst/>
            <a:gdLst/>
            <a:ahLst/>
            <a:cxnLst/>
            <a:rect l="l" t="t" r="r" b="b"/>
            <a:pathLst>
              <a:path w="1065529" h="141605">
                <a:moveTo>
                  <a:pt x="1041756" y="141563"/>
                </a:moveTo>
                <a:lnTo>
                  <a:pt x="23390" y="141563"/>
                </a:lnTo>
                <a:lnTo>
                  <a:pt x="19950" y="140879"/>
                </a:lnTo>
                <a:lnTo>
                  <a:pt x="0" y="118172"/>
                </a:lnTo>
                <a:lnTo>
                  <a:pt x="0" y="114604"/>
                </a:lnTo>
                <a:lnTo>
                  <a:pt x="0" y="23384"/>
                </a:lnTo>
                <a:lnTo>
                  <a:pt x="23390" y="0"/>
                </a:lnTo>
                <a:lnTo>
                  <a:pt x="1041756" y="0"/>
                </a:lnTo>
                <a:lnTo>
                  <a:pt x="1065146" y="23384"/>
                </a:lnTo>
                <a:lnTo>
                  <a:pt x="1065146" y="118172"/>
                </a:lnTo>
                <a:lnTo>
                  <a:pt x="1045196" y="140879"/>
                </a:lnTo>
                <a:lnTo>
                  <a:pt x="1041756" y="141563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4145198" y="2209671"/>
            <a:ext cx="404495" cy="141605"/>
          </a:xfrm>
          <a:custGeom>
            <a:avLst/>
            <a:gdLst/>
            <a:ahLst/>
            <a:cxnLst/>
            <a:rect l="l" t="t" r="r" b="b"/>
            <a:pathLst>
              <a:path w="404495" h="141605">
                <a:moveTo>
                  <a:pt x="381095" y="141563"/>
                </a:moveTo>
                <a:lnTo>
                  <a:pt x="23390" y="141563"/>
                </a:lnTo>
                <a:lnTo>
                  <a:pt x="19950" y="140872"/>
                </a:lnTo>
                <a:lnTo>
                  <a:pt x="0" y="118179"/>
                </a:lnTo>
                <a:lnTo>
                  <a:pt x="0" y="114604"/>
                </a:lnTo>
                <a:lnTo>
                  <a:pt x="0" y="23384"/>
                </a:lnTo>
                <a:lnTo>
                  <a:pt x="23390" y="0"/>
                </a:lnTo>
                <a:lnTo>
                  <a:pt x="381095" y="0"/>
                </a:lnTo>
                <a:lnTo>
                  <a:pt x="404486" y="23384"/>
                </a:lnTo>
                <a:lnTo>
                  <a:pt x="404486" y="118179"/>
                </a:lnTo>
                <a:lnTo>
                  <a:pt x="384535" y="140872"/>
                </a:lnTo>
                <a:lnTo>
                  <a:pt x="381095" y="141563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754257" y="2499553"/>
            <a:ext cx="762000" cy="141605"/>
          </a:xfrm>
          <a:custGeom>
            <a:avLst/>
            <a:gdLst/>
            <a:ahLst/>
            <a:cxnLst/>
            <a:rect l="l" t="t" r="r" b="b"/>
            <a:pathLst>
              <a:path w="762000" h="141605">
                <a:moveTo>
                  <a:pt x="738392" y="141563"/>
                </a:moveTo>
                <a:lnTo>
                  <a:pt x="23389" y="141563"/>
                </a:lnTo>
                <a:lnTo>
                  <a:pt x="19950" y="140872"/>
                </a:lnTo>
                <a:lnTo>
                  <a:pt x="0" y="118172"/>
                </a:lnTo>
                <a:lnTo>
                  <a:pt x="0" y="114604"/>
                </a:lnTo>
                <a:lnTo>
                  <a:pt x="0" y="23390"/>
                </a:lnTo>
                <a:lnTo>
                  <a:pt x="23389" y="0"/>
                </a:lnTo>
                <a:lnTo>
                  <a:pt x="738392" y="0"/>
                </a:lnTo>
                <a:lnTo>
                  <a:pt x="761781" y="23390"/>
                </a:lnTo>
                <a:lnTo>
                  <a:pt x="761781" y="118172"/>
                </a:lnTo>
                <a:lnTo>
                  <a:pt x="741831" y="140872"/>
                </a:lnTo>
                <a:lnTo>
                  <a:pt x="738392" y="141563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754257" y="2957970"/>
            <a:ext cx="1773555" cy="141605"/>
          </a:xfrm>
          <a:custGeom>
            <a:avLst/>
            <a:gdLst/>
            <a:ahLst/>
            <a:cxnLst/>
            <a:rect l="l" t="t" r="r" b="b"/>
            <a:pathLst>
              <a:path w="1773555" h="141605">
                <a:moveTo>
                  <a:pt x="1749607" y="141563"/>
                </a:moveTo>
                <a:lnTo>
                  <a:pt x="23389" y="141563"/>
                </a:lnTo>
                <a:lnTo>
                  <a:pt x="19950" y="140879"/>
                </a:lnTo>
                <a:lnTo>
                  <a:pt x="0" y="118179"/>
                </a:lnTo>
                <a:lnTo>
                  <a:pt x="0" y="114604"/>
                </a:lnTo>
                <a:lnTo>
                  <a:pt x="0" y="23377"/>
                </a:lnTo>
                <a:lnTo>
                  <a:pt x="23389" y="0"/>
                </a:lnTo>
                <a:lnTo>
                  <a:pt x="1749607" y="0"/>
                </a:lnTo>
                <a:lnTo>
                  <a:pt x="1772996" y="23377"/>
                </a:lnTo>
                <a:lnTo>
                  <a:pt x="1772996" y="118179"/>
                </a:lnTo>
                <a:lnTo>
                  <a:pt x="1753046" y="140879"/>
                </a:lnTo>
                <a:lnTo>
                  <a:pt x="1749607" y="141563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4387890" y="3126506"/>
            <a:ext cx="1004569" cy="141605"/>
          </a:xfrm>
          <a:custGeom>
            <a:avLst/>
            <a:gdLst/>
            <a:ahLst/>
            <a:cxnLst/>
            <a:rect l="l" t="t" r="r" b="b"/>
            <a:pathLst>
              <a:path w="1004570" h="141604">
                <a:moveTo>
                  <a:pt x="981083" y="141563"/>
                </a:moveTo>
                <a:lnTo>
                  <a:pt x="23390" y="141563"/>
                </a:lnTo>
                <a:lnTo>
                  <a:pt x="19949" y="140879"/>
                </a:lnTo>
                <a:lnTo>
                  <a:pt x="0" y="118172"/>
                </a:lnTo>
                <a:lnTo>
                  <a:pt x="0" y="114604"/>
                </a:lnTo>
                <a:lnTo>
                  <a:pt x="0" y="23384"/>
                </a:lnTo>
                <a:lnTo>
                  <a:pt x="23390" y="0"/>
                </a:lnTo>
                <a:lnTo>
                  <a:pt x="981083" y="0"/>
                </a:lnTo>
                <a:lnTo>
                  <a:pt x="1004473" y="23384"/>
                </a:lnTo>
                <a:lnTo>
                  <a:pt x="1004473" y="118172"/>
                </a:lnTo>
                <a:lnTo>
                  <a:pt x="984522" y="140879"/>
                </a:lnTo>
                <a:lnTo>
                  <a:pt x="981083" y="141563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754257" y="3416388"/>
            <a:ext cx="1119505" cy="141605"/>
          </a:xfrm>
          <a:custGeom>
            <a:avLst/>
            <a:gdLst/>
            <a:ahLst/>
            <a:cxnLst/>
            <a:rect l="l" t="t" r="r" b="b"/>
            <a:pathLst>
              <a:path w="1119505" h="141604">
                <a:moveTo>
                  <a:pt x="1095688" y="141563"/>
                </a:moveTo>
                <a:lnTo>
                  <a:pt x="23389" y="141563"/>
                </a:lnTo>
                <a:lnTo>
                  <a:pt x="19950" y="140879"/>
                </a:lnTo>
                <a:lnTo>
                  <a:pt x="0" y="118179"/>
                </a:lnTo>
                <a:lnTo>
                  <a:pt x="0" y="114604"/>
                </a:lnTo>
                <a:lnTo>
                  <a:pt x="0" y="23377"/>
                </a:lnTo>
                <a:lnTo>
                  <a:pt x="23389" y="0"/>
                </a:lnTo>
                <a:lnTo>
                  <a:pt x="1095688" y="0"/>
                </a:lnTo>
                <a:lnTo>
                  <a:pt x="1119077" y="23377"/>
                </a:lnTo>
                <a:lnTo>
                  <a:pt x="1119077" y="118179"/>
                </a:lnTo>
                <a:lnTo>
                  <a:pt x="1099127" y="140879"/>
                </a:lnTo>
                <a:lnTo>
                  <a:pt x="1095688" y="141563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6194594" y="3416388"/>
            <a:ext cx="526415" cy="141605"/>
          </a:xfrm>
          <a:custGeom>
            <a:avLst/>
            <a:gdLst/>
            <a:ahLst/>
            <a:cxnLst/>
            <a:rect l="l" t="t" r="r" b="b"/>
            <a:pathLst>
              <a:path w="526415" h="141604">
                <a:moveTo>
                  <a:pt x="502441" y="141563"/>
                </a:moveTo>
                <a:lnTo>
                  <a:pt x="23390" y="141563"/>
                </a:lnTo>
                <a:lnTo>
                  <a:pt x="19949" y="140879"/>
                </a:lnTo>
                <a:lnTo>
                  <a:pt x="0" y="118179"/>
                </a:lnTo>
                <a:lnTo>
                  <a:pt x="0" y="114604"/>
                </a:lnTo>
                <a:lnTo>
                  <a:pt x="0" y="23377"/>
                </a:lnTo>
                <a:lnTo>
                  <a:pt x="23390" y="0"/>
                </a:lnTo>
                <a:lnTo>
                  <a:pt x="502441" y="0"/>
                </a:lnTo>
                <a:lnTo>
                  <a:pt x="525831" y="23377"/>
                </a:lnTo>
                <a:lnTo>
                  <a:pt x="525831" y="118179"/>
                </a:lnTo>
                <a:lnTo>
                  <a:pt x="505881" y="140879"/>
                </a:lnTo>
                <a:lnTo>
                  <a:pt x="502441" y="141563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4354183" y="3591665"/>
            <a:ext cx="586740" cy="141605"/>
          </a:xfrm>
          <a:custGeom>
            <a:avLst/>
            <a:gdLst/>
            <a:ahLst/>
            <a:cxnLst/>
            <a:rect l="l" t="t" r="r" b="b"/>
            <a:pathLst>
              <a:path w="586739" h="141604">
                <a:moveTo>
                  <a:pt x="563115" y="141563"/>
                </a:moveTo>
                <a:lnTo>
                  <a:pt x="23390" y="141563"/>
                </a:lnTo>
                <a:lnTo>
                  <a:pt x="19949" y="140872"/>
                </a:lnTo>
                <a:lnTo>
                  <a:pt x="0" y="118172"/>
                </a:lnTo>
                <a:lnTo>
                  <a:pt x="0" y="114604"/>
                </a:lnTo>
                <a:lnTo>
                  <a:pt x="0" y="23377"/>
                </a:lnTo>
                <a:lnTo>
                  <a:pt x="23390" y="0"/>
                </a:lnTo>
                <a:lnTo>
                  <a:pt x="563115" y="0"/>
                </a:lnTo>
                <a:lnTo>
                  <a:pt x="586504" y="23377"/>
                </a:lnTo>
                <a:lnTo>
                  <a:pt x="586504" y="118172"/>
                </a:lnTo>
                <a:lnTo>
                  <a:pt x="566554" y="140872"/>
                </a:lnTo>
                <a:lnTo>
                  <a:pt x="563115" y="141563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754257" y="3881547"/>
            <a:ext cx="944244" cy="141605"/>
          </a:xfrm>
          <a:custGeom>
            <a:avLst/>
            <a:gdLst/>
            <a:ahLst/>
            <a:cxnLst/>
            <a:rect l="l" t="t" r="r" b="b"/>
            <a:pathLst>
              <a:path w="944244" h="141604">
                <a:moveTo>
                  <a:pt x="920410" y="141563"/>
                </a:moveTo>
                <a:lnTo>
                  <a:pt x="23389" y="141563"/>
                </a:lnTo>
                <a:lnTo>
                  <a:pt x="19950" y="140872"/>
                </a:lnTo>
                <a:lnTo>
                  <a:pt x="0" y="118172"/>
                </a:lnTo>
                <a:lnTo>
                  <a:pt x="0" y="114604"/>
                </a:lnTo>
                <a:lnTo>
                  <a:pt x="0" y="23384"/>
                </a:lnTo>
                <a:lnTo>
                  <a:pt x="23389" y="0"/>
                </a:lnTo>
                <a:lnTo>
                  <a:pt x="920410" y="0"/>
                </a:lnTo>
                <a:lnTo>
                  <a:pt x="943800" y="23384"/>
                </a:lnTo>
                <a:lnTo>
                  <a:pt x="943800" y="118172"/>
                </a:lnTo>
                <a:lnTo>
                  <a:pt x="923850" y="140872"/>
                </a:lnTo>
                <a:lnTo>
                  <a:pt x="920410" y="141563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754257" y="4171429"/>
            <a:ext cx="1476375" cy="141605"/>
          </a:xfrm>
          <a:custGeom>
            <a:avLst/>
            <a:gdLst/>
            <a:ahLst/>
            <a:cxnLst/>
            <a:rect l="l" t="t" r="r" b="b"/>
            <a:pathLst>
              <a:path w="1476375" h="141604">
                <a:moveTo>
                  <a:pt x="1452984" y="141563"/>
                </a:moveTo>
                <a:lnTo>
                  <a:pt x="23389" y="141563"/>
                </a:lnTo>
                <a:lnTo>
                  <a:pt x="19950" y="140879"/>
                </a:lnTo>
                <a:lnTo>
                  <a:pt x="0" y="118172"/>
                </a:lnTo>
                <a:lnTo>
                  <a:pt x="0" y="114604"/>
                </a:lnTo>
                <a:lnTo>
                  <a:pt x="0" y="23384"/>
                </a:lnTo>
                <a:lnTo>
                  <a:pt x="23389" y="0"/>
                </a:lnTo>
                <a:lnTo>
                  <a:pt x="1452984" y="0"/>
                </a:lnTo>
                <a:lnTo>
                  <a:pt x="1476373" y="23384"/>
                </a:lnTo>
                <a:lnTo>
                  <a:pt x="1476373" y="118172"/>
                </a:lnTo>
                <a:lnTo>
                  <a:pt x="1456423" y="140879"/>
                </a:lnTo>
                <a:lnTo>
                  <a:pt x="1452984" y="141563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754257" y="4629846"/>
            <a:ext cx="1773555" cy="141605"/>
          </a:xfrm>
          <a:custGeom>
            <a:avLst/>
            <a:gdLst/>
            <a:ahLst/>
            <a:cxnLst/>
            <a:rect l="l" t="t" r="r" b="b"/>
            <a:pathLst>
              <a:path w="1773555" h="141604">
                <a:moveTo>
                  <a:pt x="1749607" y="141563"/>
                </a:moveTo>
                <a:lnTo>
                  <a:pt x="23389" y="141563"/>
                </a:lnTo>
                <a:lnTo>
                  <a:pt x="19950" y="140872"/>
                </a:lnTo>
                <a:lnTo>
                  <a:pt x="0" y="118172"/>
                </a:lnTo>
                <a:lnTo>
                  <a:pt x="0" y="114604"/>
                </a:lnTo>
                <a:lnTo>
                  <a:pt x="0" y="23377"/>
                </a:lnTo>
                <a:lnTo>
                  <a:pt x="23389" y="0"/>
                </a:lnTo>
                <a:lnTo>
                  <a:pt x="1749607" y="0"/>
                </a:lnTo>
                <a:lnTo>
                  <a:pt x="1772996" y="23377"/>
                </a:lnTo>
                <a:lnTo>
                  <a:pt x="1772996" y="118172"/>
                </a:lnTo>
                <a:lnTo>
                  <a:pt x="1753046" y="140872"/>
                </a:lnTo>
                <a:lnTo>
                  <a:pt x="1749607" y="141563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4145198" y="4798382"/>
            <a:ext cx="465455" cy="141605"/>
          </a:xfrm>
          <a:custGeom>
            <a:avLst/>
            <a:gdLst/>
            <a:ahLst/>
            <a:cxnLst/>
            <a:rect l="l" t="t" r="r" b="b"/>
            <a:pathLst>
              <a:path w="465454" h="141604">
                <a:moveTo>
                  <a:pt x="441769" y="141563"/>
                </a:moveTo>
                <a:lnTo>
                  <a:pt x="23390" y="141563"/>
                </a:lnTo>
                <a:lnTo>
                  <a:pt x="19950" y="140872"/>
                </a:lnTo>
                <a:lnTo>
                  <a:pt x="0" y="118172"/>
                </a:lnTo>
                <a:lnTo>
                  <a:pt x="0" y="114604"/>
                </a:lnTo>
                <a:lnTo>
                  <a:pt x="0" y="23384"/>
                </a:lnTo>
                <a:lnTo>
                  <a:pt x="23390" y="0"/>
                </a:lnTo>
                <a:lnTo>
                  <a:pt x="441769" y="0"/>
                </a:lnTo>
                <a:lnTo>
                  <a:pt x="465158" y="23384"/>
                </a:lnTo>
                <a:lnTo>
                  <a:pt x="465158" y="118172"/>
                </a:lnTo>
                <a:lnTo>
                  <a:pt x="445209" y="140872"/>
                </a:lnTo>
                <a:lnTo>
                  <a:pt x="441769" y="141563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754257" y="5088264"/>
            <a:ext cx="883285" cy="141605"/>
          </a:xfrm>
          <a:custGeom>
            <a:avLst/>
            <a:gdLst/>
            <a:ahLst/>
            <a:cxnLst/>
            <a:rect l="l" t="t" r="r" b="b"/>
            <a:pathLst>
              <a:path w="883285" h="141604">
                <a:moveTo>
                  <a:pt x="859737" y="141563"/>
                </a:moveTo>
                <a:lnTo>
                  <a:pt x="23389" y="141563"/>
                </a:lnTo>
                <a:lnTo>
                  <a:pt x="19950" y="140879"/>
                </a:lnTo>
                <a:lnTo>
                  <a:pt x="0" y="118172"/>
                </a:lnTo>
                <a:lnTo>
                  <a:pt x="0" y="114604"/>
                </a:lnTo>
                <a:lnTo>
                  <a:pt x="0" y="23384"/>
                </a:lnTo>
                <a:lnTo>
                  <a:pt x="23389" y="0"/>
                </a:lnTo>
                <a:lnTo>
                  <a:pt x="859737" y="0"/>
                </a:lnTo>
                <a:lnTo>
                  <a:pt x="883127" y="23384"/>
                </a:lnTo>
                <a:lnTo>
                  <a:pt x="883127" y="118172"/>
                </a:lnTo>
                <a:lnTo>
                  <a:pt x="863177" y="140879"/>
                </a:lnTo>
                <a:lnTo>
                  <a:pt x="859737" y="141563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graphicFrame>
        <p:nvGraphicFramePr>
          <p:cNvPr id="23" name="object 23"/>
          <p:cNvGraphicFramePr>
            <a:graphicFrameLocks noGrp="1"/>
          </p:cNvGraphicFramePr>
          <p:nvPr/>
        </p:nvGraphicFramePr>
        <p:xfrm>
          <a:off x="680102" y="571503"/>
          <a:ext cx="6278880" cy="48895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390900"/>
                <a:gridCol w="2804160"/>
              </a:tblGrid>
              <a:tr h="451484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ORDER</a:t>
                      </a:r>
                      <a:r>
                        <a:rPr dirty="0" sz="750" spc="7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BY</a:t>
                      </a:r>
                      <a:r>
                        <a:rPr dirty="0" sz="750" spc="7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embedding</a:t>
                      </a:r>
                      <a:r>
                        <a:rPr dirty="0" sz="750" spc="7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&lt;=&gt;</a:t>
                      </a:r>
                      <a:r>
                        <a:rPr dirty="0" sz="750" spc="7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CAST(:embedding</a:t>
                      </a:r>
                      <a:r>
                        <a:rPr dirty="0" sz="750" spc="75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AS</a:t>
                      </a:r>
                      <a:r>
                        <a:rPr dirty="0" sz="750" spc="7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 spc="-1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vector)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90170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 marR="177800">
                        <a:lnSpc>
                          <a:spcPct val="116399"/>
                        </a:lnSpc>
                        <a:spcBef>
                          <a:spcPts val="320"/>
                        </a:spcBef>
                      </a:pP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Sorts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rows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by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ascending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distance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00" spc="-180">
                          <a:solidFill>
                            <a:srgbClr val="111726"/>
                          </a:solidFill>
                          <a:latin typeface="Arial"/>
                          <a:cs typeface="Arial"/>
                        </a:rPr>
                        <a:t>—</a:t>
                      </a:r>
                      <a:r>
                        <a:rPr dirty="0" sz="900" spc="-40">
                          <a:solidFill>
                            <a:srgbClr val="111726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the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closest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6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(most</a:t>
                      </a:r>
                      <a:r>
                        <a:rPr dirty="0" sz="950" spc="50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semantically</a:t>
                      </a:r>
                      <a:r>
                        <a:rPr dirty="0" sz="950" spc="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similar)</a:t>
                      </a:r>
                      <a:r>
                        <a:rPr dirty="0" sz="950" spc="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chunks</a:t>
                      </a:r>
                      <a:r>
                        <a:rPr dirty="0" sz="950" spc="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10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come</a:t>
                      </a:r>
                      <a:r>
                        <a:rPr dirty="0" sz="950" spc="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00" spc="-20">
                          <a:solidFill>
                            <a:srgbClr val="111726"/>
                          </a:solidFill>
                          <a:latin typeface="Arial"/>
                          <a:cs typeface="Arial"/>
                        </a:rPr>
                        <a:t>ﬁ</a:t>
                      </a:r>
                      <a:r>
                        <a:rPr dirty="0" sz="950" spc="-2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rst.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40640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LIMIT</a:t>
                      </a:r>
                      <a:r>
                        <a:rPr dirty="0" sz="750" spc="6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 spc="-1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:top_k;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90170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Restricts</a:t>
                      </a:r>
                      <a:r>
                        <a:rPr dirty="0" sz="950" spc="-2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the</a:t>
                      </a:r>
                      <a:r>
                        <a:rPr dirty="0" sz="950" spc="-2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result</a:t>
                      </a:r>
                      <a:r>
                        <a:rPr dirty="0" sz="950" spc="-2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to</a:t>
                      </a:r>
                      <a:r>
                        <a:rPr dirty="0" sz="950" spc="-2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the</a:t>
                      </a:r>
                      <a:r>
                        <a:rPr dirty="0" sz="950" spc="-2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4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top</a:t>
                      </a:r>
                      <a:r>
                        <a:rPr dirty="0" sz="950" spc="2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top_k</a:t>
                      </a:r>
                      <a:r>
                        <a:rPr dirty="0" sz="750" spc="-3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closest</a:t>
                      </a:r>
                      <a:r>
                        <a:rPr dirty="0" sz="950" spc="-2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2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rows.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64769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dirty="0" sz="750" spc="-2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""")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90170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Closes</a:t>
                      </a:r>
                      <a:r>
                        <a:rPr dirty="0" sz="950" spc="-3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the</a:t>
                      </a:r>
                      <a:r>
                        <a:rPr dirty="0" sz="950" spc="-3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SQL</a:t>
                      </a:r>
                      <a:r>
                        <a:rPr dirty="0" sz="950" spc="-3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string</a:t>
                      </a:r>
                      <a:r>
                        <a:rPr dirty="0" sz="950" spc="-3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and</a:t>
                      </a:r>
                      <a:r>
                        <a:rPr dirty="0" sz="950" spc="-3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2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the</a:t>
                      </a:r>
                      <a:r>
                        <a:rPr dirty="0" sz="950" spc="1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text(...)</a:t>
                      </a:r>
                      <a:r>
                        <a:rPr dirty="0" sz="750" spc="-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950" spc="-2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call.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64769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</a:tr>
              <a:tr h="815340">
                <a:tc>
                  <a:txBody>
                    <a:bodyPr/>
                    <a:lstStyle/>
                    <a:p>
                      <a:pPr marL="70485" marR="741045" indent="26670">
                        <a:lnSpc>
                          <a:spcPct val="153300"/>
                        </a:lnSpc>
                        <a:spcBef>
                          <a:spcPts val="229"/>
                        </a:spcBef>
                      </a:pP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result</a:t>
                      </a:r>
                      <a:r>
                        <a:rPr dirty="0" sz="750" spc="95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=</a:t>
                      </a:r>
                      <a:r>
                        <a:rPr dirty="0" sz="750" spc="95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session.execute(sql,</a:t>
                      </a:r>
                      <a:r>
                        <a:rPr dirty="0" sz="750" spc="95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 spc="-1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{"embedding":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str(question_embedding),</a:t>
                      </a:r>
                      <a:r>
                        <a:rPr dirty="0" sz="750" spc="155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"top_k":</a:t>
                      </a:r>
                      <a:r>
                        <a:rPr dirty="0" sz="750" spc="155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 spc="-1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top_k})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29209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Executes</a:t>
                      </a:r>
                      <a:r>
                        <a:rPr dirty="0" sz="950" spc="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the</a:t>
                      </a:r>
                      <a:r>
                        <a:rPr dirty="0" sz="950" spc="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parameterized</a:t>
                      </a:r>
                      <a:r>
                        <a:rPr dirty="0" sz="950" spc="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query,</a:t>
                      </a:r>
                      <a:r>
                        <a:rPr dirty="0" sz="950" spc="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binding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  <a:p>
                      <a:pPr marL="68580" marR="387985" indent="26670">
                        <a:lnSpc>
                          <a:spcPct val="121100"/>
                        </a:lnSpc>
                      </a:pP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:embedding</a:t>
                      </a:r>
                      <a:r>
                        <a:rPr dirty="0" sz="750" spc="3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950" spc="-7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(the</a:t>
                      </a:r>
                      <a:r>
                        <a:rPr dirty="0" sz="950" spc="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question</a:t>
                      </a:r>
                      <a:r>
                        <a:rPr dirty="0" sz="950" spc="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vector,</a:t>
                      </a:r>
                      <a:r>
                        <a:rPr dirty="0" sz="950" spc="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6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stringi</a:t>
                      </a:r>
                      <a:r>
                        <a:rPr dirty="0" sz="900" spc="-65">
                          <a:solidFill>
                            <a:srgbClr val="111726"/>
                          </a:solidFill>
                          <a:latin typeface="Arial"/>
                          <a:cs typeface="Arial"/>
                        </a:rPr>
                        <a:t>ﬁ</a:t>
                      </a:r>
                      <a:r>
                        <a:rPr dirty="0" sz="950" spc="-6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ed</a:t>
                      </a:r>
                      <a:r>
                        <a:rPr dirty="0" sz="950" spc="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2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as</a:t>
                      </a:r>
                      <a:r>
                        <a:rPr dirty="0" sz="950" spc="50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pgvector</a:t>
                      </a:r>
                      <a:r>
                        <a:rPr dirty="0" sz="950" spc="-3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expects</a:t>
                      </a:r>
                      <a:r>
                        <a:rPr dirty="0" sz="950" spc="-2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3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e.g.</a:t>
                      </a:r>
                      <a:r>
                        <a:rPr dirty="0" sz="950" spc="19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"[0.1,</a:t>
                      </a:r>
                      <a:r>
                        <a:rPr dirty="0" sz="750" spc="4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0.2,</a:t>
                      </a:r>
                      <a:r>
                        <a:rPr dirty="0" sz="750" spc="35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...]"</a:t>
                      </a:r>
                      <a:r>
                        <a:rPr dirty="0" sz="750" spc="-229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950" spc="-6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)</a:t>
                      </a:r>
                      <a:r>
                        <a:rPr dirty="0" sz="950" spc="-3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4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and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  <a:p>
                      <a:pPr marL="9525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:top_k</a:t>
                      </a:r>
                      <a:r>
                        <a:rPr dirty="0" sz="750" spc="-185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950" spc="-5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.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64769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</a:tr>
              <a:tr h="457834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context</a:t>
                      </a:r>
                      <a:r>
                        <a:rPr dirty="0" sz="750" spc="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=</a:t>
                      </a:r>
                      <a:r>
                        <a:rPr dirty="0" sz="750" spc="55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 spc="-25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""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90170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 marR="394970">
                        <a:lnSpc>
                          <a:spcPct val="116399"/>
                        </a:lnSpc>
                        <a:spcBef>
                          <a:spcPts val="320"/>
                        </a:spcBef>
                      </a:pPr>
                      <a:r>
                        <a:rPr dirty="0" sz="950" spc="-6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Initializes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9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an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accumulator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string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that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6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will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hold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2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all</a:t>
                      </a:r>
                      <a:r>
                        <a:rPr dirty="0" sz="950" spc="50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retrieved</a:t>
                      </a:r>
                      <a:r>
                        <a:rPr dirty="0" sz="950" spc="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chunk</a:t>
                      </a:r>
                      <a:r>
                        <a:rPr dirty="0" sz="950" spc="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2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text.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40640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</a:tr>
              <a:tr h="457834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print("\nRetrieved</a:t>
                      </a:r>
                      <a:r>
                        <a:rPr dirty="0" sz="750" spc="17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 spc="-1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Chunks\n")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90170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 marR="224154">
                        <a:lnSpc>
                          <a:spcPct val="116399"/>
                        </a:lnSpc>
                        <a:spcBef>
                          <a:spcPts val="320"/>
                        </a:spcBef>
                      </a:pP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Header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for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the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console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output.</a:t>
                      </a:r>
                      <a:r>
                        <a:rPr dirty="0" sz="95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 b="1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Output:</a:t>
                      </a:r>
                      <a:r>
                        <a:rPr dirty="0" sz="950" spc="-10" b="1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9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a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blank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3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line,</a:t>
                      </a:r>
                      <a:r>
                        <a:rPr dirty="0" sz="950" spc="50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5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then</a:t>
                      </a:r>
                      <a:r>
                        <a:rPr dirty="0" sz="950" spc="19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Retrieved</a:t>
                      </a:r>
                      <a:r>
                        <a:rPr dirty="0" sz="750" spc="4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Chunks</a:t>
                      </a:r>
                      <a:r>
                        <a:rPr dirty="0" sz="750" spc="-229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950" spc="-5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,</a:t>
                      </a:r>
                      <a:r>
                        <a:rPr dirty="0" sz="950" spc="-2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then</a:t>
                      </a:r>
                      <a:r>
                        <a:rPr dirty="0" sz="950" spc="-2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9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a</a:t>
                      </a:r>
                      <a:r>
                        <a:rPr dirty="0" sz="950" spc="-3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blank</a:t>
                      </a:r>
                      <a:r>
                        <a:rPr dirty="0" sz="950" spc="-2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2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line.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40640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</a:tr>
              <a:tr h="464820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for</a:t>
                      </a:r>
                      <a:r>
                        <a:rPr dirty="0" sz="750" spc="4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row</a:t>
                      </a:r>
                      <a:r>
                        <a:rPr dirty="0" sz="750" spc="45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in</a:t>
                      </a:r>
                      <a:r>
                        <a:rPr dirty="0" sz="750" spc="4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 spc="-1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result: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90170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Iterates</a:t>
                      </a:r>
                      <a:r>
                        <a:rPr dirty="0" sz="950" spc="-3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over</a:t>
                      </a:r>
                      <a:r>
                        <a:rPr dirty="0" sz="950" spc="-3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each</a:t>
                      </a:r>
                      <a:r>
                        <a:rPr dirty="0" sz="950" spc="-3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returned</a:t>
                      </a:r>
                      <a:r>
                        <a:rPr dirty="0" sz="950" spc="-3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9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row</a:t>
                      </a:r>
                      <a:r>
                        <a:rPr dirty="0" sz="950" spc="-3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(each</a:t>
                      </a:r>
                      <a:r>
                        <a:rPr dirty="0" sz="950" spc="-3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4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with</a:t>
                      </a:r>
                      <a:r>
                        <a:rPr dirty="0" sz="950" spc="1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750" spc="-1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.content</a:t>
                      </a:r>
                      <a:endParaRPr sz="750">
                        <a:latin typeface="Courier New"/>
                        <a:cs typeface="Courier New"/>
                      </a:endParaRPr>
                    </a:p>
                    <a:p>
                      <a:pPr marL="6858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dirty="0" sz="950" spc="-4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and</a:t>
                      </a:r>
                      <a:r>
                        <a:rPr dirty="0" sz="950" spc="13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.distance</a:t>
                      </a:r>
                      <a:r>
                        <a:rPr dirty="0" sz="750" spc="-24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950" spc="-2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).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64769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print("-"</a:t>
                      </a:r>
                      <a:r>
                        <a:rPr dirty="0" sz="750" spc="6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*</a:t>
                      </a:r>
                      <a:r>
                        <a:rPr dirty="0" sz="750" spc="65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 spc="-25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60)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90170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950" spc="-7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Prints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9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a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850" spc="-40">
                          <a:solidFill>
                            <a:srgbClr val="111726"/>
                          </a:solidFill>
                          <a:latin typeface="Arial"/>
                          <a:cs typeface="Arial"/>
                        </a:rPr>
                        <a:t>60</a:t>
                      </a:r>
                      <a:r>
                        <a:rPr dirty="0" sz="950" spc="-4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-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character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separator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6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line</a:t>
                      </a:r>
                      <a:r>
                        <a:rPr dirty="0" sz="95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for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readability.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64769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</a:tr>
              <a:tr h="457834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dirty="0" sz="750" spc="-1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print(row.content[:250])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90170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 marR="144145">
                        <a:lnSpc>
                          <a:spcPct val="121100"/>
                        </a:lnSpc>
                        <a:spcBef>
                          <a:spcPts val="270"/>
                        </a:spcBef>
                      </a:pPr>
                      <a:r>
                        <a:rPr dirty="0" sz="950" spc="-7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Prints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the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00" spc="-45">
                          <a:solidFill>
                            <a:srgbClr val="111726"/>
                          </a:solidFill>
                          <a:latin typeface="Arial"/>
                          <a:cs typeface="Arial"/>
                        </a:rPr>
                        <a:t>ﬁ</a:t>
                      </a:r>
                      <a:r>
                        <a:rPr dirty="0" sz="950" spc="-4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rst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850" spc="-35">
                          <a:solidFill>
                            <a:srgbClr val="111726"/>
                          </a:solidFill>
                          <a:latin typeface="Arial"/>
                          <a:cs typeface="Arial"/>
                        </a:rPr>
                        <a:t>250</a:t>
                      </a:r>
                      <a:r>
                        <a:rPr dirty="0" sz="850" spc="-25">
                          <a:solidFill>
                            <a:srgbClr val="111726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characters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of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each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retrieved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5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chunk,</a:t>
                      </a:r>
                      <a:r>
                        <a:rPr dirty="0" sz="950" spc="50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as</a:t>
                      </a:r>
                      <a:r>
                        <a:rPr dirty="0" sz="950" spc="-3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9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a</a:t>
                      </a:r>
                      <a:r>
                        <a:rPr dirty="0" sz="950" spc="-3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preview.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34290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</a:tr>
              <a:tr h="457834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context</a:t>
                      </a:r>
                      <a:r>
                        <a:rPr dirty="0" sz="750" spc="6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+=</a:t>
                      </a:r>
                      <a:r>
                        <a:rPr dirty="0" sz="750" spc="65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row.content</a:t>
                      </a:r>
                      <a:r>
                        <a:rPr dirty="0" sz="750" spc="65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+</a:t>
                      </a:r>
                      <a:r>
                        <a:rPr dirty="0" sz="750" spc="65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 spc="-2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"\n"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90170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950" spc="-9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Appends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the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5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full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chunk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text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(not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truncated)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to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2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the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  <a:p>
                      <a:pPr marL="95250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context</a:t>
                      </a:r>
                      <a:r>
                        <a:rPr dirty="0" sz="750" spc="1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950" spc="-9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accumulator,</a:t>
                      </a:r>
                      <a:r>
                        <a:rPr dirty="0" sz="95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separated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by</a:t>
                      </a:r>
                      <a:r>
                        <a:rPr dirty="0" sz="95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9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a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newline.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64769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</a:tr>
              <a:tr h="457834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return</a:t>
                      </a:r>
                      <a:r>
                        <a:rPr dirty="0" sz="750" spc="7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 spc="-1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context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90170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 marR="243204">
                        <a:lnSpc>
                          <a:spcPct val="121100"/>
                        </a:lnSpc>
                        <a:spcBef>
                          <a:spcPts val="270"/>
                        </a:spcBef>
                      </a:pP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Returns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the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9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combined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text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of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5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all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retrieved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chunks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2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to</a:t>
                      </a:r>
                      <a:r>
                        <a:rPr dirty="0" sz="950" spc="50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the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caller.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34290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4" name="object 24"/>
          <p:cNvSpPr/>
          <p:nvPr/>
        </p:nvSpPr>
        <p:spPr>
          <a:xfrm>
            <a:off x="2648600" y="5614096"/>
            <a:ext cx="1038225" cy="148590"/>
          </a:xfrm>
          <a:custGeom>
            <a:avLst/>
            <a:gdLst/>
            <a:ahLst/>
            <a:cxnLst/>
            <a:rect l="l" t="t" r="r" b="b"/>
            <a:pathLst>
              <a:path w="1038225" h="148589">
                <a:moveTo>
                  <a:pt x="1014791" y="148304"/>
                </a:moveTo>
                <a:lnTo>
                  <a:pt x="23390" y="148304"/>
                </a:lnTo>
                <a:lnTo>
                  <a:pt x="19950" y="147613"/>
                </a:lnTo>
                <a:lnTo>
                  <a:pt x="0" y="124914"/>
                </a:lnTo>
                <a:lnTo>
                  <a:pt x="0" y="121345"/>
                </a:lnTo>
                <a:lnTo>
                  <a:pt x="0" y="23390"/>
                </a:lnTo>
                <a:lnTo>
                  <a:pt x="23390" y="0"/>
                </a:lnTo>
                <a:lnTo>
                  <a:pt x="1014791" y="0"/>
                </a:lnTo>
                <a:lnTo>
                  <a:pt x="1038180" y="23390"/>
                </a:lnTo>
                <a:lnTo>
                  <a:pt x="1038180" y="124914"/>
                </a:lnTo>
                <a:lnTo>
                  <a:pt x="1018230" y="147613"/>
                </a:lnTo>
                <a:lnTo>
                  <a:pt x="1014791" y="148304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5102482" y="5614096"/>
            <a:ext cx="614045" cy="148590"/>
          </a:xfrm>
          <a:custGeom>
            <a:avLst/>
            <a:gdLst/>
            <a:ahLst/>
            <a:cxnLst/>
            <a:rect l="l" t="t" r="r" b="b"/>
            <a:pathLst>
              <a:path w="614045" h="148589">
                <a:moveTo>
                  <a:pt x="590080" y="148304"/>
                </a:moveTo>
                <a:lnTo>
                  <a:pt x="23390" y="148304"/>
                </a:lnTo>
                <a:lnTo>
                  <a:pt x="19950" y="147613"/>
                </a:lnTo>
                <a:lnTo>
                  <a:pt x="0" y="124914"/>
                </a:lnTo>
                <a:lnTo>
                  <a:pt x="0" y="121345"/>
                </a:lnTo>
                <a:lnTo>
                  <a:pt x="0" y="23390"/>
                </a:lnTo>
                <a:lnTo>
                  <a:pt x="23390" y="0"/>
                </a:lnTo>
                <a:lnTo>
                  <a:pt x="590080" y="0"/>
                </a:lnTo>
                <a:lnTo>
                  <a:pt x="613470" y="23390"/>
                </a:lnTo>
                <a:lnTo>
                  <a:pt x="613470" y="124914"/>
                </a:lnTo>
                <a:lnTo>
                  <a:pt x="593520" y="147613"/>
                </a:lnTo>
                <a:lnTo>
                  <a:pt x="590080" y="148304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 txBox="1"/>
          <p:nvPr/>
        </p:nvSpPr>
        <p:spPr>
          <a:xfrm>
            <a:off x="667402" y="5545398"/>
            <a:ext cx="6162675" cy="6794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23900"/>
              </a:lnSpc>
              <a:spcBef>
                <a:spcPts val="100"/>
              </a:spcBef>
            </a:pPr>
            <a:r>
              <a:rPr dirty="0" sz="1000" spc="-95" b="1">
                <a:solidFill>
                  <a:srgbClr val="111726"/>
                </a:solidFill>
                <a:latin typeface="Source Han Sans JP"/>
                <a:cs typeface="Source Han Sans JP"/>
              </a:rPr>
              <a:t>Output</a:t>
            </a:r>
            <a:r>
              <a:rPr dirty="0" sz="1000" spc="-30" b="1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100" b="1">
                <a:solidFill>
                  <a:srgbClr val="111726"/>
                </a:solidFill>
                <a:latin typeface="Source Han Sans JP"/>
                <a:cs typeface="Source Han Sans JP"/>
              </a:rPr>
              <a:t>(example</a:t>
            </a:r>
            <a:r>
              <a:rPr dirty="0" sz="1000" spc="-25" b="1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80" b="1">
                <a:solidFill>
                  <a:srgbClr val="111726"/>
                </a:solidFill>
                <a:latin typeface="Source Han Sans JP"/>
                <a:cs typeface="Source Han Sans JP"/>
              </a:rPr>
              <a:t>run):</a:t>
            </a:r>
            <a:r>
              <a:rPr dirty="0" sz="1000" spc="-35" b="1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90">
                <a:solidFill>
                  <a:srgbClr val="111726"/>
                </a:solidFill>
                <a:latin typeface="Source Han Sans JP"/>
                <a:cs typeface="Source Han Sans JP"/>
              </a:rPr>
              <a:t>console</a:t>
            </a:r>
            <a:r>
              <a:rPr dirty="0" sz="1000" spc="-2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70">
                <a:solidFill>
                  <a:srgbClr val="111726"/>
                </a:solidFill>
                <a:latin typeface="Source Han Sans JP"/>
                <a:cs typeface="Source Han Sans JP"/>
              </a:rPr>
              <a:t>shows</a:t>
            </a:r>
            <a:r>
              <a:rPr dirty="0" sz="1000" spc="190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800">
                <a:solidFill>
                  <a:srgbClr val="111726"/>
                </a:solidFill>
                <a:latin typeface="Courier New"/>
                <a:cs typeface="Courier New"/>
              </a:rPr>
              <a:t>Retrieved</a:t>
            </a:r>
            <a:r>
              <a:rPr dirty="0" sz="800" spc="20">
                <a:solidFill>
                  <a:srgbClr val="111726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111726"/>
                </a:solidFill>
                <a:latin typeface="Courier New"/>
                <a:cs typeface="Courier New"/>
              </a:rPr>
              <a:t>Chunks</a:t>
            </a:r>
            <a:r>
              <a:rPr dirty="0" sz="800" spc="-260">
                <a:solidFill>
                  <a:srgbClr val="111726"/>
                </a:solidFill>
                <a:latin typeface="Courier New"/>
                <a:cs typeface="Courier New"/>
              </a:rPr>
              <a:t> </a:t>
            </a:r>
            <a:r>
              <a:rPr dirty="0" sz="1000" spc="-50">
                <a:solidFill>
                  <a:srgbClr val="111726"/>
                </a:solidFill>
                <a:latin typeface="Source Han Sans JP"/>
                <a:cs typeface="Source Han Sans JP"/>
              </a:rPr>
              <a:t>,</a:t>
            </a:r>
            <a:r>
              <a:rPr dirty="0" sz="1000" spc="-30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90">
                <a:solidFill>
                  <a:srgbClr val="111726"/>
                </a:solidFill>
                <a:latin typeface="Source Han Sans JP"/>
                <a:cs typeface="Source Han Sans JP"/>
              </a:rPr>
              <a:t>then</a:t>
            </a:r>
            <a:r>
              <a:rPr dirty="0" sz="1000" spc="-2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70">
                <a:solidFill>
                  <a:srgbClr val="111726"/>
                </a:solidFill>
                <a:latin typeface="Source Han Sans JP"/>
                <a:cs typeface="Source Han Sans JP"/>
              </a:rPr>
              <a:t>for</a:t>
            </a:r>
            <a:r>
              <a:rPr dirty="0" sz="1000" spc="-30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95">
                <a:solidFill>
                  <a:srgbClr val="111726"/>
                </a:solidFill>
                <a:latin typeface="Source Han Sans JP"/>
                <a:cs typeface="Source Han Sans JP"/>
              </a:rPr>
              <a:t>each</a:t>
            </a:r>
            <a:r>
              <a:rPr dirty="0" sz="1000" spc="-2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75">
                <a:solidFill>
                  <a:srgbClr val="111726"/>
                </a:solidFill>
                <a:latin typeface="Source Han Sans JP"/>
                <a:cs typeface="Source Han Sans JP"/>
              </a:rPr>
              <a:t>of</a:t>
            </a:r>
            <a:r>
              <a:rPr dirty="0" sz="1000" spc="-2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900" spc="-40">
                <a:solidFill>
                  <a:srgbClr val="111726"/>
                </a:solidFill>
                <a:latin typeface="Arial"/>
                <a:cs typeface="Arial"/>
              </a:rPr>
              <a:t>3</a:t>
            </a:r>
            <a:r>
              <a:rPr dirty="0" sz="900" spc="-55">
                <a:solidFill>
                  <a:srgbClr val="111726"/>
                </a:solidFill>
                <a:latin typeface="Arial"/>
                <a:cs typeface="Arial"/>
              </a:rPr>
              <a:t> </a:t>
            </a:r>
            <a:r>
              <a:rPr dirty="0" sz="1000" spc="-95">
                <a:solidFill>
                  <a:srgbClr val="111726"/>
                </a:solidFill>
                <a:latin typeface="Source Han Sans JP"/>
                <a:cs typeface="Source Han Sans JP"/>
              </a:rPr>
              <a:t>chunks</a:t>
            </a:r>
            <a:r>
              <a:rPr dirty="0" sz="1000" spc="-2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>
                <a:solidFill>
                  <a:srgbClr val="111726"/>
                </a:solidFill>
                <a:latin typeface="Source Han Sans JP"/>
                <a:cs typeface="Source Han Sans JP"/>
              </a:rPr>
              <a:t>a</a:t>
            </a:r>
            <a:r>
              <a:rPr dirty="0" sz="1000" spc="190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800">
                <a:solidFill>
                  <a:srgbClr val="111726"/>
                </a:solidFill>
                <a:latin typeface="Courier New"/>
                <a:cs typeface="Courier New"/>
              </a:rPr>
              <a:t>---...---</a:t>
            </a:r>
            <a:r>
              <a:rPr dirty="0" sz="800" spc="-65">
                <a:solidFill>
                  <a:srgbClr val="111726"/>
                </a:solidFill>
                <a:latin typeface="Courier New"/>
                <a:cs typeface="Courier New"/>
              </a:rPr>
              <a:t> </a:t>
            </a:r>
            <a:r>
              <a:rPr dirty="0" sz="1000" spc="-70">
                <a:solidFill>
                  <a:srgbClr val="111726"/>
                </a:solidFill>
                <a:latin typeface="Source Han Sans JP"/>
                <a:cs typeface="Source Han Sans JP"/>
              </a:rPr>
              <a:t>line</a:t>
            </a:r>
            <a:r>
              <a:rPr dirty="0" sz="1000" spc="-2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85">
                <a:solidFill>
                  <a:srgbClr val="111726"/>
                </a:solidFill>
                <a:latin typeface="Source Han Sans JP"/>
                <a:cs typeface="Source Han Sans JP"/>
              </a:rPr>
              <a:t>followed</a:t>
            </a:r>
            <a:r>
              <a:rPr dirty="0" sz="1000" spc="-2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100">
                <a:solidFill>
                  <a:srgbClr val="111726"/>
                </a:solidFill>
                <a:latin typeface="Source Han Sans JP"/>
                <a:cs typeface="Source Han Sans JP"/>
              </a:rPr>
              <a:t>by</a:t>
            </a:r>
            <a:r>
              <a:rPr dirty="0" sz="1000" spc="-30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100">
                <a:solidFill>
                  <a:srgbClr val="111726"/>
                </a:solidFill>
                <a:latin typeface="Source Han Sans JP"/>
                <a:cs typeface="Source Han Sans JP"/>
              </a:rPr>
              <a:t>up</a:t>
            </a:r>
            <a:r>
              <a:rPr dirty="0" sz="1000" spc="-25">
                <a:solidFill>
                  <a:srgbClr val="111726"/>
                </a:solidFill>
                <a:latin typeface="Source Han Sans JP"/>
                <a:cs typeface="Source Han Sans JP"/>
              </a:rPr>
              <a:t> to</a:t>
            </a:r>
            <a:r>
              <a:rPr dirty="0" sz="1000" spc="500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900" spc="-40">
                <a:solidFill>
                  <a:srgbClr val="111726"/>
                </a:solidFill>
                <a:latin typeface="Arial"/>
                <a:cs typeface="Arial"/>
              </a:rPr>
              <a:t>250</a:t>
            </a:r>
            <a:r>
              <a:rPr dirty="0" sz="900" spc="-45">
                <a:solidFill>
                  <a:srgbClr val="111726"/>
                </a:solidFill>
                <a:latin typeface="Arial"/>
                <a:cs typeface="Arial"/>
              </a:rPr>
              <a:t> </a:t>
            </a:r>
            <a:r>
              <a:rPr dirty="0" sz="1000" spc="-85">
                <a:solidFill>
                  <a:srgbClr val="111726"/>
                </a:solidFill>
                <a:latin typeface="Source Han Sans JP"/>
                <a:cs typeface="Source Han Sans JP"/>
              </a:rPr>
              <a:t>characters</a:t>
            </a:r>
            <a:r>
              <a:rPr dirty="0" sz="1000" spc="-1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75">
                <a:solidFill>
                  <a:srgbClr val="111726"/>
                </a:solidFill>
                <a:latin typeface="Source Han Sans JP"/>
                <a:cs typeface="Source Han Sans JP"/>
              </a:rPr>
              <a:t>of</a:t>
            </a:r>
            <a:r>
              <a:rPr dirty="0" sz="1000" spc="-1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80">
                <a:solidFill>
                  <a:srgbClr val="111726"/>
                </a:solidFill>
                <a:latin typeface="Source Han Sans JP"/>
                <a:cs typeface="Source Han Sans JP"/>
              </a:rPr>
              <a:t>that</a:t>
            </a:r>
            <a:r>
              <a:rPr dirty="0" sz="1000" spc="-20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90">
                <a:solidFill>
                  <a:srgbClr val="111726"/>
                </a:solidFill>
                <a:latin typeface="Source Han Sans JP"/>
                <a:cs typeface="Source Han Sans JP"/>
              </a:rPr>
              <a:t>chunk's</a:t>
            </a:r>
            <a:r>
              <a:rPr dirty="0" sz="1000" spc="-1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20">
                <a:solidFill>
                  <a:srgbClr val="111726"/>
                </a:solidFill>
                <a:latin typeface="Source Han Sans JP"/>
                <a:cs typeface="Source Han Sans JP"/>
              </a:rPr>
              <a:t>text.</a:t>
            </a:r>
            <a:endParaRPr sz="1000">
              <a:latin typeface="Source Han Sans JP"/>
              <a:cs typeface="Source Han Sans JP"/>
            </a:endParaRPr>
          </a:p>
          <a:p>
            <a:pPr marL="12700">
              <a:lnSpc>
                <a:spcPct val="100000"/>
              </a:lnSpc>
              <a:spcBef>
                <a:spcPts val="725"/>
              </a:spcBef>
            </a:pPr>
            <a:r>
              <a:rPr dirty="0" sz="1200" spc="-125" b="1">
                <a:solidFill>
                  <a:srgbClr val="111726"/>
                </a:solidFill>
                <a:latin typeface="Source Han Sans JP"/>
                <a:cs typeface="Source Han Sans JP"/>
              </a:rPr>
              <a:t>Load</a:t>
            </a:r>
            <a:r>
              <a:rPr dirty="0" sz="1200" spc="-40" b="1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200" spc="-140" b="1">
                <a:solidFill>
                  <a:srgbClr val="111726"/>
                </a:solidFill>
                <a:latin typeface="Source Han Sans JP"/>
                <a:cs typeface="Source Han Sans JP"/>
              </a:rPr>
              <a:t>Qwen</a:t>
            </a:r>
            <a:r>
              <a:rPr dirty="0" sz="1200" spc="-35" b="1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200" spc="-20" b="1">
                <a:solidFill>
                  <a:srgbClr val="111726"/>
                </a:solidFill>
                <a:latin typeface="Source Han Sans JP"/>
                <a:cs typeface="Source Han Sans JP"/>
              </a:rPr>
              <a:t>Model</a:t>
            </a:r>
            <a:endParaRPr sz="1200">
              <a:latin typeface="Source Han Sans JP"/>
              <a:cs typeface="Source Han Sans JP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761782" y="6415757"/>
            <a:ext cx="3292475" cy="33508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print("\nLoading</a:t>
            </a:r>
            <a:r>
              <a:rPr dirty="0" sz="800" spc="7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 spc="-10">
                <a:solidFill>
                  <a:srgbClr val="E4E7EB"/>
                </a:solidFill>
                <a:latin typeface="Courier New"/>
                <a:cs typeface="Courier New"/>
              </a:rPr>
              <a:t>Qwen...\n")</a:t>
            </a:r>
            <a:endParaRPr sz="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endParaRPr sz="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MODEL_NAME</a:t>
            </a:r>
            <a:r>
              <a:rPr dirty="0" sz="800" spc="7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=</a:t>
            </a:r>
            <a:r>
              <a:rPr dirty="0" sz="800" spc="7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"Qwen/Qwen2.5-0.5B-</a:t>
            </a:r>
            <a:r>
              <a:rPr dirty="0" sz="800" spc="-10">
                <a:solidFill>
                  <a:srgbClr val="E4E7EB"/>
                </a:solidFill>
                <a:latin typeface="Courier New"/>
                <a:cs typeface="Courier New"/>
              </a:rPr>
              <a:t>Instruct"</a:t>
            </a:r>
            <a:endParaRPr sz="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894"/>
              </a:spcBef>
            </a:pPr>
            <a:endParaRPr sz="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tokenizer</a:t>
            </a:r>
            <a:r>
              <a:rPr dirty="0" sz="800" spc="2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=</a:t>
            </a:r>
            <a:r>
              <a:rPr dirty="0" sz="800" spc="3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 spc="-10">
                <a:solidFill>
                  <a:srgbClr val="E4E7EB"/>
                </a:solidFill>
                <a:latin typeface="Courier New"/>
                <a:cs typeface="Courier New"/>
              </a:rPr>
              <a:t>AutoTokenizer.from_pretrained(MODEL_NAME)</a:t>
            </a:r>
            <a:endParaRPr sz="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475"/>
              </a:spcBef>
            </a:pPr>
            <a:endParaRPr sz="800">
              <a:latin typeface="Courier New"/>
              <a:cs typeface="Courier New"/>
            </a:endParaRPr>
          </a:p>
          <a:p>
            <a:pPr marL="259079" marR="497840" indent="-247015">
              <a:lnSpc>
                <a:spcPct val="149300"/>
              </a:lnSpc>
            </a:pP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model</a:t>
            </a:r>
            <a:r>
              <a:rPr dirty="0" sz="800" spc="1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=</a:t>
            </a:r>
            <a:r>
              <a:rPr dirty="0" sz="800" spc="2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 spc="-10">
                <a:solidFill>
                  <a:srgbClr val="E4E7EB"/>
                </a:solidFill>
                <a:latin typeface="Courier New"/>
                <a:cs typeface="Courier New"/>
              </a:rPr>
              <a:t>AutoModelForCausalLM.from_pretrained( MODEL_NAME,</a:t>
            </a:r>
            <a:endParaRPr sz="800">
              <a:latin typeface="Courier New"/>
              <a:cs typeface="Courier New"/>
            </a:endParaRPr>
          </a:p>
          <a:p>
            <a:pPr marL="259079" marR="1854200">
              <a:lnSpc>
                <a:spcPct val="143800"/>
              </a:lnSpc>
            </a:pPr>
            <a:r>
              <a:rPr dirty="0" sz="800" spc="-10">
                <a:solidFill>
                  <a:srgbClr val="E4E7EB"/>
                </a:solidFill>
                <a:latin typeface="Courier New"/>
                <a:cs typeface="Courier New"/>
              </a:rPr>
              <a:t>torch_dtype="auto", device_map="auto"</a:t>
            </a:r>
            <a:endParaRPr sz="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470"/>
              </a:spcBef>
            </a:pPr>
            <a:r>
              <a:rPr dirty="0" sz="800" spc="-50">
                <a:solidFill>
                  <a:srgbClr val="E4E7EB"/>
                </a:solidFill>
                <a:latin typeface="Courier New"/>
                <a:cs typeface="Courier New"/>
              </a:rPr>
              <a:t>)</a:t>
            </a:r>
            <a:endParaRPr sz="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509"/>
              </a:spcBef>
            </a:pPr>
            <a:endParaRPr sz="800">
              <a:latin typeface="Courier New"/>
              <a:cs typeface="Courier New"/>
            </a:endParaRPr>
          </a:p>
          <a:p>
            <a:pPr marL="259079" marR="1854200" indent="-247015">
              <a:lnSpc>
                <a:spcPct val="145600"/>
              </a:lnSpc>
            </a:pP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generator</a:t>
            </a:r>
            <a:r>
              <a:rPr dirty="0" sz="800" spc="2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=</a:t>
            </a:r>
            <a:r>
              <a:rPr dirty="0" sz="800" spc="3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 spc="-10">
                <a:solidFill>
                  <a:srgbClr val="E4E7EB"/>
                </a:solidFill>
                <a:latin typeface="Courier New"/>
                <a:cs typeface="Courier New"/>
              </a:rPr>
              <a:t>pipeline(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"text-</a:t>
            </a:r>
            <a:r>
              <a:rPr dirty="0" sz="800" spc="-10">
                <a:solidFill>
                  <a:srgbClr val="E4E7EB"/>
                </a:solidFill>
                <a:latin typeface="Courier New"/>
                <a:cs typeface="Courier New"/>
              </a:rPr>
              <a:t>generation", model=model, tokenizer=tokenizer</a:t>
            </a:r>
            <a:endParaRPr sz="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420"/>
              </a:spcBef>
            </a:pPr>
            <a:r>
              <a:rPr dirty="0" sz="800" spc="-50">
                <a:solidFill>
                  <a:srgbClr val="E4E7EB"/>
                </a:solidFill>
                <a:latin typeface="Courier New"/>
                <a:cs typeface="Courier New"/>
              </a:rPr>
              <a:t>)</a:t>
            </a:r>
            <a:endParaRPr sz="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endParaRPr sz="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print("Qwen</a:t>
            </a:r>
            <a:r>
              <a:rPr dirty="0" sz="800" spc="4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Loaded</a:t>
            </a:r>
            <a:r>
              <a:rPr dirty="0" sz="800" spc="4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 spc="-10">
                <a:solidFill>
                  <a:srgbClr val="E4E7EB"/>
                </a:solidFill>
                <a:latin typeface="Courier New"/>
                <a:cs typeface="Courier New"/>
              </a:rPr>
              <a:t>Successfully!")</a:t>
            </a:r>
            <a:endParaRPr sz="8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54257" y="935538"/>
            <a:ext cx="1712595" cy="141605"/>
          </a:xfrm>
          <a:custGeom>
            <a:avLst/>
            <a:gdLst/>
            <a:ahLst/>
            <a:cxnLst/>
            <a:rect l="l" t="t" r="r" b="b"/>
            <a:pathLst>
              <a:path w="1712595" h="141605">
                <a:moveTo>
                  <a:pt x="1688934" y="141563"/>
                </a:moveTo>
                <a:lnTo>
                  <a:pt x="23389" y="141563"/>
                </a:lnTo>
                <a:lnTo>
                  <a:pt x="19950" y="140879"/>
                </a:lnTo>
                <a:lnTo>
                  <a:pt x="0" y="118172"/>
                </a:lnTo>
                <a:lnTo>
                  <a:pt x="0" y="114604"/>
                </a:lnTo>
                <a:lnTo>
                  <a:pt x="0" y="23377"/>
                </a:lnTo>
                <a:lnTo>
                  <a:pt x="23389" y="0"/>
                </a:lnTo>
                <a:lnTo>
                  <a:pt x="1688934" y="0"/>
                </a:lnTo>
                <a:lnTo>
                  <a:pt x="1712324" y="23377"/>
                </a:lnTo>
                <a:lnTo>
                  <a:pt x="1712324" y="118172"/>
                </a:lnTo>
                <a:lnTo>
                  <a:pt x="1692373" y="140879"/>
                </a:lnTo>
                <a:lnTo>
                  <a:pt x="1688934" y="141563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5264276" y="935538"/>
            <a:ext cx="937260" cy="141605"/>
          </a:xfrm>
          <a:custGeom>
            <a:avLst/>
            <a:gdLst/>
            <a:ahLst/>
            <a:cxnLst/>
            <a:rect l="l" t="t" r="r" b="b"/>
            <a:pathLst>
              <a:path w="937260" h="141605">
                <a:moveTo>
                  <a:pt x="913669" y="141563"/>
                </a:moveTo>
                <a:lnTo>
                  <a:pt x="23390" y="141563"/>
                </a:lnTo>
                <a:lnTo>
                  <a:pt x="19950" y="140879"/>
                </a:lnTo>
                <a:lnTo>
                  <a:pt x="0" y="118172"/>
                </a:lnTo>
                <a:lnTo>
                  <a:pt x="0" y="114604"/>
                </a:lnTo>
                <a:lnTo>
                  <a:pt x="0" y="23377"/>
                </a:lnTo>
                <a:lnTo>
                  <a:pt x="23390" y="0"/>
                </a:lnTo>
                <a:lnTo>
                  <a:pt x="913669" y="0"/>
                </a:lnTo>
                <a:lnTo>
                  <a:pt x="937059" y="23377"/>
                </a:lnTo>
                <a:lnTo>
                  <a:pt x="937059" y="118172"/>
                </a:lnTo>
                <a:lnTo>
                  <a:pt x="917109" y="140879"/>
                </a:lnTo>
                <a:lnTo>
                  <a:pt x="913669" y="141563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754257" y="1225420"/>
            <a:ext cx="2480945" cy="141605"/>
          </a:xfrm>
          <a:custGeom>
            <a:avLst/>
            <a:gdLst/>
            <a:ahLst/>
            <a:cxnLst/>
            <a:rect l="l" t="t" r="r" b="b"/>
            <a:pathLst>
              <a:path w="2480945" h="141605">
                <a:moveTo>
                  <a:pt x="2457457" y="141563"/>
                </a:moveTo>
                <a:lnTo>
                  <a:pt x="23389" y="141563"/>
                </a:lnTo>
                <a:lnTo>
                  <a:pt x="19950" y="140879"/>
                </a:lnTo>
                <a:lnTo>
                  <a:pt x="0" y="118179"/>
                </a:lnTo>
                <a:lnTo>
                  <a:pt x="0" y="114604"/>
                </a:lnTo>
                <a:lnTo>
                  <a:pt x="0" y="23377"/>
                </a:lnTo>
                <a:lnTo>
                  <a:pt x="23389" y="0"/>
                </a:lnTo>
                <a:lnTo>
                  <a:pt x="2457457" y="0"/>
                </a:lnTo>
                <a:lnTo>
                  <a:pt x="2480847" y="23377"/>
                </a:lnTo>
                <a:lnTo>
                  <a:pt x="2480847" y="118179"/>
                </a:lnTo>
                <a:lnTo>
                  <a:pt x="2460897" y="140879"/>
                </a:lnTo>
                <a:lnTo>
                  <a:pt x="2457457" y="141563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754253" y="1852370"/>
            <a:ext cx="2454275" cy="316865"/>
          </a:xfrm>
          <a:custGeom>
            <a:avLst/>
            <a:gdLst/>
            <a:ahLst/>
            <a:cxnLst/>
            <a:rect l="l" t="t" r="r" b="b"/>
            <a:pathLst>
              <a:path w="2454275" h="316864">
                <a:moveTo>
                  <a:pt x="680885" y="0"/>
                </a:moveTo>
                <a:lnTo>
                  <a:pt x="23393" y="0"/>
                </a:lnTo>
                <a:lnTo>
                  <a:pt x="19951" y="685"/>
                </a:lnTo>
                <a:lnTo>
                  <a:pt x="0" y="23393"/>
                </a:lnTo>
                <a:lnTo>
                  <a:pt x="0" y="118186"/>
                </a:lnTo>
                <a:lnTo>
                  <a:pt x="23393" y="141566"/>
                </a:lnTo>
                <a:lnTo>
                  <a:pt x="680885" y="141566"/>
                </a:lnTo>
                <a:lnTo>
                  <a:pt x="680885" y="0"/>
                </a:lnTo>
                <a:close/>
              </a:path>
              <a:path w="2454275" h="316864">
                <a:moveTo>
                  <a:pt x="2453881" y="198666"/>
                </a:moveTo>
                <a:lnTo>
                  <a:pt x="2430488" y="175272"/>
                </a:lnTo>
                <a:lnTo>
                  <a:pt x="0" y="175272"/>
                </a:lnTo>
                <a:lnTo>
                  <a:pt x="0" y="316852"/>
                </a:lnTo>
                <a:lnTo>
                  <a:pt x="2430488" y="316852"/>
                </a:lnTo>
                <a:lnTo>
                  <a:pt x="2453881" y="293458"/>
                </a:lnTo>
                <a:lnTo>
                  <a:pt x="2453881" y="198666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754253" y="2324264"/>
            <a:ext cx="2218055" cy="316865"/>
          </a:xfrm>
          <a:custGeom>
            <a:avLst/>
            <a:gdLst/>
            <a:ahLst/>
            <a:cxnLst/>
            <a:rect l="l" t="t" r="r" b="b"/>
            <a:pathLst>
              <a:path w="2218055" h="316864">
                <a:moveTo>
                  <a:pt x="438188" y="0"/>
                </a:moveTo>
                <a:lnTo>
                  <a:pt x="23393" y="0"/>
                </a:lnTo>
                <a:lnTo>
                  <a:pt x="19951" y="698"/>
                </a:lnTo>
                <a:lnTo>
                  <a:pt x="0" y="23393"/>
                </a:lnTo>
                <a:lnTo>
                  <a:pt x="0" y="118186"/>
                </a:lnTo>
                <a:lnTo>
                  <a:pt x="23393" y="141579"/>
                </a:lnTo>
                <a:lnTo>
                  <a:pt x="438188" y="141579"/>
                </a:lnTo>
                <a:lnTo>
                  <a:pt x="438188" y="0"/>
                </a:lnTo>
                <a:close/>
              </a:path>
              <a:path w="2218055" h="316864">
                <a:moveTo>
                  <a:pt x="2217928" y="198666"/>
                </a:moveTo>
                <a:lnTo>
                  <a:pt x="2194534" y="175285"/>
                </a:lnTo>
                <a:lnTo>
                  <a:pt x="0" y="175285"/>
                </a:lnTo>
                <a:lnTo>
                  <a:pt x="0" y="316852"/>
                </a:lnTo>
                <a:lnTo>
                  <a:pt x="2194534" y="316852"/>
                </a:lnTo>
                <a:lnTo>
                  <a:pt x="2217928" y="293471"/>
                </a:lnTo>
                <a:lnTo>
                  <a:pt x="2217928" y="198666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754257" y="2789433"/>
            <a:ext cx="708025" cy="141605"/>
          </a:xfrm>
          <a:custGeom>
            <a:avLst/>
            <a:gdLst/>
            <a:ahLst/>
            <a:cxnLst/>
            <a:rect l="l" t="t" r="r" b="b"/>
            <a:pathLst>
              <a:path w="708025" h="141605">
                <a:moveTo>
                  <a:pt x="684460" y="141563"/>
                </a:moveTo>
                <a:lnTo>
                  <a:pt x="23389" y="141563"/>
                </a:lnTo>
                <a:lnTo>
                  <a:pt x="19950" y="140879"/>
                </a:lnTo>
                <a:lnTo>
                  <a:pt x="0" y="118179"/>
                </a:lnTo>
                <a:lnTo>
                  <a:pt x="0" y="114604"/>
                </a:lnTo>
                <a:lnTo>
                  <a:pt x="0" y="23377"/>
                </a:lnTo>
                <a:lnTo>
                  <a:pt x="23389" y="0"/>
                </a:lnTo>
                <a:lnTo>
                  <a:pt x="684460" y="0"/>
                </a:lnTo>
                <a:lnTo>
                  <a:pt x="707850" y="23377"/>
                </a:lnTo>
                <a:lnTo>
                  <a:pt x="707850" y="118179"/>
                </a:lnTo>
                <a:lnTo>
                  <a:pt x="687900" y="140879"/>
                </a:lnTo>
                <a:lnTo>
                  <a:pt x="684460" y="141563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754257" y="3079314"/>
            <a:ext cx="1179830" cy="141605"/>
          </a:xfrm>
          <a:custGeom>
            <a:avLst/>
            <a:gdLst/>
            <a:ahLst/>
            <a:cxnLst/>
            <a:rect l="l" t="t" r="r" b="b"/>
            <a:pathLst>
              <a:path w="1179830" h="141605">
                <a:moveTo>
                  <a:pt x="1156360" y="141563"/>
                </a:moveTo>
                <a:lnTo>
                  <a:pt x="23389" y="141563"/>
                </a:lnTo>
                <a:lnTo>
                  <a:pt x="19950" y="140879"/>
                </a:lnTo>
                <a:lnTo>
                  <a:pt x="0" y="118172"/>
                </a:lnTo>
                <a:lnTo>
                  <a:pt x="0" y="114604"/>
                </a:lnTo>
                <a:lnTo>
                  <a:pt x="0" y="23384"/>
                </a:lnTo>
                <a:lnTo>
                  <a:pt x="23389" y="0"/>
                </a:lnTo>
                <a:lnTo>
                  <a:pt x="1156360" y="0"/>
                </a:lnTo>
                <a:lnTo>
                  <a:pt x="1179750" y="23384"/>
                </a:lnTo>
                <a:lnTo>
                  <a:pt x="1179750" y="118172"/>
                </a:lnTo>
                <a:lnTo>
                  <a:pt x="1159800" y="140879"/>
                </a:lnTo>
                <a:lnTo>
                  <a:pt x="1156360" y="141563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754257" y="3706267"/>
            <a:ext cx="1058545" cy="141605"/>
          </a:xfrm>
          <a:custGeom>
            <a:avLst/>
            <a:gdLst/>
            <a:ahLst/>
            <a:cxnLst/>
            <a:rect l="l" t="t" r="r" b="b"/>
            <a:pathLst>
              <a:path w="1058545" h="141604">
                <a:moveTo>
                  <a:pt x="1035015" y="141563"/>
                </a:moveTo>
                <a:lnTo>
                  <a:pt x="23389" y="141563"/>
                </a:lnTo>
                <a:lnTo>
                  <a:pt x="19950" y="140879"/>
                </a:lnTo>
                <a:lnTo>
                  <a:pt x="0" y="118165"/>
                </a:lnTo>
                <a:lnTo>
                  <a:pt x="0" y="114604"/>
                </a:lnTo>
                <a:lnTo>
                  <a:pt x="0" y="23384"/>
                </a:lnTo>
                <a:lnTo>
                  <a:pt x="23389" y="0"/>
                </a:lnTo>
                <a:lnTo>
                  <a:pt x="1035015" y="0"/>
                </a:lnTo>
                <a:lnTo>
                  <a:pt x="1058405" y="23384"/>
                </a:lnTo>
                <a:lnTo>
                  <a:pt x="1058405" y="118165"/>
                </a:lnTo>
                <a:lnTo>
                  <a:pt x="1038454" y="140879"/>
                </a:lnTo>
                <a:lnTo>
                  <a:pt x="1035015" y="141563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54257" y="4157944"/>
            <a:ext cx="114604" cy="141563"/>
          </a:xfrm>
          <a:prstGeom prst="rect">
            <a:avLst/>
          </a:prstGeom>
        </p:spPr>
      </p:pic>
      <p:sp>
        <p:nvSpPr>
          <p:cNvPr id="11" name="object 11"/>
          <p:cNvSpPr/>
          <p:nvPr/>
        </p:nvSpPr>
        <p:spPr>
          <a:xfrm>
            <a:off x="3929473" y="4157944"/>
            <a:ext cx="1240790" cy="141605"/>
          </a:xfrm>
          <a:custGeom>
            <a:avLst/>
            <a:gdLst/>
            <a:ahLst/>
            <a:cxnLst/>
            <a:rect l="l" t="t" r="r" b="b"/>
            <a:pathLst>
              <a:path w="1240789" h="141604">
                <a:moveTo>
                  <a:pt x="1217033" y="141563"/>
                </a:moveTo>
                <a:lnTo>
                  <a:pt x="23389" y="141563"/>
                </a:lnTo>
                <a:lnTo>
                  <a:pt x="19949" y="140872"/>
                </a:lnTo>
                <a:lnTo>
                  <a:pt x="0" y="118179"/>
                </a:lnTo>
                <a:lnTo>
                  <a:pt x="0" y="114604"/>
                </a:lnTo>
                <a:lnTo>
                  <a:pt x="0" y="23377"/>
                </a:lnTo>
                <a:lnTo>
                  <a:pt x="23389" y="0"/>
                </a:lnTo>
                <a:lnTo>
                  <a:pt x="1217033" y="0"/>
                </a:lnTo>
                <a:lnTo>
                  <a:pt x="1240423" y="23377"/>
                </a:lnTo>
                <a:lnTo>
                  <a:pt x="1240423" y="118179"/>
                </a:lnTo>
                <a:lnTo>
                  <a:pt x="1220473" y="140872"/>
                </a:lnTo>
                <a:lnTo>
                  <a:pt x="1217033" y="141563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754257" y="4454567"/>
            <a:ext cx="1294765" cy="141605"/>
          </a:xfrm>
          <a:custGeom>
            <a:avLst/>
            <a:gdLst/>
            <a:ahLst/>
            <a:cxnLst/>
            <a:rect l="l" t="t" r="r" b="b"/>
            <a:pathLst>
              <a:path w="1294764" h="141604">
                <a:moveTo>
                  <a:pt x="1270965" y="141556"/>
                </a:moveTo>
                <a:lnTo>
                  <a:pt x="23389" y="141556"/>
                </a:lnTo>
                <a:lnTo>
                  <a:pt x="19950" y="140865"/>
                </a:lnTo>
                <a:lnTo>
                  <a:pt x="0" y="118165"/>
                </a:lnTo>
                <a:lnTo>
                  <a:pt x="0" y="114604"/>
                </a:lnTo>
                <a:lnTo>
                  <a:pt x="0" y="23384"/>
                </a:lnTo>
                <a:lnTo>
                  <a:pt x="23389" y="0"/>
                </a:lnTo>
                <a:lnTo>
                  <a:pt x="1270965" y="0"/>
                </a:lnTo>
                <a:lnTo>
                  <a:pt x="1294355" y="23384"/>
                </a:lnTo>
                <a:lnTo>
                  <a:pt x="1294355" y="118165"/>
                </a:lnTo>
                <a:lnTo>
                  <a:pt x="1274405" y="140865"/>
                </a:lnTo>
                <a:lnTo>
                  <a:pt x="1270965" y="141556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3592401" y="4623103"/>
            <a:ext cx="532765" cy="141605"/>
          </a:xfrm>
          <a:custGeom>
            <a:avLst/>
            <a:gdLst/>
            <a:ahLst/>
            <a:cxnLst/>
            <a:rect l="l" t="t" r="r" b="b"/>
            <a:pathLst>
              <a:path w="532764" h="141604">
                <a:moveTo>
                  <a:pt x="509183" y="141563"/>
                </a:moveTo>
                <a:lnTo>
                  <a:pt x="23389" y="141563"/>
                </a:lnTo>
                <a:lnTo>
                  <a:pt x="19949" y="140879"/>
                </a:lnTo>
                <a:lnTo>
                  <a:pt x="0" y="118172"/>
                </a:lnTo>
                <a:lnTo>
                  <a:pt x="0" y="114604"/>
                </a:lnTo>
                <a:lnTo>
                  <a:pt x="0" y="23377"/>
                </a:lnTo>
                <a:lnTo>
                  <a:pt x="23389" y="0"/>
                </a:lnTo>
                <a:lnTo>
                  <a:pt x="509183" y="0"/>
                </a:lnTo>
                <a:lnTo>
                  <a:pt x="532573" y="23377"/>
                </a:lnTo>
                <a:lnTo>
                  <a:pt x="532573" y="118172"/>
                </a:lnTo>
                <a:lnTo>
                  <a:pt x="512622" y="140879"/>
                </a:lnTo>
                <a:lnTo>
                  <a:pt x="509183" y="141563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754257" y="4912984"/>
            <a:ext cx="1119505" cy="141605"/>
          </a:xfrm>
          <a:custGeom>
            <a:avLst/>
            <a:gdLst/>
            <a:ahLst/>
            <a:cxnLst/>
            <a:rect l="l" t="t" r="r" b="b"/>
            <a:pathLst>
              <a:path w="1119505" h="141604">
                <a:moveTo>
                  <a:pt x="1095688" y="141563"/>
                </a:moveTo>
                <a:lnTo>
                  <a:pt x="23389" y="141563"/>
                </a:lnTo>
                <a:lnTo>
                  <a:pt x="19950" y="140872"/>
                </a:lnTo>
                <a:lnTo>
                  <a:pt x="0" y="118172"/>
                </a:lnTo>
                <a:lnTo>
                  <a:pt x="0" y="114604"/>
                </a:lnTo>
                <a:lnTo>
                  <a:pt x="0" y="23384"/>
                </a:lnTo>
                <a:lnTo>
                  <a:pt x="23389" y="0"/>
                </a:lnTo>
                <a:lnTo>
                  <a:pt x="1095688" y="0"/>
                </a:lnTo>
                <a:lnTo>
                  <a:pt x="1119077" y="23384"/>
                </a:lnTo>
                <a:lnTo>
                  <a:pt x="1119077" y="118172"/>
                </a:lnTo>
                <a:lnTo>
                  <a:pt x="1099127" y="140872"/>
                </a:lnTo>
                <a:lnTo>
                  <a:pt x="1095688" y="141563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754257" y="5202866"/>
            <a:ext cx="762000" cy="141605"/>
          </a:xfrm>
          <a:custGeom>
            <a:avLst/>
            <a:gdLst/>
            <a:ahLst/>
            <a:cxnLst/>
            <a:rect l="l" t="t" r="r" b="b"/>
            <a:pathLst>
              <a:path w="762000" h="141604">
                <a:moveTo>
                  <a:pt x="738392" y="141563"/>
                </a:moveTo>
                <a:lnTo>
                  <a:pt x="23389" y="141563"/>
                </a:lnTo>
                <a:lnTo>
                  <a:pt x="19950" y="140872"/>
                </a:lnTo>
                <a:lnTo>
                  <a:pt x="0" y="118172"/>
                </a:lnTo>
                <a:lnTo>
                  <a:pt x="0" y="114604"/>
                </a:lnTo>
                <a:lnTo>
                  <a:pt x="0" y="23384"/>
                </a:lnTo>
                <a:lnTo>
                  <a:pt x="23389" y="0"/>
                </a:lnTo>
                <a:lnTo>
                  <a:pt x="738392" y="0"/>
                </a:lnTo>
                <a:lnTo>
                  <a:pt x="761781" y="23384"/>
                </a:lnTo>
                <a:lnTo>
                  <a:pt x="761781" y="118172"/>
                </a:lnTo>
                <a:lnTo>
                  <a:pt x="741831" y="140872"/>
                </a:lnTo>
                <a:lnTo>
                  <a:pt x="738392" y="141563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754257" y="5492748"/>
            <a:ext cx="1179830" cy="141605"/>
          </a:xfrm>
          <a:custGeom>
            <a:avLst/>
            <a:gdLst/>
            <a:ahLst/>
            <a:cxnLst/>
            <a:rect l="l" t="t" r="r" b="b"/>
            <a:pathLst>
              <a:path w="1179830" h="141604">
                <a:moveTo>
                  <a:pt x="1156360" y="141563"/>
                </a:moveTo>
                <a:lnTo>
                  <a:pt x="23389" y="141563"/>
                </a:lnTo>
                <a:lnTo>
                  <a:pt x="19950" y="140872"/>
                </a:lnTo>
                <a:lnTo>
                  <a:pt x="0" y="118165"/>
                </a:lnTo>
                <a:lnTo>
                  <a:pt x="0" y="114604"/>
                </a:lnTo>
                <a:lnTo>
                  <a:pt x="0" y="23384"/>
                </a:lnTo>
                <a:lnTo>
                  <a:pt x="23389" y="0"/>
                </a:lnTo>
                <a:lnTo>
                  <a:pt x="1156360" y="0"/>
                </a:lnTo>
                <a:lnTo>
                  <a:pt x="1179750" y="23384"/>
                </a:lnTo>
                <a:lnTo>
                  <a:pt x="1179750" y="118165"/>
                </a:lnTo>
                <a:lnTo>
                  <a:pt x="1159800" y="140872"/>
                </a:lnTo>
                <a:lnTo>
                  <a:pt x="1156360" y="141563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7" name="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54257" y="5782629"/>
            <a:ext cx="114604" cy="141563"/>
          </a:xfrm>
          <a:prstGeom prst="rect">
            <a:avLst/>
          </a:prstGeom>
        </p:spPr>
      </p:pic>
      <p:sp>
        <p:nvSpPr>
          <p:cNvPr id="18" name="object 18"/>
          <p:cNvSpPr/>
          <p:nvPr/>
        </p:nvSpPr>
        <p:spPr>
          <a:xfrm>
            <a:off x="3929473" y="5782629"/>
            <a:ext cx="822960" cy="141605"/>
          </a:xfrm>
          <a:custGeom>
            <a:avLst/>
            <a:gdLst/>
            <a:ahLst/>
            <a:cxnLst/>
            <a:rect l="l" t="t" r="r" b="b"/>
            <a:pathLst>
              <a:path w="822960" h="141604">
                <a:moveTo>
                  <a:pt x="799065" y="141563"/>
                </a:moveTo>
                <a:lnTo>
                  <a:pt x="23389" y="141563"/>
                </a:lnTo>
                <a:lnTo>
                  <a:pt x="19949" y="140879"/>
                </a:lnTo>
                <a:lnTo>
                  <a:pt x="0" y="118165"/>
                </a:lnTo>
                <a:lnTo>
                  <a:pt x="0" y="114604"/>
                </a:lnTo>
                <a:lnTo>
                  <a:pt x="0" y="23384"/>
                </a:lnTo>
                <a:lnTo>
                  <a:pt x="23389" y="0"/>
                </a:lnTo>
                <a:lnTo>
                  <a:pt x="799065" y="0"/>
                </a:lnTo>
                <a:lnTo>
                  <a:pt x="822455" y="23384"/>
                </a:lnTo>
                <a:lnTo>
                  <a:pt x="822455" y="118165"/>
                </a:lnTo>
                <a:lnTo>
                  <a:pt x="802504" y="140879"/>
                </a:lnTo>
                <a:lnTo>
                  <a:pt x="799065" y="141563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754257" y="6072511"/>
            <a:ext cx="2063114" cy="141605"/>
          </a:xfrm>
          <a:custGeom>
            <a:avLst/>
            <a:gdLst/>
            <a:ahLst/>
            <a:cxnLst/>
            <a:rect l="l" t="t" r="r" b="b"/>
            <a:pathLst>
              <a:path w="2063114" h="141604">
                <a:moveTo>
                  <a:pt x="2039488" y="141563"/>
                </a:moveTo>
                <a:lnTo>
                  <a:pt x="23389" y="141563"/>
                </a:lnTo>
                <a:lnTo>
                  <a:pt x="19950" y="140879"/>
                </a:lnTo>
                <a:lnTo>
                  <a:pt x="0" y="118179"/>
                </a:lnTo>
                <a:lnTo>
                  <a:pt x="0" y="114604"/>
                </a:lnTo>
                <a:lnTo>
                  <a:pt x="0" y="23377"/>
                </a:lnTo>
                <a:lnTo>
                  <a:pt x="23389" y="0"/>
                </a:lnTo>
                <a:lnTo>
                  <a:pt x="2039488" y="0"/>
                </a:lnTo>
                <a:lnTo>
                  <a:pt x="2062878" y="23377"/>
                </a:lnTo>
                <a:lnTo>
                  <a:pt x="2062878" y="118179"/>
                </a:lnTo>
                <a:lnTo>
                  <a:pt x="2042928" y="140879"/>
                </a:lnTo>
                <a:lnTo>
                  <a:pt x="2039488" y="141563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5412588" y="6072509"/>
            <a:ext cx="681355" cy="141605"/>
          </a:xfrm>
          <a:custGeom>
            <a:avLst/>
            <a:gdLst/>
            <a:ahLst/>
            <a:cxnLst/>
            <a:rect l="l" t="t" r="r" b="b"/>
            <a:pathLst>
              <a:path w="681354" h="141604">
                <a:moveTo>
                  <a:pt x="680884" y="141565"/>
                </a:moveTo>
                <a:lnTo>
                  <a:pt x="23389" y="141565"/>
                </a:lnTo>
                <a:lnTo>
                  <a:pt x="19949" y="140881"/>
                </a:lnTo>
                <a:lnTo>
                  <a:pt x="0" y="118181"/>
                </a:lnTo>
                <a:lnTo>
                  <a:pt x="0" y="23380"/>
                </a:lnTo>
                <a:lnTo>
                  <a:pt x="23389" y="0"/>
                </a:lnTo>
                <a:lnTo>
                  <a:pt x="680884" y="0"/>
                </a:lnTo>
                <a:lnTo>
                  <a:pt x="680884" y="141565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3592401" y="6247782"/>
            <a:ext cx="795655" cy="141605"/>
          </a:xfrm>
          <a:custGeom>
            <a:avLst/>
            <a:gdLst/>
            <a:ahLst/>
            <a:cxnLst/>
            <a:rect l="l" t="t" r="r" b="b"/>
            <a:pathLst>
              <a:path w="795654" h="141604">
                <a:moveTo>
                  <a:pt x="772098" y="141576"/>
                </a:moveTo>
                <a:lnTo>
                  <a:pt x="0" y="141576"/>
                </a:lnTo>
                <a:lnTo>
                  <a:pt x="0" y="0"/>
                </a:lnTo>
                <a:lnTo>
                  <a:pt x="772098" y="0"/>
                </a:lnTo>
                <a:lnTo>
                  <a:pt x="775538" y="692"/>
                </a:lnTo>
                <a:lnTo>
                  <a:pt x="795489" y="23392"/>
                </a:lnTo>
                <a:lnTo>
                  <a:pt x="795489" y="118180"/>
                </a:lnTo>
                <a:lnTo>
                  <a:pt x="772098" y="141576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graphicFrame>
        <p:nvGraphicFramePr>
          <p:cNvPr id="22" name="object 22"/>
          <p:cNvGraphicFramePr>
            <a:graphicFrameLocks noGrp="1"/>
          </p:cNvGraphicFramePr>
          <p:nvPr/>
        </p:nvGraphicFramePr>
        <p:xfrm>
          <a:off x="680102" y="571501"/>
          <a:ext cx="6278880" cy="58807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838450"/>
                <a:gridCol w="3357245"/>
              </a:tblGrid>
              <a:tr h="282575">
                <a:tc>
                  <a:txBody>
                    <a:bodyPr/>
                    <a:lstStyle/>
                    <a:p>
                      <a:pPr marL="70485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950" spc="-20" b="1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Line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64769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marL="73025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950" spc="-10" b="1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Explanation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64769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  <a:solidFill>
                      <a:srgbClr val="F7FAFB"/>
                    </a:solidFill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print("\nLoading</a:t>
                      </a:r>
                      <a:r>
                        <a:rPr dirty="0" sz="750" spc="155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 spc="-1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Qwen...\n")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90170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3025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Logs</a:t>
                      </a:r>
                      <a:r>
                        <a:rPr dirty="0" sz="950" spc="-2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progress.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 b="1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Output:</a:t>
                      </a:r>
                      <a:r>
                        <a:rPr dirty="0" sz="950" spc="-20" b="1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blank</a:t>
                      </a:r>
                      <a:r>
                        <a:rPr dirty="0" sz="950" spc="-2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3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line,</a:t>
                      </a:r>
                      <a:r>
                        <a:rPr dirty="0" sz="950" spc="2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Loading</a:t>
                      </a:r>
                      <a:r>
                        <a:rPr dirty="0" sz="750" spc="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Qwen...</a:t>
                      </a:r>
                      <a:r>
                        <a:rPr dirty="0" sz="750" spc="-22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950" spc="-5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,</a:t>
                      </a:r>
                      <a:r>
                        <a:rPr dirty="0" sz="950" spc="-2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blank</a:t>
                      </a:r>
                      <a:r>
                        <a:rPr dirty="0" sz="950" spc="-2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line.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64769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</a:tr>
              <a:tr h="626745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MODEL_NAME</a:t>
                      </a:r>
                      <a:r>
                        <a:rPr dirty="0" sz="750" spc="145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=</a:t>
                      </a:r>
                      <a:r>
                        <a:rPr dirty="0" sz="750" spc="1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"Qwen/Qwen2.5-0.5B-</a:t>
                      </a:r>
                      <a:r>
                        <a:rPr dirty="0" sz="750" spc="-1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Instruct"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90170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3025" marR="104139">
                        <a:lnSpc>
                          <a:spcPct val="118700"/>
                        </a:lnSpc>
                        <a:spcBef>
                          <a:spcPts val="295"/>
                        </a:spcBef>
                      </a:pPr>
                      <a:r>
                        <a:rPr dirty="0" sz="950" spc="-9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The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Hugging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9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Face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9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Hub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6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identi</a:t>
                      </a:r>
                      <a:r>
                        <a:rPr dirty="0" sz="900" spc="-60">
                          <a:solidFill>
                            <a:srgbClr val="111726"/>
                          </a:solidFill>
                          <a:latin typeface="Arial"/>
                          <a:cs typeface="Arial"/>
                        </a:rPr>
                        <a:t>ﬁ</a:t>
                      </a:r>
                      <a:r>
                        <a:rPr dirty="0" sz="950" spc="-6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er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for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9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a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small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4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(</a:t>
                      </a:r>
                      <a:r>
                        <a:rPr dirty="0" sz="850" spc="-45">
                          <a:solidFill>
                            <a:srgbClr val="111726"/>
                          </a:solidFill>
                          <a:latin typeface="Arial"/>
                          <a:cs typeface="Arial"/>
                        </a:rPr>
                        <a:t>0</a:t>
                      </a:r>
                      <a:r>
                        <a:rPr dirty="0" sz="950" spc="-4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.</a:t>
                      </a:r>
                      <a:r>
                        <a:rPr dirty="0" sz="850" spc="-45">
                          <a:solidFill>
                            <a:srgbClr val="111726"/>
                          </a:solidFill>
                          <a:latin typeface="Arial"/>
                          <a:cs typeface="Arial"/>
                        </a:rPr>
                        <a:t>5</a:t>
                      </a:r>
                      <a:r>
                        <a:rPr dirty="0" sz="950" spc="-4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-</a:t>
                      </a:r>
                      <a:r>
                        <a:rPr dirty="0" sz="950" spc="-6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billion</a:t>
                      </a:r>
                      <a:r>
                        <a:rPr dirty="0" sz="95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6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parameter)</a:t>
                      </a:r>
                      <a:r>
                        <a:rPr dirty="0" sz="950" spc="50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instruction-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tuned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chat</a:t>
                      </a:r>
                      <a:r>
                        <a:rPr dirty="0" sz="95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model,</a:t>
                      </a:r>
                      <a:r>
                        <a:rPr dirty="0" sz="95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chosen</a:t>
                      </a:r>
                      <a:r>
                        <a:rPr dirty="0" sz="95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for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being</a:t>
                      </a:r>
                      <a:r>
                        <a:rPr dirty="0" sz="95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lightweight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enough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to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run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locally.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37465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</a:tr>
              <a:tr h="471805">
                <a:tc>
                  <a:txBody>
                    <a:bodyPr/>
                    <a:lstStyle/>
                    <a:p>
                      <a:pPr marL="70485" marR="333375" indent="26670">
                        <a:lnSpc>
                          <a:spcPct val="153300"/>
                        </a:lnSpc>
                        <a:spcBef>
                          <a:spcPts val="229"/>
                        </a:spcBef>
                      </a:pP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tokenizer</a:t>
                      </a:r>
                      <a:r>
                        <a:rPr dirty="0" sz="750" spc="95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 spc="-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= </a:t>
                      </a:r>
                      <a:r>
                        <a:rPr dirty="0" sz="750" spc="-1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AutoTokenizer.from_pretrained(MODEL_NAME)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29209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3025" marR="149225">
                        <a:lnSpc>
                          <a:spcPct val="121100"/>
                        </a:lnSpc>
                        <a:spcBef>
                          <a:spcPts val="270"/>
                        </a:spcBef>
                      </a:pP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Downloads/loads</a:t>
                      </a:r>
                      <a:r>
                        <a:rPr dirty="0" sz="950" spc="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the</a:t>
                      </a:r>
                      <a:r>
                        <a:rPr dirty="0" sz="950" spc="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tokenizer</a:t>
                      </a:r>
                      <a:r>
                        <a:rPr dirty="0" sz="950" spc="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matching</a:t>
                      </a:r>
                      <a:r>
                        <a:rPr dirty="0" sz="950" spc="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6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this</a:t>
                      </a:r>
                      <a:r>
                        <a:rPr dirty="0" sz="950" spc="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model,</a:t>
                      </a:r>
                      <a:r>
                        <a:rPr dirty="0" sz="950" spc="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6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responsible</a:t>
                      </a:r>
                      <a:r>
                        <a:rPr dirty="0" sz="950" spc="50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for</a:t>
                      </a:r>
                      <a:r>
                        <a:rPr dirty="0" sz="950" spc="-2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converting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text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into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token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IDs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and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2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back.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34290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</a:tr>
              <a:tr h="464820">
                <a:tc>
                  <a:txBody>
                    <a:bodyPr/>
                    <a:lstStyle/>
                    <a:p>
                      <a:pPr marL="70485" marR="570230" indent="26670">
                        <a:lnSpc>
                          <a:spcPct val="153300"/>
                        </a:lnSpc>
                        <a:spcBef>
                          <a:spcPts val="229"/>
                        </a:spcBef>
                      </a:pP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model</a:t>
                      </a:r>
                      <a:r>
                        <a:rPr dirty="0" sz="750" spc="6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 spc="-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= </a:t>
                      </a:r>
                      <a:r>
                        <a:rPr dirty="0" sz="750" spc="-1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AutoModelForCausalLM.from_pretrained(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29209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3025" marR="345440">
                        <a:lnSpc>
                          <a:spcPct val="116399"/>
                        </a:lnSpc>
                        <a:spcBef>
                          <a:spcPts val="320"/>
                        </a:spcBef>
                      </a:pP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Downloads/loads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the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model's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weights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for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causal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(next-</a:t>
                      </a:r>
                      <a:r>
                        <a:rPr dirty="0" sz="950" spc="-6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token-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prediction)</a:t>
                      </a:r>
                      <a:r>
                        <a:rPr dirty="0" sz="950" spc="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language</a:t>
                      </a:r>
                      <a:r>
                        <a:rPr dirty="0" sz="950" spc="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generation.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40640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dirty="0" sz="750" spc="-1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MODEL_NAME,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90170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3025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950" spc="-9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The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model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to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2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load.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64769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</a:tr>
              <a:tr h="626745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dirty="0" sz="750" spc="-1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torch_dtype="auto",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90170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3025" marR="205740">
                        <a:lnSpc>
                          <a:spcPct val="116399"/>
                        </a:lnSpc>
                        <a:spcBef>
                          <a:spcPts val="320"/>
                        </a:spcBef>
                      </a:pP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Lets</a:t>
                      </a:r>
                      <a:r>
                        <a:rPr dirty="0" sz="950" spc="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9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PyTorch/Transformers</a:t>
                      </a:r>
                      <a:r>
                        <a:rPr dirty="0" sz="950" spc="2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automatically</a:t>
                      </a:r>
                      <a:r>
                        <a:rPr dirty="0" sz="950" spc="2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pick</a:t>
                      </a:r>
                      <a:r>
                        <a:rPr dirty="0" sz="950" spc="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the</a:t>
                      </a:r>
                      <a:r>
                        <a:rPr dirty="0" sz="950" spc="2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9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most</a:t>
                      </a:r>
                      <a:r>
                        <a:rPr dirty="0" sz="950" spc="2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4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e</a:t>
                      </a:r>
                      <a:r>
                        <a:rPr dirty="0" sz="900" spc="-40">
                          <a:solidFill>
                            <a:srgbClr val="111726"/>
                          </a:solidFill>
                          <a:latin typeface="Arial"/>
                          <a:cs typeface="Arial"/>
                        </a:rPr>
                        <a:t>ﬃ</a:t>
                      </a:r>
                      <a:r>
                        <a:rPr dirty="0" sz="950" spc="-4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cient</a:t>
                      </a:r>
                      <a:r>
                        <a:rPr dirty="0" sz="950" spc="50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tensor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precision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6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(e.g.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00" spc="-50">
                          <a:solidFill>
                            <a:srgbClr val="111726"/>
                          </a:solidFill>
                          <a:latin typeface="Arial"/>
                          <a:cs typeface="Arial"/>
                        </a:rPr>
                        <a:t>ﬂ</a:t>
                      </a:r>
                      <a:r>
                        <a:rPr dirty="0" sz="950" spc="-5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oat</a:t>
                      </a:r>
                      <a:r>
                        <a:rPr dirty="0" sz="850" spc="-50">
                          <a:solidFill>
                            <a:srgbClr val="111726"/>
                          </a:solidFill>
                          <a:latin typeface="Arial"/>
                          <a:cs typeface="Arial"/>
                        </a:rPr>
                        <a:t>16</a:t>
                      </a:r>
                      <a:r>
                        <a:rPr dirty="0" sz="850" spc="-30">
                          <a:solidFill>
                            <a:srgbClr val="111726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50" spc="-9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on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GPU,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00" spc="-50">
                          <a:solidFill>
                            <a:srgbClr val="111726"/>
                          </a:solidFill>
                          <a:latin typeface="Arial"/>
                          <a:cs typeface="Arial"/>
                        </a:rPr>
                        <a:t>ﬂ</a:t>
                      </a:r>
                      <a:r>
                        <a:rPr dirty="0" sz="950" spc="-5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oat</a:t>
                      </a:r>
                      <a:r>
                        <a:rPr dirty="0" sz="850" spc="-50">
                          <a:solidFill>
                            <a:srgbClr val="111726"/>
                          </a:solidFill>
                          <a:latin typeface="Arial"/>
                          <a:cs typeface="Arial"/>
                        </a:rPr>
                        <a:t>32</a:t>
                      </a:r>
                      <a:r>
                        <a:rPr dirty="0" sz="850" spc="-30">
                          <a:solidFill>
                            <a:srgbClr val="111726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50" spc="-9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on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CPU)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for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2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the</a:t>
                      </a:r>
                      <a:r>
                        <a:rPr dirty="0" sz="950" spc="50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available</a:t>
                      </a:r>
                      <a:r>
                        <a:rPr dirty="0" sz="950" spc="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hardware.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40640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</a:tr>
              <a:tr h="451484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dirty="0" sz="750" spc="-1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device_map="auto"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90170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3025" marR="160655">
                        <a:lnSpc>
                          <a:spcPct val="116399"/>
                        </a:lnSpc>
                        <a:spcBef>
                          <a:spcPts val="320"/>
                        </a:spcBef>
                      </a:pP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Automatically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places</a:t>
                      </a:r>
                      <a:r>
                        <a:rPr dirty="0" sz="95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model</a:t>
                      </a:r>
                      <a:r>
                        <a:rPr dirty="0" sz="95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layers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9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on</a:t>
                      </a:r>
                      <a:r>
                        <a:rPr dirty="0" sz="95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the</a:t>
                      </a:r>
                      <a:r>
                        <a:rPr dirty="0" sz="95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best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available</a:t>
                      </a:r>
                      <a:r>
                        <a:rPr dirty="0" sz="95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6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device(s)</a:t>
                      </a:r>
                      <a:r>
                        <a:rPr dirty="0" sz="950" spc="50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(GPU</a:t>
                      </a:r>
                      <a:r>
                        <a:rPr dirty="0" sz="950" spc="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5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if</a:t>
                      </a:r>
                      <a:r>
                        <a:rPr dirty="0" sz="950" spc="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present,</a:t>
                      </a:r>
                      <a:r>
                        <a:rPr dirty="0" sz="950" spc="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otherwise</a:t>
                      </a:r>
                      <a:r>
                        <a:rPr dirty="0" sz="950" spc="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2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CPU).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40640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</a:tr>
              <a:tr h="296545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dirty="0" sz="750" spc="-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)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90170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3025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950" spc="-5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Closes</a:t>
                      </a:r>
                      <a:r>
                        <a:rPr dirty="0" sz="950" spc="22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from_pretrained(...)</a:t>
                      </a:r>
                      <a:r>
                        <a:rPr dirty="0" sz="750" spc="-21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950" spc="-5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.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64769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</a:tr>
              <a:tr h="457834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generator</a:t>
                      </a:r>
                      <a:r>
                        <a:rPr dirty="0" sz="750" spc="6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=</a:t>
                      </a:r>
                      <a:r>
                        <a:rPr dirty="0" sz="750" spc="65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 spc="-1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pipeline(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90170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3025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950" spc="-9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Wraps</a:t>
                      </a:r>
                      <a:r>
                        <a:rPr dirty="0" sz="950" spc="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the</a:t>
                      </a:r>
                      <a:r>
                        <a:rPr dirty="0" sz="950" spc="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model+tokenizer</a:t>
                      </a:r>
                      <a:r>
                        <a:rPr dirty="0" sz="950" spc="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in</a:t>
                      </a:r>
                      <a:r>
                        <a:rPr dirty="0" sz="950" spc="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9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a</a:t>
                      </a:r>
                      <a:r>
                        <a:rPr dirty="0" sz="950" spc="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high-</a:t>
                      </a:r>
                      <a:r>
                        <a:rPr dirty="0" sz="950" spc="-6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level</a:t>
                      </a:r>
                      <a:r>
                        <a:rPr dirty="0" sz="950" spc="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Hugging</a:t>
                      </a:r>
                      <a:r>
                        <a:rPr dirty="0" sz="950" spc="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2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Face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  <a:p>
                      <a:pPr marL="99695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pipeline</a:t>
                      </a:r>
                      <a:r>
                        <a:rPr dirty="0" sz="750" spc="-1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object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for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easy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text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generation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calls.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64769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"text-</a:t>
                      </a:r>
                      <a:r>
                        <a:rPr dirty="0" sz="750" spc="-1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generation",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90170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3025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950" spc="-6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Speci</a:t>
                      </a:r>
                      <a:r>
                        <a:rPr dirty="0" sz="900" spc="-65">
                          <a:solidFill>
                            <a:srgbClr val="111726"/>
                          </a:solidFill>
                          <a:latin typeface="Arial"/>
                          <a:cs typeface="Arial"/>
                        </a:rPr>
                        <a:t>ﬁ</a:t>
                      </a:r>
                      <a:r>
                        <a:rPr dirty="0" sz="950" spc="-6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es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the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pipeline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task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2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type.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64769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dirty="0" sz="750" spc="-1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model=model,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90170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3025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Uses</a:t>
                      </a:r>
                      <a:r>
                        <a:rPr dirty="0" sz="95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the</a:t>
                      </a:r>
                      <a:r>
                        <a:rPr dirty="0" sz="950" spc="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just-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loaded</a:t>
                      </a:r>
                      <a:r>
                        <a:rPr dirty="0" sz="950" spc="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model.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64769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dirty="0" sz="750" spc="-1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tokenizer=tokenizer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90170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3025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Uses</a:t>
                      </a:r>
                      <a:r>
                        <a:rPr dirty="0" sz="95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the</a:t>
                      </a:r>
                      <a:r>
                        <a:rPr dirty="0" sz="950" spc="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just-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loaded</a:t>
                      </a:r>
                      <a:r>
                        <a:rPr dirty="0" sz="950" spc="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tokenizer.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64769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dirty="0" sz="750" spc="-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)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90170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3025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950" spc="-5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Closes</a:t>
                      </a:r>
                      <a:r>
                        <a:rPr dirty="0" sz="950" spc="1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pipeline(...)</a:t>
                      </a:r>
                      <a:r>
                        <a:rPr dirty="0" sz="750" spc="-229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950" spc="-5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.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64769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</a:tr>
              <a:tr h="464820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print("Qwen</a:t>
                      </a:r>
                      <a:r>
                        <a:rPr dirty="0" sz="750" spc="9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Loaded</a:t>
                      </a:r>
                      <a:r>
                        <a:rPr dirty="0" sz="750" spc="9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 spc="-1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Successfully!")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90170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3025" marR="778510">
                        <a:lnSpc>
                          <a:spcPct val="138600"/>
                        </a:lnSpc>
                        <a:spcBef>
                          <a:spcPts val="70"/>
                        </a:spcBef>
                      </a:pPr>
                      <a:r>
                        <a:rPr dirty="0" sz="950" spc="-7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Con</a:t>
                      </a:r>
                      <a:r>
                        <a:rPr dirty="0" sz="900" spc="-70">
                          <a:solidFill>
                            <a:srgbClr val="111726"/>
                          </a:solidFill>
                          <a:latin typeface="Arial"/>
                          <a:cs typeface="Arial"/>
                        </a:rPr>
                        <a:t>ﬁ</a:t>
                      </a:r>
                      <a:r>
                        <a:rPr dirty="0" sz="950" spc="-7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rms</a:t>
                      </a:r>
                      <a:r>
                        <a:rPr dirty="0" sz="950" spc="-3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the</a:t>
                      </a:r>
                      <a:r>
                        <a:rPr dirty="0" sz="950" spc="-3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model</a:t>
                      </a:r>
                      <a:r>
                        <a:rPr dirty="0" sz="950" spc="-3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6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is</a:t>
                      </a:r>
                      <a:r>
                        <a:rPr dirty="0" sz="950" spc="-3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ready.</a:t>
                      </a:r>
                      <a:r>
                        <a:rPr dirty="0" sz="950" spc="-2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65" b="1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Output:</a:t>
                      </a:r>
                      <a:r>
                        <a:rPr dirty="0" sz="950" spc="185" b="1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Qwen</a:t>
                      </a:r>
                      <a:r>
                        <a:rPr dirty="0" sz="750" spc="3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 spc="-1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Loaded Successfully!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8890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3" name="object 23"/>
          <p:cNvSpPr txBox="1"/>
          <p:nvPr/>
        </p:nvSpPr>
        <p:spPr>
          <a:xfrm>
            <a:off x="667402" y="6543354"/>
            <a:ext cx="1380490" cy="2139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200" spc="-135" b="1">
                <a:solidFill>
                  <a:srgbClr val="111726"/>
                </a:solidFill>
                <a:latin typeface="Source Han Sans JP"/>
                <a:cs typeface="Source Han Sans JP"/>
              </a:rPr>
              <a:t>RAG</a:t>
            </a:r>
            <a:r>
              <a:rPr dirty="0" sz="1200" spc="-25" b="1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200" spc="-125" b="1">
                <a:solidFill>
                  <a:srgbClr val="111726"/>
                </a:solidFill>
                <a:latin typeface="Source Han Sans JP"/>
                <a:cs typeface="Source Han Sans JP"/>
              </a:rPr>
              <a:t>Answer</a:t>
            </a:r>
            <a:r>
              <a:rPr dirty="0" sz="1200" spc="-25" b="1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200" spc="-100" b="1">
                <a:solidFill>
                  <a:srgbClr val="111726"/>
                </a:solidFill>
                <a:latin typeface="Source Han Sans JP"/>
                <a:cs typeface="Source Han Sans JP"/>
              </a:rPr>
              <a:t>Function</a:t>
            </a:r>
            <a:endParaRPr sz="1200">
              <a:latin typeface="Source Han Sans JP"/>
              <a:cs typeface="Source Han Sans JP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80102" y="571514"/>
            <a:ext cx="6202680" cy="6417945"/>
          </a:xfrm>
          <a:custGeom>
            <a:avLst/>
            <a:gdLst/>
            <a:ahLst/>
            <a:cxnLst/>
            <a:rect l="l" t="t" r="r" b="b"/>
            <a:pathLst>
              <a:path w="6202680" h="6417945">
                <a:moveTo>
                  <a:pt x="6151728" y="6417845"/>
                </a:moveTo>
                <a:lnTo>
                  <a:pt x="50390" y="6417845"/>
                </a:lnTo>
                <a:lnTo>
                  <a:pt x="46883" y="6417502"/>
                </a:lnTo>
                <a:lnTo>
                  <a:pt x="11056" y="6396804"/>
                </a:lnTo>
                <a:lnTo>
                  <a:pt x="0" y="6367455"/>
                </a:lnTo>
                <a:lnTo>
                  <a:pt x="0" y="6363913"/>
                </a:lnTo>
                <a:lnTo>
                  <a:pt x="0" y="50382"/>
                </a:lnTo>
                <a:lnTo>
                  <a:pt x="18300" y="13278"/>
                </a:lnTo>
                <a:lnTo>
                  <a:pt x="50390" y="0"/>
                </a:lnTo>
                <a:lnTo>
                  <a:pt x="6151728" y="0"/>
                </a:lnTo>
                <a:lnTo>
                  <a:pt x="6188826" y="18288"/>
                </a:lnTo>
                <a:lnTo>
                  <a:pt x="6202118" y="50382"/>
                </a:lnTo>
                <a:lnTo>
                  <a:pt x="6202118" y="6367455"/>
                </a:lnTo>
                <a:lnTo>
                  <a:pt x="6183818" y="6404546"/>
                </a:lnTo>
                <a:lnTo>
                  <a:pt x="6155235" y="6417502"/>
                </a:lnTo>
                <a:lnTo>
                  <a:pt x="6151728" y="6417845"/>
                </a:lnTo>
                <a:close/>
              </a:path>
            </a:pathLst>
          </a:custGeom>
          <a:solidFill>
            <a:srgbClr val="0E172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761782" y="672065"/>
            <a:ext cx="5203825" cy="61956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def</a:t>
            </a:r>
            <a:r>
              <a:rPr dirty="0" sz="800" spc="1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 spc="-10">
                <a:solidFill>
                  <a:srgbClr val="E4E7EB"/>
                </a:solidFill>
                <a:latin typeface="Courier New"/>
                <a:cs typeface="Courier New"/>
              </a:rPr>
              <a:t>ask_rag(question):</a:t>
            </a:r>
            <a:endParaRPr sz="800">
              <a:latin typeface="Courier New"/>
              <a:cs typeface="Courier New"/>
            </a:endParaRPr>
          </a:p>
          <a:p>
            <a:pPr marL="259079" marR="2717165">
              <a:lnSpc>
                <a:spcPct val="293100"/>
              </a:lnSpc>
            </a:pP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context</a:t>
            </a:r>
            <a:r>
              <a:rPr dirty="0" sz="800" spc="2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=</a:t>
            </a:r>
            <a:r>
              <a:rPr dirty="0" sz="800" spc="2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 spc="-10">
                <a:solidFill>
                  <a:srgbClr val="E4E7EB"/>
                </a:solidFill>
                <a:latin typeface="Courier New"/>
                <a:cs typeface="Courier New"/>
              </a:rPr>
              <a:t>retrieve_context(question)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prompt</a:t>
            </a:r>
            <a:r>
              <a:rPr dirty="0" sz="800" spc="2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=</a:t>
            </a:r>
            <a:r>
              <a:rPr dirty="0" sz="800" spc="2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 spc="-20">
                <a:solidFill>
                  <a:srgbClr val="E4E7EB"/>
                </a:solidFill>
                <a:latin typeface="Courier New"/>
                <a:cs typeface="Courier New"/>
              </a:rPr>
              <a:t>f"""</a:t>
            </a:r>
            <a:endParaRPr sz="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420"/>
              </a:spcBef>
            </a:pP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You</a:t>
            </a:r>
            <a:r>
              <a:rPr dirty="0" sz="800" spc="1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are</a:t>
            </a:r>
            <a:r>
              <a:rPr dirty="0" sz="800" spc="2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a</a:t>
            </a:r>
            <a:r>
              <a:rPr dirty="0" sz="800" spc="2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helpful</a:t>
            </a:r>
            <a:r>
              <a:rPr dirty="0" sz="800" spc="2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AI</a:t>
            </a:r>
            <a:r>
              <a:rPr dirty="0" sz="800" spc="2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 spc="-10">
                <a:solidFill>
                  <a:srgbClr val="E4E7EB"/>
                </a:solidFill>
                <a:latin typeface="Courier New"/>
                <a:cs typeface="Courier New"/>
              </a:rPr>
              <a:t>assistant.</a:t>
            </a:r>
            <a:endParaRPr sz="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525"/>
              </a:spcBef>
            </a:pPr>
            <a:endParaRPr sz="800">
              <a:latin typeface="Courier New"/>
              <a:cs typeface="Courier New"/>
            </a:endParaRPr>
          </a:p>
          <a:p>
            <a:pPr marL="12700" marR="2963545">
              <a:lnSpc>
                <a:spcPct val="143800"/>
              </a:lnSpc>
            </a:pP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Answer</a:t>
            </a:r>
            <a:r>
              <a:rPr dirty="0" sz="800" spc="2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ONLY</a:t>
            </a:r>
            <a:r>
              <a:rPr dirty="0" sz="800" spc="3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using</a:t>
            </a:r>
            <a:r>
              <a:rPr dirty="0" sz="800" spc="2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the</a:t>
            </a:r>
            <a:r>
              <a:rPr dirty="0" sz="800" spc="3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context</a:t>
            </a:r>
            <a:r>
              <a:rPr dirty="0" sz="800" spc="2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 spc="-10">
                <a:solidFill>
                  <a:srgbClr val="E4E7EB"/>
                </a:solidFill>
                <a:latin typeface="Courier New"/>
                <a:cs typeface="Courier New"/>
              </a:rPr>
              <a:t>below.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If</a:t>
            </a:r>
            <a:r>
              <a:rPr dirty="0" sz="800" spc="2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the</a:t>
            </a:r>
            <a:r>
              <a:rPr dirty="0" sz="800" spc="2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answer</a:t>
            </a:r>
            <a:r>
              <a:rPr dirty="0" sz="800" spc="2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is</a:t>
            </a:r>
            <a:r>
              <a:rPr dirty="0" sz="800" spc="2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not</a:t>
            </a:r>
            <a:r>
              <a:rPr dirty="0" sz="800" spc="2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found,</a:t>
            </a:r>
            <a:r>
              <a:rPr dirty="0" sz="800" spc="2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 spc="-20">
                <a:solidFill>
                  <a:srgbClr val="E4E7EB"/>
                </a:solidFill>
                <a:latin typeface="Courier New"/>
                <a:cs typeface="Courier New"/>
              </a:rPr>
              <a:t>say:</a:t>
            </a:r>
            <a:endParaRPr sz="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475"/>
              </a:spcBef>
            </a:pP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"I</a:t>
            </a:r>
            <a:r>
              <a:rPr dirty="0" sz="800" spc="2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couldn't</a:t>
            </a:r>
            <a:r>
              <a:rPr dirty="0" sz="800" spc="2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find</a:t>
            </a:r>
            <a:r>
              <a:rPr dirty="0" sz="800" spc="2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the</a:t>
            </a:r>
            <a:r>
              <a:rPr dirty="0" sz="800" spc="2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answer</a:t>
            </a:r>
            <a:r>
              <a:rPr dirty="0" sz="800" spc="2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in</a:t>
            </a:r>
            <a:r>
              <a:rPr dirty="0" sz="800" spc="2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the</a:t>
            </a:r>
            <a:r>
              <a:rPr dirty="0" sz="800" spc="2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 spc="-10">
                <a:solidFill>
                  <a:srgbClr val="E4E7EB"/>
                </a:solidFill>
                <a:latin typeface="Courier New"/>
                <a:cs typeface="Courier New"/>
              </a:rPr>
              <a:t>document."</a:t>
            </a:r>
            <a:endParaRPr sz="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894"/>
              </a:spcBef>
            </a:pPr>
            <a:endParaRPr sz="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dirty="0" sz="800" spc="-10">
                <a:solidFill>
                  <a:srgbClr val="E4E7EB"/>
                </a:solidFill>
                <a:latin typeface="Courier New"/>
                <a:cs typeface="Courier New"/>
              </a:rPr>
              <a:t>Context:</a:t>
            </a:r>
            <a:endParaRPr sz="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470"/>
              </a:spcBef>
            </a:pPr>
            <a:r>
              <a:rPr dirty="0" sz="800" spc="-10">
                <a:solidFill>
                  <a:srgbClr val="E4E7EB"/>
                </a:solidFill>
                <a:latin typeface="Courier New"/>
                <a:cs typeface="Courier New"/>
              </a:rPr>
              <a:t>{context}</a:t>
            </a:r>
            <a:endParaRPr sz="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894"/>
              </a:spcBef>
            </a:pPr>
            <a:endParaRPr sz="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dirty="0" sz="800" spc="-10">
                <a:solidFill>
                  <a:srgbClr val="E4E7EB"/>
                </a:solidFill>
                <a:latin typeface="Courier New"/>
                <a:cs typeface="Courier New"/>
              </a:rPr>
              <a:t>Question:</a:t>
            </a:r>
            <a:endParaRPr sz="800">
              <a:latin typeface="Courier New"/>
              <a:cs typeface="Courier New"/>
            </a:endParaRPr>
          </a:p>
          <a:p>
            <a:pPr marL="12700" marR="4566285">
              <a:lnSpc>
                <a:spcPct val="143800"/>
              </a:lnSpc>
              <a:spcBef>
                <a:spcPts val="55"/>
              </a:spcBef>
            </a:pPr>
            <a:r>
              <a:rPr dirty="0" sz="800" spc="-10">
                <a:solidFill>
                  <a:srgbClr val="E4E7EB"/>
                </a:solidFill>
                <a:latin typeface="Courier New"/>
                <a:cs typeface="Courier New"/>
              </a:rPr>
              <a:t>{question} </a:t>
            </a:r>
            <a:r>
              <a:rPr dirty="0" sz="800" spc="-25">
                <a:solidFill>
                  <a:srgbClr val="E4E7EB"/>
                </a:solidFill>
                <a:latin typeface="Courier New"/>
                <a:cs typeface="Courier New"/>
              </a:rPr>
              <a:t>"""</a:t>
            </a:r>
            <a:endParaRPr sz="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endParaRPr sz="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800">
              <a:latin typeface="Courier New"/>
              <a:cs typeface="Courier New"/>
            </a:endParaRPr>
          </a:p>
          <a:p>
            <a:pPr marL="259079">
              <a:lnSpc>
                <a:spcPct val="100000"/>
              </a:lnSpc>
            </a:pP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messages</a:t>
            </a:r>
            <a:r>
              <a:rPr dirty="0" sz="800" spc="2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=</a:t>
            </a:r>
            <a:r>
              <a:rPr dirty="0" sz="800" spc="2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 spc="-50">
                <a:solidFill>
                  <a:srgbClr val="E4E7EB"/>
                </a:solidFill>
                <a:latin typeface="Courier New"/>
                <a:cs typeface="Courier New"/>
              </a:rPr>
              <a:t>[</a:t>
            </a:r>
            <a:endParaRPr sz="800">
              <a:latin typeface="Courier New"/>
              <a:cs typeface="Courier New"/>
            </a:endParaRPr>
          </a:p>
          <a:p>
            <a:pPr marL="505459">
              <a:lnSpc>
                <a:spcPct val="100000"/>
              </a:lnSpc>
              <a:spcBef>
                <a:spcPts val="420"/>
              </a:spcBef>
            </a:pP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{"role":</a:t>
            </a:r>
            <a:r>
              <a:rPr dirty="0" sz="800" spc="3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"system",</a:t>
            </a:r>
            <a:r>
              <a:rPr dirty="0" sz="800" spc="3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"content":</a:t>
            </a:r>
            <a:r>
              <a:rPr dirty="0" sz="800" spc="3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"You</a:t>
            </a:r>
            <a:r>
              <a:rPr dirty="0" sz="800" spc="3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answer</a:t>
            </a:r>
            <a:r>
              <a:rPr dirty="0" sz="800" spc="3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only</a:t>
            </a:r>
            <a:r>
              <a:rPr dirty="0" sz="800" spc="3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from</a:t>
            </a:r>
            <a:r>
              <a:rPr dirty="0" sz="800" spc="3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the</a:t>
            </a:r>
            <a:r>
              <a:rPr dirty="0" sz="800" spc="3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provided</a:t>
            </a:r>
            <a:r>
              <a:rPr dirty="0" sz="800" spc="3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 spc="-10">
                <a:solidFill>
                  <a:srgbClr val="E4E7EB"/>
                </a:solidFill>
                <a:latin typeface="Courier New"/>
                <a:cs typeface="Courier New"/>
              </a:rPr>
              <a:t>context."},</a:t>
            </a:r>
            <a:endParaRPr sz="800">
              <a:latin typeface="Courier New"/>
              <a:cs typeface="Courier New"/>
            </a:endParaRPr>
          </a:p>
          <a:p>
            <a:pPr marL="505459">
              <a:lnSpc>
                <a:spcPct val="100000"/>
              </a:lnSpc>
              <a:spcBef>
                <a:spcPts val="475"/>
              </a:spcBef>
            </a:pP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{"role":</a:t>
            </a:r>
            <a:r>
              <a:rPr dirty="0" sz="800" spc="4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"user",</a:t>
            </a:r>
            <a:r>
              <a:rPr dirty="0" sz="800" spc="4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"content":</a:t>
            </a:r>
            <a:r>
              <a:rPr dirty="0" sz="800" spc="4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 spc="-10">
                <a:solidFill>
                  <a:srgbClr val="E4E7EB"/>
                </a:solidFill>
                <a:latin typeface="Courier New"/>
                <a:cs typeface="Courier New"/>
              </a:rPr>
              <a:t>prompt},</a:t>
            </a:r>
            <a:endParaRPr sz="800">
              <a:latin typeface="Courier New"/>
              <a:cs typeface="Courier New"/>
            </a:endParaRPr>
          </a:p>
          <a:p>
            <a:pPr marL="259079">
              <a:lnSpc>
                <a:spcPct val="100000"/>
              </a:lnSpc>
              <a:spcBef>
                <a:spcPts val="420"/>
              </a:spcBef>
            </a:pPr>
            <a:r>
              <a:rPr dirty="0" sz="800" spc="-50">
                <a:solidFill>
                  <a:srgbClr val="E4E7EB"/>
                </a:solidFill>
                <a:latin typeface="Courier New"/>
                <a:cs typeface="Courier New"/>
              </a:rPr>
              <a:t>]</a:t>
            </a:r>
            <a:endParaRPr sz="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505"/>
              </a:spcBef>
            </a:pPr>
            <a:endParaRPr sz="800">
              <a:latin typeface="Courier New"/>
              <a:cs typeface="Courier New"/>
            </a:endParaRPr>
          </a:p>
          <a:p>
            <a:pPr marL="505459" marR="3518535" indent="-247015">
              <a:lnSpc>
                <a:spcPct val="145600"/>
              </a:lnSpc>
              <a:spcBef>
                <a:spcPts val="5"/>
              </a:spcBef>
            </a:pP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output</a:t>
            </a:r>
            <a:r>
              <a:rPr dirty="0" sz="800" spc="2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=</a:t>
            </a:r>
            <a:r>
              <a:rPr dirty="0" sz="800" spc="2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 spc="-10">
                <a:solidFill>
                  <a:srgbClr val="E4E7EB"/>
                </a:solidFill>
                <a:latin typeface="Courier New"/>
                <a:cs typeface="Courier New"/>
              </a:rPr>
              <a:t>generator( messages, max_new_tokens=150, do_sample=False,</a:t>
            </a:r>
            <a:endParaRPr sz="800">
              <a:latin typeface="Courier New"/>
              <a:cs typeface="Courier New"/>
            </a:endParaRPr>
          </a:p>
          <a:p>
            <a:pPr marL="259079">
              <a:lnSpc>
                <a:spcPct val="100000"/>
              </a:lnSpc>
              <a:spcBef>
                <a:spcPts val="470"/>
              </a:spcBef>
            </a:pPr>
            <a:r>
              <a:rPr dirty="0" sz="800" spc="-50">
                <a:solidFill>
                  <a:srgbClr val="E4E7EB"/>
                </a:solidFill>
                <a:latin typeface="Courier New"/>
                <a:cs typeface="Courier New"/>
              </a:rPr>
              <a:t>)</a:t>
            </a:r>
            <a:endParaRPr sz="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894"/>
              </a:spcBef>
            </a:pPr>
            <a:endParaRPr sz="800">
              <a:latin typeface="Courier New"/>
              <a:cs typeface="Courier New"/>
            </a:endParaRPr>
          </a:p>
          <a:p>
            <a:pPr marL="259079">
              <a:lnSpc>
                <a:spcPct val="100000"/>
              </a:lnSpc>
            </a:pP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answer</a:t>
            </a:r>
            <a:r>
              <a:rPr dirty="0" sz="800" spc="8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=</a:t>
            </a:r>
            <a:r>
              <a:rPr dirty="0" sz="800" spc="8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output[0]["generated_text"][-</a:t>
            </a:r>
            <a:r>
              <a:rPr dirty="0" sz="800" spc="-10">
                <a:solidFill>
                  <a:srgbClr val="E4E7EB"/>
                </a:solidFill>
                <a:latin typeface="Courier New"/>
                <a:cs typeface="Courier New"/>
              </a:rPr>
              <a:t>1]["content"]</a:t>
            </a:r>
            <a:endParaRPr sz="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509"/>
              </a:spcBef>
            </a:pPr>
            <a:endParaRPr sz="800">
              <a:latin typeface="Courier New"/>
              <a:cs typeface="Courier New"/>
            </a:endParaRPr>
          </a:p>
          <a:p>
            <a:pPr marL="259079" marR="3580129">
              <a:lnSpc>
                <a:spcPct val="145600"/>
              </a:lnSpc>
            </a:pP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print("\n"</a:t>
            </a:r>
            <a:r>
              <a:rPr dirty="0" sz="800" spc="2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+</a:t>
            </a:r>
            <a:r>
              <a:rPr dirty="0" sz="800" spc="2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"="</a:t>
            </a:r>
            <a:r>
              <a:rPr dirty="0" sz="800" spc="2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*</a:t>
            </a:r>
            <a:r>
              <a:rPr dirty="0" sz="800" spc="2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 spc="-25">
                <a:solidFill>
                  <a:srgbClr val="E4E7EB"/>
                </a:solidFill>
                <a:latin typeface="Courier New"/>
                <a:cs typeface="Courier New"/>
              </a:rPr>
              <a:t>80) </a:t>
            </a:r>
            <a:r>
              <a:rPr dirty="0" sz="800" spc="-10">
                <a:solidFill>
                  <a:srgbClr val="E4E7EB"/>
                </a:solidFill>
                <a:latin typeface="Courier New"/>
                <a:cs typeface="Courier New"/>
              </a:rPr>
              <a:t>print("ANSWER")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print("="</a:t>
            </a:r>
            <a:r>
              <a:rPr dirty="0" sz="800" spc="2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*</a:t>
            </a:r>
            <a:r>
              <a:rPr dirty="0" sz="800" spc="3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 spc="-25">
                <a:solidFill>
                  <a:srgbClr val="E4E7EB"/>
                </a:solidFill>
                <a:latin typeface="Courier New"/>
                <a:cs typeface="Courier New"/>
              </a:rPr>
              <a:t>80) </a:t>
            </a:r>
            <a:r>
              <a:rPr dirty="0" sz="800" spc="-10">
                <a:solidFill>
                  <a:srgbClr val="E4E7EB"/>
                </a:solidFill>
                <a:latin typeface="Courier New"/>
                <a:cs typeface="Courier New"/>
              </a:rPr>
              <a:t>print(answer)</a:t>
            </a:r>
            <a:endParaRPr sz="800">
              <a:latin typeface="Courier New"/>
              <a:cs typeface="Courier New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54257" y="7461260"/>
            <a:ext cx="1355090" cy="141605"/>
          </a:xfrm>
          <a:custGeom>
            <a:avLst/>
            <a:gdLst/>
            <a:ahLst/>
            <a:cxnLst/>
            <a:rect l="l" t="t" r="r" b="b"/>
            <a:pathLst>
              <a:path w="1355089" h="141604">
                <a:moveTo>
                  <a:pt x="1331638" y="141556"/>
                </a:moveTo>
                <a:lnTo>
                  <a:pt x="23389" y="141556"/>
                </a:lnTo>
                <a:lnTo>
                  <a:pt x="19950" y="140872"/>
                </a:lnTo>
                <a:lnTo>
                  <a:pt x="0" y="118172"/>
                </a:lnTo>
                <a:lnTo>
                  <a:pt x="0" y="114604"/>
                </a:lnTo>
                <a:lnTo>
                  <a:pt x="0" y="23384"/>
                </a:lnTo>
                <a:lnTo>
                  <a:pt x="23389" y="0"/>
                </a:lnTo>
                <a:lnTo>
                  <a:pt x="1331638" y="0"/>
                </a:lnTo>
                <a:lnTo>
                  <a:pt x="1355028" y="23384"/>
                </a:lnTo>
                <a:lnTo>
                  <a:pt x="1355028" y="118172"/>
                </a:lnTo>
                <a:lnTo>
                  <a:pt x="1335077" y="140872"/>
                </a:lnTo>
                <a:lnTo>
                  <a:pt x="1331638" y="141556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754257" y="7919677"/>
            <a:ext cx="2184400" cy="141605"/>
          </a:xfrm>
          <a:custGeom>
            <a:avLst/>
            <a:gdLst/>
            <a:ahLst/>
            <a:cxnLst/>
            <a:rect l="l" t="t" r="r" b="b"/>
            <a:pathLst>
              <a:path w="2184400" h="141604">
                <a:moveTo>
                  <a:pt x="2160834" y="141556"/>
                </a:moveTo>
                <a:lnTo>
                  <a:pt x="23389" y="141556"/>
                </a:lnTo>
                <a:lnTo>
                  <a:pt x="19950" y="140872"/>
                </a:lnTo>
                <a:lnTo>
                  <a:pt x="0" y="118172"/>
                </a:lnTo>
                <a:lnTo>
                  <a:pt x="0" y="114604"/>
                </a:lnTo>
                <a:lnTo>
                  <a:pt x="0" y="23371"/>
                </a:lnTo>
                <a:lnTo>
                  <a:pt x="23389" y="0"/>
                </a:lnTo>
                <a:lnTo>
                  <a:pt x="2160834" y="0"/>
                </a:lnTo>
                <a:lnTo>
                  <a:pt x="2184224" y="23371"/>
                </a:lnTo>
                <a:lnTo>
                  <a:pt x="2184224" y="118172"/>
                </a:lnTo>
                <a:lnTo>
                  <a:pt x="2164274" y="140872"/>
                </a:lnTo>
                <a:lnTo>
                  <a:pt x="2160834" y="141556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754257" y="8371353"/>
            <a:ext cx="1179830" cy="141605"/>
          </a:xfrm>
          <a:custGeom>
            <a:avLst/>
            <a:gdLst/>
            <a:ahLst/>
            <a:cxnLst/>
            <a:rect l="l" t="t" r="r" b="b"/>
            <a:pathLst>
              <a:path w="1179830" h="141604">
                <a:moveTo>
                  <a:pt x="1156360" y="141556"/>
                </a:moveTo>
                <a:lnTo>
                  <a:pt x="23389" y="141556"/>
                </a:lnTo>
                <a:lnTo>
                  <a:pt x="19950" y="140872"/>
                </a:lnTo>
                <a:lnTo>
                  <a:pt x="0" y="118172"/>
                </a:lnTo>
                <a:lnTo>
                  <a:pt x="0" y="114604"/>
                </a:lnTo>
                <a:lnTo>
                  <a:pt x="0" y="23384"/>
                </a:lnTo>
                <a:lnTo>
                  <a:pt x="23389" y="0"/>
                </a:lnTo>
                <a:lnTo>
                  <a:pt x="1156360" y="0"/>
                </a:lnTo>
                <a:lnTo>
                  <a:pt x="1179750" y="23384"/>
                </a:lnTo>
                <a:lnTo>
                  <a:pt x="1179750" y="118172"/>
                </a:lnTo>
                <a:lnTo>
                  <a:pt x="1159800" y="140872"/>
                </a:lnTo>
                <a:lnTo>
                  <a:pt x="1156360" y="141556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3491279" y="8546631"/>
            <a:ext cx="586740" cy="141605"/>
          </a:xfrm>
          <a:custGeom>
            <a:avLst/>
            <a:gdLst/>
            <a:ahLst/>
            <a:cxnLst/>
            <a:rect l="l" t="t" r="r" b="b"/>
            <a:pathLst>
              <a:path w="586739" h="141604">
                <a:moveTo>
                  <a:pt x="563114" y="141556"/>
                </a:moveTo>
                <a:lnTo>
                  <a:pt x="23389" y="141556"/>
                </a:lnTo>
                <a:lnTo>
                  <a:pt x="19949" y="140869"/>
                </a:lnTo>
                <a:lnTo>
                  <a:pt x="0" y="118172"/>
                </a:lnTo>
                <a:lnTo>
                  <a:pt x="0" y="114604"/>
                </a:lnTo>
                <a:lnTo>
                  <a:pt x="0" y="23384"/>
                </a:lnTo>
                <a:lnTo>
                  <a:pt x="23389" y="0"/>
                </a:lnTo>
                <a:lnTo>
                  <a:pt x="563114" y="0"/>
                </a:lnTo>
                <a:lnTo>
                  <a:pt x="586504" y="23384"/>
                </a:lnTo>
                <a:lnTo>
                  <a:pt x="586504" y="118172"/>
                </a:lnTo>
                <a:lnTo>
                  <a:pt x="566554" y="140869"/>
                </a:lnTo>
                <a:lnTo>
                  <a:pt x="563114" y="141556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4313734" y="8546631"/>
            <a:ext cx="640715" cy="141605"/>
          </a:xfrm>
          <a:custGeom>
            <a:avLst/>
            <a:gdLst/>
            <a:ahLst/>
            <a:cxnLst/>
            <a:rect l="l" t="t" r="r" b="b"/>
            <a:pathLst>
              <a:path w="640714" h="141604">
                <a:moveTo>
                  <a:pt x="617046" y="141556"/>
                </a:moveTo>
                <a:lnTo>
                  <a:pt x="23390" y="141556"/>
                </a:lnTo>
                <a:lnTo>
                  <a:pt x="19949" y="140869"/>
                </a:lnTo>
                <a:lnTo>
                  <a:pt x="0" y="118172"/>
                </a:lnTo>
                <a:lnTo>
                  <a:pt x="0" y="114604"/>
                </a:lnTo>
                <a:lnTo>
                  <a:pt x="0" y="23384"/>
                </a:lnTo>
                <a:lnTo>
                  <a:pt x="23390" y="0"/>
                </a:lnTo>
                <a:lnTo>
                  <a:pt x="617046" y="0"/>
                </a:lnTo>
                <a:lnTo>
                  <a:pt x="640436" y="23384"/>
                </a:lnTo>
                <a:lnTo>
                  <a:pt x="640436" y="118172"/>
                </a:lnTo>
                <a:lnTo>
                  <a:pt x="620485" y="140869"/>
                </a:lnTo>
                <a:lnTo>
                  <a:pt x="617046" y="141556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754257" y="8836512"/>
            <a:ext cx="1887855" cy="141605"/>
          </a:xfrm>
          <a:custGeom>
            <a:avLst/>
            <a:gdLst/>
            <a:ahLst/>
            <a:cxnLst/>
            <a:rect l="l" t="t" r="r" b="b"/>
            <a:pathLst>
              <a:path w="1887855" h="141604">
                <a:moveTo>
                  <a:pt x="1864211" y="141556"/>
                </a:moveTo>
                <a:lnTo>
                  <a:pt x="23389" y="141556"/>
                </a:lnTo>
                <a:lnTo>
                  <a:pt x="19950" y="140869"/>
                </a:lnTo>
                <a:lnTo>
                  <a:pt x="0" y="118170"/>
                </a:lnTo>
                <a:lnTo>
                  <a:pt x="0" y="114604"/>
                </a:lnTo>
                <a:lnTo>
                  <a:pt x="0" y="23386"/>
                </a:lnTo>
                <a:lnTo>
                  <a:pt x="23389" y="0"/>
                </a:lnTo>
                <a:lnTo>
                  <a:pt x="1864211" y="0"/>
                </a:lnTo>
                <a:lnTo>
                  <a:pt x="1887601" y="23386"/>
                </a:lnTo>
                <a:lnTo>
                  <a:pt x="1887601" y="118170"/>
                </a:lnTo>
                <a:lnTo>
                  <a:pt x="1867651" y="140869"/>
                </a:lnTo>
                <a:lnTo>
                  <a:pt x="1864211" y="141556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754257" y="9288188"/>
            <a:ext cx="2184400" cy="141605"/>
          </a:xfrm>
          <a:custGeom>
            <a:avLst/>
            <a:gdLst/>
            <a:ahLst/>
            <a:cxnLst/>
            <a:rect l="l" t="t" r="r" b="b"/>
            <a:pathLst>
              <a:path w="2184400" h="141604">
                <a:moveTo>
                  <a:pt x="2160834" y="141556"/>
                </a:moveTo>
                <a:lnTo>
                  <a:pt x="23389" y="141556"/>
                </a:lnTo>
                <a:lnTo>
                  <a:pt x="19950" y="140869"/>
                </a:lnTo>
                <a:lnTo>
                  <a:pt x="0" y="118170"/>
                </a:lnTo>
                <a:lnTo>
                  <a:pt x="0" y="114604"/>
                </a:lnTo>
                <a:lnTo>
                  <a:pt x="0" y="23386"/>
                </a:lnTo>
                <a:lnTo>
                  <a:pt x="23389" y="0"/>
                </a:lnTo>
                <a:lnTo>
                  <a:pt x="2160834" y="0"/>
                </a:lnTo>
                <a:lnTo>
                  <a:pt x="2184224" y="23386"/>
                </a:lnTo>
                <a:lnTo>
                  <a:pt x="2184224" y="118170"/>
                </a:lnTo>
                <a:lnTo>
                  <a:pt x="2164274" y="140869"/>
                </a:lnTo>
                <a:lnTo>
                  <a:pt x="2160834" y="141556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graphicFrame>
        <p:nvGraphicFramePr>
          <p:cNvPr id="11" name="object 11"/>
          <p:cNvGraphicFramePr>
            <a:graphicFrameLocks noGrp="1"/>
          </p:cNvGraphicFramePr>
          <p:nvPr/>
        </p:nvGraphicFramePr>
        <p:xfrm>
          <a:off x="680102" y="7097222"/>
          <a:ext cx="6278880" cy="25660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736850"/>
                <a:gridCol w="3458210"/>
              </a:tblGrid>
              <a:tr h="282575">
                <a:tc>
                  <a:txBody>
                    <a:bodyPr/>
                    <a:lstStyle/>
                    <a:p>
                      <a:pPr marL="70485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950" spc="-20" b="1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Line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64769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950" spc="-10" b="1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Explanation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64769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  <a:solidFill>
                      <a:srgbClr val="F7FAFB"/>
                    </a:solidFill>
                  </a:tcPr>
                </a:tc>
              </a:tr>
              <a:tr h="457834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def</a:t>
                      </a:r>
                      <a:r>
                        <a:rPr dirty="0" sz="750" spc="45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 spc="-1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ask_rag(question):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90170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 marR="98425">
                        <a:lnSpc>
                          <a:spcPct val="116399"/>
                        </a:lnSpc>
                        <a:spcBef>
                          <a:spcPts val="320"/>
                        </a:spcBef>
                      </a:pPr>
                      <a:r>
                        <a:rPr dirty="0" sz="950" spc="-6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De</a:t>
                      </a:r>
                      <a:r>
                        <a:rPr dirty="0" sz="900" spc="-65">
                          <a:solidFill>
                            <a:srgbClr val="111726"/>
                          </a:solidFill>
                          <a:latin typeface="Arial"/>
                          <a:cs typeface="Arial"/>
                        </a:rPr>
                        <a:t>ﬁ</a:t>
                      </a:r>
                      <a:r>
                        <a:rPr dirty="0" sz="950" spc="-6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nes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the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top-</a:t>
                      </a:r>
                      <a:r>
                        <a:rPr dirty="0" sz="950" spc="-6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level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9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RAG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function: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takes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9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a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question,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returns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5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nothing</a:t>
                      </a:r>
                      <a:r>
                        <a:rPr dirty="0" sz="950" spc="50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5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(it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prints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the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answer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directly).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40640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</a:tr>
              <a:tr h="451484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context</a:t>
                      </a:r>
                      <a:r>
                        <a:rPr dirty="0" sz="750" spc="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=</a:t>
                      </a:r>
                      <a:r>
                        <a:rPr dirty="0" sz="750" spc="55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 spc="-1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retrieve_context(question)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90170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 marR="469900">
                        <a:lnSpc>
                          <a:spcPct val="116399"/>
                        </a:lnSpc>
                        <a:spcBef>
                          <a:spcPts val="320"/>
                        </a:spcBef>
                      </a:pPr>
                      <a:r>
                        <a:rPr dirty="0" sz="950" spc="-6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Calls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the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retrieval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function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6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de</a:t>
                      </a:r>
                      <a:r>
                        <a:rPr dirty="0" sz="900" spc="-65">
                          <a:solidFill>
                            <a:srgbClr val="111726"/>
                          </a:solidFill>
                          <a:latin typeface="Arial"/>
                          <a:cs typeface="Arial"/>
                        </a:rPr>
                        <a:t>ﬁ</a:t>
                      </a:r>
                      <a:r>
                        <a:rPr dirty="0" sz="950" spc="-6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ned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6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earlier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to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fetch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the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850" spc="-30">
                          <a:solidFill>
                            <a:srgbClr val="111726"/>
                          </a:solidFill>
                          <a:latin typeface="Arial"/>
                          <a:cs typeface="Arial"/>
                        </a:rPr>
                        <a:t>3</a:t>
                      </a:r>
                      <a:r>
                        <a:rPr dirty="0" sz="850" spc="-35">
                          <a:solidFill>
                            <a:srgbClr val="111726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50" spc="-6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most</a:t>
                      </a:r>
                      <a:r>
                        <a:rPr dirty="0" sz="950" spc="50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relevant</a:t>
                      </a:r>
                      <a:r>
                        <a:rPr dirty="0" sz="950" spc="-2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chunks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as</a:t>
                      </a:r>
                      <a:r>
                        <a:rPr dirty="0" sz="950" spc="-2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one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text</a:t>
                      </a:r>
                      <a:r>
                        <a:rPr dirty="0" sz="950" spc="-2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block.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40640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</a:tr>
              <a:tr h="464820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prompt</a:t>
                      </a:r>
                      <a:r>
                        <a:rPr dirty="0" sz="750" spc="45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=</a:t>
                      </a:r>
                      <a:r>
                        <a:rPr dirty="0" sz="750" spc="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 spc="-1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f"""..."""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90170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Builds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the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5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full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instruction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9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prompt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for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the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LLM,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using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9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an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6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f-</a:t>
                      </a:r>
                      <a:r>
                        <a:rPr dirty="0" sz="950" spc="-7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string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2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so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  <a:p>
                      <a:pPr marL="9906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{context}</a:t>
                      </a:r>
                      <a:r>
                        <a:rPr dirty="0" sz="750" spc="-25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950" spc="-4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and</a:t>
                      </a:r>
                      <a:r>
                        <a:rPr dirty="0" sz="950" spc="2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{question}</a:t>
                      </a:r>
                      <a:r>
                        <a:rPr dirty="0" sz="750" spc="-2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are</a:t>
                      </a:r>
                      <a:r>
                        <a:rPr dirty="0" sz="950" spc="-2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substituted</a:t>
                      </a:r>
                      <a:r>
                        <a:rPr dirty="0" sz="950" spc="-2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with</a:t>
                      </a:r>
                      <a:r>
                        <a:rPr dirty="0" sz="950" spc="-2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real</a:t>
                      </a:r>
                      <a:r>
                        <a:rPr dirty="0" sz="950" spc="-2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values.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64769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</a:tr>
              <a:tr h="451484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You</a:t>
                      </a:r>
                      <a:r>
                        <a:rPr dirty="0" sz="750" spc="45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are</a:t>
                      </a:r>
                      <a:r>
                        <a:rPr dirty="0" sz="750" spc="45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a</a:t>
                      </a:r>
                      <a:r>
                        <a:rPr dirty="0" sz="750" spc="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helpful</a:t>
                      </a:r>
                      <a:r>
                        <a:rPr dirty="0" sz="750" spc="45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AI</a:t>
                      </a:r>
                      <a:r>
                        <a:rPr dirty="0" sz="750" spc="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 spc="-1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assistant.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90170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 marR="213360">
                        <a:lnSpc>
                          <a:spcPct val="116399"/>
                        </a:lnSpc>
                        <a:spcBef>
                          <a:spcPts val="320"/>
                        </a:spcBef>
                      </a:pP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System-</a:t>
                      </a:r>
                      <a:r>
                        <a:rPr dirty="0" sz="950" spc="-7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style</a:t>
                      </a:r>
                      <a:r>
                        <a:rPr dirty="0" sz="950" spc="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instruction</a:t>
                      </a:r>
                      <a:r>
                        <a:rPr dirty="0" sz="950" spc="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9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embedded</a:t>
                      </a:r>
                      <a:r>
                        <a:rPr dirty="0" sz="950" spc="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in</a:t>
                      </a:r>
                      <a:r>
                        <a:rPr dirty="0" sz="950" spc="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the</a:t>
                      </a:r>
                      <a:r>
                        <a:rPr dirty="0" sz="950" spc="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9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prompt</a:t>
                      </a:r>
                      <a:r>
                        <a:rPr dirty="0" sz="950" spc="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text,</a:t>
                      </a:r>
                      <a:r>
                        <a:rPr dirty="0" sz="950" spc="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setting</a:t>
                      </a:r>
                      <a:r>
                        <a:rPr dirty="0" sz="950" spc="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3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the</a:t>
                      </a:r>
                      <a:r>
                        <a:rPr dirty="0" sz="950" spc="50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assistant's</a:t>
                      </a:r>
                      <a:r>
                        <a:rPr dirty="0" sz="950" spc="2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role.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40640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</a:tr>
              <a:tr h="457834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Answer</a:t>
                      </a:r>
                      <a:r>
                        <a:rPr dirty="0" sz="750" spc="6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ONLY</a:t>
                      </a:r>
                      <a:r>
                        <a:rPr dirty="0" sz="750" spc="65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using</a:t>
                      </a:r>
                      <a:r>
                        <a:rPr dirty="0" sz="750" spc="6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the</a:t>
                      </a:r>
                      <a:r>
                        <a:rPr dirty="0" sz="750" spc="65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context</a:t>
                      </a:r>
                      <a:r>
                        <a:rPr dirty="0" sz="750" spc="6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 spc="-1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below.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90170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 marR="116205">
                        <a:lnSpc>
                          <a:spcPct val="121100"/>
                        </a:lnSpc>
                        <a:spcBef>
                          <a:spcPts val="270"/>
                        </a:spcBef>
                      </a:pP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Constrains</a:t>
                      </a:r>
                      <a:r>
                        <a:rPr dirty="0" sz="95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the</a:t>
                      </a:r>
                      <a:r>
                        <a:rPr dirty="0" sz="95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model</a:t>
                      </a:r>
                      <a:r>
                        <a:rPr dirty="0" sz="950" spc="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to</a:t>
                      </a:r>
                      <a:r>
                        <a:rPr dirty="0" sz="95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avoid</a:t>
                      </a:r>
                      <a:r>
                        <a:rPr dirty="0" sz="950" spc="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hallucinating</a:t>
                      </a:r>
                      <a:r>
                        <a:rPr dirty="0" sz="95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information</a:t>
                      </a:r>
                      <a:r>
                        <a:rPr dirty="0" sz="95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outside</a:t>
                      </a:r>
                      <a:r>
                        <a:rPr dirty="0" sz="950" spc="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2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the</a:t>
                      </a:r>
                      <a:r>
                        <a:rPr dirty="0" sz="950" spc="50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retrieved</a:t>
                      </a:r>
                      <a:r>
                        <a:rPr dirty="0" sz="950" spc="3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chunks.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34290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80102" y="7272497"/>
            <a:ext cx="6202680" cy="1254125"/>
          </a:xfrm>
          <a:custGeom>
            <a:avLst/>
            <a:gdLst/>
            <a:ahLst/>
            <a:cxnLst/>
            <a:rect l="l" t="t" r="r" b="b"/>
            <a:pathLst>
              <a:path w="6202680" h="1254125">
                <a:moveTo>
                  <a:pt x="6151728" y="1253893"/>
                </a:moveTo>
                <a:lnTo>
                  <a:pt x="50390" y="1253893"/>
                </a:lnTo>
                <a:lnTo>
                  <a:pt x="46883" y="1253549"/>
                </a:lnTo>
                <a:lnTo>
                  <a:pt x="11056" y="1232853"/>
                </a:lnTo>
                <a:lnTo>
                  <a:pt x="0" y="1203500"/>
                </a:lnTo>
                <a:lnTo>
                  <a:pt x="0" y="1199975"/>
                </a:lnTo>
                <a:lnTo>
                  <a:pt x="0" y="50392"/>
                </a:lnTo>
                <a:lnTo>
                  <a:pt x="18300" y="13273"/>
                </a:lnTo>
                <a:lnTo>
                  <a:pt x="50390" y="0"/>
                </a:lnTo>
                <a:lnTo>
                  <a:pt x="6151728" y="0"/>
                </a:lnTo>
                <a:lnTo>
                  <a:pt x="6188826" y="18302"/>
                </a:lnTo>
                <a:lnTo>
                  <a:pt x="6202118" y="50392"/>
                </a:lnTo>
                <a:lnTo>
                  <a:pt x="6202118" y="1203500"/>
                </a:lnTo>
                <a:lnTo>
                  <a:pt x="6183818" y="1240592"/>
                </a:lnTo>
                <a:lnTo>
                  <a:pt x="6155235" y="1253549"/>
                </a:lnTo>
                <a:lnTo>
                  <a:pt x="6151728" y="1253893"/>
                </a:lnTo>
                <a:close/>
              </a:path>
            </a:pathLst>
          </a:custGeom>
          <a:solidFill>
            <a:srgbClr val="0E172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754253" y="652398"/>
            <a:ext cx="2514600" cy="316865"/>
          </a:xfrm>
          <a:custGeom>
            <a:avLst/>
            <a:gdLst/>
            <a:ahLst/>
            <a:cxnLst/>
            <a:rect l="l" t="t" r="r" b="b"/>
            <a:pathLst>
              <a:path w="2514600" h="316865">
                <a:moveTo>
                  <a:pt x="2096579" y="0"/>
                </a:moveTo>
                <a:lnTo>
                  <a:pt x="23393" y="0"/>
                </a:lnTo>
                <a:lnTo>
                  <a:pt x="19951" y="685"/>
                </a:lnTo>
                <a:lnTo>
                  <a:pt x="0" y="23393"/>
                </a:lnTo>
                <a:lnTo>
                  <a:pt x="0" y="118173"/>
                </a:lnTo>
                <a:lnTo>
                  <a:pt x="23393" y="141554"/>
                </a:lnTo>
                <a:lnTo>
                  <a:pt x="2096579" y="141554"/>
                </a:lnTo>
                <a:lnTo>
                  <a:pt x="2096579" y="0"/>
                </a:lnTo>
                <a:close/>
              </a:path>
              <a:path w="2514600" h="316865">
                <a:moveTo>
                  <a:pt x="2514549" y="198666"/>
                </a:moveTo>
                <a:lnTo>
                  <a:pt x="2491168" y="175272"/>
                </a:lnTo>
                <a:lnTo>
                  <a:pt x="0" y="175272"/>
                </a:lnTo>
                <a:lnTo>
                  <a:pt x="0" y="316839"/>
                </a:lnTo>
                <a:lnTo>
                  <a:pt x="2491168" y="316839"/>
                </a:lnTo>
                <a:lnTo>
                  <a:pt x="2514549" y="293446"/>
                </a:lnTo>
                <a:lnTo>
                  <a:pt x="2514549" y="198666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754257" y="1117568"/>
            <a:ext cx="1179830" cy="141605"/>
          </a:xfrm>
          <a:custGeom>
            <a:avLst/>
            <a:gdLst/>
            <a:ahLst/>
            <a:cxnLst/>
            <a:rect l="l" t="t" r="r" b="b"/>
            <a:pathLst>
              <a:path w="1179830" h="141605">
                <a:moveTo>
                  <a:pt x="1156360" y="141556"/>
                </a:moveTo>
                <a:lnTo>
                  <a:pt x="23389" y="141556"/>
                </a:lnTo>
                <a:lnTo>
                  <a:pt x="19950" y="140869"/>
                </a:lnTo>
                <a:lnTo>
                  <a:pt x="0" y="118170"/>
                </a:lnTo>
                <a:lnTo>
                  <a:pt x="0" y="114604"/>
                </a:lnTo>
                <a:lnTo>
                  <a:pt x="0" y="23372"/>
                </a:lnTo>
                <a:lnTo>
                  <a:pt x="23389" y="0"/>
                </a:lnTo>
                <a:lnTo>
                  <a:pt x="1156360" y="0"/>
                </a:lnTo>
                <a:lnTo>
                  <a:pt x="1179750" y="23372"/>
                </a:lnTo>
                <a:lnTo>
                  <a:pt x="1179750" y="118170"/>
                </a:lnTo>
                <a:lnTo>
                  <a:pt x="1159800" y="140869"/>
                </a:lnTo>
                <a:lnTo>
                  <a:pt x="1156360" y="141556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754257" y="1407450"/>
            <a:ext cx="1294765" cy="141605"/>
          </a:xfrm>
          <a:custGeom>
            <a:avLst/>
            <a:gdLst/>
            <a:ahLst/>
            <a:cxnLst/>
            <a:rect l="l" t="t" r="r" b="b"/>
            <a:pathLst>
              <a:path w="1294764" h="141605">
                <a:moveTo>
                  <a:pt x="1270965" y="141556"/>
                </a:moveTo>
                <a:lnTo>
                  <a:pt x="23389" y="141556"/>
                </a:lnTo>
                <a:lnTo>
                  <a:pt x="19950" y="140869"/>
                </a:lnTo>
                <a:lnTo>
                  <a:pt x="0" y="118170"/>
                </a:lnTo>
                <a:lnTo>
                  <a:pt x="0" y="114604"/>
                </a:lnTo>
                <a:lnTo>
                  <a:pt x="0" y="23372"/>
                </a:lnTo>
                <a:lnTo>
                  <a:pt x="23389" y="0"/>
                </a:lnTo>
                <a:lnTo>
                  <a:pt x="1270965" y="0"/>
                </a:lnTo>
                <a:lnTo>
                  <a:pt x="1294355" y="23372"/>
                </a:lnTo>
                <a:lnTo>
                  <a:pt x="1294355" y="118170"/>
                </a:lnTo>
                <a:lnTo>
                  <a:pt x="1274405" y="140869"/>
                </a:lnTo>
                <a:lnTo>
                  <a:pt x="1270965" y="141556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754257" y="1697332"/>
            <a:ext cx="762000" cy="141605"/>
          </a:xfrm>
          <a:custGeom>
            <a:avLst/>
            <a:gdLst/>
            <a:ahLst/>
            <a:cxnLst/>
            <a:rect l="l" t="t" r="r" b="b"/>
            <a:pathLst>
              <a:path w="762000" h="141605">
                <a:moveTo>
                  <a:pt x="738392" y="141556"/>
                </a:moveTo>
                <a:lnTo>
                  <a:pt x="23389" y="141556"/>
                </a:lnTo>
                <a:lnTo>
                  <a:pt x="19950" y="140869"/>
                </a:lnTo>
                <a:lnTo>
                  <a:pt x="0" y="118170"/>
                </a:lnTo>
                <a:lnTo>
                  <a:pt x="0" y="114604"/>
                </a:lnTo>
                <a:lnTo>
                  <a:pt x="0" y="23372"/>
                </a:lnTo>
                <a:lnTo>
                  <a:pt x="23389" y="0"/>
                </a:lnTo>
                <a:lnTo>
                  <a:pt x="738392" y="0"/>
                </a:lnTo>
                <a:lnTo>
                  <a:pt x="761781" y="23372"/>
                </a:lnTo>
                <a:lnTo>
                  <a:pt x="761781" y="118170"/>
                </a:lnTo>
                <a:lnTo>
                  <a:pt x="741831" y="140869"/>
                </a:lnTo>
                <a:lnTo>
                  <a:pt x="738392" y="141556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754253" y="2148991"/>
            <a:ext cx="2454275" cy="323850"/>
          </a:xfrm>
          <a:custGeom>
            <a:avLst/>
            <a:gdLst/>
            <a:ahLst/>
            <a:cxnLst/>
            <a:rect l="l" t="t" r="r" b="b"/>
            <a:pathLst>
              <a:path w="2454275" h="323850">
                <a:moveTo>
                  <a:pt x="2035911" y="205409"/>
                </a:moveTo>
                <a:lnTo>
                  <a:pt x="2012518" y="182016"/>
                </a:lnTo>
                <a:lnTo>
                  <a:pt x="0" y="182016"/>
                </a:lnTo>
                <a:lnTo>
                  <a:pt x="0" y="323596"/>
                </a:lnTo>
                <a:lnTo>
                  <a:pt x="2012518" y="323596"/>
                </a:lnTo>
                <a:lnTo>
                  <a:pt x="2035911" y="300189"/>
                </a:lnTo>
                <a:lnTo>
                  <a:pt x="2035911" y="205409"/>
                </a:lnTo>
                <a:close/>
              </a:path>
              <a:path w="2454275" h="323850">
                <a:moveTo>
                  <a:pt x="2453881" y="0"/>
                </a:moveTo>
                <a:lnTo>
                  <a:pt x="23393" y="0"/>
                </a:lnTo>
                <a:lnTo>
                  <a:pt x="19951" y="698"/>
                </a:lnTo>
                <a:lnTo>
                  <a:pt x="0" y="23393"/>
                </a:lnTo>
                <a:lnTo>
                  <a:pt x="0" y="118173"/>
                </a:lnTo>
                <a:lnTo>
                  <a:pt x="23393" y="141566"/>
                </a:lnTo>
                <a:lnTo>
                  <a:pt x="2453881" y="141566"/>
                </a:lnTo>
                <a:lnTo>
                  <a:pt x="2453881" y="0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754257" y="2620908"/>
            <a:ext cx="2184400" cy="141605"/>
          </a:xfrm>
          <a:custGeom>
            <a:avLst/>
            <a:gdLst/>
            <a:ahLst/>
            <a:cxnLst/>
            <a:rect l="l" t="t" r="r" b="b"/>
            <a:pathLst>
              <a:path w="2184400" h="141605">
                <a:moveTo>
                  <a:pt x="2160834" y="141556"/>
                </a:moveTo>
                <a:lnTo>
                  <a:pt x="23389" y="141556"/>
                </a:lnTo>
                <a:lnTo>
                  <a:pt x="19950" y="140869"/>
                </a:lnTo>
                <a:lnTo>
                  <a:pt x="0" y="118170"/>
                </a:lnTo>
                <a:lnTo>
                  <a:pt x="0" y="114604"/>
                </a:lnTo>
                <a:lnTo>
                  <a:pt x="0" y="23386"/>
                </a:lnTo>
                <a:lnTo>
                  <a:pt x="23389" y="0"/>
                </a:lnTo>
                <a:lnTo>
                  <a:pt x="2160834" y="0"/>
                </a:lnTo>
                <a:lnTo>
                  <a:pt x="2184224" y="23386"/>
                </a:lnTo>
                <a:lnTo>
                  <a:pt x="2184224" y="118170"/>
                </a:lnTo>
                <a:lnTo>
                  <a:pt x="2164274" y="140869"/>
                </a:lnTo>
                <a:lnTo>
                  <a:pt x="2160834" y="141556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754257" y="3362466"/>
            <a:ext cx="1179830" cy="141605"/>
          </a:xfrm>
          <a:custGeom>
            <a:avLst/>
            <a:gdLst/>
            <a:ahLst/>
            <a:cxnLst/>
            <a:rect l="l" t="t" r="r" b="b"/>
            <a:pathLst>
              <a:path w="1179830" h="141604">
                <a:moveTo>
                  <a:pt x="1156360" y="141556"/>
                </a:moveTo>
                <a:lnTo>
                  <a:pt x="23389" y="141556"/>
                </a:lnTo>
                <a:lnTo>
                  <a:pt x="19950" y="140862"/>
                </a:lnTo>
                <a:lnTo>
                  <a:pt x="0" y="118170"/>
                </a:lnTo>
                <a:lnTo>
                  <a:pt x="0" y="114604"/>
                </a:lnTo>
                <a:lnTo>
                  <a:pt x="0" y="23386"/>
                </a:lnTo>
                <a:lnTo>
                  <a:pt x="23389" y="0"/>
                </a:lnTo>
                <a:lnTo>
                  <a:pt x="1156360" y="0"/>
                </a:lnTo>
                <a:lnTo>
                  <a:pt x="1179750" y="23386"/>
                </a:lnTo>
                <a:lnTo>
                  <a:pt x="1179750" y="118170"/>
                </a:lnTo>
                <a:lnTo>
                  <a:pt x="1159800" y="140862"/>
                </a:lnTo>
                <a:lnTo>
                  <a:pt x="1156360" y="141556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754257" y="3652347"/>
            <a:ext cx="586740" cy="141605"/>
          </a:xfrm>
          <a:custGeom>
            <a:avLst/>
            <a:gdLst/>
            <a:ahLst/>
            <a:cxnLst/>
            <a:rect l="l" t="t" r="r" b="b"/>
            <a:pathLst>
              <a:path w="586740" h="141604">
                <a:moveTo>
                  <a:pt x="563114" y="141556"/>
                </a:moveTo>
                <a:lnTo>
                  <a:pt x="23389" y="141556"/>
                </a:lnTo>
                <a:lnTo>
                  <a:pt x="19950" y="140869"/>
                </a:lnTo>
                <a:lnTo>
                  <a:pt x="0" y="118170"/>
                </a:lnTo>
                <a:lnTo>
                  <a:pt x="0" y="114604"/>
                </a:lnTo>
                <a:lnTo>
                  <a:pt x="0" y="23386"/>
                </a:lnTo>
                <a:lnTo>
                  <a:pt x="23389" y="0"/>
                </a:lnTo>
                <a:lnTo>
                  <a:pt x="563114" y="0"/>
                </a:lnTo>
                <a:lnTo>
                  <a:pt x="586504" y="23386"/>
                </a:lnTo>
                <a:lnTo>
                  <a:pt x="586504" y="118170"/>
                </a:lnTo>
                <a:lnTo>
                  <a:pt x="566554" y="140869"/>
                </a:lnTo>
                <a:lnTo>
                  <a:pt x="563114" y="141556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754257" y="3948970"/>
            <a:ext cx="1179830" cy="141605"/>
          </a:xfrm>
          <a:custGeom>
            <a:avLst/>
            <a:gdLst/>
            <a:ahLst/>
            <a:cxnLst/>
            <a:rect l="l" t="t" r="r" b="b"/>
            <a:pathLst>
              <a:path w="1179830" h="141604">
                <a:moveTo>
                  <a:pt x="1156360" y="141556"/>
                </a:moveTo>
                <a:lnTo>
                  <a:pt x="23389" y="141556"/>
                </a:lnTo>
                <a:lnTo>
                  <a:pt x="19950" y="140869"/>
                </a:lnTo>
                <a:lnTo>
                  <a:pt x="0" y="118170"/>
                </a:lnTo>
                <a:lnTo>
                  <a:pt x="0" y="114604"/>
                </a:lnTo>
                <a:lnTo>
                  <a:pt x="0" y="23386"/>
                </a:lnTo>
                <a:lnTo>
                  <a:pt x="23389" y="0"/>
                </a:lnTo>
                <a:lnTo>
                  <a:pt x="1156360" y="0"/>
                </a:lnTo>
                <a:lnTo>
                  <a:pt x="1179750" y="23386"/>
                </a:lnTo>
                <a:lnTo>
                  <a:pt x="1179750" y="118170"/>
                </a:lnTo>
                <a:lnTo>
                  <a:pt x="1159800" y="140869"/>
                </a:lnTo>
                <a:lnTo>
                  <a:pt x="1156360" y="141556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754257" y="4400646"/>
            <a:ext cx="998219" cy="141605"/>
          </a:xfrm>
          <a:custGeom>
            <a:avLst/>
            <a:gdLst/>
            <a:ahLst/>
            <a:cxnLst/>
            <a:rect l="l" t="t" r="r" b="b"/>
            <a:pathLst>
              <a:path w="998219" h="141604">
                <a:moveTo>
                  <a:pt x="974342" y="141556"/>
                </a:moveTo>
                <a:lnTo>
                  <a:pt x="23389" y="141556"/>
                </a:lnTo>
                <a:lnTo>
                  <a:pt x="19950" y="140869"/>
                </a:lnTo>
                <a:lnTo>
                  <a:pt x="0" y="118170"/>
                </a:lnTo>
                <a:lnTo>
                  <a:pt x="0" y="114604"/>
                </a:lnTo>
                <a:lnTo>
                  <a:pt x="0" y="23386"/>
                </a:lnTo>
                <a:lnTo>
                  <a:pt x="23389" y="0"/>
                </a:lnTo>
                <a:lnTo>
                  <a:pt x="974342" y="0"/>
                </a:lnTo>
                <a:lnTo>
                  <a:pt x="997732" y="23386"/>
                </a:lnTo>
                <a:lnTo>
                  <a:pt x="997732" y="118170"/>
                </a:lnTo>
                <a:lnTo>
                  <a:pt x="977782" y="140869"/>
                </a:lnTo>
                <a:lnTo>
                  <a:pt x="974342" y="141556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54257" y="5027600"/>
            <a:ext cx="114604" cy="141570"/>
          </a:xfrm>
          <a:prstGeom prst="rect">
            <a:avLst/>
          </a:prstGeom>
        </p:spPr>
      </p:pic>
      <p:sp>
        <p:nvSpPr>
          <p:cNvPr id="14" name="object 14"/>
          <p:cNvSpPr/>
          <p:nvPr/>
        </p:nvSpPr>
        <p:spPr>
          <a:xfrm>
            <a:off x="4010370" y="5027600"/>
            <a:ext cx="883285" cy="141605"/>
          </a:xfrm>
          <a:custGeom>
            <a:avLst/>
            <a:gdLst/>
            <a:ahLst/>
            <a:cxnLst/>
            <a:rect l="l" t="t" r="r" b="b"/>
            <a:pathLst>
              <a:path w="883285" h="141604">
                <a:moveTo>
                  <a:pt x="859738" y="141570"/>
                </a:moveTo>
                <a:lnTo>
                  <a:pt x="23390" y="141570"/>
                </a:lnTo>
                <a:lnTo>
                  <a:pt x="19950" y="140882"/>
                </a:lnTo>
                <a:lnTo>
                  <a:pt x="0" y="118170"/>
                </a:lnTo>
                <a:lnTo>
                  <a:pt x="0" y="114604"/>
                </a:lnTo>
                <a:lnTo>
                  <a:pt x="0" y="23386"/>
                </a:lnTo>
                <a:lnTo>
                  <a:pt x="23390" y="0"/>
                </a:lnTo>
                <a:lnTo>
                  <a:pt x="859738" y="0"/>
                </a:lnTo>
                <a:lnTo>
                  <a:pt x="883127" y="23386"/>
                </a:lnTo>
                <a:lnTo>
                  <a:pt x="883127" y="118170"/>
                </a:lnTo>
                <a:lnTo>
                  <a:pt x="863177" y="140882"/>
                </a:lnTo>
                <a:lnTo>
                  <a:pt x="859738" y="141570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754253" y="5317464"/>
            <a:ext cx="2393315" cy="316865"/>
          </a:xfrm>
          <a:custGeom>
            <a:avLst/>
            <a:gdLst/>
            <a:ahLst/>
            <a:cxnLst/>
            <a:rect l="l" t="t" r="r" b="b"/>
            <a:pathLst>
              <a:path w="2393315" h="316864">
                <a:moveTo>
                  <a:pt x="680885" y="198653"/>
                </a:moveTo>
                <a:lnTo>
                  <a:pt x="657491" y="175285"/>
                </a:lnTo>
                <a:lnTo>
                  <a:pt x="0" y="175285"/>
                </a:lnTo>
                <a:lnTo>
                  <a:pt x="0" y="316852"/>
                </a:lnTo>
                <a:lnTo>
                  <a:pt x="657491" y="316852"/>
                </a:lnTo>
                <a:lnTo>
                  <a:pt x="680885" y="293458"/>
                </a:lnTo>
                <a:lnTo>
                  <a:pt x="680885" y="198653"/>
                </a:lnTo>
                <a:close/>
              </a:path>
              <a:path w="2393315" h="316864">
                <a:moveTo>
                  <a:pt x="2393213" y="0"/>
                </a:moveTo>
                <a:lnTo>
                  <a:pt x="23393" y="0"/>
                </a:lnTo>
                <a:lnTo>
                  <a:pt x="19951" y="698"/>
                </a:lnTo>
                <a:lnTo>
                  <a:pt x="0" y="23393"/>
                </a:lnTo>
                <a:lnTo>
                  <a:pt x="0" y="118173"/>
                </a:lnTo>
                <a:lnTo>
                  <a:pt x="23393" y="141566"/>
                </a:lnTo>
                <a:lnTo>
                  <a:pt x="2393213" y="141566"/>
                </a:lnTo>
                <a:lnTo>
                  <a:pt x="2393213" y="0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754257" y="5782640"/>
            <a:ext cx="1355090" cy="141605"/>
          </a:xfrm>
          <a:custGeom>
            <a:avLst/>
            <a:gdLst/>
            <a:ahLst/>
            <a:cxnLst/>
            <a:rect l="l" t="t" r="r" b="b"/>
            <a:pathLst>
              <a:path w="1355089" h="141604">
                <a:moveTo>
                  <a:pt x="1331638" y="141556"/>
                </a:moveTo>
                <a:lnTo>
                  <a:pt x="23389" y="141556"/>
                </a:lnTo>
                <a:lnTo>
                  <a:pt x="19950" y="140869"/>
                </a:lnTo>
                <a:lnTo>
                  <a:pt x="0" y="118170"/>
                </a:lnTo>
                <a:lnTo>
                  <a:pt x="0" y="114604"/>
                </a:lnTo>
                <a:lnTo>
                  <a:pt x="0" y="23372"/>
                </a:lnTo>
                <a:lnTo>
                  <a:pt x="23389" y="0"/>
                </a:lnTo>
                <a:lnTo>
                  <a:pt x="1331638" y="0"/>
                </a:lnTo>
                <a:lnTo>
                  <a:pt x="1355028" y="23372"/>
                </a:lnTo>
                <a:lnTo>
                  <a:pt x="1355028" y="118170"/>
                </a:lnTo>
                <a:lnTo>
                  <a:pt x="1335077" y="140869"/>
                </a:lnTo>
                <a:lnTo>
                  <a:pt x="1331638" y="141556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7" name="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399105" y="5782640"/>
            <a:ext cx="114604" cy="141556"/>
          </a:xfrm>
          <a:prstGeom prst="rect">
            <a:avLst/>
          </a:prstGeom>
        </p:spPr>
      </p:pic>
      <p:sp>
        <p:nvSpPr>
          <p:cNvPr id="18" name="object 18"/>
          <p:cNvSpPr/>
          <p:nvPr/>
        </p:nvSpPr>
        <p:spPr>
          <a:xfrm>
            <a:off x="754257" y="6072522"/>
            <a:ext cx="944244" cy="141605"/>
          </a:xfrm>
          <a:custGeom>
            <a:avLst/>
            <a:gdLst/>
            <a:ahLst/>
            <a:cxnLst/>
            <a:rect l="l" t="t" r="r" b="b"/>
            <a:pathLst>
              <a:path w="944244" h="141604">
                <a:moveTo>
                  <a:pt x="920410" y="141570"/>
                </a:moveTo>
                <a:lnTo>
                  <a:pt x="23389" y="141570"/>
                </a:lnTo>
                <a:lnTo>
                  <a:pt x="19950" y="140882"/>
                </a:lnTo>
                <a:lnTo>
                  <a:pt x="0" y="118170"/>
                </a:lnTo>
                <a:lnTo>
                  <a:pt x="0" y="114604"/>
                </a:lnTo>
                <a:lnTo>
                  <a:pt x="0" y="23372"/>
                </a:lnTo>
                <a:lnTo>
                  <a:pt x="23389" y="0"/>
                </a:lnTo>
                <a:lnTo>
                  <a:pt x="920410" y="0"/>
                </a:lnTo>
                <a:lnTo>
                  <a:pt x="943800" y="23372"/>
                </a:lnTo>
                <a:lnTo>
                  <a:pt x="943800" y="118170"/>
                </a:lnTo>
                <a:lnTo>
                  <a:pt x="923850" y="140882"/>
                </a:lnTo>
                <a:lnTo>
                  <a:pt x="920410" y="141570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4340700" y="6072522"/>
            <a:ext cx="411480" cy="141605"/>
          </a:xfrm>
          <a:custGeom>
            <a:avLst/>
            <a:gdLst/>
            <a:ahLst/>
            <a:cxnLst/>
            <a:rect l="l" t="t" r="r" b="b"/>
            <a:pathLst>
              <a:path w="411479" h="141604">
                <a:moveTo>
                  <a:pt x="387837" y="141570"/>
                </a:moveTo>
                <a:lnTo>
                  <a:pt x="23389" y="141570"/>
                </a:lnTo>
                <a:lnTo>
                  <a:pt x="19949" y="140882"/>
                </a:lnTo>
                <a:lnTo>
                  <a:pt x="0" y="118170"/>
                </a:lnTo>
                <a:lnTo>
                  <a:pt x="0" y="114604"/>
                </a:lnTo>
                <a:lnTo>
                  <a:pt x="0" y="23372"/>
                </a:lnTo>
                <a:lnTo>
                  <a:pt x="23389" y="0"/>
                </a:lnTo>
                <a:lnTo>
                  <a:pt x="387837" y="0"/>
                </a:lnTo>
                <a:lnTo>
                  <a:pt x="411227" y="23372"/>
                </a:lnTo>
                <a:lnTo>
                  <a:pt x="411227" y="118170"/>
                </a:lnTo>
                <a:lnTo>
                  <a:pt x="391276" y="140882"/>
                </a:lnTo>
                <a:lnTo>
                  <a:pt x="387837" y="141570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754257" y="6369145"/>
            <a:ext cx="944244" cy="141605"/>
          </a:xfrm>
          <a:custGeom>
            <a:avLst/>
            <a:gdLst/>
            <a:ahLst/>
            <a:cxnLst/>
            <a:rect l="l" t="t" r="r" b="b"/>
            <a:pathLst>
              <a:path w="944244" h="141604">
                <a:moveTo>
                  <a:pt x="920410" y="141570"/>
                </a:moveTo>
                <a:lnTo>
                  <a:pt x="23389" y="141570"/>
                </a:lnTo>
                <a:lnTo>
                  <a:pt x="19950" y="140882"/>
                </a:lnTo>
                <a:lnTo>
                  <a:pt x="0" y="118170"/>
                </a:lnTo>
                <a:lnTo>
                  <a:pt x="0" y="114604"/>
                </a:lnTo>
                <a:lnTo>
                  <a:pt x="0" y="23386"/>
                </a:lnTo>
                <a:lnTo>
                  <a:pt x="23389" y="0"/>
                </a:lnTo>
                <a:lnTo>
                  <a:pt x="920410" y="0"/>
                </a:lnTo>
                <a:lnTo>
                  <a:pt x="943800" y="23386"/>
                </a:lnTo>
                <a:lnTo>
                  <a:pt x="943800" y="118170"/>
                </a:lnTo>
                <a:lnTo>
                  <a:pt x="923850" y="140882"/>
                </a:lnTo>
                <a:lnTo>
                  <a:pt x="920410" y="141570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754257" y="6659027"/>
            <a:ext cx="822960" cy="141605"/>
          </a:xfrm>
          <a:custGeom>
            <a:avLst/>
            <a:gdLst/>
            <a:ahLst/>
            <a:cxnLst/>
            <a:rect l="l" t="t" r="r" b="b"/>
            <a:pathLst>
              <a:path w="822960" h="141604">
                <a:moveTo>
                  <a:pt x="799065" y="141556"/>
                </a:moveTo>
                <a:lnTo>
                  <a:pt x="23389" y="141556"/>
                </a:lnTo>
                <a:lnTo>
                  <a:pt x="19950" y="140869"/>
                </a:lnTo>
                <a:lnTo>
                  <a:pt x="0" y="118170"/>
                </a:lnTo>
                <a:lnTo>
                  <a:pt x="0" y="114604"/>
                </a:lnTo>
                <a:lnTo>
                  <a:pt x="0" y="23386"/>
                </a:lnTo>
                <a:lnTo>
                  <a:pt x="23389" y="0"/>
                </a:lnTo>
                <a:lnTo>
                  <a:pt x="799065" y="0"/>
                </a:lnTo>
                <a:lnTo>
                  <a:pt x="822454" y="23386"/>
                </a:lnTo>
                <a:lnTo>
                  <a:pt x="822454" y="118170"/>
                </a:lnTo>
                <a:lnTo>
                  <a:pt x="802504" y="140869"/>
                </a:lnTo>
                <a:lnTo>
                  <a:pt x="799065" y="141556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graphicFrame>
        <p:nvGraphicFramePr>
          <p:cNvPr id="22" name="object 22"/>
          <p:cNvGraphicFramePr>
            <a:graphicFrameLocks noGrp="1"/>
          </p:cNvGraphicFramePr>
          <p:nvPr/>
        </p:nvGraphicFramePr>
        <p:xfrm>
          <a:off x="680102" y="571512"/>
          <a:ext cx="6278880" cy="62922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736850"/>
                <a:gridCol w="3458210"/>
              </a:tblGrid>
              <a:tr h="464820">
                <a:tc>
                  <a:txBody>
                    <a:bodyPr/>
                    <a:lstStyle/>
                    <a:p>
                      <a:pPr marL="70485" marR="173355" indent="26670">
                        <a:lnSpc>
                          <a:spcPct val="153300"/>
                        </a:lnSpc>
                        <a:spcBef>
                          <a:spcPts val="229"/>
                        </a:spcBef>
                      </a:pP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If</a:t>
                      </a:r>
                      <a:r>
                        <a:rPr dirty="0" sz="750" spc="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the</a:t>
                      </a:r>
                      <a:r>
                        <a:rPr dirty="0" sz="750" spc="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answer</a:t>
                      </a:r>
                      <a:r>
                        <a:rPr dirty="0" sz="750" spc="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is</a:t>
                      </a:r>
                      <a:r>
                        <a:rPr dirty="0" sz="750" spc="55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not</a:t>
                      </a:r>
                      <a:r>
                        <a:rPr dirty="0" sz="750" spc="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found,</a:t>
                      </a:r>
                      <a:r>
                        <a:rPr dirty="0" sz="750" spc="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say:</a:t>
                      </a:r>
                      <a:r>
                        <a:rPr dirty="0" sz="750" spc="55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 spc="-25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"I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couldn't</a:t>
                      </a:r>
                      <a:r>
                        <a:rPr dirty="0" sz="750" spc="55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find</a:t>
                      </a:r>
                      <a:r>
                        <a:rPr dirty="0" sz="750" spc="55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the</a:t>
                      </a:r>
                      <a:r>
                        <a:rPr dirty="0" sz="750" spc="6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answer</a:t>
                      </a:r>
                      <a:r>
                        <a:rPr dirty="0" sz="750" spc="55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in</a:t>
                      </a:r>
                      <a:r>
                        <a:rPr dirty="0" sz="750" spc="55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the</a:t>
                      </a:r>
                      <a:r>
                        <a:rPr dirty="0" sz="750" spc="6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 spc="-1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document."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29209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 marR="351155">
                        <a:lnSpc>
                          <a:spcPct val="116399"/>
                        </a:lnSpc>
                        <a:spcBef>
                          <a:spcPts val="320"/>
                        </a:spcBef>
                      </a:pP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Gives</a:t>
                      </a:r>
                      <a:r>
                        <a:rPr dirty="0" sz="95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the</a:t>
                      </a:r>
                      <a:r>
                        <a:rPr dirty="0" sz="95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model</a:t>
                      </a:r>
                      <a:r>
                        <a:rPr dirty="0" sz="95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9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an</a:t>
                      </a:r>
                      <a:r>
                        <a:rPr dirty="0" sz="95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explicit</a:t>
                      </a:r>
                      <a:r>
                        <a:rPr dirty="0" sz="95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fallback</a:t>
                      </a:r>
                      <a:r>
                        <a:rPr dirty="0" sz="95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response</a:t>
                      </a:r>
                      <a:r>
                        <a:rPr dirty="0" sz="95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for</a:t>
                      </a:r>
                      <a:r>
                        <a:rPr dirty="0" sz="95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out-</a:t>
                      </a:r>
                      <a:r>
                        <a:rPr dirty="0" sz="950" spc="-7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of-</a:t>
                      </a:r>
                      <a:r>
                        <a:rPr dirty="0" sz="950" spc="-6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context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questions.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40640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dirty="0" sz="750" spc="-1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Context:\n{context}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90170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950" spc="-7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Injects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the</a:t>
                      </a:r>
                      <a:r>
                        <a:rPr dirty="0" sz="95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retrieved</a:t>
                      </a:r>
                      <a:r>
                        <a:rPr dirty="0" sz="95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chunk</a:t>
                      </a:r>
                      <a:r>
                        <a:rPr dirty="0" sz="95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2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text.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64769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dirty="0" sz="750" spc="-1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Question:\n{question}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90170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950" spc="-7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Injects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the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user's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actual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question.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64769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</a:tr>
              <a:tr h="451484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messages</a:t>
                      </a:r>
                      <a:r>
                        <a:rPr dirty="0" sz="750" spc="55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=</a:t>
                      </a:r>
                      <a:r>
                        <a:rPr dirty="0" sz="750" spc="6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 spc="-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[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90170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 marR="354330">
                        <a:lnSpc>
                          <a:spcPct val="116399"/>
                        </a:lnSpc>
                        <a:spcBef>
                          <a:spcPts val="320"/>
                        </a:spcBef>
                      </a:pP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Builds</a:t>
                      </a:r>
                      <a:r>
                        <a:rPr dirty="0" sz="95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9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a</a:t>
                      </a:r>
                      <a:r>
                        <a:rPr dirty="0" sz="95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chat-formatted</a:t>
                      </a:r>
                      <a:r>
                        <a:rPr dirty="0" sz="95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message</a:t>
                      </a:r>
                      <a:r>
                        <a:rPr dirty="0" sz="95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5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list,</a:t>
                      </a:r>
                      <a:r>
                        <a:rPr dirty="0" sz="95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the</a:t>
                      </a:r>
                      <a:r>
                        <a:rPr dirty="0" sz="95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structure</a:t>
                      </a:r>
                      <a:r>
                        <a:rPr dirty="0" sz="95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expected</a:t>
                      </a:r>
                      <a:r>
                        <a:rPr dirty="0" sz="95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2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by</a:t>
                      </a:r>
                      <a:r>
                        <a:rPr dirty="0" sz="950" spc="50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instruction-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tuned</a:t>
                      </a:r>
                      <a:r>
                        <a:rPr dirty="0" sz="950" spc="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chat</a:t>
                      </a:r>
                      <a:r>
                        <a:rPr dirty="0" sz="950" spc="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models.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40640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</a:tr>
              <a:tr h="471805">
                <a:tc>
                  <a:txBody>
                    <a:bodyPr/>
                    <a:lstStyle/>
                    <a:p>
                      <a:pPr marL="70485" marR="205104" indent="26670">
                        <a:lnSpc>
                          <a:spcPct val="159200"/>
                        </a:lnSpc>
                        <a:spcBef>
                          <a:spcPts val="175"/>
                        </a:spcBef>
                      </a:pP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{"role":</a:t>
                      </a:r>
                      <a:r>
                        <a:rPr dirty="0" sz="750" spc="85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"system",</a:t>
                      </a:r>
                      <a:r>
                        <a:rPr dirty="0" sz="750" spc="85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"content":</a:t>
                      </a:r>
                      <a:r>
                        <a:rPr dirty="0" sz="750" spc="85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"You</a:t>
                      </a:r>
                      <a:r>
                        <a:rPr dirty="0" sz="750" spc="85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 spc="-1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answer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only</a:t>
                      </a:r>
                      <a:r>
                        <a:rPr dirty="0" sz="750" spc="6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from</a:t>
                      </a:r>
                      <a:r>
                        <a:rPr dirty="0" sz="750" spc="6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the</a:t>
                      </a:r>
                      <a:r>
                        <a:rPr dirty="0" sz="750" spc="6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provided</a:t>
                      </a:r>
                      <a:r>
                        <a:rPr dirty="0" sz="750" spc="6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 spc="-1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context."},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22225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 marR="440055">
                        <a:lnSpc>
                          <a:spcPct val="121100"/>
                        </a:lnSpc>
                        <a:spcBef>
                          <a:spcPts val="270"/>
                        </a:spcBef>
                      </a:pPr>
                      <a:r>
                        <a:rPr dirty="0" sz="950" spc="-9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A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system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message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reinforcing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the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grounding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constraint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at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2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the</a:t>
                      </a:r>
                      <a:r>
                        <a:rPr dirty="0" sz="950" spc="50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protocol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6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level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(in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addition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to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the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9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prompt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text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itself).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34290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</a:tr>
              <a:tr h="451484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{"role":</a:t>
                      </a:r>
                      <a:r>
                        <a:rPr dirty="0" sz="750" spc="9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"user",</a:t>
                      </a:r>
                      <a:r>
                        <a:rPr dirty="0" sz="750" spc="9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"content":</a:t>
                      </a:r>
                      <a:r>
                        <a:rPr dirty="0" sz="750" spc="9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 spc="-1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prompt},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90170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 marR="114935">
                        <a:lnSpc>
                          <a:spcPct val="116399"/>
                        </a:lnSpc>
                        <a:spcBef>
                          <a:spcPts val="320"/>
                        </a:spcBef>
                      </a:pPr>
                      <a:r>
                        <a:rPr dirty="0" sz="950" spc="-9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The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user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turn,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containing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the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5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full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9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prompt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(with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context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and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5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question</a:t>
                      </a:r>
                      <a:r>
                        <a:rPr dirty="0" sz="950" spc="50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already</a:t>
                      </a:r>
                      <a:r>
                        <a:rPr dirty="0" sz="95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00" spc="-45">
                          <a:solidFill>
                            <a:srgbClr val="111726"/>
                          </a:solidFill>
                          <a:latin typeface="Arial"/>
                          <a:cs typeface="Arial"/>
                        </a:rPr>
                        <a:t>ﬁ</a:t>
                      </a:r>
                      <a:r>
                        <a:rPr dirty="0" sz="950" spc="-4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lled</a:t>
                      </a:r>
                      <a:r>
                        <a:rPr dirty="0" sz="95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2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in).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40640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dirty="0" sz="750" spc="-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]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90170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Closes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the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messages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2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list.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64769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output</a:t>
                      </a:r>
                      <a:r>
                        <a:rPr dirty="0" sz="750" spc="45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=</a:t>
                      </a:r>
                      <a:r>
                        <a:rPr dirty="0" sz="750" spc="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 spc="-1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generator(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90170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Runs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the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model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to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generate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9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a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reply.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64769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</a:tr>
              <a:tr h="296545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dirty="0" sz="750" spc="-1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messages,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90170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Passes</a:t>
                      </a:r>
                      <a:r>
                        <a:rPr dirty="0" sz="950" spc="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the</a:t>
                      </a:r>
                      <a:r>
                        <a:rPr dirty="0" sz="950" spc="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chat-formatted</a:t>
                      </a:r>
                      <a:r>
                        <a:rPr dirty="0" sz="950" spc="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input.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64769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</a:tr>
              <a:tr h="451484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dirty="0" sz="750" spc="-1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max_new_tokens=150,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90170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 marR="180975">
                        <a:lnSpc>
                          <a:spcPct val="116399"/>
                        </a:lnSpc>
                        <a:spcBef>
                          <a:spcPts val="320"/>
                        </a:spcBef>
                      </a:pP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Caps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generation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at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850" spc="-35">
                          <a:solidFill>
                            <a:srgbClr val="111726"/>
                          </a:solidFill>
                          <a:latin typeface="Arial"/>
                          <a:cs typeface="Arial"/>
                        </a:rPr>
                        <a:t>150</a:t>
                      </a:r>
                      <a:r>
                        <a:rPr dirty="0" sz="850" spc="-30">
                          <a:solidFill>
                            <a:srgbClr val="111726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50" spc="-9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new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tokens,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bounding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response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length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2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and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latency.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40640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</a:tr>
              <a:tr h="626745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dirty="0" sz="750" spc="-1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do_sample=False,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90170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 marR="245745">
                        <a:lnSpc>
                          <a:spcPct val="118700"/>
                        </a:lnSpc>
                        <a:spcBef>
                          <a:spcPts val="295"/>
                        </a:spcBef>
                      </a:pP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Disables</a:t>
                      </a:r>
                      <a:r>
                        <a:rPr dirty="0" sz="950" spc="-2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9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random</a:t>
                      </a:r>
                      <a:r>
                        <a:rPr dirty="0" sz="950" spc="-2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sampling</a:t>
                      </a:r>
                      <a:r>
                        <a:rPr dirty="0" sz="950" spc="-2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00" spc="-180">
                          <a:solidFill>
                            <a:srgbClr val="111726"/>
                          </a:solidFill>
                          <a:latin typeface="Arial"/>
                          <a:cs typeface="Arial"/>
                        </a:rPr>
                        <a:t>—</a:t>
                      </a:r>
                      <a:r>
                        <a:rPr dirty="0" sz="900" spc="-55">
                          <a:solidFill>
                            <a:srgbClr val="111726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the</a:t>
                      </a:r>
                      <a:r>
                        <a:rPr dirty="0" sz="950" spc="-2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model</a:t>
                      </a:r>
                      <a:r>
                        <a:rPr dirty="0" sz="950" spc="-2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always</a:t>
                      </a:r>
                      <a:r>
                        <a:rPr dirty="0" sz="950" spc="-2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picks</a:t>
                      </a:r>
                      <a:r>
                        <a:rPr dirty="0" sz="950" spc="-2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the</a:t>
                      </a:r>
                      <a:r>
                        <a:rPr dirty="0" sz="950" spc="-2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6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highest-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probability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next</a:t>
                      </a:r>
                      <a:r>
                        <a:rPr dirty="0" sz="95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token</a:t>
                      </a:r>
                      <a:r>
                        <a:rPr dirty="0" sz="95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(greedy</a:t>
                      </a:r>
                      <a:r>
                        <a:rPr dirty="0" sz="95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decoding),</a:t>
                      </a:r>
                      <a:r>
                        <a:rPr dirty="0" sz="95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making</a:t>
                      </a:r>
                      <a:r>
                        <a:rPr dirty="0" sz="95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output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deterministic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and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repeatable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for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the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9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same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input.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37465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dirty="0" sz="750" spc="-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)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90170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Closes</a:t>
                      </a:r>
                      <a:r>
                        <a:rPr dirty="0" sz="950" spc="-3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2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the</a:t>
                      </a:r>
                      <a:r>
                        <a:rPr dirty="0" sz="950" spc="1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generator(...)</a:t>
                      </a:r>
                      <a:r>
                        <a:rPr dirty="0" sz="750" spc="-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call.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64769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</a:tr>
              <a:tr h="464820">
                <a:tc>
                  <a:txBody>
                    <a:bodyPr/>
                    <a:lstStyle/>
                    <a:p>
                      <a:pPr marL="70485" marR="264795" indent="26670">
                        <a:lnSpc>
                          <a:spcPct val="153300"/>
                        </a:lnSpc>
                        <a:spcBef>
                          <a:spcPts val="229"/>
                        </a:spcBef>
                      </a:pP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answer</a:t>
                      </a:r>
                      <a:r>
                        <a:rPr dirty="0" sz="750" spc="17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=</a:t>
                      </a:r>
                      <a:r>
                        <a:rPr dirty="0" sz="750" spc="175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output[0]["generated_text"][-</a:t>
                      </a:r>
                      <a:r>
                        <a:rPr dirty="0" sz="750" spc="-25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1] </a:t>
                      </a:r>
                      <a:r>
                        <a:rPr dirty="0" sz="750" spc="-1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["content"]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29209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 marR="120650">
                        <a:lnSpc>
                          <a:spcPct val="121100"/>
                        </a:lnSpc>
                        <a:spcBef>
                          <a:spcPts val="270"/>
                        </a:spcBef>
                      </a:pP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Extracts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the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text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of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the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00" spc="-45">
                          <a:solidFill>
                            <a:srgbClr val="111726"/>
                          </a:solidFill>
                          <a:latin typeface="Arial"/>
                          <a:cs typeface="Arial"/>
                        </a:rPr>
                        <a:t>ﬁ</a:t>
                      </a:r>
                      <a:r>
                        <a:rPr dirty="0" sz="950" spc="-4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nal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message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in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the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returned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conversation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00" spc="-60">
                          <a:solidFill>
                            <a:srgbClr val="111726"/>
                          </a:solidFill>
                          <a:latin typeface="Arial"/>
                          <a:cs typeface="Arial"/>
                        </a:rPr>
                        <a:t>—</a:t>
                      </a:r>
                      <a:r>
                        <a:rPr dirty="0" sz="900" spc="500">
                          <a:solidFill>
                            <a:srgbClr val="111726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the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assistant's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actual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reply</a:t>
                      </a:r>
                      <a:r>
                        <a:rPr dirty="0" sz="95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00" spc="-180">
                          <a:solidFill>
                            <a:srgbClr val="111726"/>
                          </a:solidFill>
                          <a:latin typeface="Arial"/>
                          <a:cs typeface="Arial"/>
                        </a:rPr>
                        <a:t>—</a:t>
                      </a:r>
                      <a:r>
                        <a:rPr dirty="0" sz="900" spc="-40">
                          <a:solidFill>
                            <a:srgbClr val="111726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from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the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pipeline's</a:t>
                      </a:r>
                      <a:r>
                        <a:rPr dirty="0" sz="95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structured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2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output.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34290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print("\n"</a:t>
                      </a:r>
                      <a:r>
                        <a:rPr dirty="0" sz="750" spc="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+</a:t>
                      </a:r>
                      <a:r>
                        <a:rPr dirty="0" sz="750" spc="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"="</a:t>
                      </a:r>
                      <a:r>
                        <a:rPr dirty="0" sz="750" spc="55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*</a:t>
                      </a:r>
                      <a:r>
                        <a:rPr dirty="0" sz="750" spc="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 spc="-25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80)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90170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950" spc="-7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Prints</a:t>
                      </a:r>
                      <a:r>
                        <a:rPr dirty="0" sz="950" spc="-3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9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a</a:t>
                      </a:r>
                      <a:r>
                        <a:rPr dirty="0" sz="950" spc="-3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blank</a:t>
                      </a:r>
                      <a:r>
                        <a:rPr dirty="0" sz="950" spc="-3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6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line</a:t>
                      </a:r>
                      <a:r>
                        <a:rPr dirty="0" sz="950" spc="-2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then</a:t>
                      </a:r>
                      <a:r>
                        <a:rPr dirty="0" sz="950" spc="-3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9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an</a:t>
                      </a:r>
                      <a:r>
                        <a:rPr dirty="0" sz="950" spc="-3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850" spc="-40">
                          <a:solidFill>
                            <a:srgbClr val="111726"/>
                          </a:solidFill>
                          <a:latin typeface="Arial"/>
                          <a:cs typeface="Arial"/>
                        </a:rPr>
                        <a:t>80</a:t>
                      </a:r>
                      <a:r>
                        <a:rPr dirty="0" sz="950" spc="-4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-</a:t>
                      </a:r>
                      <a:r>
                        <a:rPr dirty="0" sz="950" spc="-7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character</a:t>
                      </a:r>
                      <a:r>
                        <a:rPr dirty="0" sz="950" spc="19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=</a:t>
                      </a:r>
                      <a:r>
                        <a:rPr dirty="0" sz="750" spc="-45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divider.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64769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</a:tr>
              <a:tr h="296545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dirty="0" sz="750" spc="-1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print("ANSWER")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90170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950" spc="-7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Prints</a:t>
                      </a:r>
                      <a:r>
                        <a:rPr dirty="0" sz="950" spc="-3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the</a:t>
                      </a:r>
                      <a:r>
                        <a:rPr dirty="0" sz="950" spc="-3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6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header</a:t>
                      </a:r>
                      <a:r>
                        <a:rPr dirty="0" sz="950" spc="19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ANSWER</a:t>
                      </a:r>
                      <a:r>
                        <a:rPr dirty="0" sz="750" spc="-235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950" spc="-5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.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64769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print("="</a:t>
                      </a:r>
                      <a:r>
                        <a:rPr dirty="0" sz="750" spc="6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*</a:t>
                      </a:r>
                      <a:r>
                        <a:rPr dirty="0" sz="750" spc="65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 spc="-25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80)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90170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950" spc="-7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Prints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another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divider.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64769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dirty="0" sz="750" spc="-1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print(answer)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90170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950" spc="-7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Prints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the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model's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generated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answer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2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text.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64769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pic>
        <p:nvPicPr>
          <p:cNvPr id="23" name="object 23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54257" y="3072584"/>
            <a:ext cx="114604" cy="141556"/>
          </a:xfrm>
          <a:prstGeom prst="rect">
            <a:avLst/>
          </a:prstGeom>
        </p:spPr>
      </p:pic>
      <p:sp>
        <p:nvSpPr>
          <p:cNvPr id="24" name="object 24"/>
          <p:cNvSpPr txBox="1"/>
          <p:nvPr/>
        </p:nvSpPr>
        <p:spPr>
          <a:xfrm>
            <a:off x="667402" y="6980740"/>
            <a:ext cx="1001394" cy="18288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000" spc="-95" b="1">
                <a:solidFill>
                  <a:srgbClr val="111726"/>
                </a:solidFill>
                <a:latin typeface="Source Han Sans JP"/>
                <a:cs typeface="Source Han Sans JP"/>
              </a:rPr>
              <a:t>Output</a:t>
            </a:r>
            <a:r>
              <a:rPr dirty="0" sz="1000" spc="-25" b="1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80" b="1">
                <a:solidFill>
                  <a:srgbClr val="111726"/>
                </a:solidFill>
                <a:latin typeface="Source Han Sans JP"/>
                <a:cs typeface="Source Han Sans JP"/>
              </a:rPr>
              <a:t>(example):</a:t>
            </a:r>
            <a:endParaRPr sz="1000">
              <a:latin typeface="Source Han Sans JP"/>
              <a:cs typeface="Source Han Sans JP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761782" y="7489270"/>
            <a:ext cx="5080635" cy="92201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128270">
              <a:lnSpc>
                <a:spcPct val="149300"/>
              </a:lnSpc>
              <a:spcBef>
                <a:spcPts val="95"/>
              </a:spcBef>
            </a:pPr>
            <a:r>
              <a:rPr dirty="0" sz="800" spc="-10">
                <a:solidFill>
                  <a:srgbClr val="E4E7EB"/>
                </a:solidFill>
                <a:latin typeface="Courier New"/>
                <a:cs typeface="Courier New"/>
              </a:rPr>
              <a:t>================================================================================</a:t>
            </a:r>
            <a:r>
              <a:rPr dirty="0" sz="800" spc="50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 spc="-10">
                <a:solidFill>
                  <a:srgbClr val="E4E7EB"/>
                </a:solidFill>
                <a:latin typeface="Courier New"/>
                <a:cs typeface="Courier New"/>
              </a:rPr>
              <a:t>ANSWER</a:t>
            </a:r>
            <a:endParaRPr sz="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420"/>
              </a:spcBef>
            </a:pPr>
            <a:r>
              <a:rPr dirty="0" sz="800" spc="-10">
                <a:solidFill>
                  <a:srgbClr val="E4E7EB"/>
                </a:solidFill>
                <a:latin typeface="Courier New"/>
                <a:cs typeface="Courier New"/>
              </a:rPr>
              <a:t>================================================================================</a:t>
            </a:r>
            <a:endParaRPr sz="800">
              <a:latin typeface="Courier New"/>
              <a:cs typeface="Courier New"/>
            </a:endParaRPr>
          </a:p>
          <a:p>
            <a:pPr marL="12700" marR="5080">
              <a:lnSpc>
                <a:spcPct val="143800"/>
              </a:lnSpc>
              <a:spcBef>
                <a:spcPts val="55"/>
              </a:spcBef>
            </a:pP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Authentication</a:t>
            </a:r>
            <a:r>
              <a:rPr dirty="0" sz="800" spc="3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is</a:t>
            </a:r>
            <a:r>
              <a:rPr dirty="0" sz="800" spc="3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handled</a:t>
            </a:r>
            <a:r>
              <a:rPr dirty="0" sz="800" spc="3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through</a:t>
            </a:r>
            <a:r>
              <a:rPr dirty="0" sz="800" spc="3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the</a:t>
            </a:r>
            <a:r>
              <a:rPr dirty="0" sz="800" spc="3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Authentication</a:t>
            </a:r>
            <a:r>
              <a:rPr dirty="0" sz="800" spc="3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&amp;</a:t>
            </a:r>
            <a:r>
              <a:rPr dirty="0" sz="800" spc="3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Users</a:t>
            </a:r>
            <a:r>
              <a:rPr dirty="0" sz="800" spc="3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module,</a:t>
            </a:r>
            <a:r>
              <a:rPr dirty="0" sz="800" spc="3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which</a:t>
            </a:r>
            <a:r>
              <a:rPr dirty="0" sz="800" spc="3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 spc="-10">
                <a:solidFill>
                  <a:srgbClr val="E4E7EB"/>
                </a:solidFill>
                <a:latin typeface="Courier New"/>
                <a:cs typeface="Courier New"/>
              </a:rPr>
              <a:t>manages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user</a:t>
            </a:r>
            <a:r>
              <a:rPr dirty="0" sz="800" spc="2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login,</a:t>
            </a:r>
            <a:r>
              <a:rPr dirty="0" sz="800" spc="2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logout,</a:t>
            </a:r>
            <a:r>
              <a:rPr dirty="0" sz="800" spc="2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and</a:t>
            </a:r>
            <a:r>
              <a:rPr dirty="0" sz="800" spc="3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user</a:t>
            </a:r>
            <a:r>
              <a:rPr dirty="0" sz="800" spc="2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 spc="-10">
                <a:solidFill>
                  <a:srgbClr val="E4E7EB"/>
                </a:solidFill>
                <a:latin typeface="Courier New"/>
                <a:cs typeface="Courier New"/>
              </a:rPr>
              <a:t>records...</a:t>
            </a:r>
            <a:endParaRPr sz="800">
              <a:latin typeface="Courier New"/>
              <a:cs typeface="Courier New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667402" y="8554842"/>
            <a:ext cx="3081020" cy="528320"/>
          </a:xfrm>
          <a:prstGeom prst="rect">
            <a:avLst/>
          </a:prstGeom>
        </p:spPr>
        <p:txBody>
          <a:bodyPr wrap="square" lIns="0" tIns="869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85"/>
              </a:spcBef>
            </a:pPr>
            <a:r>
              <a:rPr dirty="0" sz="1000" spc="-85">
                <a:solidFill>
                  <a:srgbClr val="111726"/>
                </a:solidFill>
                <a:latin typeface="Source Han Sans JP"/>
                <a:cs typeface="Source Han Sans JP"/>
              </a:rPr>
              <a:t>(exact</a:t>
            </a:r>
            <a:r>
              <a:rPr dirty="0" sz="1000" spc="-10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95">
                <a:solidFill>
                  <a:srgbClr val="111726"/>
                </a:solidFill>
                <a:latin typeface="Source Han Sans JP"/>
                <a:cs typeface="Source Han Sans JP"/>
              </a:rPr>
              <a:t>wording</a:t>
            </a:r>
            <a:r>
              <a:rPr dirty="0" sz="1000" spc="-10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95">
                <a:solidFill>
                  <a:srgbClr val="111726"/>
                </a:solidFill>
                <a:latin typeface="Source Han Sans JP"/>
                <a:cs typeface="Source Han Sans JP"/>
              </a:rPr>
              <a:t>depends</a:t>
            </a:r>
            <a:r>
              <a:rPr dirty="0" sz="1000" spc="-10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105">
                <a:solidFill>
                  <a:srgbClr val="111726"/>
                </a:solidFill>
                <a:latin typeface="Source Han Sans JP"/>
                <a:cs typeface="Source Han Sans JP"/>
              </a:rPr>
              <a:t>on</a:t>
            </a:r>
            <a:r>
              <a:rPr dirty="0" sz="1000" spc="-10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90">
                <a:solidFill>
                  <a:srgbClr val="111726"/>
                </a:solidFill>
                <a:latin typeface="Source Han Sans JP"/>
                <a:cs typeface="Source Han Sans JP"/>
              </a:rPr>
              <a:t>the</a:t>
            </a:r>
            <a:r>
              <a:rPr dirty="0" sz="1000" spc="-10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95">
                <a:solidFill>
                  <a:srgbClr val="111726"/>
                </a:solidFill>
                <a:latin typeface="Source Han Sans JP"/>
                <a:cs typeface="Source Han Sans JP"/>
              </a:rPr>
              <a:t>model</a:t>
            </a:r>
            <a:r>
              <a:rPr dirty="0" sz="1000" spc="-10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95">
                <a:solidFill>
                  <a:srgbClr val="111726"/>
                </a:solidFill>
                <a:latin typeface="Source Han Sans JP"/>
                <a:cs typeface="Source Han Sans JP"/>
              </a:rPr>
              <a:t>and</a:t>
            </a:r>
            <a:r>
              <a:rPr dirty="0" sz="1000" spc="-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80">
                <a:solidFill>
                  <a:srgbClr val="111726"/>
                </a:solidFill>
                <a:latin typeface="Source Han Sans JP"/>
                <a:cs typeface="Source Han Sans JP"/>
              </a:rPr>
              <a:t>retrieved</a:t>
            </a:r>
            <a:r>
              <a:rPr dirty="0" sz="1000" spc="-10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60">
                <a:solidFill>
                  <a:srgbClr val="111726"/>
                </a:solidFill>
                <a:latin typeface="Source Han Sans JP"/>
                <a:cs typeface="Source Han Sans JP"/>
              </a:rPr>
              <a:t>context.)</a:t>
            </a:r>
            <a:endParaRPr sz="1000">
              <a:latin typeface="Source Han Sans JP"/>
              <a:cs typeface="Source Han Sans JP"/>
            </a:endParaRPr>
          </a:p>
          <a:p>
            <a:pPr marL="12700">
              <a:lnSpc>
                <a:spcPct val="100000"/>
              </a:lnSpc>
              <a:spcBef>
                <a:spcPts val="725"/>
              </a:spcBef>
            </a:pPr>
            <a:r>
              <a:rPr dirty="0" sz="1200" spc="-105" b="1">
                <a:solidFill>
                  <a:srgbClr val="111726"/>
                </a:solidFill>
                <a:latin typeface="Source Han Sans JP"/>
                <a:cs typeface="Source Han Sans JP"/>
              </a:rPr>
              <a:t>Interactive</a:t>
            </a:r>
            <a:r>
              <a:rPr dirty="0" sz="1200" spc="-15" b="1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200" spc="-135" b="1">
                <a:solidFill>
                  <a:srgbClr val="111726"/>
                </a:solidFill>
                <a:latin typeface="Source Han Sans JP"/>
                <a:cs typeface="Source Han Sans JP"/>
              </a:rPr>
              <a:t>RAG</a:t>
            </a:r>
            <a:r>
              <a:rPr dirty="0" sz="1200" spc="-10" b="1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200" spc="-20" b="1">
                <a:solidFill>
                  <a:srgbClr val="111726"/>
                </a:solidFill>
                <a:latin typeface="Source Han Sans JP"/>
                <a:cs typeface="Source Han Sans JP"/>
              </a:rPr>
              <a:t>Chat</a:t>
            </a:r>
            <a:endParaRPr sz="1200">
              <a:latin typeface="Source Han Sans JP"/>
              <a:cs typeface="Source Han Sans JP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80102" y="571498"/>
            <a:ext cx="6202680" cy="2676525"/>
          </a:xfrm>
          <a:custGeom>
            <a:avLst/>
            <a:gdLst/>
            <a:ahLst/>
            <a:cxnLst/>
            <a:rect l="l" t="t" r="r" b="b"/>
            <a:pathLst>
              <a:path w="6202680" h="2676525">
                <a:moveTo>
                  <a:pt x="6151728" y="2676335"/>
                </a:moveTo>
                <a:lnTo>
                  <a:pt x="50390" y="2676335"/>
                </a:lnTo>
                <a:lnTo>
                  <a:pt x="46883" y="2675991"/>
                </a:lnTo>
                <a:lnTo>
                  <a:pt x="11056" y="2655322"/>
                </a:lnTo>
                <a:lnTo>
                  <a:pt x="0" y="2625957"/>
                </a:lnTo>
                <a:lnTo>
                  <a:pt x="0" y="2622417"/>
                </a:lnTo>
                <a:lnTo>
                  <a:pt x="0" y="50392"/>
                </a:lnTo>
                <a:lnTo>
                  <a:pt x="18300" y="13287"/>
                </a:lnTo>
                <a:lnTo>
                  <a:pt x="50390" y="0"/>
                </a:lnTo>
                <a:lnTo>
                  <a:pt x="6151728" y="0"/>
                </a:lnTo>
                <a:lnTo>
                  <a:pt x="6188826" y="18276"/>
                </a:lnTo>
                <a:lnTo>
                  <a:pt x="6202118" y="50392"/>
                </a:lnTo>
                <a:lnTo>
                  <a:pt x="6202118" y="2625957"/>
                </a:lnTo>
                <a:lnTo>
                  <a:pt x="6183818" y="2663034"/>
                </a:lnTo>
                <a:lnTo>
                  <a:pt x="6155235" y="2675991"/>
                </a:lnTo>
                <a:lnTo>
                  <a:pt x="6151728" y="2676335"/>
                </a:lnTo>
                <a:close/>
              </a:path>
            </a:pathLst>
          </a:custGeom>
          <a:solidFill>
            <a:srgbClr val="0E172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680102" y="7629780"/>
            <a:ext cx="6202680" cy="370840"/>
          </a:xfrm>
          <a:custGeom>
            <a:avLst/>
            <a:gdLst/>
            <a:ahLst/>
            <a:cxnLst/>
            <a:rect l="l" t="t" r="r" b="b"/>
            <a:pathLst>
              <a:path w="6202680" h="370840">
                <a:moveTo>
                  <a:pt x="6151728" y="370765"/>
                </a:moveTo>
                <a:lnTo>
                  <a:pt x="50390" y="370765"/>
                </a:lnTo>
                <a:lnTo>
                  <a:pt x="46883" y="370421"/>
                </a:lnTo>
                <a:lnTo>
                  <a:pt x="11056" y="349738"/>
                </a:lnTo>
                <a:lnTo>
                  <a:pt x="0" y="320386"/>
                </a:lnTo>
                <a:lnTo>
                  <a:pt x="0" y="316847"/>
                </a:lnTo>
                <a:lnTo>
                  <a:pt x="0" y="50392"/>
                </a:lnTo>
                <a:lnTo>
                  <a:pt x="18300" y="13273"/>
                </a:lnTo>
                <a:lnTo>
                  <a:pt x="50390" y="0"/>
                </a:lnTo>
                <a:lnTo>
                  <a:pt x="6151728" y="0"/>
                </a:lnTo>
                <a:lnTo>
                  <a:pt x="6188826" y="18302"/>
                </a:lnTo>
                <a:lnTo>
                  <a:pt x="6202118" y="50392"/>
                </a:lnTo>
                <a:lnTo>
                  <a:pt x="6202118" y="320386"/>
                </a:lnTo>
                <a:lnTo>
                  <a:pt x="6183818" y="357464"/>
                </a:lnTo>
                <a:lnTo>
                  <a:pt x="6155235" y="370421"/>
                </a:lnTo>
                <a:lnTo>
                  <a:pt x="6151728" y="370765"/>
                </a:lnTo>
                <a:close/>
              </a:path>
            </a:pathLst>
          </a:custGeom>
          <a:solidFill>
            <a:srgbClr val="0E172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680102" y="9018515"/>
            <a:ext cx="6202680" cy="6985"/>
          </a:xfrm>
          <a:custGeom>
            <a:avLst/>
            <a:gdLst/>
            <a:ahLst/>
            <a:cxnLst/>
            <a:rect l="l" t="t" r="r" b="b"/>
            <a:pathLst>
              <a:path w="6202680" h="6984">
                <a:moveTo>
                  <a:pt x="6202119" y="6741"/>
                </a:moveTo>
                <a:lnTo>
                  <a:pt x="0" y="6741"/>
                </a:lnTo>
                <a:lnTo>
                  <a:pt x="0" y="0"/>
                </a:lnTo>
                <a:lnTo>
                  <a:pt x="6202119" y="0"/>
                </a:lnTo>
                <a:lnTo>
                  <a:pt x="6202119" y="6741"/>
                </a:lnTo>
                <a:close/>
              </a:path>
            </a:pathLst>
          </a:custGeom>
          <a:solidFill>
            <a:srgbClr val="E4E7E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761782" y="619734"/>
            <a:ext cx="2738120" cy="2513330"/>
          </a:xfrm>
          <a:prstGeom prst="rect">
            <a:avLst/>
          </a:prstGeom>
        </p:spPr>
        <p:txBody>
          <a:bodyPr wrap="square" lIns="0" tIns="654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15"/>
              </a:spcBef>
            </a:pP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print("\n"</a:t>
            </a:r>
            <a:r>
              <a:rPr dirty="0" sz="800" spc="2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+</a:t>
            </a:r>
            <a:r>
              <a:rPr dirty="0" sz="800" spc="2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"="</a:t>
            </a:r>
            <a:r>
              <a:rPr dirty="0" sz="800" spc="2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*</a:t>
            </a:r>
            <a:r>
              <a:rPr dirty="0" sz="800" spc="2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 spc="-25">
                <a:solidFill>
                  <a:srgbClr val="E4E7EB"/>
                </a:solidFill>
                <a:latin typeface="Courier New"/>
                <a:cs typeface="Courier New"/>
              </a:rPr>
              <a:t>80)</a:t>
            </a:r>
            <a:endParaRPr sz="800">
              <a:latin typeface="Courier New"/>
              <a:cs typeface="Courier New"/>
            </a:endParaRPr>
          </a:p>
          <a:p>
            <a:pPr marL="12700" marR="189865">
              <a:lnSpc>
                <a:spcPts val="1430"/>
              </a:lnSpc>
              <a:spcBef>
                <a:spcPts val="80"/>
              </a:spcBef>
            </a:pP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print("PostgreSQL</a:t>
            </a:r>
            <a:r>
              <a:rPr dirty="0" sz="800" spc="3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+</a:t>
            </a:r>
            <a:r>
              <a:rPr dirty="0" sz="800" spc="4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pgvector</a:t>
            </a:r>
            <a:r>
              <a:rPr dirty="0" sz="800" spc="3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RAG</a:t>
            </a:r>
            <a:r>
              <a:rPr dirty="0" sz="800" spc="4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 spc="-10">
                <a:solidFill>
                  <a:srgbClr val="E4E7EB"/>
                </a:solidFill>
                <a:latin typeface="Courier New"/>
                <a:cs typeface="Courier New"/>
              </a:rPr>
              <a:t>System")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print("Type</a:t>
            </a:r>
            <a:r>
              <a:rPr dirty="0" sz="800" spc="3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'exit'</a:t>
            </a:r>
            <a:r>
              <a:rPr dirty="0" sz="800" spc="3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to</a:t>
            </a:r>
            <a:r>
              <a:rPr dirty="0" sz="800" spc="3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 spc="-10">
                <a:solidFill>
                  <a:srgbClr val="E4E7EB"/>
                </a:solidFill>
                <a:latin typeface="Courier New"/>
                <a:cs typeface="Courier New"/>
              </a:rPr>
              <a:t>quit")</a:t>
            </a:r>
            <a:endParaRPr sz="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295"/>
              </a:spcBef>
            </a:pP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print("="</a:t>
            </a:r>
            <a:r>
              <a:rPr dirty="0" sz="800" spc="2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*</a:t>
            </a:r>
            <a:r>
              <a:rPr dirty="0" sz="800" spc="3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 spc="-25">
                <a:solidFill>
                  <a:srgbClr val="E4E7EB"/>
                </a:solidFill>
                <a:latin typeface="Courier New"/>
                <a:cs typeface="Courier New"/>
              </a:rPr>
              <a:t>80)</a:t>
            </a:r>
            <a:endParaRPr sz="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endParaRPr sz="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while</a:t>
            </a:r>
            <a:r>
              <a:rPr dirty="0" sz="800" spc="2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 spc="-10">
                <a:solidFill>
                  <a:srgbClr val="E4E7EB"/>
                </a:solidFill>
                <a:latin typeface="Courier New"/>
                <a:cs typeface="Courier New"/>
              </a:rPr>
              <a:t>True:</a:t>
            </a:r>
            <a:endParaRPr sz="800">
              <a:latin typeface="Courier New"/>
              <a:cs typeface="Courier New"/>
            </a:endParaRPr>
          </a:p>
          <a:p>
            <a:pPr marL="259079" marR="5080">
              <a:lnSpc>
                <a:spcPct val="293100"/>
              </a:lnSpc>
            </a:pP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question</a:t>
            </a:r>
            <a:r>
              <a:rPr dirty="0" sz="800" spc="3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=</a:t>
            </a:r>
            <a:r>
              <a:rPr dirty="0" sz="800" spc="3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input("\nAsk</a:t>
            </a:r>
            <a:r>
              <a:rPr dirty="0" sz="800" spc="3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a</a:t>
            </a:r>
            <a:r>
              <a:rPr dirty="0" sz="800" spc="3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question:</a:t>
            </a:r>
            <a:r>
              <a:rPr dirty="0" sz="800" spc="3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 spc="-25">
                <a:solidFill>
                  <a:srgbClr val="E4E7EB"/>
                </a:solidFill>
                <a:latin typeface="Courier New"/>
                <a:cs typeface="Courier New"/>
              </a:rPr>
              <a:t>")</a:t>
            </a:r>
            <a:r>
              <a:rPr dirty="0" sz="800" spc="50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if</a:t>
            </a:r>
            <a:r>
              <a:rPr dirty="0" sz="800" spc="3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question.lower()</a:t>
            </a:r>
            <a:r>
              <a:rPr dirty="0" sz="800" spc="3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in</a:t>
            </a:r>
            <a:r>
              <a:rPr dirty="0" sz="800" spc="3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["exit",</a:t>
            </a:r>
            <a:r>
              <a:rPr dirty="0" sz="800" spc="4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 spc="-10">
                <a:solidFill>
                  <a:srgbClr val="E4E7EB"/>
                </a:solidFill>
                <a:latin typeface="Courier New"/>
                <a:cs typeface="Courier New"/>
              </a:rPr>
              <a:t>"quit"]:</a:t>
            </a:r>
            <a:endParaRPr sz="800">
              <a:latin typeface="Courier New"/>
              <a:cs typeface="Courier New"/>
            </a:endParaRPr>
          </a:p>
          <a:p>
            <a:pPr marL="505459" marR="1052830">
              <a:lnSpc>
                <a:spcPct val="143800"/>
              </a:lnSpc>
            </a:pPr>
            <a:r>
              <a:rPr dirty="0" sz="800" spc="-10">
                <a:solidFill>
                  <a:srgbClr val="E4E7EB"/>
                </a:solidFill>
                <a:latin typeface="Courier New"/>
                <a:cs typeface="Courier New"/>
              </a:rPr>
              <a:t>print("\nGoodbye!") break</a:t>
            </a:r>
            <a:endParaRPr sz="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endParaRPr sz="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800">
              <a:latin typeface="Courier New"/>
              <a:cs typeface="Courier New"/>
            </a:endParaRPr>
          </a:p>
          <a:p>
            <a:pPr marL="259079">
              <a:lnSpc>
                <a:spcPct val="100000"/>
              </a:lnSpc>
            </a:pPr>
            <a:r>
              <a:rPr dirty="0" sz="800" spc="-10">
                <a:solidFill>
                  <a:srgbClr val="E4E7EB"/>
                </a:solidFill>
                <a:latin typeface="Courier New"/>
                <a:cs typeface="Courier New"/>
              </a:rPr>
              <a:t>ask_rag(question)</a:t>
            </a:r>
            <a:endParaRPr sz="800">
              <a:latin typeface="Courier New"/>
              <a:cs typeface="Courier New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754257" y="3726489"/>
            <a:ext cx="1355090" cy="141605"/>
          </a:xfrm>
          <a:custGeom>
            <a:avLst/>
            <a:gdLst/>
            <a:ahLst/>
            <a:cxnLst/>
            <a:rect l="l" t="t" r="r" b="b"/>
            <a:pathLst>
              <a:path w="1355089" h="141604">
                <a:moveTo>
                  <a:pt x="1331638" y="141556"/>
                </a:moveTo>
                <a:lnTo>
                  <a:pt x="23389" y="141556"/>
                </a:lnTo>
                <a:lnTo>
                  <a:pt x="19950" y="140869"/>
                </a:lnTo>
                <a:lnTo>
                  <a:pt x="0" y="118157"/>
                </a:lnTo>
                <a:lnTo>
                  <a:pt x="0" y="114604"/>
                </a:lnTo>
                <a:lnTo>
                  <a:pt x="0" y="23372"/>
                </a:lnTo>
                <a:lnTo>
                  <a:pt x="23389" y="0"/>
                </a:lnTo>
                <a:lnTo>
                  <a:pt x="1331638" y="0"/>
                </a:lnTo>
                <a:lnTo>
                  <a:pt x="1355028" y="23372"/>
                </a:lnTo>
                <a:lnTo>
                  <a:pt x="1355028" y="118157"/>
                </a:lnTo>
                <a:lnTo>
                  <a:pt x="1335077" y="140869"/>
                </a:lnTo>
                <a:lnTo>
                  <a:pt x="1331638" y="141556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754253" y="4016349"/>
            <a:ext cx="1921510" cy="316865"/>
          </a:xfrm>
          <a:custGeom>
            <a:avLst/>
            <a:gdLst/>
            <a:ahLst/>
            <a:cxnLst/>
            <a:rect l="l" t="t" r="r" b="b"/>
            <a:pathLst>
              <a:path w="1921510" h="316864">
                <a:moveTo>
                  <a:pt x="498868" y="198678"/>
                </a:moveTo>
                <a:lnTo>
                  <a:pt x="475475" y="175285"/>
                </a:lnTo>
                <a:lnTo>
                  <a:pt x="0" y="175285"/>
                </a:lnTo>
                <a:lnTo>
                  <a:pt x="0" y="316852"/>
                </a:lnTo>
                <a:lnTo>
                  <a:pt x="475475" y="316852"/>
                </a:lnTo>
                <a:lnTo>
                  <a:pt x="498868" y="293458"/>
                </a:lnTo>
                <a:lnTo>
                  <a:pt x="498868" y="198678"/>
                </a:lnTo>
                <a:close/>
              </a:path>
              <a:path w="1921510" h="316864">
                <a:moveTo>
                  <a:pt x="1921306" y="0"/>
                </a:moveTo>
                <a:lnTo>
                  <a:pt x="23393" y="0"/>
                </a:lnTo>
                <a:lnTo>
                  <a:pt x="19951" y="698"/>
                </a:lnTo>
                <a:lnTo>
                  <a:pt x="0" y="23393"/>
                </a:lnTo>
                <a:lnTo>
                  <a:pt x="0" y="118173"/>
                </a:lnTo>
                <a:lnTo>
                  <a:pt x="23393" y="141579"/>
                </a:lnTo>
                <a:lnTo>
                  <a:pt x="1921306" y="141579"/>
                </a:lnTo>
                <a:lnTo>
                  <a:pt x="1921306" y="0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754257" y="4481529"/>
            <a:ext cx="1712595" cy="141605"/>
          </a:xfrm>
          <a:custGeom>
            <a:avLst/>
            <a:gdLst/>
            <a:ahLst/>
            <a:cxnLst/>
            <a:rect l="l" t="t" r="r" b="b"/>
            <a:pathLst>
              <a:path w="1712595" h="141604">
                <a:moveTo>
                  <a:pt x="1688934" y="141556"/>
                </a:moveTo>
                <a:lnTo>
                  <a:pt x="23389" y="141556"/>
                </a:lnTo>
                <a:lnTo>
                  <a:pt x="19950" y="140862"/>
                </a:lnTo>
                <a:lnTo>
                  <a:pt x="0" y="118170"/>
                </a:lnTo>
                <a:lnTo>
                  <a:pt x="0" y="114604"/>
                </a:lnTo>
                <a:lnTo>
                  <a:pt x="0" y="23386"/>
                </a:lnTo>
                <a:lnTo>
                  <a:pt x="23389" y="0"/>
                </a:lnTo>
                <a:lnTo>
                  <a:pt x="1688934" y="0"/>
                </a:lnTo>
                <a:lnTo>
                  <a:pt x="1712324" y="23386"/>
                </a:lnTo>
                <a:lnTo>
                  <a:pt x="1712324" y="118170"/>
                </a:lnTo>
                <a:lnTo>
                  <a:pt x="1692373" y="140862"/>
                </a:lnTo>
                <a:lnTo>
                  <a:pt x="1688934" y="141556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754257" y="4771411"/>
            <a:ext cx="944244" cy="141605"/>
          </a:xfrm>
          <a:custGeom>
            <a:avLst/>
            <a:gdLst/>
            <a:ahLst/>
            <a:cxnLst/>
            <a:rect l="l" t="t" r="r" b="b"/>
            <a:pathLst>
              <a:path w="944244" h="141604">
                <a:moveTo>
                  <a:pt x="920410" y="141556"/>
                </a:moveTo>
                <a:lnTo>
                  <a:pt x="23389" y="141556"/>
                </a:lnTo>
                <a:lnTo>
                  <a:pt x="19950" y="140862"/>
                </a:lnTo>
                <a:lnTo>
                  <a:pt x="0" y="118170"/>
                </a:lnTo>
                <a:lnTo>
                  <a:pt x="0" y="114604"/>
                </a:lnTo>
                <a:lnTo>
                  <a:pt x="0" y="23386"/>
                </a:lnTo>
                <a:lnTo>
                  <a:pt x="23389" y="0"/>
                </a:lnTo>
                <a:lnTo>
                  <a:pt x="920410" y="0"/>
                </a:lnTo>
                <a:lnTo>
                  <a:pt x="943800" y="23386"/>
                </a:lnTo>
                <a:lnTo>
                  <a:pt x="943800" y="118170"/>
                </a:lnTo>
                <a:lnTo>
                  <a:pt x="923850" y="140862"/>
                </a:lnTo>
                <a:lnTo>
                  <a:pt x="920410" y="141556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754257" y="5061293"/>
            <a:ext cx="708025" cy="141605"/>
          </a:xfrm>
          <a:custGeom>
            <a:avLst/>
            <a:gdLst/>
            <a:ahLst/>
            <a:cxnLst/>
            <a:rect l="l" t="t" r="r" b="b"/>
            <a:pathLst>
              <a:path w="708025" h="141604">
                <a:moveTo>
                  <a:pt x="684460" y="141556"/>
                </a:moveTo>
                <a:lnTo>
                  <a:pt x="23389" y="141556"/>
                </a:lnTo>
                <a:lnTo>
                  <a:pt x="19950" y="140862"/>
                </a:lnTo>
                <a:lnTo>
                  <a:pt x="0" y="118170"/>
                </a:lnTo>
                <a:lnTo>
                  <a:pt x="0" y="114604"/>
                </a:lnTo>
                <a:lnTo>
                  <a:pt x="0" y="23386"/>
                </a:lnTo>
                <a:lnTo>
                  <a:pt x="23389" y="0"/>
                </a:lnTo>
                <a:lnTo>
                  <a:pt x="684460" y="0"/>
                </a:lnTo>
                <a:lnTo>
                  <a:pt x="707850" y="23386"/>
                </a:lnTo>
                <a:lnTo>
                  <a:pt x="707850" y="118170"/>
                </a:lnTo>
                <a:lnTo>
                  <a:pt x="687900" y="140862"/>
                </a:lnTo>
                <a:lnTo>
                  <a:pt x="684460" y="141556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754253" y="5351157"/>
            <a:ext cx="1503680" cy="316865"/>
          </a:xfrm>
          <a:custGeom>
            <a:avLst/>
            <a:gdLst/>
            <a:ahLst/>
            <a:cxnLst/>
            <a:rect l="l" t="t" r="r" b="b"/>
            <a:pathLst>
              <a:path w="1503680" h="316864">
                <a:moveTo>
                  <a:pt x="734809" y="198678"/>
                </a:moveTo>
                <a:lnTo>
                  <a:pt x="711428" y="175272"/>
                </a:lnTo>
                <a:lnTo>
                  <a:pt x="0" y="175272"/>
                </a:lnTo>
                <a:lnTo>
                  <a:pt x="0" y="316852"/>
                </a:lnTo>
                <a:lnTo>
                  <a:pt x="711428" y="316852"/>
                </a:lnTo>
                <a:lnTo>
                  <a:pt x="734809" y="293458"/>
                </a:lnTo>
                <a:lnTo>
                  <a:pt x="734809" y="198678"/>
                </a:lnTo>
                <a:close/>
              </a:path>
              <a:path w="1503680" h="316864">
                <a:moveTo>
                  <a:pt x="1503337" y="0"/>
                </a:moveTo>
                <a:lnTo>
                  <a:pt x="23393" y="0"/>
                </a:lnTo>
                <a:lnTo>
                  <a:pt x="19951" y="698"/>
                </a:lnTo>
                <a:lnTo>
                  <a:pt x="0" y="23380"/>
                </a:lnTo>
                <a:lnTo>
                  <a:pt x="0" y="118186"/>
                </a:lnTo>
                <a:lnTo>
                  <a:pt x="23393" y="141566"/>
                </a:lnTo>
                <a:lnTo>
                  <a:pt x="1503337" y="141566"/>
                </a:lnTo>
                <a:lnTo>
                  <a:pt x="1503337" y="0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4313734" y="5526452"/>
            <a:ext cx="998219" cy="141605"/>
          </a:xfrm>
          <a:custGeom>
            <a:avLst/>
            <a:gdLst/>
            <a:ahLst/>
            <a:cxnLst/>
            <a:rect l="l" t="t" r="r" b="b"/>
            <a:pathLst>
              <a:path w="998220" h="141604">
                <a:moveTo>
                  <a:pt x="974342" y="141556"/>
                </a:moveTo>
                <a:lnTo>
                  <a:pt x="23390" y="141556"/>
                </a:lnTo>
                <a:lnTo>
                  <a:pt x="19949" y="140869"/>
                </a:lnTo>
                <a:lnTo>
                  <a:pt x="0" y="118170"/>
                </a:lnTo>
                <a:lnTo>
                  <a:pt x="0" y="114604"/>
                </a:lnTo>
                <a:lnTo>
                  <a:pt x="0" y="23386"/>
                </a:lnTo>
                <a:lnTo>
                  <a:pt x="23390" y="0"/>
                </a:lnTo>
                <a:lnTo>
                  <a:pt x="974342" y="0"/>
                </a:lnTo>
                <a:lnTo>
                  <a:pt x="997732" y="23386"/>
                </a:lnTo>
                <a:lnTo>
                  <a:pt x="997732" y="118170"/>
                </a:lnTo>
                <a:lnTo>
                  <a:pt x="977781" y="140869"/>
                </a:lnTo>
                <a:lnTo>
                  <a:pt x="974342" y="141556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754253" y="5816320"/>
            <a:ext cx="1861185" cy="323850"/>
          </a:xfrm>
          <a:custGeom>
            <a:avLst/>
            <a:gdLst/>
            <a:ahLst/>
            <a:cxnLst/>
            <a:rect l="l" t="t" r="r" b="b"/>
            <a:pathLst>
              <a:path w="1861185" h="323850">
                <a:moveTo>
                  <a:pt x="498868" y="205409"/>
                </a:moveTo>
                <a:lnTo>
                  <a:pt x="475475" y="182016"/>
                </a:lnTo>
                <a:lnTo>
                  <a:pt x="0" y="182016"/>
                </a:lnTo>
                <a:lnTo>
                  <a:pt x="0" y="323596"/>
                </a:lnTo>
                <a:lnTo>
                  <a:pt x="475475" y="323596"/>
                </a:lnTo>
                <a:lnTo>
                  <a:pt x="498868" y="300202"/>
                </a:lnTo>
                <a:lnTo>
                  <a:pt x="498868" y="205409"/>
                </a:lnTo>
                <a:close/>
              </a:path>
              <a:path w="1861185" h="323850">
                <a:moveTo>
                  <a:pt x="1860638" y="0"/>
                </a:moveTo>
                <a:lnTo>
                  <a:pt x="23393" y="0"/>
                </a:lnTo>
                <a:lnTo>
                  <a:pt x="19951" y="698"/>
                </a:lnTo>
                <a:lnTo>
                  <a:pt x="0" y="23393"/>
                </a:lnTo>
                <a:lnTo>
                  <a:pt x="0" y="118173"/>
                </a:lnTo>
                <a:lnTo>
                  <a:pt x="23393" y="141566"/>
                </a:lnTo>
                <a:lnTo>
                  <a:pt x="1860638" y="141566"/>
                </a:lnTo>
                <a:lnTo>
                  <a:pt x="1860638" y="0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754257" y="6288234"/>
            <a:ext cx="1179830" cy="141605"/>
          </a:xfrm>
          <a:custGeom>
            <a:avLst/>
            <a:gdLst/>
            <a:ahLst/>
            <a:cxnLst/>
            <a:rect l="l" t="t" r="r" b="b"/>
            <a:pathLst>
              <a:path w="1179830" h="141604">
                <a:moveTo>
                  <a:pt x="1156360" y="141556"/>
                </a:moveTo>
                <a:lnTo>
                  <a:pt x="23389" y="141556"/>
                </a:lnTo>
                <a:lnTo>
                  <a:pt x="19950" y="140869"/>
                </a:lnTo>
                <a:lnTo>
                  <a:pt x="0" y="118170"/>
                </a:lnTo>
                <a:lnTo>
                  <a:pt x="0" y="114604"/>
                </a:lnTo>
                <a:lnTo>
                  <a:pt x="0" y="23386"/>
                </a:lnTo>
                <a:lnTo>
                  <a:pt x="23389" y="0"/>
                </a:lnTo>
                <a:lnTo>
                  <a:pt x="1156360" y="0"/>
                </a:lnTo>
                <a:lnTo>
                  <a:pt x="1179750" y="23386"/>
                </a:lnTo>
                <a:lnTo>
                  <a:pt x="1179750" y="118170"/>
                </a:lnTo>
                <a:lnTo>
                  <a:pt x="1159800" y="140869"/>
                </a:lnTo>
                <a:lnTo>
                  <a:pt x="1156360" y="141556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4886756" y="6288234"/>
            <a:ext cx="526415" cy="141605"/>
          </a:xfrm>
          <a:custGeom>
            <a:avLst/>
            <a:gdLst/>
            <a:ahLst/>
            <a:cxnLst/>
            <a:rect l="l" t="t" r="r" b="b"/>
            <a:pathLst>
              <a:path w="526414" h="141604">
                <a:moveTo>
                  <a:pt x="502441" y="141556"/>
                </a:moveTo>
                <a:lnTo>
                  <a:pt x="23390" y="141556"/>
                </a:lnTo>
                <a:lnTo>
                  <a:pt x="19950" y="140869"/>
                </a:lnTo>
                <a:lnTo>
                  <a:pt x="0" y="118170"/>
                </a:lnTo>
                <a:lnTo>
                  <a:pt x="0" y="114604"/>
                </a:lnTo>
                <a:lnTo>
                  <a:pt x="0" y="23386"/>
                </a:lnTo>
                <a:lnTo>
                  <a:pt x="23390" y="0"/>
                </a:lnTo>
                <a:lnTo>
                  <a:pt x="502441" y="0"/>
                </a:lnTo>
                <a:lnTo>
                  <a:pt x="525831" y="23386"/>
                </a:lnTo>
                <a:lnTo>
                  <a:pt x="525831" y="118170"/>
                </a:lnTo>
                <a:lnTo>
                  <a:pt x="505881" y="140869"/>
                </a:lnTo>
                <a:lnTo>
                  <a:pt x="502441" y="141556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754257" y="6578116"/>
            <a:ext cx="351155" cy="141605"/>
          </a:xfrm>
          <a:custGeom>
            <a:avLst/>
            <a:gdLst/>
            <a:ahLst/>
            <a:cxnLst/>
            <a:rect l="l" t="t" r="r" b="b"/>
            <a:pathLst>
              <a:path w="351155" h="141604">
                <a:moveTo>
                  <a:pt x="327164" y="141556"/>
                </a:moveTo>
                <a:lnTo>
                  <a:pt x="23389" y="141556"/>
                </a:lnTo>
                <a:lnTo>
                  <a:pt x="19950" y="140869"/>
                </a:lnTo>
                <a:lnTo>
                  <a:pt x="0" y="118170"/>
                </a:lnTo>
                <a:lnTo>
                  <a:pt x="0" y="114604"/>
                </a:lnTo>
                <a:lnTo>
                  <a:pt x="0" y="23386"/>
                </a:lnTo>
                <a:lnTo>
                  <a:pt x="23389" y="0"/>
                </a:lnTo>
                <a:lnTo>
                  <a:pt x="327164" y="0"/>
                </a:lnTo>
                <a:lnTo>
                  <a:pt x="350554" y="23386"/>
                </a:lnTo>
                <a:lnTo>
                  <a:pt x="350554" y="118170"/>
                </a:lnTo>
                <a:lnTo>
                  <a:pt x="330604" y="140869"/>
                </a:lnTo>
                <a:lnTo>
                  <a:pt x="327164" y="141556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3248588" y="6578116"/>
            <a:ext cx="351155" cy="141605"/>
          </a:xfrm>
          <a:custGeom>
            <a:avLst/>
            <a:gdLst/>
            <a:ahLst/>
            <a:cxnLst/>
            <a:rect l="l" t="t" r="r" b="b"/>
            <a:pathLst>
              <a:path w="351154" h="141604">
                <a:moveTo>
                  <a:pt x="327164" y="141556"/>
                </a:moveTo>
                <a:lnTo>
                  <a:pt x="23389" y="141556"/>
                </a:lnTo>
                <a:lnTo>
                  <a:pt x="19949" y="140869"/>
                </a:lnTo>
                <a:lnTo>
                  <a:pt x="0" y="118170"/>
                </a:lnTo>
                <a:lnTo>
                  <a:pt x="0" y="114604"/>
                </a:lnTo>
                <a:lnTo>
                  <a:pt x="0" y="23386"/>
                </a:lnTo>
                <a:lnTo>
                  <a:pt x="23389" y="0"/>
                </a:lnTo>
                <a:lnTo>
                  <a:pt x="327164" y="0"/>
                </a:lnTo>
                <a:lnTo>
                  <a:pt x="350554" y="23386"/>
                </a:lnTo>
                <a:lnTo>
                  <a:pt x="350554" y="118170"/>
                </a:lnTo>
                <a:lnTo>
                  <a:pt x="330604" y="140869"/>
                </a:lnTo>
                <a:lnTo>
                  <a:pt x="327164" y="141556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754257" y="6867997"/>
            <a:ext cx="1058545" cy="141605"/>
          </a:xfrm>
          <a:custGeom>
            <a:avLst/>
            <a:gdLst/>
            <a:ahLst/>
            <a:cxnLst/>
            <a:rect l="l" t="t" r="r" b="b"/>
            <a:pathLst>
              <a:path w="1058545" h="141604">
                <a:moveTo>
                  <a:pt x="1035015" y="141556"/>
                </a:moveTo>
                <a:lnTo>
                  <a:pt x="23389" y="141556"/>
                </a:lnTo>
                <a:lnTo>
                  <a:pt x="19950" y="140869"/>
                </a:lnTo>
                <a:lnTo>
                  <a:pt x="0" y="118170"/>
                </a:lnTo>
                <a:lnTo>
                  <a:pt x="0" y="114604"/>
                </a:lnTo>
                <a:lnTo>
                  <a:pt x="0" y="23386"/>
                </a:lnTo>
                <a:lnTo>
                  <a:pt x="23389" y="0"/>
                </a:lnTo>
                <a:lnTo>
                  <a:pt x="1035015" y="0"/>
                </a:lnTo>
                <a:lnTo>
                  <a:pt x="1058405" y="23386"/>
                </a:lnTo>
                <a:lnTo>
                  <a:pt x="1058405" y="118170"/>
                </a:lnTo>
                <a:lnTo>
                  <a:pt x="1038454" y="140869"/>
                </a:lnTo>
                <a:lnTo>
                  <a:pt x="1035015" y="141556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graphicFrame>
        <p:nvGraphicFramePr>
          <p:cNvPr id="19" name="object 19"/>
          <p:cNvGraphicFramePr>
            <a:graphicFrameLocks noGrp="1"/>
          </p:cNvGraphicFramePr>
          <p:nvPr/>
        </p:nvGraphicFramePr>
        <p:xfrm>
          <a:off x="680102" y="3355710"/>
          <a:ext cx="6278880" cy="38798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63114"/>
                <a:gridCol w="4132579"/>
              </a:tblGrid>
              <a:tr h="289560">
                <a:tc>
                  <a:txBody>
                    <a:bodyPr/>
                    <a:lstStyle/>
                    <a:p>
                      <a:pPr marL="70485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950" spc="-20" b="1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Line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64769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marL="70485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950" spc="-10" b="1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Explanation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64769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  <a:solidFill>
                      <a:srgbClr val="F7FAFB"/>
                    </a:solidFill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print("\n"</a:t>
                      </a:r>
                      <a:r>
                        <a:rPr dirty="0" sz="750" spc="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+</a:t>
                      </a:r>
                      <a:r>
                        <a:rPr dirty="0" sz="750" spc="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"="</a:t>
                      </a:r>
                      <a:r>
                        <a:rPr dirty="0" sz="750" spc="55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*</a:t>
                      </a:r>
                      <a:r>
                        <a:rPr dirty="0" sz="750" spc="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 spc="-25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80)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90170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0485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Blank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6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line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9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+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850" spc="-40">
                          <a:solidFill>
                            <a:srgbClr val="111726"/>
                          </a:solidFill>
                          <a:latin typeface="Arial"/>
                          <a:cs typeface="Arial"/>
                        </a:rPr>
                        <a:t>80</a:t>
                      </a:r>
                      <a:r>
                        <a:rPr dirty="0" sz="950" spc="-4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-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char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divider,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starting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the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banner.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64769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</a:tr>
              <a:tr h="464820">
                <a:tc>
                  <a:txBody>
                    <a:bodyPr/>
                    <a:lstStyle/>
                    <a:p>
                      <a:pPr marL="70485" marR="63500" indent="26670">
                        <a:lnSpc>
                          <a:spcPct val="153300"/>
                        </a:lnSpc>
                        <a:spcBef>
                          <a:spcPts val="229"/>
                        </a:spcBef>
                      </a:pP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print("PostgreSQL</a:t>
                      </a:r>
                      <a:r>
                        <a:rPr dirty="0" sz="750" spc="9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+</a:t>
                      </a:r>
                      <a:r>
                        <a:rPr dirty="0" sz="750" spc="95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pgvector</a:t>
                      </a:r>
                      <a:r>
                        <a:rPr dirty="0" sz="750" spc="95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 spc="-25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RAG </a:t>
                      </a:r>
                      <a:r>
                        <a:rPr dirty="0" sz="750" spc="-1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System")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29209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0485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950" spc="-6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Title</a:t>
                      </a:r>
                      <a:r>
                        <a:rPr dirty="0" sz="950" spc="-2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line.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64769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print("Type</a:t>
                      </a:r>
                      <a:r>
                        <a:rPr dirty="0" sz="750" spc="7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'exit'</a:t>
                      </a:r>
                      <a:r>
                        <a:rPr dirty="0" sz="750" spc="75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to</a:t>
                      </a:r>
                      <a:r>
                        <a:rPr dirty="0" sz="750" spc="75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 spc="-1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quit")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90170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0485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Usage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instructions</a:t>
                      </a:r>
                      <a:r>
                        <a:rPr dirty="0" sz="95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for</a:t>
                      </a:r>
                      <a:r>
                        <a:rPr dirty="0" sz="95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the</a:t>
                      </a:r>
                      <a:r>
                        <a:rPr dirty="0" sz="95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2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user.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64769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print("="</a:t>
                      </a:r>
                      <a:r>
                        <a:rPr dirty="0" sz="750" spc="6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*</a:t>
                      </a:r>
                      <a:r>
                        <a:rPr dirty="0" sz="750" spc="65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 spc="-25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80)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90170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0485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Closing</a:t>
                      </a:r>
                      <a:r>
                        <a:rPr dirty="0" sz="950" spc="-2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divider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of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the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9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banner.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 b="1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Output:</a:t>
                      </a:r>
                      <a:r>
                        <a:rPr dirty="0" sz="950" spc="-10" b="1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the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four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6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lines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above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printed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to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console.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64769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while</a:t>
                      </a:r>
                      <a:r>
                        <a:rPr dirty="0" sz="750" spc="6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 spc="-1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True: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90170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0485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Starts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9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an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5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in</a:t>
                      </a:r>
                      <a:r>
                        <a:rPr dirty="0" sz="900" spc="-55">
                          <a:solidFill>
                            <a:srgbClr val="111726"/>
                          </a:solidFill>
                          <a:latin typeface="Arial"/>
                          <a:cs typeface="Arial"/>
                        </a:rPr>
                        <a:t>ﬁ</a:t>
                      </a:r>
                      <a:r>
                        <a:rPr dirty="0" sz="950" spc="-5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nite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loop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so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the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user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can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ask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multiple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questions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in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one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session.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64769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</a:tr>
              <a:tr h="464820">
                <a:tc>
                  <a:txBody>
                    <a:bodyPr/>
                    <a:lstStyle/>
                    <a:p>
                      <a:pPr marL="70485" marR="478155" indent="26670">
                        <a:lnSpc>
                          <a:spcPct val="153300"/>
                        </a:lnSpc>
                        <a:spcBef>
                          <a:spcPts val="229"/>
                        </a:spcBef>
                      </a:pP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question</a:t>
                      </a:r>
                      <a:r>
                        <a:rPr dirty="0" sz="750" spc="75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=</a:t>
                      </a:r>
                      <a:r>
                        <a:rPr dirty="0" sz="750" spc="8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input("\nAsk</a:t>
                      </a:r>
                      <a:r>
                        <a:rPr dirty="0" sz="750" spc="8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 spc="-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a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question:</a:t>
                      </a:r>
                      <a:r>
                        <a:rPr dirty="0" sz="750" spc="95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 spc="-25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")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29209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0485" marR="90805">
                        <a:lnSpc>
                          <a:spcPct val="121100"/>
                        </a:lnSpc>
                        <a:spcBef>
                          <a:spcPts val="270"/>
                        </a:spcBef>
                      </a:pPr>
                      <a:r>
                        <a:rPr dirty="0" sz="950" spc="-9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Pauses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execution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and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waits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for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the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user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to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type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9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a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question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at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the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terminal,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4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pre</a:t>
                      </a:r>
                      <a:r>
                        <a:rPr dirty="0" sz="900" spc="-40">
                          <a:solidFill>
                            <a:srgbClr val="111726"/>
                          </a:solidFill>
                          <a:latin typeface="Arial"/>
                          <a:cs typeface="Arial"/>
                        </a:rPr>
                        <a:t>ﬁ</a:t>
                      </a:r>
                      <a:r>
                        <a:rPr dirty="0" sz="950" spc="-4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xed</a:t>
                      </a:r>
                      <a:r>
                        <a:rPr dirty="0" sz="950" spc="50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by</a:t>
                      </a:r>
                      <a:r>
                        <a:rPr dirty="0" sz="950" spc="-3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9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a</a:t>
                      </a:r>
                      <a:r>
                        <a:rPr dirty="0" sz="950" spc="-3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blank</a:t>
                      </a:r>
                      <a:r>
                        <a:rPr dirty="0" sz="950" spc="-3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6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line</a:t>
                      </a:r>
                      <a:r>
                        <a:rPr dirty="0" sz="950" spc="-2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and</a:t>
                      </a:r>
                      <a:r>
                        <a:rPr dirty="0" sz="950" spc="-3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the</a:t>
                      </a:r>
                      <a:r>
                        <a:rPr dirty="0" sz="950" spc="-3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prompt</a:t>
                      </a:r>
                      <a:r>
                        <a:rPr dirty="0" sz="950" spc="19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Ask</a:t>
                      </a:r>
                      <a:r>
                        <a:rPr dirty="0" sz="750" spc="3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a</a:t>
                      </a:r>
                      <a:r>
                        <a:rPr dirty="0" sz="750" spc="35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question:</a:t>
                      </a:r>
                      <a:r>
                        <a:rPr dirty="0" sz="750" spc="245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950" spc="-5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.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34290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</a:tr>
              <a:tr h="471805">
                <a:tc>
                  <a:txBody>
                    <a:bodyPr/>
                    <a:lstStyle/>
                    <a:p>
                      <a:pPr marL="70485" marR="123189" indent="26670">
                        <a:lnSpc>
                          <a:spcPct val="159200"/>
                        </a:lnSpc>
                        <a:spcBef>
                          <a:spcPts val="175"/>
                        </a:spcBef>
                      </a:pP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if</a:t>
                      </a:r>
                      <a:r>
                        <a:rPr dirty="0" sz="750" spc="75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question.lower()</a:t>
                      </a:r>
                      <a:r>
                        <a:rPr dirty="0" sz="750" spc="75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in</a:t>
                      </a:r>
                      <a:r>
                        <a:rPr dirty="0" sz="750" spc="8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 spc="-1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["exit", "quit"]: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22225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0485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Checks</a:t>
                      </a:r>
                      <a:r>
                        <a:rPr dirty="0" sz="950" spc="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(case-</a:t>
                      </a:r>
                      <a:r>
                        <a:rPr dirty="0" sz="950" spc="-7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insensitively)</a:t>
                      </a:r>
                      <a:r>
                        <a:rPr dirty="0" sz="950" spc="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whether</a:t>
                      </a:r>
                      <a:r>
                        <a:rPr dirty="0" sz="950" spc="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the</a:t>
                      </a:r>
                      <a:r>
                        <a:rPr dirty="0" sz="950" spc="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user</a:t>
                      </a:r>
                      <a:r>
                        <a:rPr dirty="0" sz="950" spc="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wants</a:t>
                      </a:r>
                      <a:r>
                        <a:rPr dirty="0" sz="950" spc="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to</a:t>
                      </a:r>
                      <a:r>
                        <a:rPr dirty="0" sz="950" spc="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2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stop.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64769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dirty="0" sz="750" spc="-1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print("\nGoodbye!")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90170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0485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Farewell</a:t>
                      </a:r>
                      <a:r>
                        <a:rPr dirty="0" sz="950" spc="-3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message.</a:t>
                      </a:r>
                      <a:r>
                        <a:rPr dirty="0" sz="950" spc="-2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 b="1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Output:</a:t>
                      </a:r>
                      <a:r>
                        <a:rPr dirty="0" sz="950" spc="-25" b="1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blank</a:t>
                      </a:r>
                      <a:r>
                        <a:rPr dirty="0" sz="950" spc="-3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6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line</a:t>
                      </a:r>
                      <a:r>
                        <a:rPr dirty="0" sz="950" spc="-3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5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then</a:t>
                      </a:r>
                      <a:r>
                        <a:rPr dirty="0" sz="950" spc="19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750" spc="-1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Goodbye!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64769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dirty="0" sz="750" spc="-1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break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90170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0485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Exits</a:t>
                      </a:r>
                      <a:r>
                        <a:rPr dirty="0" sz="950" spc="-3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2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the</a:t>
                      </a:r>
                      <a:r>
                        <a:rPr dirty="0" sz="950" spc="19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while</a:t>
                      </a:r>
                      <a:r>
                        <a:rPr dirty="0" sz="750" spc="-4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loop,</a:t>
                      </a:r>
                      <a:r>
                        <a:rPr dirty="0" sz="950" spc="-3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ending</a:t>
                      </a:r>
                      <a:r>
                        <a:rPr dirty="0" sz="950" spc="-2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the</a:t>
                      </a:r>
                      <a:r>
                        <a:rPr dirty="0" sz="950" spc="-3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interactive</a:t>
                      </a:r>
                      <a:r>
                        <a:rPr dirty="0" sz="950" spc="-2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session.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64769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</a:tr>
              <a:tr h="451484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dirty="0" sz="750" spc="-1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ask_rag(question)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90170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0485" marR="280035">
                        <a:lnSpc>
                          <a:spcPct val="116399"/>
                        </a:lnSpc>
                        <a:spcBef>
                          <a:spcPts val="320"/>
                        </a:spcBef>
                      </a:pP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For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any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other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input,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runs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the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5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full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retrieve-then-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generate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pipeline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and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prints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2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the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answer.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40640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0" name="object 20"/>
          <p:cNvSpPr txBox="1"/>
          <p:nvPr/>
        </p:nvSpPr>
        <p:spPr>
          <a:xfrm>
            <a:off x="667402" y="7325355"/>
            <a:ext cx="1508125" cy="2139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200" spc="-105" b="1">
                <a:solidFill>
                  <a:srgbClr val="111726"/>
                </a:solidFill>
                <a:latin typeface="Source Han Sans JP"/>
                <a:cs typeface="Source Han Sans JP"/>
              </a:rPr>
              <a:t>Close</a:t>
            </a:r>
            <a:r>
              <a:rPr dirty="0" sz="1200" spc="-35" b="1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200" spc="-120" b="1">
                <a:solidFill>
                  <a:srgbClr val="111726"/>
                </a:solidFill>
                <a:latin typeface="Source Han Sans JP"/>
                <a:cs typeface="Source Han Sans JP"/>
              </a:rPr>
              <a:t>Database</a:t>
            </a:r>
            <a:r>
              <a:rPr dirty="0" sz="1200" spc="-30" b="1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200" spc="-95" b="1">
                <a:solidFill>
                  <a:srgbClr val="111726"/>
                </a:solidFill>
                <a:latin typeface="Source Han Sans JP"/>
                <a:cs typeface="Source Han Sans JP"/>
              </a:rPr>
              <a:t>Session</a:t>
            </a:r>
            <a:endParaRPr sz="1200">
              <a:latin typeface="Source Han Sans JP"/>
              <a:cs typeface="Source Han Sans JP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761782" y="7730329"/>
            <a:ext cx="950594" cy="1485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800" spc="-10">
                <a:solidFill>
                  <a:srgbClr val="E4E7EB"/>
                </a:solidFill>
                <a:latin typeface="Courier New"/>
                <a:cs typeface="Courier New"/>
              </a:rPr>
              <a:t>session.close()</a:t>
            </a:r>
            <a:endParaRPr sz="800">
              <a:latin typeface="Courier New"/>
              <a:cs typeface="Courier New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754257" y="8472458"/>
            <a:ext cx="944244" cy="141605"/>
          </a:xfrm>
          <a:custGeom>
            <a:avLst/>
            <a:gdLst/>
            <a:ahLst/>
            <a:cxnLst/>
            <a:rect l="l" t="t" r="r" b="b"/>
            <a:pathLst>
              <a:path w="944244" h="141604">
                <a:moveTo>
                  <a:pt x="920410" y="141556"/>
                </a:moveTo>
                <a:lnTo>
                  <a:pt x="23389" y="141556"/>
                </a:lnTo>
                <a:lnTo>
                  <a:pt x="19950" y="140869"/>
                </a:lnTo>
                <a:lnTo>
                  <a:pt x="0" y="118170"/>
                </a:lnTo>
                <a:lnTo>
                  <a:pt x="0" y="114604"/>
                </a:lnTo>
                <a:lnTo>
                  <a:pt x="0" y="23372"/>
                </a:lnTo>
                <a:lnTo>
                  <a:pt x="23389" y="0"/>
                </a:lnTo>
                <a:lnTo>
                  <a:pt x="920410" y="0"/>
                </a:lnTo>
                <a:lnTo>
                  <a:pt x="943800" y="23372"/>
                </a:lnTo>
                <a:lnTo>
                  <a:pt x="943800" y="118170"/>
                </a:lnTo>
                <a:lnTo>
                  <a:pt x="923850" y="140869"/>
                </a:lnTo>
                <a:lnTo>
                  <a:pt x="920410" y="141556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2122768" y="8640995"/>
            <a:ext cx="351155" cy="141605"/>
          </a:xfrm>
          <a:custGeom>
            <a:avLst/>
            <a:gdLst/>
            <a:ahLst/>
            <a:cxnLst/>
            <a:rect l="l" t="t" r="r" b="b"/>
            <a:pathLst>
              <a:path w="351155" h="141604">
                <a:moveTo>
                  <a:pt x="327164" y="141570"/>
                </a:moveTo>
                <a:lnTo>
                  <a:pt x="23389" y="141570"/>
                </a:lnTo>
                <a:lnTo>
                  <a:pt x="19950" y="140882"/>
                </a:lnTo>
                <a:lnTo>
                  <a:pt x="0" y="118170"/>
                </a:lnTo>
                <a:lnTo>
                  <a:pt x="0" y="114604"/>
                </a:lnTo>
                <a:lnTo>
                  <a:pt x="0" y="23372"/>
                </a:lnTo>
                <a:lnTo>
                  <a:pt x="23389" y="0"/>
                </a:lnTo>
                <a:lnTo>
                  <a:pt x="327164" y="0"/>
                </a:lnTo>
                <a:lnTo>
                  <a:pt x="350554" y="23372"/>
                </a:lnTo>
                <a:lnTo>
                  <a:pt x="350554" y="118170"/>
                </a:lnTo>
                <a:lnTo>
                  <a:pt x="330604" y="140882"/>
                </a:lnTo>
                <a:lnTo>
                  <a:pt x="327164" y="141570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graphicFrame>
        <p:nvGraphicFramePr>
          <p:cNvPr id="24" name="object 24"/>
          <p:cNvGraphicFramePr>
            <a:graphicFrameLocks noGrp="1"/>
          </p:cNvGraphicFramePr>
          <p:nvPr/>
        </p:nvGraphicFramePr>
        <p:xfrm>
          <a:off x="680102" y="8108421"/>
          <a:ext cx="6278880" cy="7404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85215"/>
                <a:gridCol w="5109845"/>
              </a:tblGrid>
              <a:tr h="282575">
                <a:tc>
                  <a:txBody>
                    <a:bodyPr/>
                    <a:lstStyle/>
                    <a:p>
                      <a:pPr marL="70485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950" spc="-20" b="1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Line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64769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950" spc="-10" b="1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Explanation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64769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  <a:solidFill>
                      <a:srgbClr val="F7FAFB"/>
                    </a:solidFill>
                  </a:tcPr>
                </a:tc>
              </a:tr>
              <a:tr h="457834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dirty="0" sz="750" spc="-1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session.close()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90170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 marR="154940">
                        <a:lnSpc>
                          <a:spcPct val="116399"/>
                        </a:lnSpc>
                        <a:spcBef>
                          <a:spcPts val="320"/>
                        </a:spcBef>
                      </a:pP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Releases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the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9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database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session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and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6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its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underlying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connection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9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back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to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the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pool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9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once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the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chat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loop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2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ends</a:t>
                      </a:r>
                      <a:r>
                        <a:rPr dirty="0" sz="950" spc="50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4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(after</a:t>
                      </a:r>
                      <a:r>
                        <a:rPr dirty="0" sz="950" spc="204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break</a:t>
                      </a:r>
                      <a:r>
                        <a:rPr dirty="0" sz="750" spc="-225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950" spc="-5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).</a:t>
                      </a:r>
                      <a:r>
                        <a:rPr dirty="0" sz="950" spc="-2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9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Good</a:t>
                      </a:r>
                      <a:r>
                        <a:rPr dirty="0" sz="950" spc="-2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practice</a:t>
                      </a:r>
                      <a:r>
                        <a:rPr dirty="0" sz="950" spc="-2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to</a:t>
                      </a:r>
                      <a:r>
                        <a:rPr dirty="0" sz="950" spc="-2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avoid</a:t>
                      </a:r>
                      <a:r>
                        <a:rPr dirty="0" sz="950" spc="-2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connection</a:t>
                      </a:r>
                      <a:r>
                        <a:rPr dirty="0" sz="950" spc="-2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leaks.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40640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5" name="object 25"/>
          <p:cNvSpPr/>
          <p:nvPr/>
        </p:nvSpPr>
        <p:spPr>
          <a:xfrm>
            <a:off x="3605884" y="9200533"/>
            <a:ext cx="1348740" cy="195580"/>
          </a:xfrm>
          <a:custGeom>
            <a:avLst/>
            <a:gdLst/>
            <a:ahLst/>
            <a:cxnLst/>
            <a:rect l="l" t="t" r="r" b="b"/>
            <a:pathLst>
              <a:path w="1348739" h="195579">
                <a:moveTo>
                  <a:pt x="1324896" y="195488"/>
                </a:moveTo>
                <a:lnTo>
                  <a:pt x="23389" y="195488"/>
                </a:lnTo>
                <a:lnTo>
                  <a:pt x="19950" y="194800"/>
                </a:lnTo>
                <a:lnTo>
                  <a:pt x="0" y="172102"/>
                </a:lnTo>
                <a:lnTo>
                  <a:pt x="0" y="168535"/>
                </a:lnTo>
                <a:lnTo>
                  <a:pt x="0" y="23372"/>
                </a:lnTo>
                <a:lnTo>
                  <a:pt x="23389" y="0"/>
                </a:lnTo>
                <a:lnTo>
                  <a:pt x="1324896" y="0"/>
                </a:lnTo>
                <a:lnTo>
                  <a:pt x="1348286" y="23372"/>
                </a:lnTo>
                <a:lnTo>
                  <a:pt x="1348286" y="172102"/>
                </a:lnTo>
                <a:lnTo>
                  <a:pt x="1328336" y="194800"/>
                </a:lnTo>
                <a:lnTo>
                  <a:pt x="1324896" y="195488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2486806" y="9524122"/>
            <a:ext cx="1409065" cy="148590"/>
          </a:xfrm>
          <a:custGeom>
            <a:avLst/>
            <a:gdLst/>
            <a:ahLst/>
            <a:cxnLst/>
            <a:rect l="l" t="t" r="r" b="b"/>
            <a:pathLst>
              <a:path w="1409064" h="148590">
                <a:moveTo>
                  <a:pt x="1385569" y="148298"/>
                </a:moveTo>
                <a:lnTo>
                  <a:pt x="23389" y="148298"/>
                </a:lnTo>
                <a:lnTo>
                  <a:pt x="19950" y="147603"/>
                </a:lnTo>
                <a:lnTo>
                  <a:pt x="0" y="124912"/>
                </a:lnTo>
                <a:lnTo>
                  <a:pt x="0" y="121345"/>
                </a:lnTo>
                <a:lnTo>
                  <a:pt x="0" y="23386"/>
                </a:lnTo>
                <a:lnTo>
                  <a:pt x="23389" y="0"/>
                </a:lnTo>
                <a:lnTo>
                  <a:pt x="1385569" y="0"/>
                </a:lnTo>
                <a:lnTo>
                  <a:pt x="1408959" y="23386"/>
                </a:lnTo>
                <a:lnTo>
                  <a:pt x="1408959" y="124912"/>
                </a:lnTo>
                <a:lnTo>
                  <a:pt x="1389009" y="147603"/>
                </a:lnTo>
                <a:lnTo>
                  <a:pt x="1385569" y="148298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5783367" y="9524122"/>
            <a:ext cx="668020" cy="148590"/>
          </a:xfrm>
          <a:custGeom>
            <a:avLst/>
            <a:gdLst/>
            <a:ahLst/>
            <a:cxnLst/>
            <a:rect l="l" t="t" r="r" b="b"/>
            <a:pathLst>
              <a:path w="668020" h="148590">
                <a:moveTo>
                  <a:pt x="644012" y="148298"/>
                </a:moveTo>
                <a:lnTo>
                  <a:pt x="23390" y="148298"/>
                </a:lnTo>
                <a:lnTo>
                  <a:pt x="19949" y="147603"/>
                </a:lnTo>
                <a:lnTo>
                  <a:pt x="0" y="124912"/>
                </a:lnTo>
                <a:lnTo>
                  <a:pt x="0" y="121345"/>
                </a:lnTo>
                <a:lnTo>
                  <a:pt x="0" y="23386"/>
                </a:lnTo>
                <a:lnTo>
                  <a:pt x="23390" y="0"/>
                </a:lnTo>
                <a:lnTo>
                  <a:pt x="644012" y="0"/>
                </a:lnTo>
                <a:lnTo>
                  <a:pt x="667401" y="23386"/>
                </a:lnTo>
                <a:lnTo>
                  <a:pt x="667401" y="124912"/>
                </a:lnTo>
                <a:lnTo>
                  <a:pt x="647451" y="147603"/>
                </a:lnTo>
                <a:lnTo>
                  <a:pt x="644012" y="148298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 txBox="1"/>
          <p:nvPr/>
        </p:nvSpPr>
        <p:spPr>
          <a:xfrm>
            <a:off x="667402" y="9153102"/>
            <a:ext cx="6045200" cy="88201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300" spc="-85" b="1">
                <a:solidFill>
                  <a:srgbClr val="111726"/>
                </a:solidFill>
                <a:latin typeface="Trebuchet MS"/>
                <a:cs typeface="Trebuchet MS"/>
              </a:rPr>
              <a:t>1</a:t>
            </a:r>
            <a:r>
              <a:rPr dirty="0" sz="1450" spc="-85" b="1">
                <a:solidFill>
                  <a:srgbClr val="111726"/>
                </a:solidFill>
                <a:latin typeface="Source Han Sans JP"/>
                <a:cs typeface="Source Han Sans JP"/>
              </a:rPr>
              <a:t>.</a:t>
            </a:r>
            <a:r>
              <a:rPr dirty="0" sz="1300" spc="-85" b="1">
                <a:solidFill>
                  <a:srgbClr val="111726"/>
                </a:solidFill>
                <a:latin typeface="Trebuchet MS"/>
                <a:cs typeface="Trebuchet MS"/>
              </a:rPr>
              <a:t>5</a:t>
            </a:r>
            <a:r>
              <a:rPr dirty="0" sz="1300" spc="-110" b="1">
                <a:solidFill>
                  <a:srgbClr val="111726"/>
                </a:solidFill>
                <a:latin typeface="Trebuchet MS"/>
                <a:cs typeface="Trebuchet MS"/>
              </a:rPr>
              <a:t> </a:t>
            </a:r>
            <a:r>
              <a:rPr dirty="0" sz="1450" spc="-150" b="1">
                <a:solidFill>
                  <a:srgbClr val="111726"/>
                </a:solidFill>
                <a:latin typeface="Source Han Sans JP"/>
                <a:cs typeface="Source Han Sans JP"/>
              </a:rPr>
              <a:t>Actual</a:t>
            </a:r>
            <a:r>
              <a:rPr dirty="0" sz="1450" spc="-45" b="1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450" spc="-165" b="1">
                <a:solidFill>
                  <a:srgbClr val="111726"/>
                </a:solidFill>
                <a:latin typeface="Source Han Sans JP"/>
                <a:cs typeface="Source Han Sans JP"/>
              </a:rPr>
              <a:t>Captured</a:t>
            </a:r>
            <a:r>
              <a:rPr dirty="0" sz="1450" spc="-45" b="1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450" spc="-170" b="1">
                <a:solidFill>
                  <a:srgbClr val="111726"/>
                </a:solidFill>
                <a:latin typeface="Source Han Sans JP"/>
                <a:cs typeface="Source Han Sans JP"/>
              </a:rPr>
              <a:t>Terminal</a:t>
            </a:r>
            <a:r>
              <a:rPr dirty="0" sz="1450" spc="-40" b="1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450" spc="-170" b="1">
                <a:solidFill>
                  <a:srgbClr val="111726"/>
                </a:solidFill>
                <a:latin typeface="Source Han Sans JP"/>
                <a:cs typeface="Source Han Sans JP"/>
              </a:rPr>
              <a:t>Output</a:t>
            </a:r>
            <a:r>
              <a:rPr dirty="0" sz="1450" spc="-45" b="1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350" spc="-285" b="1">
                <a:solidFill>
                  <a:srgbClr val="111726"/>
                </a:solidFill>
                <a:latin typeface="Arial"/>
                <a:cs typeface="Arial"/>
              </a:rPr>
              <a:t>—</a:t>
            </a:r>
            <a:r>
              <a:rPr dirty="0" sz="1350" spc="135" b="1">
                <a:solidFill>
                  <a:srgbClr val="111726"/>
                </a:solidFill>
                <a:latin typeface="Arial"/>
                <a:cs typeface="Arial"/>
              </a:rPr>
              <a:t> </a:t>
            </a:r>
            <a:r>
              <a:rPr dirty="0" sz="1100" spc="-10" b="1">
                <a:solidFill>
                  <a:srgbClr val="111726"/>
                </a:solidFill>
                <a:latin typeface="Courier New"/>
                <a:cs typeface="Courier New"/>
              </a:rPr>
              <a:t>rag_pipeline.py</a:t>
            </a:r>
            <a:endParaRPr sz="1100">
              <a:latin typeface="Courier New"/>
              <a:cs typeface="Courier New"/>
            </a:endParaRPr>
          </a:p>
          <a:p>
            <a:pPr marL="12700" marR="5080">
              <a:lnSpc>
                <a:spcPct val="119400"/>
              </a:lnSpc>
              <a:spcBef>
                <a:spcPts val="705"/>
              </a:spcBef>
            </a:pPr>
            <a:r>
              <a:rPr dirty="0" sz="1000" spc="-100">
                <a:solidFill>
                  <a:srgbClr val="111726"/>
                </a:solidFill>
                <a:latin typeface="Source Han Sans JP"/>
                <a:cs typeface="Source Han Sans JP"/>
              </a:rPr>
              <a:t>The</a:t>
            </a:r>
            <a:r>
              <a:rPr dirty="0" sz="1000" spc="-30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90">
                <a:solidFill>
                  <a:srgbClr val="111726"/>
                </a:solidFill>
                <a:latin typeface="Source Han Sans JP"/>
                <a:cs typeface="Source Han Sans JP"/>
              </a:rPr>
              <a:t>person</a:t>
            </a:r>
            <a:r>
              <a:rPr dirty="0" sz="1000" spc="-30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80">
                <a:solidFill>
                  <a:srgbClr val="111726"/>
                </a:solidFill>
                <a:latin typeface="Source Han Sans JP"/>
                <a:cs typeface="Source Han Sans JP"/>
              </a:rPr>
              <a:t>building</a:t>
            </a:r>
            <a:r>
              <a:rPr dirty="0" sz="1000" spc="-2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70">
                <a:solidFill>
                  <a:srgbClr val="111726"/>
                </a:solidFill>
                <a:latin typeface="Source Han Sans JP"/>
                <a:cs typeface="Source Han Sans JP"/>
              </a:rPr>
              <a:t>this</a:t>
            </a:r>
            <a:r>
              <a:rPr dirty="0" sz="1000" spc="-30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80">
                <a:solidFill>
                  <a:srgbClr val="111726"/>
                </a:solidFill>
                <a:latin typeface="Source Han Sans JP"/>
                <a:cs typeface="Source Han Sans JP"/>
              </a:rPr>
              <a:t>project</a:t>
            </a:r>
            <a:r>
              <a:rPr dirty="0" sz="1000" spc="-2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50">
                <a:solidFill>
                  <a:srgbClr val="111726"/>
                </a:solidFill>
                <a:latin typeface="Source Han Sans JP"/>
                <a:cs typeface="Source Han Sans JP"/>
              </a:rPr>
              <a:t>ran</a:t>
            </a:r>
            <a:r>
              <a:rPr dirty="0" sz="1000" spc="19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800">
                <a:solidFill>
                  <a:srgbClr val="111726"/>
                </a:solidFill>
                <a:latin typeface="Courier New"/>
                <a:cs typeface="Courier New"/>
              </a:rPr>
              <a:t>python</a:t>
            </a:r>
            <a:r>
              <a:rPr dirty="0" sz="800" spc="15">
                <a:solidFill>
                  <a:srgbClr val="111726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111726"/>
                </a:solidFill>
                <a:latin typeface="Courier New"/>
                <a:cs typeface="Courier New"/>
              </a:rPr>
              <a:t>rag_pipeline.py</a:t>
            </a:r>
            <a:r>
              <a:rPr dirty="0" sz="800" spc="-65">
                <a:solidFill>
                  <a:srgbClr val="111726"/>
                </a:solidFill>
                <a:latin typeface="Courier New"/>
                <a:cs typeface="Courier New"/>
              </a:rPr>
              <a:t> </a:t>
            </a:r>
            <a:r>
              <a:rPr dirty="0" sz="1000" spc="-70">
                <a:solidFill>
                  <a:srgbClr val="111726"/>
                </a:solidFill>
                <a:latin typeface="Source Han Sans JP"/>
                <a:cs typeface="Source Han Sans JP"/>
              </a:rPr>
              <a:t>for</a:t>
            </a:r>
            <a:r>
              <a:rPr dirty="0" sz="1000" spc="-2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75">
                <a:solidFill>
                  <a:srgbClr val="111726"/>
                </a:solidFill>
                <a:latin typeface="Source Han Sans JP"/>
                <a:cs typeface="Source Han Sans JP"/>
              </a:rPr>
              <a:t>real</a:t>
            </a:r>
            <a:r>
              <a:rPr dirty="0" sz="1000" spc="-30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85">
                <a:solidFill>
                  <a:srgbClr val="111726"/>
                </a:solidFill>
                <a:latin typeface="Source Han Sans JP"/>
                <a:cs typeface="Source Han Sans JP"/>
              </a:rPr>
              <a:t>in</a:t>
            </a:r>
            <a:r>
              <a:rPr dirty="0" sz="1000" spc="-2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90">
                <a:solidFill>
                  <a:srgbClr val="111726"/>
                </a:solidFill>
                <a:latin typeface="Source Han Sans JP"/>
                <a:cs typeface="Source Han Sans JP"/>
              </a:rPr>
              <a:t>a</a:t>
            </a:r>
            <a:r>
              <a:rPr dirty="0" sz="1000" spc="-30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105">
                <a:solidFill>
                  <a:srgbClr val="111726"/>
                </a:solidFill>
                <a:latin typeface="Source Han Sans JP"/>
                <a:cs typeface="Source Han Sans JP"/>
              </a:rPr>
              <a:t>VS</a:t>
            </a:r>
            <a:r>
              <a:rPr dirty="0" sz="1000" spc="-2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95">
                <a:solidFill>
                  <a:srgbClr val="111726"/>
                </a:solidFill>
                <a:latin typeface="Source Han Sans JP"/>
                <a:cs typeface="Source Han Sans JP"/>
              </a:rPr>
              <a:t>Code</a:t>
            </a:r>
            <a:r>
              <a:rPr dirty="0" sz="1000" spc="-30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85">
                <a:solidFill>
                  <a:srgbClr val="111726"/>
                </a:solidFill>
                <a:latin typeface="Source Han Sans JP"/>
                <a:cs typeface="Source Han Sans JP"/>
              </a:rPr>
              <a:t>terminal</a:t>
            </a:r>
            <a:r>
              <a:rPr dirty="0" sz="1000" spc="-30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70">
                <a:solidFill>
                  <a:srgbClr val="111726"/>
                </a:solidFill>
                <a:latin typeface="Source Han Sans JP"/>
                <a:cs typeface="Source Han Sans JP"/>
              </a:rPr>
              <a:t>against</a:t>
            </a:r>
            <a:r>
              <a:rPr dirty="0" sz="1000" spc="19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800">
                <a:solidFill>
                  <a:srgbClr val="111726"/>
                </a:solidFill>
                <a:latin typeface="Courier New"/>
                <a:cs typeface="Courier New"/>
              </a:rPr>
              <a:t>sample.pdf</a:t>
            </a:r>
            <a:r>
              <a:rPr dirty="0" sz="800" spc="-265">
                <a:solidFill>
                  <a:srgbClr val="111726"/>
                </a:solidFill>
                <a:latin typeface="Courier New"/>
                <a:cs typeface="Courier New"/>
              </a:rPr>
              <a:t> </a:t>
            </a:r>
            <a:r>
              <a:rPr dirty="0" sz="1000" spc="-50">
                <a:solidFill>
                  <a:srgbClr val="111726"/>
                </a:solidFill>
                <a:latin typeface="Source Han Sans JP"/>
                <a:cs typeface="Source Han Sans JP"/>
              </a:rPr>
              <a:t>,</a:t>
            </a:r>
            <a:r>
              <a:rPr dirty="0" sz="1000" spc="-25">
                <a:solidFill>
                  <a:srgbClr val="111726"/>
                </a:solidFill>
                <a:latin typeface="Source Han Sans JP"/>
                <a:cs typeface="Source Han Sans JP"/>
              </a:rPr>
              <a:t> and</a:t>
            </a:r>
            <a:r>
              <a:rPr dirty="0" sz="1000" spc="500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85">
                <a:solidFill>
                  <a:srgbClr val="111726"/>
                </a:solidFill>
                <a:latin typeface="Source Han Sans JP"/>
                <a:cs typeface="Source Han Sans JP"/>
              </a:rPr>
              <a:t>shared</a:t>
            </a:r>
            <a:r>
              <a:rPr dirty="0" sz="1000" spc="-10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90">
                <a:solidFill>
                  <a:srgbClr val="111726"/>
                </a:solidFill>
                <a:latin typeface="Source Han Sans JP"/>
                <a:cs typeface="Source Han Sans JP"/>
              </a:rPr>
              <a:t>screenshots</a:t>
            </a:r>
            <a:r>
              <a:rPr dirty="0" sz="1000" spc="-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75">
                <a:solidFill>
                  <a:srgbClr val="111726"/>
                </a:solidFill>
                <a:latin typeface="Source Han Sans JP"/>
                <a:cs typeface="Source Han Sans JP"/>
              </a:rPr>
              <a:t>of</a:t>
            </a:r>
            <a:r>
              <a:rPr dirty="0" sz="1000" spc="-10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90">
                <a:solidFill>
                  <a:srgbClr val="111726"/>
                </a:solidFill>
                <a:latin typeface="Source Han Sans JP"/>
                <a:cs typeface="Source Han Sans JP"/>
              </a:rPr>
              <a:t>the</a:t>
            </a:r>
            <a:r>
              <a:rPr dirty="0" sz="1000" spc="-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80">
                <a:solidFill>
                  <a:srgbClr val="111726"/>
                </a:solidFill>
                <a:latin typeface="Source Han Sans JP"/>
                <a:cs typeface="Source Han Sans JP"/>
              </a:rPr>
              <a:t>session.</a:t>
            </a:r>
            <a:r>
              <a:rPr dirty="0" sz="1000" spc="-10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90">
                <a:solidFill>
                  <a:srgbClr val="111726"/>
                </a:solidFill>
                <a:latin typeface="Source Han Sans JP"/>
                <a:cs typeface="Source Han Sans JP"/>
              </a:rPr>
              <a:t>Here</a:t>
            </a:r>
            <a:r>
              <a:rPr dirty="0" sz="1000" spc="-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70">
                <a:solidFill>
                  <a:srgbClr val="111726"/>
                </a:solidFill>
                <a:latin typeface="Source Han Sans JP"/>
                <a:cs typeface="Source Han Sans JP"/>
              </a:rPr>
              <a:t>is</a:t>
            </a:r>
            <a:r>
              <a:rPr dirty="0" sz="1000" spc="-10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90">
                <a:solidFill>
                  <a:srgbClr val="111726"/>
                </a:solidFill>
                <a:latin typeface="Source Han Sans JP"/>
                <a:cs typeface="Source Han Sans JP"/>
              </a:rPr>
              <a:t>the</a:t>
            </a:r>
            <a:r>
              <a:rPr dirty="0" sz="1000" spc="-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75">
                <a:solidFill>
                  <a:srgbClr val="111726"/>
                </a:solidFill>
                <a:latin typeface="Source Han Sans JP"/>
                <a:cs typeface="Source Han Sans JP"/>
              </a:rPr>
              <a:t>real</a:t>
            </a:r>
            <a:r>
              <a:rPr dirty="0" sz="1000" spc="-10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80">
                <a:solidFill>
                  <a:srgbClr val="111726"/>
                </a:solidFill>
                <a:latin typeface="Source Han Sans JP"/>
                <a:cs typeface="Source Han Sans JP"/>
              </a:rPr>
              <a:t>transcript,</a:t>
            </a:r>
            <a:r>
              <a:rPr dirty="0" sz="1000" spc="-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85">
                <a:solidFill>
                  <a:srgbClr val="111726"/>
                </a:solidFill>
                <a:latin typeface="Source Han Sans JP"/>
                <a:cs typeface="Source Han Sans JP"/>
              </a:rPr>
              <a:t>stitched</a:t>
            </a:r>
            <a:r>
              <a:rPr dirty="0" sz="1000" spc="-10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90">
                <a:solidFill>
                  <a:srgbClr val="111726"/>
                </a:solidFill>
                <a:latin typeface="Source Han Sans JP"/>
                <a:cs typeface="Source Han Sans JP"/>
              </a:rPr>
              <a:t>together</a:t>
            </a:r>
            <a:r>
              <a:rPr dirty="0" sz="1000" spc="-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90">
                <a:solidFill>
                  <a:srgbClr val="111726"/>
                </a:solidFill>
                <a:latin typeface="Source Han Sans JP"/>
                <a:cs typeface="Source Han Sans JP"/>
              </a:rPr>
              <a:t>from</a:t>
            </a:r>
            <a:r>
              <a:rPr dirty="0" sz="1000" spc="-10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90">
                <a:solidFill>
                  <a:srgbClr val="111726"/>
                </a:solidFill>
                <a:latin typeface="Source Han Sans JP"/>
                <a:cs typeface="Source Han Sans JP"/>
              </a:rPr>
              <a:t>setup</a:t>
            </a:r>
            <a:r>
              <a:rPr dirty="0" sz="1000" spc="-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85">
                <a:solidFill>
                  <a:srgbClr val="111726"/>
                </a:solidFill>
                <a:latin typeface="Source Han Sans JP"/>
                <a:cs typeface="Source Han Sans JP"/>
              </a:rPr>
              <a:t>through</a:t>
            </a:r>
            <a:r>
              <a:rPr dirty="0" sz="1000" spc="-10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90">
                <a:solidFill>
                  <a:srgbClr val="111726"/>
                </a:solidFill>
                <a:latin typeface="Source Han Sans JP"/>
                <a:cs typeface="Source Han Sans JP"/>
              </a:rPr>
              <a:t>to</a:t>
            </a:r>
            <a:r>
              <a:rPr dirty="0" sz="1000" spc="-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100">
                <a:solidFill>
                  <a:srgbClr val="111726"/>
                </a:solidFill>
                <a:latin typeface="Source Han Sans JP"/>
                <a:cs typeface="Source Han Sans JP"/>
              </a:rPr>
              <a:t>an</a:t>
            </a:r>
            <a:r>
              <a:rPr dirty="0" sz="1000" spc="-10">
                <a:solidFill>
                  <a:srgbClr val="111726"/>
                </a:solidFill>
                <a:latin typeface="Source Han Sans JP"/>
                <a:cs typeface="Source Han Sans JP"/>
              </a:rPr>
              <a:t> interactive </a:t>
            </a:r>
            <a:r>
              <a:rPr dirty="0" sz="1000" spc="-90">
                <a:solidFill>
                  <a:srgbClr val="111726"/>
                </a:solidFill>
                <a:latin typeface="Source Han Sans JP"/>
                <a:cs typeface="Source Han Sans JP"/>
              </a:rPr>
              <a:t>question</a:t>
            </a:r>
            <a:r>
              <a:rPr dirty="0" sz="1000" spc="-10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95">
                <a:solidFill>
                  <a:srgbClr val="111726"/>
                </a:solidFill>
                <a:latin typeface="Source Han Sans JP"/>
                <a:cs typeface="Source Han Sans JP"/>
              </a:rPr>
              <a:t>and</a:t>
            </a:r>
            <a:r>
              <a:rPr dirty="0" sz="1000" spc="-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90">
                <a:solidFill>
                  <a:srgbClr val="111726"/>
                </a:solidFill>
                <a:latin typeface="Source Han Sans JP"/>
                <a:cs typeface="Source Han Sans JP"/>
              </a:rPr>
              <a:t>the</a:t>
            </a:r>
            <a:r>
              <a:rPr dirty="0" sz="1000" spc="-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90">
                <a:solidFill>
                  <a:srgbClr val="111726"/>
                </a:solidFill>
                <a:latin typeface="Source Han Sans JP"/>
                <a:cs typeface="Source Han Sans JP"/>
              </a:rPr>
              <a:t>model's</a:t>
            </a:r>
            <a:r>
              <a:rPr dirty="0" sz="1000" spc="-10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95">
                <a:solidFill>
                  <a:srgbClr val="111726"/>
                </a:solidFill>
                <a:latin typeface="Source Han Sans JP"/>
                <a:cs typeface="Source Han Sans JP"/>
              </a:rPr>
              <a:t>answer</a:t>
            </a:r>
            <a:r>
              <a:rPr dirty="0" sz="1000" spc="-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70">
                <a:solidFill>
                  <a:srgbClr val="111726"/>
                </a:solidFill>
                <a:latin typeface="Source Han Sans JP"/>
                <a:cs typeface="Source Han Sans JP"/>
              </a:rPr>
              <a:t>(line-</a:t>
            </a:r>
            <a:r>
              <a:rPr dirty="0" sz="1000" spc="-95">
                <a:solidFill>
                  <a:srgbClr val="111726"/>
                </a:solidFill>
                <a:latin typeface="Source Han Sans JP"/>
                <a:cs typeface="Source Han Sans JP"/>
              </a:rPr>
              <a:t>wrapping</a:t>
            </a:r>
            <a:r>
              <a:rPr dirty="0" sz="1000" spc="-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85">
                <a:solidFill>
                  <a:srgbClr val="111726"/>
                </a:solidFill>
                <a:latin typeface="Source Han Sans JP"/>
                <a:cs typeface="Source Han Sans JP"/>
              </a:rPr>
              <a:t>in</a:t>
            </a:r>
            <a:r>
              <a:rPr dirty="0" sz="1000" spc="-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90">
                <a:solidFill>
                  <a:srgbClr val="111726"/>
                </a:solidFill>
                <a:latin typeface="Source Han Sans JP"/>
                <a:cs typeface="Source Han Sans JP"/>
              </a:rPr>
              <a:t>the</a:t>
            </a:r>
            <a:r>
              <a:rPr dirty="0" sz="1000" spc="-10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75">
                <a:solidFill>
                  <a:srgbClr val="111726"/>
                </a:solidFill>
                <a:latin typeface="Source Han Sans JP"/>
                <a:cs typeface="Source Han Sans JP"/>
              </a:rPr>
              <a:t>original</a:t>
            </a:r>
            <a:r>
              <a:rPr dirty="0" sz="1000" spc="-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85">
                <a:solidFill>
                  <a:srgbClr val="111726"/>
                </a:solidFill>
                <a:latin typeface="Source Han Sans JP"/>
                <a:cs typeface="Source Han Sans JP"/>
              </a:rPr>
              <a:t>terminal</a:t>
            </a:r>
            <a:r>
              <a:rPr dirty="0" sz="1000" spc="-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85">
                <a:solidFill>
                  <a:srgbClr val="111726"/>
                </a:solidFill>
                <a:latin typeface="Source Han Sans JP"/>
                <a:cs typeface="Source Han Sans JP"/>
              </a:rPr>
              <a:t>has</a:t>
            </a:r>
            <a:r>
              <a:rPr dirty="0" sz="1000" spc="-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95">
                <a:solidFill>
                  <a:srgbClr val="111726"/>
                </a:solidFill>
                <a:latin typeface="Source Han Sans JP"/>
                <a:cs typeface="Source Han Sans JP"/>
              </a:rPr>
              <a:t>been</a:t>
            </a:r>
            <a:r>
              <a:rPr dirty="0" sz="1000" spc="-10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85">
                <a:solidFill>
                  <a:srgbClr val="111726"/>
                </a:solidFill>
                <a:latin typeface="Source Han Sans JP"/>
                <a:cs typeface="Source Han Sans JP"/>
              </a:rPr>
              <a:t>preserved</a:t>
            </a:r>
            <a:r>
              <a:rPr dirty="0" sz="1000" spc="-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85">
                <a:solidFill>
                  <a:srgbClr val="111726"/>
                </a:solidFill>
                <a:latin typeface="Source Han Sans JP"/>
                <a:cs typeface="Source Han Sans JP"/>
              </a:rPr>
              <a:t>as</a:t>
            </a:r>
            <a:r>
              <a:rPr dirty="0" sz="1000" spc="-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75">
                <a:solidFill>
                  <a:srgbClr val="111726"/>
                </a:solidFill>
                <a:latin typeface="Source Han Sans JP"/>
                <a:cs typeface="Source Han Sans JP"/>
              </a:rPr>
              <a:t>plain</a:t>
            </a:r>
            <a:r>
              <a:rPr dirty="0" sz="1000" spc="-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10">
                <a:solidFill>
                  <a:srgbClr val="111726"/>
                </a:solidFill>
                <a:latin typeface="Source Han Sans JP"/>
                <a:cs typeface="Source Han Sans JP"/>
              </a:rPr>
              <a:t>text):</a:t>
            </a:r>
            <a:endParaRPr sz="1000">
              <a:latin typeface="Source Han Sans JP"/>
              <a:cs typeface="Source Han Sans JP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80102" y="571500"/>
            <a:ext cx="6202680" cy="9540240"/>
          </a:xfrm>
          <a:custGeom>
            <a:avLst/>
            <a:gdLst/>
            <a:ahLst/>
            <a:cxnLst/>
            <a:rect l="l" t="t" r="r" b="b"/>
            <a:pathLst>
              <a:path w="6202680" h="9540240">
                <a:moveTo>
                  <a:pt x="6202118" y="9539882"/>
                </a:moveTo>
                <a:lnTo>
                  <a:pt x="0" y="9539882"/>
                </a:lnTo>
                <a:lnTo>
                  <a:pt x="0" y="50403"/>
                </a:lnTo>
                <a:lnTo>
                  <a:pt x="18300" y="13285"/>
                </a:lnTo>
                <a:lnTo>
                  <a:pt x="50390" y="0"/>
                </a:lnTo>
                <a:lnTo>
                  <a:pt x="6151728" y="0"/>
                </a:lnTo>
                <a:lnTo>
                  <a:pt x="6188826" y="18301"/>
                </a:lnTo>
                <a:lnTo>
                  <a:pt x="6202118" y="9539882"/>
                </a:lnTo>
                <a:close/>
              </a:path>
            </a:pathLst>
          </a:custGeom>
          <a:solidFill>
            <a:srgbClr val="0E172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761782" y="619748"/>
            <a:ext cx="5943600" cy="5358130"/>
          </a:xfrm>
          <a:prstGeom prst="rect">
            <a:avLst/>
          </a:prstGeom>
        </p:spPr>
        <p:txBody>
          <a:bodyPr wrap="square" lIns="0" tIns="8890" rIns="0" bIns="0" rtlCol="0" vert="horz">
            <a:spAutoFit/>
          </a:bodyPr>
          <a:lstStyle/>
          <a:p>
            <a:pPr marL="12700" marR="66675">
              <a:lnSpc>
                <a:spcPct val="146500"/>
              </a:lnSpc>
              <a:spcBef>
                <a:spcPts val="70"/>
              </a:spcBef>
            </a:pP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PS</a:t>
            </a:r>
            <a:r>
              <a:rPr dirty="0" sz="800" spc="10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C:\Users\EileneAnnaKuriakose\Desktop\AI-TASKS\Postgres_RAG&gt;</a:t>
            </a:r>
            <a:r>
              <a:rPr dirty="0" sz="800" spc="10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python</a:t>
            </a:r>
            <a:r>
              <a:rPr dirty="0" sz="800" spc="10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 spc="-10">
                <a:solidFill>
                  <a:srgbClr val="E4E7EB"/>
                </a:solidFill>
                <a:latin typeface="Courier New"/>
                <a:cs typeface="Courier New"/>
              </a:rPr>
              <a:t>rag_pipeline.py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C:\Users\EileneAnnaKuriakose\Desktop\AI-</a:t>
            </a:r>
            <a:r>
              <a:rPr dirty="0" sz="800" spc="-10">
                <a:solidFill>
                  <a:srgbClr val="E4E7EB"/>
                </a:solidFill>
                <a:latin typeface="Courier New"/>
                <a:cs typeface="Courier New"/>
              </a:rPr>
              <a:t>TASKS\Postgres_RAG\rag_pipeline.py:11: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DeprecationWarning:</a:t>
            </a:r>
            <a:r>
              <a:rPr dirty="0" sz="800" spc="3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`langchain-community`</a:t>
            </a:r>
            <a:r>
              <a:rPr dirty="0" sz="800" spc="4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is</a:t>
            </a:r>
            <a:r>
              <a:rPr dirty="0" sz="800" spc="3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being</a:t>
            </a:r>
            <a:r>
              <a:rPr dirty="0" sz="800" spc="4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sunset</a:t>
            </a:r>
            <a:r>
              <a:rPr dirty="0" sz="800" spc="4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and</a:t>
            </a:r>
            <a:r>
              <a:rPr dirty="0" sz="800" spc="3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is</a:t>
            </a:r>
            <a:r>
              <a:rPr dirty="0" sz="800" spc="4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no</a:t>
            </a:r>
            <a:r>
              <a:rPr dirty="0" sz="800" spc="4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longer</a:t>
            </a:r>
            <a:r>
              <a:rPr dirty="0" sz="800" spc="3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actively</a:t>
            </a:r>
            <a:r>
              <a:rPr dirty="0" sz="800" spc="4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 spc="-10">
                <a:solidFill>
                  <a:srgbClr val="E4E7EB"/>
                </a:solidFill>
                <a:latin typeface="Courier New"/>
                <a:cs typeface="Courier New"/>
              </a:rPr>
              <a:t>maintained.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See</a:t>
            </a:r>
            <a:r>
              <a:rPr dirty="0" sz="800" spc="7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  <a:hlinkClick r:id="rId2"/>
              </a:rPr>
              <a:t>https://github.com/langchain-ai/langchain-community/issues/674</a:t>
            </a:r>
            <a:r>
              <a:rPr dirty="0" sz="800" spc="7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for</a:t>
            </a:r>
            <a:r>
              <a:rPr dirty="0" sz="800" spc="7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details</a:t>
            </a:r>
            <a:r>
              <a:rPr dirty="0" sz="800" spc="7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and</a:t>
            </a:r>
            <a:r>
              <a:rPr dirty="0" sz="800" spc="7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 spc="-10">
                <a:solidFill>
                  <a:srgbClr val="E4E7EB"/>
                </a:solidFill>
                <a:latin typeface="Courier New"/>
                <a:cs typeface="Courier New"/>
              </a:rPr>
              <a:t>migration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guidance</a:t>
            </a:r>
            <a:r>
              <a:rPr dirty="0" sz="800" spc="4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toward</a:t>
            </a:r>
            <a:r>
              <a:rPr dirty="0" sz="800" spc="4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standalone</a:t>
            </a:r>
            <a:r>
              <a:rPr dirty="0" sz="800" spc="4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integration</a:t>
            </a:r>
            <a:r>
              <a:rPr dirty="0" sz="800" spc="4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 spc="-10">
                <a:solidFill>
                  <a:srgbClr val="E4E7EB"/>
                </a:solidFill>
                <a:latin typeface="Courier New"/>
                <a:cs typeface="Courier New"/>
              </a:rPr>
              <a:t>packages.</a:t>
            </a:r>
            <a:endParaRPr sz="800">
              <a:latin typeface="Courier New"/>
              <a:cs typeface="Courier New"/>
            </a:endParaRPr>
          </a:p>
          <a:p>
            <a:pPr marL="12700" marR="2100580" indent="123189">
              <a:lnSpc>
                <a:spcPct val="143800"/>
              </a:lnSpc>
            </a:pP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from</a:t>
            </a:r>
            <a:r>
              <a:rPr dirty="0" sz="800" spc="7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langchain_community.document_loaders</a:t>
            </a:r>
            <a:r>
              <a:rPr dirty="0" sz="800" spc="7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import</a:t>
            </a:r>
            <a:r>
              <a:rPr dirty="0" sz="800" spc="7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 spc="-10">
                <a:solidFill>
                  <a:srgbClr val="E4E7EB"/>
                </a:solidFill>
                <a:latin typeface="Courier New"/>
                <a:cs typeface="Courier New"/>
              </a:rPr>
              <a:t>PyPDFLoader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Database</a:t>
            </a:r>
            <a:r>
              <a:rPr dirty="0" sz="800" spc="4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Connected</a:t>
            </a:r>
            <a:r>
              <a:rPr dirty="0" sz="800" spc="4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 spc="-10">
                <a:solidFill>
                  <a:srgbClr val="E4E7EB"/>
                </a:solidFill>
                <a:latin typeface="Courier New"/>
                <a:cs typeface="Courier New"/>
              </a:rPr>
              <a:t>Successfully!</a:t>
            </a:r>
            <a:endParaRPr sz="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475"/>
              </a:spcBef>
            </a:pP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Loaded</a:t>
            </a:r>
            <a:r>
              <a:rPr dirty="0" sz="800" spc="2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15</a:t>
            </a:r>
            <a:r>
              <a:rPr dirty="0" sz="800" spc="2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 spc="-20">
                <a:solidFill>
                  <a:srgbClr val="E4E7EB"/>
                </a:solidFill>
                <a:latin typeface="Courier New"/>
                <a:cs typeface="Courier New"/>
              </a:rPr>
              <a:t>pages</a:t>
            </a:r>
            <a:endParaRPr sz="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420"/>
              </a:spcBef>
            </a:pP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Created</a:t>
            </a:r>
            <a:r>
              <a:rPr dirty="0" sz="800" spc="2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20</a:t>
            </a:r>
            <a:r>
              <a:rPr dirty="0" sz="800" spc="2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 spc="-10">
                <a:solidFill>
                  <a:srgbClr val="E4E7EB"/>
                </a:solidFill>
                <a:latin typeface="Courier New"/>
                <a:cs typeface="Courier New"/>
              </a:rPr>
              <a:t>chunks</a:t>
            </a:r>
            <a:endParaRPr sz="800">
              <a:latin typeface="Courier New"/>
              <a:cs typeface="Courier New"/>
            </a:endParaRPr>
          </a:p>
          <a:p>
            <a:pPr marL="12700" marR="5080">
              <a:lnSpc>
                <a:spcPct val="143800"/>
              </a:lnSpc>
              <a:spcBef>
                <a:spcPts val="50"/>
              </a:spcBef>
            </a:pP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Warning:</a:t>
            </a:r>
            <a:r>
              <a:rPr dirty="0" sz="800" spc="2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You</a:t>
            </a:r>
            <a:r>
              <a:rPr dirty="0" sz="800" spc="3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are</a:t>
            </a:r>
            <a:r>
              <a:rPr dirty="0" sz="800" spc="2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sending</a:t>
            </a:r>
            <a:r>
              <a:rPr dirty="0" sz="800" spc="3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unauthenticated</a:t>
            </a:r>
            <a:r>
              <a:rPr dirty="0" sz="800" spc="2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requests</a:t>
            </a:r>
            <a:r>
              <a:rPr dirty="0" sz="800" spc="3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to</a:t>
            </a:r>
            <a:r>
              <a:rPr dirty="0" sz="800" spc="2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the</a:t>
            </a:r>
            <a:r>
              <a:rPr dirty="0" sz="800" spc="3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HF</a:t>
            </a:r>
            <a:r>
              <a:rPr dirty="0" sz="800" spc="2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Hub.</a:t>
            </a:r>
            <a:r>
              <a:rPr dirty="0" sz="800" spc="3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Please</a:t>
            </a:r>
            <a:r>
              <a:rPr dirty="0" sz="800" spc="2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set</a:t>
            </a:r>
            <a:r>
              <a:rPr dirty="0" sz="800" spc="3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a</a:t>
            </a:r>
            <a:r>
              <a:rPr dirty="0" sz="800" spc="2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HF_TOKEN</a:t>
            </a:r>
            <a:r>
              <a:rPr dirty="0" sz="800" spc="3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to</a:t>
            </a:r>
            <a:r>
              <a:rPr dirty="0" sz="800" spc="2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 spc="-10">
                <a:solidFill>
                  <a:srgbClr val="E4E7EB"/>
                </a:solidFill>
                <a:latin typeface="Courier New"/>
                <a:cs typeface="Courier New"/>
              </a:rPr>
              <a:t>enable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higher</a:t>
            </a:r>
            <a:r>
              <a:rPr dirty="0" sz="800" spc="2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rate</a:t>
            </a:r>
            <a:r>
              <a:rPr dirty="0" sz="800" spc="3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limits</a:t>
            </a:r>
            <a:r>
              <a:rPr dirty="0" sz="800" spc="2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and</a:t>
            </a:r>
            <a:r>
              <a:rPr dirty="0" sz="800" spc="3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faster</a:t>
            </a:r>
            <a:r>
              <a:rPr dirty="0" sz="800" spc="2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 spc="-10">
                <a:solidFill>
                  <a:srgbClr val="E4E7EB"/>
                </a:solidFill>
                <a:latin typeface="Courier New"/>
                <a:cs typeface="Courier New"/>
              </a:rPr>
              <a:t>downloads.</a:t>
            </a:r>
            <a:endParaRPr sz="800">
              <a:latin typeface="Courier New"/>
              <a:cs typeface="Courier New"/>
            </a:endParaRPr>
          </a:p>
          <a:p>
            <a:pPr marL="12700" marR="1731010">
              <a:lnSpc>
                <a:spcPts val="1430"/>
              </a:lnSpc>
              <a:spcBef>
                <a:spcPts val="80"/>
              </a:spcBef>
            </a:pP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Loading</a:t>
            </a:r>
            <a:r>
              <a:rPr dirty="0" sz="800" spc="5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weights:</a:t>
            </a:r>
            <a:r>
              <a:rPr dirty="0" sz="800" spc="5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100%|██████████|</a:t>
            </a:r>
            <a:r>
              <a:rPr dirty="0" sz="800" spc="5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103/103</a:t>
            </a:r>
            <a:r>
              <a:rPr dirty="0" sz="800" spc="5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[00:00&lt;00:00,</a:t>
            </a:r>
            <a:r>
              <a:rPr dirty="0" sz="800" spc="5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 spc="-10">
                <a:solidFill>
                  <a:srgbClr val="E4E7EB"/>
                </a:solidFill>
                <a:latin typeface="Courier New"/>
                <a:cs typeface="Courier New"/>
              </a:rPr>
              <a:t>9018.31it/s]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Embedding</a:t>
            </a:r>
            <a:r>
              <a:rPr dirty="0" sz="800" spc="3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Model</a:t>
            </a:r>
            <a:r>
              <a:rPr dirty="0" sz="800" spc="3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 spc="-10">
                <a:solidFill>
                  <a:srgbClr val="E4E7EB"/>
                </a:solidFill>
                <a:latin typeface="Courier New"/>
                <a:cs typeface="Courier New"/>
              </a:rPr>
              <a:t>Loaded</a:t>
            </a:r>
            <a:endParaRPr sz="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295"/>
              </a:spcBef>
            </a:pP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Old</a:t>
            </a:r>
            <a:r>
              <a:rPr dirty="0" sz="800" spc="3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embeddings</a:t>
            </a:r>
            <a:r>
              <a:rPr dirty="0" sz="800" spc="3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 spc="-10">
                <a:solidFill>
                  <a:srgbClr val="E4E7EB"/>
                </a:solidFill>
                <a:latin typeface="Courier New"/>
                <a:cs typeface="Courier New"/>
              </a:rPr>
              <a:t>deleted</a:t>
            </a:r>
            <a:endParaRPr sz="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420"/>
              </a:spcBef>
            </a:pP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Generating</a:t>
            </a:r>
            <a:r>
              <a:rPr dirty="0" sz="800" spc="5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 spc="-10">
                <a:solidFill>
                  <a:srgbClr val="E4E7EB"/>
                </a:solidFill>
                <a:latin typeface="Courier New"/>
                <a:cs typeface="Courier New"/>
              </a:rPr>
              <a:t>embeddings...</a:t>
            </a:r>
            <a:endParaRPr sz="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475"/>
              </a:spcBef>
            </a:pP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All</a:t>
            </a:r>
            <a:r>
              <a:rPr dirty="0" sz="800" spc="3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embeddings</a:t>
            </a:r>
            <a:r>
              <a:rPr dirty="0" sz="800" spc="3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stored</a:t>
            </a:r>
            <a:r>
              <a:rPr dirty="0" sz="800" spc="3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 spc="-10">
                <a:solidFill>
                  <a:srgbClr val="E4E7EB"/>
                </a:solidFill>
                <a:latin typeface="Courier New"/>
                <a:cs typeface="Courier New"/>
              </a:rPr>
              <a:t>successfully!</a:t>
            </a:r>
            <a:endParaRPr sz="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endParaRPr sz="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Loading</a:t>
            </a:r>
            <a:r>
              <a:rPr dirty="0" sz="800" spc="3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 spc="-10">
                <a:solidFill>
                  <a:srgbClr val="E4E7EB"/>
                </a:solidFill>
                <a:latin typeface="Courier New"/>
                <a:cs typeface="Courier New"/>
              </a:rPr>
              <a:t>Qwen...</a:t>
            </a:r>
            <a:endParaRPr sz="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420"/>
              </a:spcBef>
            </a:pPr>
            <a:endParaRPr sz="800">
              <a:latin typeface="Courier New"/>
              <a:cs typeface="Courier New"/>
            </a:endParaRPr>
          </a:p>
          <a:p>
            <a:pPr marL="12700" marR="1731010">
              <a:lnSpc>
                <a:spcPct val="149300"/>
              </a:lnSpc>
            </a:pP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Loading</a:t>
            </a:r>
            <a:r>
              <a:rPr dirty="0" sz="800" spc="5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weights:</a:t>
            </a:r>
            <a:r>
              <a:rPr dirty="0" sz="800" spc="5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100%|██████████|</a:t>
            </a:r>
            <a:r>
              <a:rPr dirty="0" sz="800" spc="5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290/290</a:t>
            </a:r>
            <a:r>
              <a:rPr dirty="0" sz="800" spc="5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[00:00&lt;00:00,</a:t>
            </a:r>
            <a:r>
              <a:rPr dirty="0" sz="800" spc="5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 spc="-10">
                <a:solidFill>
                  <a:srgbClr val="E4E7EB"/>
                </a:solidFill>
                <a:latin typeface="Courier New"/>
                <a:cs typeface="Courier New"/>
              </a:rPr>
              <a:t>8367.43it/s]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Qwen</a:t>
            </a:r>
            <a:r>
              <a:rPr dirty="0" sz="800" spc="2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Loaded</a:t>
            </a:r>
            <a:r>
              <a:rPr dirty="0" sz="800" spc="3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 spc="-10">
                <a:solidFill>
                  <a:srgbClr val="E4E7EB"/>
                </a:solidFill>
                <a:latin typeface="Courier New"/>
                <a:cs typeface="Courier New"/>
              </a:rPr>
              <a:t>Successfully!</a:t>
            </a:r>
            <a:endParaRPr sz="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endParaRPr sz="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dirty="0" sz="800" spc="-10">
                <a:solidFill>
                  <a:srgbClr val="E4E7EB"/>
                </a:solidFill>
                <a:latin typeface="Courier New"/>
                <a:cs typeface="Courier New"/>
              </a:rPr>
              <a:t>================================================================================</a:t>
            </a:r>
            <a:endParaRPr sz="800">
              <a:latin typeface="Courier New"/>
              <a:cs typeface="Courier New"/>
            </a:endParaRPr>
          </a:p>
          <a:p>
            <a:pPr marL="12700" marR="3949700">
              <a:lnSpc>
                <a:spcPct val="143800"/>
              </a:lnSpc>
            </a:pP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PostgreSQL</a:t>
            </a:r>
            <a:r>
              <a:rPr dirty="0" sz="800" spc="2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+</a:t>
            </a:r>
            <a:r>
              <a:rPr dirty="0" sz="800" spc="3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pgvector</a:t>
            </a:r>
            <a:r>
              <a:rPr dirty="0" sz="800" spc="3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RAG</a:t>
            </a:r>
            <a:r>
              <a:rPr dirty="0" sz="800" spc="3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 spc="-10">
                <a:solidFill>
                  <a:srgbClr val="E4E7EB"/>
                </a:solidFill>
                <a:latin typeface="Courier New"/>
                <a:cs typeface="Courier New"/>
              </a:rPr>
              <a:t>System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Type</a:t>
            </a:r>
            <a:r>
              <a:rPr dirty="0" sz="800" spc="2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'exit'</a:t>
            </a:r>
            <a:r>
              <a:rPr dirty="0" sz="800" spc="2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to</a:t>
            </a:r>
            <a:r>
              <a:rPr dirty="0" sz="800" spc="2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 spc="-20">
                <a:solidFill>
                  <a:srgbClr val="E4E7EB"/>
                </a:solidFill>
                <a:latin typeface="Courier New"/>
                <a:cs typeface="Courier New"/>
              </a:rPr>
              <a:t>quit</a:t>
            </a:r>
            <a:endParaRPr sz="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475"/>
              </a:spcBef>
            </a:pPr>
            <a:r>
              <a:rPr dirty="0" sz="800" spc="-10">
                <a:solidFill>
                  <a:srgbClr val="E4E7EB"/>
                </a:solidFill>
                <a:latin typeface="Courier New"/>
                <a:cs typeface="Courier New"/>
              </a:rPr>
              <a:t>================================================================================</a:t>
            </a:r>
            <a:endParaRPr sz="800">
              <a:latin typeface="Courier New"/>
              <a:cs typeface="Courier New"/>
            </a:endParaRPr>
          </a:p>
          <a:p>
            <a:pPr marL="12700" marR="3333115">
              <a:lnSpc>
                <a:spcPct val="287500"/>
              </a:lnSpc>
              <a:spcBef>
                <a:spcPts val="50"/>
              </a:spcBef>
            </a:pP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Ask</a:t>
            </a:r>
            <a:r>
              <a:rPr dirty="0" sz="800" spc="2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a</a:t>
            </a:r>
            <a:r>
              <a:rPr dirty="0" sz="800" spc="2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question:</a:t>
            </a:r>
            <a:r>
              <a:rPr dirty="0" sz="800" spc="2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what</a:t>
            </a:r>
            <a:r>
              <a:rPr dirty="0" sz="800" spc="2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does</a:t>
            </a:r>
            <a:r>
              <a:rPr dirty="0" sz="800" spc="2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the</a:t>
            </a:r>
            <a:r>
              <a:rPr dirty="0" sz="800" spc="2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document</a:t>
            </a:r>
            <a:r>
              <a:rPr dirty="0" sz="800" spc="2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 spc="-25">
                <a:solidFill>
                  <a:srgbClr val="E4E7EB"/>
                </a:solidFill>
                <a:latin typeface="Courier New"/>
                <a:cs typeface="Courier New"/>
              </a:rPr>
              <a:t>say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Retrieved</a:t>
            </a:r>
            <a:r>
              <a:rPr dirty="0" sz="800" spc="4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 spc="-10">
                <a:solidFill>
                  <a:srgbClr val="E4E7EB"/>
                </a:solidFill>
                <a:latin typeface="Courier New"/>
                <a:cs typeface="Courier New"/>
              </a:rPr>
              <a:t>Chunks</a:t>
            </a:r>
            <a:endParaRPr sz="800">
              <a:latin typeface="Courier New"/>
              <a:cs typeface="Courier New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774482" y="6269548"/>
            <a:ext cx="3698875" cy="3568065"/>
            <a:chOff x="774482" y="6269548"/>
            <a:chExt cx="3698875" cy="3568065"/>
          </a:xfrm>
        </p:grpSpPr>
        <p:sp>
          <p:nvSpPr>
            <p:cNvPr id="5" name="object 5"/>
            <p:cNvSpPr/>
            <p:nvPr/>
          </p:nvSpPr>
          <p:spPr>
            <a:xfrm>
              <a:off x="774482" y="6273647"/>
              <a:ext cx="3698875" cy="0"/>
            </a:xfrm>
            <a:custGeom>
              <a:avLst/>
              <a:gdLst/>
              <a:ahLst/>
              <a:cxnLst/>
              <a:rect l="l" t="t" r="r" b="b"/>
              <a:pathLst>
                <a:path w="3698875" h="0">
                  <a:moveTo>
                    <a:pt x="0" y="0"/>
                  </a:moveTo>
                  <a:lnTo>
                    <a:pt x="3698527" y="0"/>
                  </a:lnTo>
                </a:path>
              </a:pathLst>
            </a:custGeom>
            <a:ln w="8197">
              <a:solidFill>
                <a:srgbClr val="E3E6EA"/>
              </a:solidFill>
              <a:prstDash val="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774482" y="8228663"/>
              <a:ext cx="3698875" cy="1604645"/>
            </a:xfrm>
            <a:custGeom>
              <a:avLst/>
              <a:gdLst/>
              <a:ahLst/>
              <a:cxnLst/>
              <a:rect l="l" t="t" r="r" b="b"/>
              <a:pathLst>
                <a:path w="3698875" h="1604645">
                  <a:moveTo>
                    <a:pt x="0" y="0"/>
                  </a:moveTo>
                  <a:lnTo>
                    <a:pt x="3698527" y="0"/>
                  </a:lnTo>
                </a:path>
                <a:path w="3698875" h="1604645">
                  <a:moveTo>
                    <a:pt x="0" y="1604461"/>
                  </a:moveTo>
                  <a:lnTo>
                    <a:pt x="3698527" y="1604461"/>
                  </a:lnTo>
                </a:path>
              </a:pathLst>
            </a:custGeom>
            <a:ln w="8197">
              <a:solidFill>
                <a:srgbClr val="E3E6EA"/>
              </a:solidFill>
              <a:prstDash val="dash"/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/>
          <p:nvPr/>
        </p:nvSpPr>
        <p:spPr>
          <a:xfrm>
            <a:off x="761782" y="6316259"/>
            <a:ext cx="1320165" cy="3753485"/>
          </a:xfrm>
          <a:prstGeom prst="rect">
            <a:avLst/>
          </a:prstGeom>
        </p:spPr>
        <p:txBody>
          <a:bodyPr wrap="square" lIns="0" tIns="10795" rIns="0" bIns="0" rtlCol="0" vert="horz">
            <a:spAutoFit/>
          </a:bodyPr>
          <a:lstStyle/>
          <a:p>
            <a:pPr marL="12700" marR="744220">
              <a:lnSpc>
                <a:spcPct val="145100"/>
              </a:lnSpc>
              <a:spcBef>
                <a:spcPts val="85"/>
              </a:spcBef>
            </a:pPr>
            <a:r>
              <a:rPr dirty="0" sz="800" spc="-10">
                <a:solidFill>
                  <a:srgbClr val="E4E7EB"/>
                </a:solidFill>
                <a:latin typeface="Courier New"/>
                <a:cs typeface="Courier New"/>
              </a:rPr>
              <a:t>Status: Pending Completed Overdue APIs:</a:t>
            </a:r>
            <a:endParaRPr sz="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420"/>
              </a:spcBef>
            </a:pP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GET</a:t>
            </a:r>
            <a:r>
              <a:rPr dirty="0" sz="800" spc="1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 spc="-10">
                <a:solidFill>
                  <a:srgbClr val="E4E7EB"/>
                </a:solidFill>
                <a:latin typeface="Courier New"/>
                <a:cs typeface="Courier New"/>
              </a:rPr>
              <a:t>/training</a:t>
            </a:r>
            <a:endParaRPr sz="800">
              <a:latin typeface="Courier New"/>
              <a:cs typeface="Courier New"/>
            </a:endParaRPr>
          </a:p>
          <a:p>
            <a:pPr marL="12700" marR="189865">
              <a:lnSpc>
                <a:spcPct val="143800"/>
              </a:lnSpc>
              <a:spcBef>
                <a:spcPts val="50"/>
              </a:spcBef>
            </a:pP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POST</a:t>
            </a:r>
            <a:r>
              <a:rPr dirty="0" sz="800" spc="2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 spc="-10">
                <a:solidFill>
                  <a:srgbClr val="E4E7EB"/>
                </a:solidFill>
                <a:latin typeface="Courier New"/>
                <a:cs typeface="Courier New"/>
              </a:rPr>
              <a:t>/training</a:t>
            </a:r>
            <a:r>
              <a:rPr dirty="0" sz="800" spc="50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PUT</a:t>
            </a:r>
            <a:r>
              <a:rPr dirty="0" sz="800" spc="1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 spc="-10">
                <a:solidFill>
                  <a:srgbClr val="E4E7EB"/>
                </a:solidFill>
                <a:latin typeface="Courier New"/>
                <a:cs typeface="Courier New"/>
              </a:rPr>
              <a:t>/training/{id}</a:t>
            </a:r>
            <a:endParaRPr sz="800">
              <a:latin typeface="Courier New"/>
              <a:cs typeface="Courier New"/>
            </a:endParaRPr>
          </a:p>
          <a:p>
            <a:pPr marL="12700" marR="5080">
              <a:lnSpc>
                <a:spcPct val="143800"/>
              </a:lnSpc>
              <a:spcBef>
                <a:spcPts val="55"/>
              </a:spcBef>
            </a:pP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DELETE</a:t>
            </a:r>
            <a:r>
              <a:rPr dirty="0" sz="800" spc="3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 spc="-10">
                <a:solidFill>
                  <a:srgbClr val="E4E7EB"/>
                </a:solidFill>
                <a:latin typeface="Courier New"/>
                <a:cs typeface="Courier New"/>
              </a:rPr>
              <a:t>/training/{id}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Frontend</a:t>
            </a:r>
            <a:r>
              <a:rPr dirty="0" sz="800" spc="4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 spc="-10">
                <a:solidFill>
                  <a:srgbClr val="E4E7EB"/>
                </a:solidFill>
                <a:latin typeface="Courier New"/>
                <a:cs typeface="Courier New"/>
              </a:rPr>
              <a:t>Pages:</a:t>
            </a:r>
            <a:endParaRPr sz="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509"/>
              </a:spcBef>
            </a:pPr>
            <a:endParaRPr sz="800">
              <a:latin typeface="Courier New"/>
              <a:cs typeface="Courier New"/>
            </a:endParaRPr>
          </a:p>
          <a:p>
            <a:pPr marL="12700" marR="374650">
              <a:lnSpc>
                <a:spcPct val="145600"/>
              </a:lnSpc>
            </a:pPr>
            <a:r>
              <a:rPr dirty="0" sz="800" spc="-10">
                <a:solidFill>
                  <a:srgbClr val="E4E7EB"/>
                </a:solidFill>
                <a:latin typeface="Courier New"/>
                <a:cs typeface="Courier New"/>
              </a:rPr>
              <a:t>Closed</a:t>
            </a:r>
            <a:r>
              <a:rPr dirty="0" sz="800" spc="50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Database</a:t>
            </a:r>
            <a:r>
              <a:rPr dirty="0" sz="800" spc="4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 spc="-10">
                <a:solidFill>
                  <a:srgbClr val="E4E7EB"/>
                </a:solidFill>
                <a:latin typeface="Courier New"/>
                <a:cs typeface="Courier New"/>
              </a:rPr>
              <a:t>Table: incidents Columns:</a:t>
            </a:r>
            <a:endParaRPr sz="800">
              <a:latin typeface="Courier New"/>
              <a:cs typeface="Courier New"/>
            </a:endParaRPr>
          </a:p>
          <a:p>
            <a:pPr marL="12700" marR="991235">
              <a:lnSpc>
                <a:spcPts val="1430"/>
              </a:lnSpc>
              <a:spcBef>
                <a:spcPts val="75"/>
              </a:spcBef>
            </a:pPr>
            <a:r>
              <a:rPr dirty="0" sz="800" spc="-25">
                <a:solidFill>
                  <a:srgbClr val="E4E7EB"/>
                </a:solidFill>
                <a:latin typeface="Courier New"/>
                <a:cs typeface="Courier New"/>
              </a:rPr>
              <a:t>id </a:t>
            </a:r>
            <a:r>
              <a:rPr dirty="0" sz="800" spc="-10">
                <a:solidFill>
                  <a:srgbClr val="E4E7EB"/>
                </a:solidFill>
                <a:latin typeface="Courier New"/>
                <a:cs typeface="Courier New"/>
              </a:rPr>
              <a:t>title</a:t>
            </a:r>
            <a:endParaRPr sz="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300"/>
              </a:spcBef>
            </a:pPr>
            <a:r>
              <a:rPr dirty="0" sz="800" spc="-10">
                <a:solidFill>
                  <a:srgbClr val="E4E7EB"/>
                </a:solidFill>
                <a:latin typeface="Courier New"/>
                <a:cs typeface="Courier New"/>
              </a:rPr>
              <a:t>description</a:t>
            </a:r>
            <a:endParaRPr sz="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470"/>
              </a:spcBef>
            </a:pPr>
            <a:r>
              <a:rPr dirty="0" sz="800" spc="-50">
                <a:solidFill>
                  <a:srgbClr val="E4E7EB"/>
                </a:solidFill>
                <a:latin typeface="Courier New"/>
                <a:cs typeface="Courier New"/>
              </a:rPr>
              <a:t>c</a:t>
            </a:r>
            <a:endParaRPr sz="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894"/>
              </a:spcBef>
            </a:pPr>
            <a:endParaRPr sz="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dirty="0" sz="800" spc="-10">
                <a:solidFill>
                  <a:srgbClr val="E4E7EB"/>
                </a:solidFill>
                <a:latin typeface="Courier New"/>
                <a:cs typeface="Courier New"/>
              </a:rPr>
              <a:t>Backend:</a:t>
            </a:r>
            <a:endParaRPr sz="8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80102" y="571509"/>
            <a:ext cx="6202680" cy="5791200"/>
          </a:xfrm>
          <a:custGeom>
            <a:avLst/>
            <a:gdLst/>
            <a:ahLst/>
            <a:cxnLst/>
            <a:rect l="l" t="t" r="r" b="b"/>
            <a:pathLst>
              <a:path w="6202680" h="5791200">
                <a:moveTo>
                  <a:pt x="6151728" y="5790891"/>
                </a:moveTo>
                <a:lnTo>
                  <a:pt x="50390" y="5790891"/>
                </a:lnTo>
                <a:lnTo>
                  <a:pt x="46883" y="5790534"/>
                </a:lnTo>
                <a:lnTo>
                  <a:pt x="11056" y="5769851"/>
                </a:lnTo>
                <a:lnTo>
                  <a:pt x="0" y="5740499"/>
                </a:lnTo>
                <a:lnTo>
                  <a:pt x="0" y="5736960"/>
                </a:lnTo>
                <a:lnTo>
                  <a:pt x="0" y="0"/>
                </a:lnTo>
                <a:lnTo>
                  <a:pt x="6202119" y="0"/>
                </a:lnTo>
                <a:lnTo>
                  <a:pt x="6202118" y="5740499"/>
                </a:lnTo>
                <a:lnTo>
                  <a:pt x="6183818" y="5777577"/>
                </a:lnTo>
                <a:lnTo>
                  <a:pt x="6155235" y="5790534"/>
                </a:lnTo>
                <a:lnTo>
                  <a:pt x="6151728" y="5790891"/>
                </a:lnTo>
                <a:close/>
              </a:path>
            </a:pathLst>
          </a:custGeom>
          <a:solidFill>
            <a:srgbClr val="0E172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761782" y="525366"/>
            <a:ext cx="5819775" cy="5715635"/>
          </a:xfrm>
          <a:prstGeom prst="rect">
            <a:avLst/>
          </a:prstGeom>
        </p:spPr>
        <p:txBody>
          <a:bodyPr wrap="square" lIns="0" tIns="8890" rIns="0" bIns="0" rtlCol="0" vert="horz">
            <a:spAutoFit/>
          </a:bodyPr>
          <a:lstStyle/>
          <a:p>
            <a:pPr marL="12700" marR="4504690">
              <a:lnSpc>
                <a:spcPct val="146500"/>
              </a:lnSpc>
              <a:spcBef>
                <a:spcPts val="70"/>
              </a:spcBef>
            </a:pP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Dashboard</a:t>
            </a:r>
            <a:r>
              <a:rPr dirty="0" sz="800" spc="4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Summary</a:t>
            </a:r>
            <a:r>
              <a:rPr dirty="0" sz="800" spc="4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 spc="-25">
                <a:solidFill>
                  <a:srgbClr val="E4E7EB"/>
                </a:solidFill>
                <a:latin typeface="Courier New"/>
                <a:cs typeface="Courier New"/>
              </a:rPr>
              <a:t>API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Dashboard</a:t>
            </a:r>
            <a:r>
              <a:rPr dirty="0" sz="800" spc="3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Chart</a:t>
            </a:r>
            <a:r>
              <a:rPr dirty="0" sz="800" spc="3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 spc="-25">
                <a:solidFill>
                  <a:srgbClr val="E4E7EB"/>
                </a:solidFill>
                <a:latin typeface="Courier New"/>
                <a:cs typeface="Courier New"/>
              </a:rPr>
              <a:t>API </a:t>
            </a:r>
            <a:r>
              <a:rPr dirty="0" sz="800" spc="-10">
                <a:solidFill>
                  <a:srgbClr val="E4E7EB"/>
                </a:solidFill>
                <a:latin typeface="Courier New"/>
                <a:cs typeface="Courier New"/>
              </a:rPr>
              <a:t>Frontend:</a:t>
            </a:r>
            <a:endParaRPr sz="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420"/>
              </a:spcBef>
            </a:pP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Dashboard</a:t>
            </a:r>
            <a:r>
              <a:rPr dirty="0" sz="800" spc="4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 spc="-20">
                <a:solidFill>
                  <a:srgbClr val="E4E7EB"/>
                </a:solidFill>
                <a:latin typeface="Courier New"/>
                <a:cs typeface="Courier New"/>
              </a:rPr>
              <a:t>Page</a:t>
            </a:r>
            <a:endParaRPr sz="800">
              <a:latin typeface="Courier New"/>
              <a:cs typeface="Courier New"/>
            </a:endParaRPr>
          </a:p>
          <a:p>
            <a:pPr marL="12700" marR="4812665">
              <a:lnSpc>
                <a:spcPct val="143800"/>
              </a:lnSpc>
              <a:spcBef>
                <a:spcPts val="55"/>
              </a:spcBef>
            </a:pP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KPI</a:t>
            </a:r>
            <a:r>
              <a:rPr dirty="0" sz="800" spc="1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 spc="-10">
                <a:solidFill>
                  <a:srgbClr val="E4E7EB"/>
                </a:solidFill>
                <a:latin typeface="Courier New"/>
                <a:cs typeface="Courier New"/>
              </a:rPr>
              <a:t>Cards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Incident</a:t>
            </a:r>
            <a:r>
              <a:rPr dirty="0" sz="800" spc="4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 spc="-10">
                <a:solidFill>
                  <a:srgbClr val="E4E7EB"/>
                </a:solidFill>
                <a:latin typeface="Courier New"/>
                <a:cs typeface="Courier New"/>
              </a:rPr>
              <a:t>Chart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Dashboard</a:t>
            </a:r>
            <a:r>
              <a:rPr dirty="0" sz="800" spc="4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 spc="-10">
                <a:solidFill>
                  <a:srgbClr val="E4E7EB"/>
                </a:solidFill>
                <a:latin typeface="Courier New"/>
                <a:cs typeface="Courier New"/>
              </a:rPr>
              <a:t>Cards:</a:t>
            </a:r>
            <a:endParaRPr sz="800">
              <a:latin typeface="Courier New"/>
              <a:cs typeface="Courier New"/>
            </a:endParaRPr>
          </a:p>
          <a:p>
            <a:pPr marL="12700" marR="4935855">
              <a:lnSpc>
                <a:spcPct val="145100"/>
              </a:lnSpc>
              <a:spcBef>
                <a:spcPts val="40"/>
              </a:spcBef>
            </a:pPr>
            <a:r>
              <a:rPr dirty="0" sz="800" spc="-10">
                <a:solidFill>
                  <a:srgbClr val="E4E7EB"/>
                </a:solidFill>
                <a:latin typeface="Courier New"/>
                <a:cs typeface="Courier New"/>
              </a:rPr>
              <a:t>Incidents Investigations Tasks</a:t>
            </a:r>
            <a:r>
              <a:rPr dirty="0" sz="800" spc="50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 spc="-10">
                <a:solidFill>
                  <a:srgbClr val="E4E7EB"/>
                </a:solidFill>
                <a:latin typeface="Courier New"/>
                <a:cs typeface="Courier New"/>
              </a:rPr>
              <a:t>Training Deliverables:</a:t>
            </a:r>
            <a:endParaRPr sz="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470"/>
              </a:spcBef>
            </a:pP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Complete</a:t>
            </a:r>
            <a:r>
              <a:rPr dirty="0" sz="800" spc="4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 spc="-10">
                <a:solidFill>
                  <a:srgbClr val="E4E7EB"/>
                </a:solidFill>
                <a:latin typeface="Courier New"/>
                <a:cs typeface="Courier New"/>
              </a:rPr>
              <a:t>Dashboard</a:t>
            </a:r>
            <a:endParaRPr sz="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894"/>
              </a:spcBef>
            </a:pPr>
            <a:endParaRPr sz="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[transformers]</a:t>
            </a:r>
            <a:r>
              <a:rPr dirty="0" sz="800" spc="3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Both</a:t>
            </a:r>
            <a:r>
              <a:rPr dirty="0" sz="800" spc="4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`max_new_tokens`</a:t>
            </a:r>
            <a:r>
              <a:rPr dirty="0" sz="800" spc="3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(=150)</a:t>
            </a:r>
            <a:r>
              <a:rPr dirty="0" sz="800" spc="4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and</a:t>
            </a:r>
            <a:r>
              <a:rPr dirty="0" sz="800" spc="4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`max_length`(=20)</a:t>
            </a:r>
            <a:r>
              <a:rPr dirty="0" sz="800" spc="3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seem</a:t>
            </a:r>
            <a:r>
              <a:rPr dirty="0" sz="800" spc="4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to</a:t>
            </a:r>
            <a:r>
              <a:rPr dirty="0" sz="800" spc="4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have</a:t>
            </a:r>
            <a:r>
              <a:rPr dirty="0" sz="800" spc="3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been</a:t>
            </a:r>
            <a:r>
              <a:rPr dirty="0" sz="800" spc="4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 spc="-20">
                <a:solidFill>
                  <a:srgbClr val="E4E7EB"/>
                </a:solidFill>
                <a:latin typeface="Courier New"/>
                <a:cs typeface="Courier New"/>
              </a:rPr>
              <a:t>set.</a:t>
            </a:r>
            <a:endParaRPr sz="800">
              <a:latin typeface="Courier New"/>
              <a:cs typeface="Courier New"/>
            </a:endParaRPr>
          </a:p>
          <a:p>
            <a:pPr marL="12700" marR="5080">
              <a:lnSpc>
                <a:spcPct val="143800"/>
              </a:lnSpc>
              <a:spcBef>
                <a:spcPts val="55"/>
              </a:spcBef>
            </a:pP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`max_new_tokens`</a:t>
            </a:r>
            <a:r>
              <a:rPr dirty="0" sz="800" spc="3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will</a:t>
            </a:r>
            <a:r>
              <a:rPr dirty="0" sz="800" spc="3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take</a:t>
            </a:r>
            <a:r>
              <a:rPr dirty="0" sz="800" spc="3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precedence.</a:t>
            </a:r>
            <a:r>
              <a:rPr dirty="0" sz="800" spc="3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Please</a:t>
            </a:r>
            <a:r>
              <a:rPr dirty="0" sz="800" spc="3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refer</a:t>
            </a:r>
            <a:r>
              <a:rPr dirty="0" sz="800" spc="3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to</a:t>
            </a:r>
            <a:r>
              <a:rPr dirty="0" sz="800" spc="3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the</a:t>
            </a:r>
            <a:r>
              <a:rPr dirty="0" sz="800" spc="3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documentation</a:t>
            </a:r>
            <a:r>
              <a:rPr dirty="0" sz="800" spc="3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for</a:t>
            </a:r>
            <a:r>
              <a:rPr dirty="0" sz="800" spc="3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more</a:t>
            </a:r>
            <a:r>
              <a:rPr dirty="0" sz="800" spc="3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 spc="-10">
                <a:solidFill>
                  <a:srgbClr val="E4E7EB"/>
                </a:solidFill>
                <a:latin typeface="Courier New"/>
                <a:cs typeface="Courier New"/>
              </a:rPr>
              <a:t>information. (</a:t>
            </a:r>
            <a:r>
              <a:rPr dirty="0" sz="800" spc="-10">
                <a:solidFill>
                  <a:srgbClr val="E4E7EB"/>
                </a:solidFill>
                <a:latin typeface="Courier New"/>
                <a:cs typeface="Courier New"/>
                <a:hlinkClick r:id="rId2"/>
              </a:rPr>
              <a:t>https://huggingface.co/docs/transformers/main/en/main_classes/text_generation)</a:t>
            </a:r>
            <a:endParaRPr sz="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525"/>
              </a:spcBef>
            </a:pPr>
            <a:endParaRPr sz="800">
              <a:latin typeface="Courier New"/>
              <a:cs typeface="Courier New"/>
            </a:endParaRPr>
          </a:p>
          <a:p>
            <a:pPr marL="12700" marR="868044">
              <a:lnSpc>
                <a:spcPct val="143800"/>
              </a:lnSpc>
            </a:pPr>
            <a:r>
              <a:rPr dirty="0" sz="800" spc="-10">
                <a:solidFill>
                  <a:srgbClr val="E4E7EB"/>
                </a:solidFill>
                <a:latin typeface="Courier New"/>
                <a:cs typeface="Courier New"/>
              </a:rPr>
              <a:t>================================================================================</a:t>
            </a:r>
            <a:r>
              <a:rPr dirty="0" sz="800" spc="50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 spc="-10">
                <a:solidFill>
                  <a:srgbClr val="E4E7EB"/>
                </a:solidFill>
                <a:latin typeface="Courier New"/>
                <a:cs typeface="Courier New"/>
              </a:rPr>
              <a:t>ANSWER</a:t>
            </a:r>
            <a:endParaRPr sz="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475"/>
              </a:spcBef>
            </a:pPr>
            <a:r>
              <a:rPr dirty="0" sz="800" spc="-10">
                <a:solidFill>
                  <a:srgbClr val="E4E7EB"/>
                </a:solidFill>
                <a:latin typeface="Courier New"/>
                <a:cs typeface="Courier New"/>
              </a:rPr>
              <a:t>================================================================================</a:t>
            </a:r>
            <a:endParaRPr sz="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endParaRPr sz="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To</a:t>
            </a:r>
            <a:r>
              <a:rPr dirty="0" sz="800" spc="1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 spc="-10">
                <a:solidFill>
                  <a:srgbClr val="E4E7EB"/>
                </a:solidFill>
                <a:latin typeface="Courier New"/>
                <a:cs typeface="Courier New"/>
              </a:rPr>
              <a:t>summarize:</a:t>
            </a:r>
            <a:endParaRPr sz="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450"/>
              </a:spcBef>
            </a:pPr>
            <a:endParaRPr sz="800">
              <a:latin typeface="Courier New"/>
              <a:cs typeface="Courier New"/>
            </a:endParaRPr>
          </a:p>
          <a:p>
            <a:pPr marL="12700" marR="497840">
              <a:lnSpc>
                <a:spcPct val="146000"/>
              </a:lnSpc>
            </a:pP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The</a:t>
            </a:r>
            <a:r>
              <a:rPr dirty="0" sz="800" spc="3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module</a:t>
            </a:r>
            <a:r>
              <a:rPr dirty="0" sz="800" spc="3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contains</a:t>
            </a:r>
            <a:r>
              <a:rPr dirty="0" sz="800" spc="3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various</a:t>
            </a:r>
            <a:r>
              <a:rPr dirty="0" sz="800" spc="3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features</a:t>
            </a:r>
            <a:r>
              <a:rPr dirty="0" sz="800" spc="3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for</a:t>
            </a:r>
            <a:r>
              <a:rPr dirty="0" sz="800" spc="3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managing</a:t>
            </a:r>
            <a:r>
              <a:rPr dirty="0" sz="800" spc="3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and</a:t>
            </a:r>
            <a:r>
              <a:rPr dirty="0" sz="800" spc="3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tracking</a:t>
            </a:r>
            <a:r>
              <a:rPr dirty="0" sz="800" spc="3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incidents,</a:t>
            </a:r>
            <a:r>
              <a:rPr dirty="0" sz="800" spc="3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 spc="-10">
                <a:solidFill>
                  <a:srgbClr val="E4E7EB"/>
                </a:solidFill>
                <a:latin typeface="Courier New"/>
                <a:cs typeface="Courier New"/>
              </a:rPr>
              <a:t>including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creating,</a:t>
            </a:r>
            <a:r>
              <a:rPr dirty="0" sz="800" spc="3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editing,</a:t>
            </a:r>
            <a:r>
              <a:rPr dirty="0" sz="800" spc="3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viewing,</a:t>
            </a:r>
            <a:r>
              <a:rPr dirty="0" sz="800" spc="3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deleting,</a:t>
            </a:r>
            <a:r>
              <a:rPr dirty="0" sz="800" spc="3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changing</a:t>
            </a:r>
            <a:r>
              <a:rPr dirty="0" sz="800" spc="3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status,</a:t>
            </a:r>
            <a:r>
              <a:rPr dirty="0" sz="800" spc="3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and</a:t>
            </a:r>
            <a:r>
              <a:rPr dirty="0" sz="800" spc="3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assigning</a:t>
            </a:r>
            <a:r>
              <a:rPr dirty="0" sz="800" spc="3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tasks</a:t>
            </a:r>
            <a:r>
              <a:rPr dirty="0" sz="800" spc="4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to</a:t>
            </a:r>
            <a:r>
              <a:rPr dirty="0" sz="800" spc="3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 spc="-10">
                <a:solidFill>
                  <a:srgbClr val="E4E7EB"/>
                </a:solidFill>
                <a:latin typeface="Courier New"/>
                <a:cs typeface="Courier New"/>
              </a:rPr>
              <a:t>specific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individuals.</a:t>
            </a:r>
            <a:r>
              <a:rPr dirty="0" sz="800" spc="3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Additionally,</a:t>
            </a:r>
            <a:r>
              <a:rPr dirty="0" sz="800" spc="3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it</a:t>
            </a:r>
            <a:r>
              <a:rPr dirty="0" sz="800" spc="3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includes</a:t>
            </a:r>
            <a:r>
              <a:rPr dirty="0" sz="800" spc="3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an</a:t>
            </a:r>
            <a:r>
              <a:rPr dirty="0" sz="800" spc="3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incident</a:t>
            </a:r>
            <a:r>
              <a:rPr dirty="0" sz="800" spc="3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trend</a:t>
            </a:r>
            <a:r>
              <a:rPr dirty="0" sz="800" spc="3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chart</a:t>
            </a:r>
            <a:r>
              <a:rPr dirty="0" sz="800" spc="3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and</a:t>
            </a:r>
            <a:r>
              <a:rPr dirty="0" sz="800" spc="3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dashboard</a:t>
            </a:r>
            <a:r>
              <a:rPr dirty="0" sz="800" spc="3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 spc="-10">
                <a:solidFill>
                  <a:srgbClr val="E4E7EB"/>
                </a:solidFill>
                <a:latin typeface="Courier New"/>
                <a:cs typeface="Courier New"/>
              </a:rPr>
              <a:t>usage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metrics</a:t>
            </a:r>
            <a:r>
              <a:rPr dirty="0" sz="800" spc="3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such</a:t>
            </a:r>
            <a:r>
              <a:rPr dirty="0" sz="800" spc="3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as</a:t>
            </a:r>
            <a:r>
              <a:rPr dirty="0" sz="800" spc="3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total</a:t>
            </a:r>
            <a:r>
              <a:rPr dirty="0" sz="800" spc="3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incidents,</a:t>
            </a:r>
            <a:r>
              <a:rPr dirty="0" sz="800" spc="3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open</a:t>
            </a:r>
            <a:r>
              <a:rPr dirty="0" sz="800" spc="3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incidents,</a:t>
            </a:r>
            <a:r>
              <a:rPr dirty="0" sz="800" spc="3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investigations,</a:t>
            </a:r>
            <a:r>
              <a:rPr dirty="0" sz="800" spc="3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and</a:t>
            </a:r>
            <a:r>
              <a:rPr dirty="0" sz="800" spc="3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days</a:t>
            </a:r>
            <a:r>
              <a:rPr dirty="0" sz="800" spc="3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since</a:t>
            </a:r>
            <a:r>
              <a:rPr dirty="0" sz="800" spc="3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 spc="-20">
                <a:solidFill>
                  <a:srgbClr val="E4E7EB"/>
                </a:solidFill>
                <a:latin typeface="Courier New"/>
                <a:cs typeface="Courier New"/>
              </a:rPr>
              <a:t>last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incident.</a:t>
            </a:r>
            <a:r>
              <a:rPr dirty="0" sz="800" spc="3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The</a:t>
            </a:r>
            <a:r>
              <a:rPr dirty="0" sz="800" spc="4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backend</a:t>
            </a:r>
            <a:r>
              <a:rPr dirty="0" sz="800" spc="3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provides</a:t>
            </a:r>
            <a:r>
              <a:rPr dirty="0" sz="800" spc="4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functionalities</a:t>
            </a:r>
            <a:r>
              <a:rPr dirty="0" sz="800" spc="3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like</a:t>
            </a:r>
            <a:r>
              <a:rPr dirty="0" sz="800" spc="4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creating</a:t>
            </a:r>
            <a:r>
              <a:rPr dirty="0" sz="800" spc="3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and</a:t>
            </a:r>
            <a:r>
              <a:rPr dirty="0" sz="800" spc="4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updating</a:t>
            </a:r>
            <a:r>
              <a:rPr dirty="0" sz="800" spc="3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 spc="-10">
                <a:solidFill>
                  <a:srgbClr val="E4E7EB"/>
                </a:solidFill>
                <a:latin typeface="Courier New"/>
                <a:cs typeface="Courier New"/>
              </a:rPr>
              <a:t>database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tables,</a:t>
            </a:r>
            <a:r>
              <a:rPr dirty="0" sz="800" spc="3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handling</a:t>
            </a:r>
            <a:r>
              <a:rPr dirty="0" sz="800" spc="3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API</a:t>
            </a:r>
            <a:r>
              <a:rPr dirty="0" sz="800" spc="3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requests,</a:t>
            </a:r>
            <a:r>
              <a:rPr dirty="0" sz="800" spc="3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and</a:t>
            </a:r>
            <a:r>
              <a:rPr dirty="0" sz="800" spc="3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displaying</a:t>
            </a:r>
            <a:r>
              <a:rPr dirty="0" sz="800" spc="3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 spc="-10">
                <a:solidFill>
                  <a:srgbClr val="E4E7EB"/>
                </a:solidFill>
                <a:latin typeface="Courier New"/>
                <a:cs typeface="Courier New"/>
              </a:rPr>
              <a:t>dashboards.</a:t>
            </a:r>
            <a:endParaRPr sz="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endParaRPr sz="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Ask</a:t>
            </a:r>
            <a:r>
              <a:rPr dirty="0" sz="800" spc="1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a</a:t>
            </a:r>
            <a:r>
              <a:rPr dirty="0" sz="800" spc="1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 spc="-10">
                <a:solidFill>
                  <a:srgbClr val="E4E7EB"/>
                </a:solidFill>
                <a:latin typeface="Courier New"/>
                <a:cs typeface="Courier New"/>
              </a:rPr>
              <a:t>question:</a:t>
            </a:r>
            <a:endParaRPr sz="80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67402" y="6461645"/>
            <a:ext cx="3415665" cy="18288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000" spc="-105" b="1">
                <a:solidFill>
                  <a:srgbClr val="111726"/>
                </a:solidFill>
                <a:latin typeface="Source Han Sans JP"/>
                <a:cs typeface="Source Han Sans JP"/>
              </a:rPr>
              <a:t>What</a:t>
            </a:r>
            <a:r>
              <a:rPr dirty="0" sz="1000" spc="-20" b="1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80" b="1">
                <a:solidFill>
                  <a:srgbClr val="111726"/>
                </a:solidFill>
                <a:latin typeface="Source Han Sans JP"/>
                <a:cs typeface="Source Han Sans JP"/>
              </a:rPr>
              <a:t>this</a:t>
            </a:r>
            <a:r>
              <a:rPr dirty="0" sz="1000" spc="-15" b="1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90" b="1">
                <a:solidFill>
                  <a:srgbClr val="111726"/>
                </a:solidFill>
                <a:latin typeface="Source Han Sans JP"/>
                <a:cs typeface="Source Han Sans JP"/>
              </a:rPr>
              <a:t>con</a:t>
            </a:r>
            <a:r>
              <a:rPr dirty="0" sz="950" spc="-90" b="1">
                <a:solidFill>
                  <a:srgbClr val="111726"/>
                </a:solidFill>
                <a:latin typeface="Arial"/>
                <a:cs typeface="Arial"/>
              </a:rPr>
              <a:t>ﬁ</a:t>
            </a:r>
            <a:r>
              <a:rPr dirty="0" sz="1000" spc="-90" b="1">
                <a:solidFill>
                  <a:srgbClr val="111726"/>
                </a:solidFill>
                <a:latin typeface="Source Han Sans JP"/>
                <a:cs typeface="Source Han Sans JP"/>
              </a:rPr>
              <a:t>rms,</a:t>
            </a:r>
            <a:r>
              <a:rPr dirty="0" sz="1000" spc="-15" b="1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75" b="1">
                <a:solidFill>
                  <a:srgbClr val="111726"/>
                </a:solidFill>
                <a:latin typeface="Source Han Sans JP"/>
                <a:cs typeface="Source Han Sans JP"/>
              </a:rPr>
              <a:t>line</a:t>
            </a:r>
            <a:r>
              <a:rPr dirty="0" sz="1000" spc="-15" b="1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110" b="1">
                <a:solidFill>
                  <a:srgbClr val="111726"/>
                </a:solidFill>
                <a:latin typeface="Source Han Sans JP"/>
                <a:cs typeface="Source Han Sans JP"/>
              </a:rPr>
              <a:t>by</a:t>
            </a:r>
            <a:r>
              <a:rPr dirty="0" sz="1000" spc="-20" b="1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70" b="1">
                <a:solidFill>
                  <a:srgbClr val="111726"/>
                </a:solidFill>
                <a:latin typeface="Source Han Sans JP"/>
                <a:cs typeface="Source Han Sans JP"/>
              </a:rPr>
              <a:t>line,</a:t>
            </a:r>
            <a:r>
              <a:rPr dirty="0" sz="1000" spc="-15" b="1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95" b="1">
                <a:solidFill>
                  <a:srgbClr val="111726"/>
                </a:solidFill>
                <a:latin typeface="Source Han Sans JP"/>
                <a:cs typeface="Source Han Sans JP"/>
              </a:rPr>
              <a:t>against</a:t>
            </a:r>
            <a:r>
              <a:rPr dirty="0" sz="1000" spc="-15" b="1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100" b="1">
                <a:solidFill>
                  <a:srgbClr val="111726"/>
                </a:solidFill>
                <a:latin typeface="Source Han Sans JP"/>
                <a:cs typeface="Source Han Sans JP"/>
              </a:rPr>
              <a:t>the</a:t>
            </a:r>
            <a:r>
              <a:rPr dirty="0" sz="1000" spc="-15" b="1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80" b="1">
                <a:solidFill>
                  <a:srgbClr val="111726"/>
                </a:solidFill>
                <a:latin typeface="Source Han Sans JP"/>
                <a:cs typeface="Source Han Sans JP"/>
              </a:rPr>
              <a:t>earlier</a:t>
            </a:r>
            <a:r>
              <a:rPr dirty="0" sz="1000" spc="-15" b="1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65" b="1">
                <a:solidFill>
                  <a:srgbClr val="111726"/>
                </a:solidFill>
                <a:latin typeface="Source Han Sans JP"/>
                <a:cs typeface="Source Han Sans JP"/>
              </a:rPr>
              <a:t>walkthrough:</a:t>
            </a:r>
            <a:endParaRPr sz="1000">
              <a:latin typeface="Source Han Sans JP"/>
              <a:cs typeface="Source Han Sans JP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756458" y="7103960"/>
            <a:ext cx="1058545" cy="316865"/>
          </a:xfrm>
          <a:custGeom>
            <a:avLst/>
            <a:gdLst/>
            <a:ahLst/>
            <a:cxnLst/>
            <a:rect l="l" t="t" r="r" b="b"/>
            <a:pathLst>
              <a:path w="1058545" h="316865">
                <a:moveTo>
                  <a:pt x="640435" y="23368"/>
                </a:moveTo>
                <a:lnTo>
                  <a:pt x="617042" y="0"/>
                </a:lnTo>
                <a:lnTo>
                  <a:pt x="23393" y="0"/>
                </a:lnTo>
                <a:lnTo>
                  <a:pt x="0" y="23368"/>
                </a:lnTo>
                <a:lnTo>
                  <a:pt x="0" y="114604"/>
                </a:lnTo>
                <a:lnTo>
                  <a:pt x="0" y="118173"/>
                </a:lnTo>
                <a:lnTo>
                  <a:pt x="23393" y="141554"/>
                </a:lnTo>
                <a:lnTo>
                  <a:pt x="617042" y="141554"/>
                </a:lnTo>
                <a:lnTo>
                  <a:pt x="640435" y="118173"/>
                </a:lnTo>
                <a:lnTo>
                  <a:pt x="640435" y="23368"/>
                </a:lnTo>
                <a:close/>
              </a:path>
              <a:path w="1058545" h="316865">
                <a:moveTo>
                  <a:pt x="1058405" y="198640"/>
                </a:moveTo>
                <a:lnTo>
                  <a:pt x="1035011" y="175272"/>
                </a:lnTo>
                <a:lnTo>
                  <a:pt x="23393" y="175272"/>
                </a:lnTo>
                <a:lnTo>
                  <a:pt x="0" y="198640"/>
                </a:lnTo>
                <a:lnTo>
                  <a:pt x="0" y="289877"/>
                </a:lnTo>
                <a:lnTo>
                  <a:pt x="0" y="293446"/>
                </a:lnTo>
                <a:lnTo>
                  <a:pt x="23393" y="316826"/>
                </a:lnTo>
                <a:lnTo>
                  <a:pt x="1035011" y="316826"/>
                </a:lnTo>
                <a:lnTo>
                  <a:pt x="1058405" y="293446"/>
                </a:lnTo>
                <a:lnTo>
                  <a:pt x="1058405" y="198640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5163155" y="7103959"/>
            <a:ext cx="883285" cy="141605"/>
          </a:xfrm>
          <a:custGeom>
            <a:avLst/>
            <a:gdLst/>
            <a:ahLst/>
            <a:cxnLst/>
            <a:rect l="l" t="t" r="r" b="b"/>
            <a:pathLst>
              <a:path w="883285" h="141604">
                <a:moveTo>
                  <a:pt x="859737" y="141556"/>
                </a:moveTo>
                <a:lnTo>
                  <a:pt x="23390" y="141556"/>
                </a:lnTo>
                <a:lnTo>
                  <a:pt x="19950" y="140869"/>
                </a:lnTo>
                <a:lnTo>
                  <a:pt x="0" y="118170"/>
                </a:lnTo>
                <a:lnTo>
                  <a:pt x="0" y="114604"/>
                </a:lnTo>
                <a:lnTo>
                  <a:pt x="0" y="23372"/>
                </a:lnTo>
                <a:lnTo>
                  <a:pt x="23390" y="0"/>
                </a:lnTo>
                <a:lnTo>
                  <a:pt x="859737" y="0"/>
                </a:lnTo>
                <a:lnTo>
                  <a:pt x="883127" y="23372"/>
                </a:lnTo>
                <a:lnTo>
                  <a:pt x="883127" y="118170"/>
                </a:lnTo>
                <a:lnTo>
                  <a:pt x="863177" y="140869"/>
                </a:lnTo>
                <a:lnTo>
                  <a:pt x="859737" y="141556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754257" y="7912930"/>
            <a:ext cx="526415" cy="141605"/>
          </a:xfrm>
          <a:custGeom>
            <a:avLst/>
            <a:gdLst/>
            <a:ahLst/>
            <a:cxnLst/>
            <a:rect l="l" t="t" r="r" b="b"/>
            <a:pathLst>
              <a:path w="526415" h="141604">
                <a:moveTo>
                  <a:pt x="502441" y="141556"/>
                </a:moveTo>
                <a:lnTo>
                  <a:pt x="23389" y="141556"/>
                </a:lnTo>
                <a:lnTo>
                  <a:pt x="19950" y="140869"/>
                </a:lnTo>
                <a:lnTo>
                  <a:pt x="0" y="118157"/>
                </a:lnTo>
                <a:lnTo>
                  <a:pt x="0" y="114604"/>
                </a:lnTo>
                <a:lnTo>
                  <a:pt x="0" y="23372"/>
                </a:lnTo>
                <a:lnTo>
                  <a:pt x="23389" y="0"/>
                </a:lnTo>
                <a:lnTo>
                  <a:pt x="502441" y="0"/>
                </a:lnTo>
                <a:lnTo>
                  <a:pt x="525831" y="23372"/>
                </a:lnTo>
                <a:lnTo>
                  <a:pt x="525831" y="118157"/>
                </a:lnTo>
                <a:lnTo>
                  <a:pt x="505881" y="140869"/>
                </a:lnTo>
                <a:lnTo>
                  <a:pt x="502441" y="141556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4617099" y="7912930"/>
            <a:ext cx="526415" cy="141605"/>
          </a:xfrm>
          <a:custGeom>
            <a:avLst/>
            <a:gdLst/>
            <a:ahLst/>
            <a:cxnLst/>
            <a:rect l="l" t="t" r="r" b="b"/>
            <a:pathLst>
              <a:path w="526414" h="141604">
                <a:moveTo>
                  <a:pt x="502442" y="141556"/>
                </a:moveTo>
                <a:lnTo>
                  <a:pt x="23390" y="141556"/>
                </a:lnTo>
                <a:lnTo>
                  <a:pt x="19950" y="140869"/>
                </a:lnTo>
                <a:lnTo>
                  <a:pt x="0" y="118157"/>
                </a:lnTo>
                <a:lnTo>
                  <a:pt x="0" y="114604"/>
                </a:lnTo>
                <a:lnTo>
                  <a:pt x="0" y="23372"/>
                </a:lnTo>
                <a:lnTo>
                  <a:pt x="23390" y="0"/>
                </a:lnTo>
                <a:lnTo>
                  <a:pt x="502442" y="0"/>
                </a:lnTo>
                <a:lnTo>
                  <a:pt x="525831" y="23372"/>
                </a:lnTo>
                <a:lnTo>
                  <a:pt x="525831" y="118157"/>
                </a:lnTo>
                <a:lnTo>
                  <a:pt x="505881" y="140869"/>
                </a:lnTo>
                <a:lnTo>
                  <a:pt x="502442" y="141556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2756463" y="8088208"/>
            <a:ext cx="640715" cy="141605"/>
          </a:xfrm>
          <a:custGeom>
            <a:avLst/>
            <a:gdLst/>
            <a:ahLst/>
            <a:cxnLst/>
            <a:rect l="l" t="t" r="r" b="b"/>
            <a:pathLst>
              <a:path w="640714" h="141604">
                <a:moveTo>
                  <a:pt x="617046" y="141556"/>
                </a:moveTo>
                <a:lnTo>
                  <a:pt x="23389" y="141556"/>
                </a:lnTo>
                <a:lnTo>
                  <a:pt x="19950" y="140869"/>
                </a:lnTo>
                <a:lnTo>
                  <a:pt x="0" y="118170"/>
                </a:lnTo>
                <a:lnTo>
                  <a:pt x="0" y="114604"/>
                </a:lnTo>
                <a:lnTo>
                  <a:pt x="0" y="23386"/>
                </a:lnTo>
                <a:lnTo>
                  <a:pt x="23389" y="0"/>
                </a:lnTo>
                <a:lnTo>
                  <a:pt x="617046" y="0"/>
                </a:lnTo>
                <a:lnTo>
                  <a:pt x="640436" y="23386"/>
                </a:lnTo>
                <a:lnTo>
                  <a:pt x="640436" y="118170"/>
                </a:lnTo>
                <a:lnTo>
                  <a:pt x="620486" y="140869"/>
                </a:lnTo>
                <a:lnTo>
                  <a:pt x="617046" y="141556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956500" y="8890431"/>
            <a:ext cx="1570990" cy="141605"/>
          </a:xfrm>
          <a:custGeom>
            <a:avLst/>
            <a:gdLst/>
            <a:ahLst/>
            <a:cxnLst/>
            <a:rect l="l" t="t" r="r" b="b"/>
            <a:pathLst>
              <a:path w="1570989" h="141604">
                <a:moveTo>
                  <a:pt x="883119" y="23380"/>
                </a:moveTo>
                <a:lnTo>
                  <a:pt x="859726" y="0"/>
                </a:lnTo>
                <a:lnTo>
                  <a:pt x="23380" y="0"/>
                </a:lnTo>
                <a:lnTo>
                  <a:pt x="0" y="23380"/>
                </a:lnTo>
                <a:lnTo>
                  <a:pt x="0" y="114604"/>
                </a:lnTo>
                <a:lnTo>
                  <a:pt x="0" y="118173"/>
                </a:lnTo>
                <a:lnTo>
                  <a:pt x="23380" y="141566"/>
                </a:lnTo>
                <a:lnTo>
                  <a:pt x="859726" y="141566"/>
                </a:lnTo>
                <a:lnTo>
                  <a:pt x="883119" y="118173"/>
                </a:lnTo>
                <a:lnTo>
                  <a:pt x="883119" y="23380"/>
                </a:lnTo>
                <a:close/>
              </a:path>
              <a:path w="1570989" h="141604">
                <a:moveTo>
                  <a:pt x="1570748" y="23380"/>
                </a:moveTo>
                <a:lnTo>
                  <a:pt x="1547355" y="0"/>
                </a:lnTo>
                <a:lnTo>
                  <a:pt x="946962" y="0"/>
                </a:lnTo>
                <a:lnTo>
                  <a:pt x="923569" y="23380"/>
                </a:lnTo>
                <a:lnTo>
                  <a:pt x="923569" y="114604"/>
                </a:lnTo>
                <a:lnTo>
                  <a:pt x="923569" y="118173"/>
                </a:lnTo>
                <a:lnTo>
                  <a:pt x="946962" y="141566"/>
                </a:lnTo>
                <a:lnTo>
                  <a:pt x="1547355" y="141566"/>
                </a:lnTo>
                <a:lnTo>
                  <a:pt x="1570748" y="118173"/>
                </a:lnTo>
                <a:lnTo>
                  <a:pt x="1570748" y="23380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5291242" y="8890438"/>
            <a:ext cx="586740" cy="141605"/>
          </a:xfrm>
          <a:custGeom>
            <a:avLst/>
            <a:gdLst/>
            <a:ahLst/>
            <a:cxnLst/>
            <a:rect l="l" t="t" r="r" b="b"/>
            <a:pathLst>
              <a:path w="586739" h="141604">
                <a:moveTo>
                  <a:pt x="563115" y="141556"/>
                </a:moveTo>
                <a:lnTo>
                  <a:pt x="23389" y="141556"/>
                </a:lnTo>
                <a:lnTo>
                  <a:pt x="19949" y="140869"/>
                </a:lnTo>
                <a:lnTo>
                  <a:pt x="0" y="118170"/>
                </a:lnTo>
                <a:lnTo>
                  <a:pt x="0" y="114604"/>
                </a:lnTo>
                <a:lnTo>
                  <a:pt x="0" y="23372"/>
                </a:lnTo>
                <a:lnTo>
                  <a:pt x="23389" y="0"/>
                </a:lnTo>
                <a:lnTo>
                  <a:pt x="563115" y="0"/>
                </a:lnTo>
                <a:lnTo>
                  <a:pt x="586504" y="23372"/>
                </a:lnTo>
                <a:lnTo>
                  <a:pt x="586504" y="118170"/>
                </a:lnTo>
                <a:lnTo>
                  <a:pt x="566554" y="140869"/>
                </a:lnTo>
                <a:lnTo>
                  <a:pt x="563115" y="141556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6012576" y="8890438"/>
            <a:ext cx="647700" cy="141605"/>
          </a:xfrm>
          <a:custGeom>
            <a:avLst/>
            <a:gdLst/>
            <a:ahLst/>
            <a:cxnLst/>
            <a:rect l="l" t="t" r="r" b="b"/>
            <a:pathLst>
              <a:path w="647700" h="141604">
                <a:moveTo>
                  <a:pt x="623787" y="141556"/>
                </a:moveTo>
                <a:lnTo>
                  <a:pt x="23390" y="141556"/>
                </a:lnTo>
                <a:lnTo>
                  <a:pt x="19950" y="140869"/>
                </a:lnTo>
                <a:lnTo>
                  <a:pt x="0" y="118170"/>
                </a:lnTo>
                <a:lnTo>
                  <a:pt x="0" y="114604"/>
                </a:lnTo>
                <a:lnTo>
                  <a:pt x="0" y="23372"/>
                </a:lnTo>
                <a:lnTo>
                  <a:pt x="23390" y="0"/>
                </a:lnTo>
                <a:lnTo>
                  <a:pt x="623787" y="0"/>
                </a:lnTo>
                <a:lnTo>
                  <a:pt x="647177" y="23372"/>
                </a:lnTo>
                <a:lnTo>
                  <a:pt x="647177" y="118170"/>
                </a:lnTo>
                <a:lnTo>
                  <a:pt x="627227" y="140869"/>
                </a:lnTo>
                <a:lnTo>
                  <a:pt x="623787" y="141556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2756458" y="9065717"/>
            <a:ext cx="1584325" cy="316865"/>
          </a:xfrm>
          <a:custGeom>
            <a:avLst/>
            <a:gdLst/>
            <a:ahLst/>
            <a:cxnLst/>
            <a:rect l="l" t="t" r="r" b="b"/>
            <a:pathLst>
              <a:path w="1584325" h="316865">
                <a:moveTo>
                  <a:pt x="1119073" y="198666"/>
                </a:moveTo>
                <a:lnTo>
                  <a:pt x="1095692" y="175272"/>
                </a:lnTo>
                <a:lnTo>
                  <a:pt x="23393" y="175272"/>
                </a:lnTo>
                <a:lnTo>
                  <a:pt x="0" y="198666"/>
                </a:lnTo>
                <a:lnTo>
                  <a:pt x="0" y="289877"/>
                </a:lnTo>
                <a:lnTo>
                  <a:pt x="0" y="293446"/>
                </a:lnTo>
                <a:lnTo>
                  <a:pt x="23393" y="316826"/>
                </a:lnTo>
                <a:lnTo>
                  <a:pt x="1095692" y="316826"/>
                </a:lnTo>
                <a:lnTo>
                  <a:pt x="1119073" y="293446"/>
                </a:lnTo>
                <a:lnTo>
                  <a:pt x="1119073" y="198666"/>
                </a:lnTo>
                <a:close/>
              </a:path>
              <a:path w="1584325" h="316865">
                <a:moveTo>
                  <a:pt x="1584236" y="23368"/>
                </a:moveTo>
                <a:lnTo>
                  <a:pt x="1560842" y="0"/>
                </a:lnTo>
                <a:lnTo>
                  <a:pt x="785164" y="0"/>
                </a:lnTo>
                <a:lnTo>
                  <a:pt x="761784" y="23368"/>
                </a:lnTo>
                <a:lnTo>
                  <a:pt x="761784" y="114604"/>
                </a:lnTo>
                <a:lnTo>
                  <a:pt x="761784" y="118173"/>
                </a:lnTo>
                <a:lnTo>
                  <a:pt x="785164" y="141554"/>
                </a:lnTo>
                <a:lnTo>
                  <a:pt x="1560842" y="141554"/>
                </a:lnTo>
                <a:lnTo>
                  <a:pt x="1584236" y="118173"/>
                </a:lnTo>
                <a:lnTo>
                  <a:pt x="1584236" y="23368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graphicFrame>
        <p:nvGraphicFramePr>
          <p:cNvPr id="14" name="object 14"/>
          <p:cNvGraphicFramePr>
            <a:graphicFrameLocks noGrp="1"/>
          </p:cNvGraphicFramePr>
          <p:nvPr/>
        </p:nvGraphicFramePr>
        <p:xfrm>
          <a:off x="680102" y="6733180"/>
          <a:ext cx="6278880" cy="28835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02155"/>
                <a:gridCol w="4192904"/>
              </a:tblGrid>
              <a:tr h="289560">
                <a:tc>
                  <a:txBody>
                    <a:bodyPr/>
                    <a:lstStyle/>
                    <a:p>
                      <a:pPr marL="70485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950" spc="-10" b="1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Observation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64769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950" spc="-10" b="1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Detail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64769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  <a:solidFill>
                      <a:srgbClr val="F7FAFB"/>
                    </a:solidFill>
                  </a:tcPr>
                </a:tc>
              </a:tr>
              <a:tr h="808355">
                <a:tc>
                  <a:txBody>
                    <a:bodyPr/>
                    <a:lstStyle/>
                    <a:p>
                      <a:pPr marL="70485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Real</a:t>
                      </a:r>
                      <a:r>
                        <a:rPr dirty="0" sz="95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9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page/chunk</a:t>
                      </a:r>
                      <a:r>
                        <a:rPr dirty="0" sz="95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counts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64769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 marR="89535" indent="26670">
                        <a:lnSpc>
                          <a:spcPct val="119500"/>
                        </a:lnSpc>
                        <a:spcBef>
                          <a:spcPts val="285"/>
                        </a:spcBef>
                      </a:pP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sample.pdf</a:t>
                      </a:r>
                      <a:r>
                        <a:rPr dirty="0" sz="750" spc="-2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950" spc="-7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really</a:t>
                      </a:r>
                      <a:r>
                        <a:rPr dirty="0" sz="950" spc="-2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does</a:t>
                      </a:r>
                      <a:r>
                        <a:rPr dirty="0" sz="950" spc="-2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have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00" spc="-60" b="1">
                          <a:solidFill>
                            <a:srgbClr val="111726"/>
                          </a:solidFill>
                          <a:latin typeface="Trebuchet MS"/>
                          <a:cs typeface="Trebuchet MS"/>
                        </a:rPr>
                        <a:t>15</a:t>
                      </a:r>
                      <a:r>
                        <a:rPr dirty="0" sz="900" spc="-75" b="1">
                          <a:solidFill>
                            <a:srgbClr val="111726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950" spc="-85" b="1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pages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,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and</a:t>
                      </a:r>
                      <a:r>
                        <a:rPr dirty="0" sz="950" spc="-2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4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with</a:t>
                      </a:r>
                      <a:r>
                        <a:rPr dirty="0" sz="950" spc="2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chunk_size=500</a:t>
                      </a:r>
                      <a:r>
                        <a:rPr dirty="0" sz="750" spc="-25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950" spc="-5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/</a:t>
                      </a:r>
                      <a:r>
                        <a:rPr dirty="0" sz="95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chunk_overlap=100 </a:t>
                      </a:r>
                      <a:r>
                        <a:rPr dirty="0" sz="950" spc="-5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it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6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splits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into</a:t>
                      </a:r>
                      <a:r>
                        <a:rPr dirty="0" sz="95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00" spc="-60" b="1">
                          <a:solidFill>
                            <a:srgbClr val="111726"/>
                          </a:solidFill>
                          <a:latin typeface="Trebuchet MS"/>
                          <a:cs typeface="Trebuchet MS"/>
                        </a:rPr>
                        <a:t>20 </a:t>
                      </a:r>
                      <a:r>
                        <a:rPr dirty="0" sz="950" spc="-90" b="1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chunks</a:t>
                      </a:r>
                      <a:r>
                        <a:rPr dirty="0" sz="950" spc="-5" b="1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00" spc="-180">
                          <a:solidFill>
                            <a:srgbClr val="111726"/>
                          </a:solidFill>
                          <a:latin typeface="Arial"/>
                          <a:cs typeface="Arial"/>
                        </a:rPr>
                        <a:t>—</a:t>
                      </a:r>
                      <a:r>
                        <a:rPr dirty="0" sz="900" spc="-40">
                          <a:solidFill>
                            <a:srgbClr val="111726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both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9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match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the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placeholder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page-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count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example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given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earlier,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though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the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chunk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count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4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(</a:t>
                      </a:r>
                      <a:r>
                        <a:rPr dirty="0" sz="850" spc="-40">
                          <a:solidFill>
                            <a:srgbClr val="111726"/>
                          </a:solidFill>
                          <a:latin typeface="Arial"/>
                          <a:cs typeface="Arial"/>
                        </a:rPr>
                        <a:t>20</a:t>
                      </a:r>
                      <a:r>
                        <a:rPr dirty="0" sz="950" spc="-4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,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not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the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6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earlier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guessed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850" spc="-25">
                          <a:solidFill>
                            <a:srgbClr val="111726"/>
                          </a:solidFill>
                          <a:latin typeface="Arial"/>
                          <a:cs typeface="Arial"/>
                        </a:rPr>
                        <a:t>42</a:t>
                      </a:r>
                      <a:r>
                        <a:rPr dirty="0" sz="950" spc="-2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)</a:t>
                      </a:r>
                      <a:r>
                        <a:rPr dirty="0" sz="950" spc="50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6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is</a:t>
                      </a:r>
                      <a:r>
                        <a:rPr dirty="0" sz="950" spc="-2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9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now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con</a:t>
                      </a:r>
                      <a:r>
                        <a:rPr dirty="0" sz="900" spc="-75">
                          <a:solidFill>
                            <a:srgbClr val="111726"/>
                          </a:solidFill>
                          <a:latin typeface="Arial"/>
                          <a:cs typeface="Arial"/>
                        </a:rPr>
                        <a:t>ﬁ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rmed</a:t>
                      </a:r>
                      <a:r>
                        <a:rPr dirty="0" sz="950" spc="-2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for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2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real.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36195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</a:tr>
              <a:tr h="977265">
                <a:tc>
                  <a:txBody>
                    <a:bodyPr/>
                    <a:lstStyle/>
                    <a:p>
                      <a:pPr marL="70485" marR="393065" indent="26670">
                        <a:lnSpc>
                          <a:spcPct val="121100"/>
                        </a:lnSpc>
                        <a:spcBef>
                          <a:spcPts val="270"/>
                        </a:spcBef>
                      </a:pP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MEMBER</a:t>
                      </a:r>
                      <a:r>
                        <a:rPr dirty="0" sz="750" spc="7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6</a:t>
                      </a:r>
                      <a:r>
                        <a:rPr dirty="0" sz="750" spc="-1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heading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leaking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6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into</a:t>
                      </a:r>
                      <a:r>
                        <a:rPr dirty="0" sz="950" spc="50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retrieved</a:t>
                      </a:r>
                      <a:r>
                        <a:rPr dirty="0" sz="950" spc="3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2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text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34290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 marR="96520">
                        <a:lnSpc>
                          <a:spcPct val="118700"/>
                        </a:lnSpc>
                        <a:spcBef>
                          <a:spcPts val="295"/>
                        </a:spcBef>
                      </a:pPr>
                      <a:r>
                        <a:rPr dirty="0" sz="950" spc="-9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One</a:t>
                      </a:r>
                      <a:r>
                        <a:rPr dirty="0" sz="950" spc="-2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of</a:t>
                      </a:r>
                      <a:r>
                        <a:rPr dirty="0" sz="950" spc="-2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the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retrieved</a:t>
                      </a:r>
                      <a:r>
                        <a:rPr dirty="0" sz="950" spc="-2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chunks</a:t>
                      </a:r>
                      <a:r>
                        <a:rPr dirty="0" sz="950" spc="-2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includes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a</a:t>
                      </a:r>
                      <a:r>
                        <a:rPr dirty="0" sz="950" spc="2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MEMBER</a:t>
                      </a:r>
                      <a:r>
                        <a:rPr dirty="0" sz="750" spc="6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6</a:t>
                      </a:r>
                      <a:r>
                        <a:rPr dirty="0" sz="750" spc="-25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section</a:t>
                      </a:r>
                      <a:r>
                        <a:rPr dirty="0" sz="950" spc="-2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heading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00" spc="-180">
                          <a:solidFill>
                            <a:srgbClr val="111726"/>
                          </a:solidFill>
                          <a:latin typeface="Arial"/>
                          <a:cs typeface="Arial"/>
                        </a:rPr>
                        <a:t>—</a:t>
                      </a:r>
                      <a:r>
                        <a:rPr dirty="0" sz="900" spc="-55">
                          <a:solidFill>
                            <a:srgbClr val="111726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50" spc="-6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this</a:t>
                      </a:r>
                      <a:r>
                        <a:rPr dirty="0" sz="950" spc="-2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6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is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5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because</a:t>
                      </a:r>
                      <a:r>
                        <a:rPr dirty="0" sz="95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sample.pdf</a:t>
                      </a:r>
                      <a:r>
                        <a:rPr dirty="0" sz="750" spc="-20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950" spc="-6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's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10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"Team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9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Member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Assignment"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section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6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sits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close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to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the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Dashboard-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module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text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in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the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document,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and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the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850" spc="-40">
                          <a:solidFill>
                            <a:srgbClr val="111726"/>
                          </a:solidFill>
                          <a:latin typeface="Arial"/>
                          <a:cs typeface="Arial"/>
                        </a:rPr>
                        <a:t>500</a:t>
                      </a:r>
                      <a:r>
                        <a:rPr dirty="0" sz="950" spc="-4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-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character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chunking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9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window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pulled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2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part</a:t>
                      </a:r>
                      <a:r>
                        <a:rPr dirty="0" sz="950" spc="50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of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5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it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6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in.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This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9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shows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chunking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boundaries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don't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always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align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neatly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with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logical </a:t>
                      </a:r>
                      <a:r>
                        <a:rPr dirty="0" sz="950" spc="-9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document</a:t>
                      </a:r>
                      <a:r>
                        <a:rPr dirty="0" sz="950" spc="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sections.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37465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</a:tr>
              <a:tr h="808355">
                <a:tc>
                  <a:txBody>
                    <a:bodyPr/>
                    <a:lstStyle/>
                    <a:p>
                      <a:pPr marL="70485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950" spc="-4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The</a:t>
                      </a:r>
                      <a:r>
                        <a:rPr dirty="0" sz="950" spc="13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max_new_tokens</a:t>
                      </a:r>
                      <a:r>
                        <a:rPr dirty="0" sz="750" spc="-24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95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/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750" spc="-1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max_length</a:t>
                      </a:r>
                      <a:endParaRPr sz="750">
                        <a:latin typeface="Courier New"/>
                        <a:cs typeface="Courier New"/>
                      </a:endParaRPr>
                    </a:p>
                    <a:p>
                      <a:pPr marL="7048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warning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64769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 marR="121285">
                        <a:lnSpc>
                          <a:spcPct val="121100"/>
                        </a:lnSpc>
                        <a:spcBef>
                          <a:spcPts val="270"/>
                        </a:spcBef>
                      </a:pP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Exactly</a:t>
                      </a:r>
                      <a:r>
                        <a:rPr dirty="0" sz="950" spc="-2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as</a:t>
                      </a:r>
                      <a:r>
                        <a:rPr dirty="0" sz="950" spc="-2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predicted</a:t>
                      </a:r>
                      <a:r>
                        <a:rPr dirty="0" sz="950" spc="-2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in</a:t>
                      </a:r>
                      <a:r>
                        <a:rPr dirty="0" sz="950" spc="-2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the</a:t>
                      </a:r>
                      <a:r>
                        <a:rPr dirty="0" sz="950" spc="-2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6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line-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by-</a:t>
                      </a:r>
                      <a:r>
                        <a:rPr dirty="0" sz="950" spc="-6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line</a:t>
                      </a:r>
                      <a:r>
                        <a:rPr dirty="0" sz="950" spc="-2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9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breakdown</a:t>
                      </a:r>
                      <a:r>
                        <a:rPr dirty="0" sz="950" spc="-2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of</a:t>
                      </a:r>
                      <a:r>
                        <a:rPr dirty="0" sz="950" spc="204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ask_rag()</a:t>
                      </a:r>
                      <a:r>
                        <a:rPr dirty="0" sz="750" spc="-3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900" spc="-50">
                          <a:solidFill>
                            <a:srgbClr val="111726"/>
                          </a:solidFill>
                          <a:latin typeface="Arial"/>
                          <a:cs typeface="Arial"/>
                        </a:rPr>
                        <a:t>—</a:t>
                      </a:r>
                      <a:r>
                        <a:rPr dirty="0" sz="900" spc="175">
                          <a:solidFill>
                            <a:srgbClr val="111726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pipeline()</a:t>
                      </a:r>
                      <a:r>
                        <a:rPr dirty="0" sz="750" spc="-225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950" spc="-2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's</a:t>
                      </a:r>
                      <a:r>
                        <a:rPr dirty="0" sz="950" spc="50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internal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5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default</a:t>
                      </a:r>
                      <a:r>
                        <a:rPr dirty="0" sz="950" spc="229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max_length=20 </a:t>
                      </a:r>
                      <a:r>
                        <a:rPr dirty="0" sz="950" spc="-6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con</a:t>
                      </a:r>
                      <a:r>
                        <a:rPr dirty="0" sz="900" spc="-65">
                          <a:solidFill>
                            <a:srgbClr val="111726"/>
                          </a:solidFill>
                          <a:latin typeface="Arial"/>
                          <a:cs typeface="Arial"/>
                        </a:rPr>
                        <a:t>ﬂ</a:t>
                      </a:r>
                      <a:r>
                        <a:rPr dirty="0" sz="950" spc="-6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icts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(harmlessly)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with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the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explicit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max_new_tokens=150</a:t>
                      </a:r>
                      <a:r>
                        <a:rPr dirty="0" sz="750" spc="5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950" spc="-7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set</a:t>
                      </a:r>
                      <a:r>
                        <a:rPr dirty="0" sz="95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in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the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code;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the</a:t>
                      </a:r>
                      <a:r>
                        <a:rPr dirty="0" sz="95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explicit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value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wins</a:t>
                      </a:r>
                      <a:r>
                        <a:rPr dirty="0" sz="95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and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generation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6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is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2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not</a:t>
                      </a:r>
                      <a:r>
                        <a:rPr dirty="0" sz="950" spc="50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cut</a:t>
                      </a:r>
                      <a:r>
                        <a:rPr dirty="0" sz="950" spc="-2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short.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34290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80102" y="2344504"/>
            <a:ext cx="6202680" cy="6985"/>
          </a:xfrm>
          <a:custGeom>
            <a:avLst/>
            <a:gdLst/>
            <a:ahLst/>
            <a:cxnLst/>
            <a:rect l="l" t="t" r="r" b="b"/>
            <a:pathLst>
              <a:path w="6202680" h="6985">
                <a:moveTo>
                  <a:pt x="6202119" y="6741"/>
                </a:moveTo>
                <a:lnTo>
                  <a:pt x="0" y="6741"/>
                </a:lnTo>
                <a:lnTo>
                  <a:pt x="0" y="0"/>
                </a:lnTo>
                <a:lnTo>
                  <a:pt x="6202119" y="0"/>
                </a:lnTo>
                <a:lnTo>
                  <a:pt x="6202119" y="6741"/>
                </a:lnTo>
                <a:close/>
              </a:path>
            </a:pathLst>
          </a:custGeom>
          <a:solidFill>
            <a:srgbClr val="E4E7E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680102" y="2823146"/>
            <a:ext cx="6202680" cy="2150745"/>
          </a:xfrm>
          <a:custGeom>
            <a:avLst/>
            <a:gdLst/>
            <a:ahLst/>
            <a:cxnLst/>
            <a:rect l="l" t="t" r="r" b="b"/>
            <a:pathLst>
              <a:path w="6202680" h="2150745">
                <a:moveTo>
                  <a:pt x="6151728" y="2150517"/>
                </a:moveTo>
                <a:lnTo>
                  <a:pt x="50390" y="2150517"/>
                </a:lnTo>
                <a:lnTo>
                  <a:pt x="46883" y="2150173"/>
                </a:lnTo>
                <a:lnTo>
                  <a:pt x="11056" y="2129477"/>
                </a:lnTo>
                <a:lnTo>
                  <a:pt x="0" y="2100125"/>
                </a:lnTo>
                <a:lnTo>
                  <a:pt x="0" y="2096585"/>
                </a:lnTo>
                <a:lnTo>
                  <a:pt x="0" y="50392"/>
                </a:lnTo>
                <a:lnTo>
                  <a:pt x="18300" y="13260"/>
                </a:lnTo>
                <a:lnTo>
                  <a:pt x="50390" y="0"/>
                </a:lnTo>
                <a:lnTo>
                  <a:pt x="6151728" y="0"/>
                </a:lnTo>
                <a:lnTo>
                  <a:pt x="6188826" y="18276"/>
                </a:lnTo>
                <a:lnTo>
                  <a:pt x="6202118" y="50392"/>
                </a:lnTo>
                <a:lnTo>
                  <a:pt x="6202118" y="2100125"/>
                </a:lnTo>
                <a:lnTo>
                  <a:pt x="6183818" y="2137216"/>
                </a:lnTo>
                <a:lnTo>
                  <a:pt x="6155235" y="2150173"/>
                </a:lnTo>
                <a:lnTo>
                  <a:pt x="6151728" y="2150517"/>
                </a:lnTo>
                <a:close/>
              </a:path>
            </a:pathLst>
          </a:custGeom>
          <a:solidFill>
            <a:srgbClr val="0E172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680102" y="9247733"/>
            <a:ext cx="6202680" cy="6985"/>
          </a:xfrm>
          <a:custGeom>
            <a:avLst/>
            <a:gdLst/>
            <a:ahLst/>
            <a:cxnLst/>
            <a:rect l="l" t="t" r="r" b="b"/>
            <a:pathLst>
              <a:path w="6202680" h="6984">
                <a:moveTo>
                  <a:pt x="6202119" y="6741"/>
                </a:moveTo>
                <a:lnTo>
                  <a:pt x="0" y="6741"/>
                </a:lnTo>
                <a:lnTo>
                  <a:pt x="0" y="0"/>
                </a:lnTo>
                <a:lnTo>
                  <a:pt x="6202119" y="0"/>
                </a:lnTo>
                <a:lnTo>
                  <a:pt x="6202119" y="6741"/>
                </a:lnTo>
                <a:close/>
              </a:path>
            </a:pathLst>
          </a:custGeom>
          <a:solidFill>
            <a:srgbClr val="E4E7E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754253" y="652385"/>
            <a:ext cx="1510665" cy="316865"/>
          </a:xfrm>
          <a:custGeom>
            <a:avLst/>
            <a:gdLst/>
            <a:ahLst/>
            <a:cxnLst/>
            <a:rect l="l" t="t" r="r" b="b"/>
            <a:pathLst>
              <a:path w="1510664" h="316865">
                <a:moveTo>
                  <a:pt x="795489" y="198678"/>
                </a:moveTo>
                <a:lnTo>
                  <a:pt x="772096" y="175285"/>
                </a:lnTo>
                <a:lnTo>
                  <a:pt x="0" y="175285"/>
                </a:lnTo>
                <a:lnTo>
                  <a:pt x="0" y="316852"/>
                </a:lnTo>
                <a:lnTo>
                  <a:pt x="772096" y="316852"/>
                </a:lnTo>
                <a:lnTo>
                  <a:pt x="795489" y="293458"/>
                </a:lnTo>
                <a:lnTo>
                  <a:pt x="795489" y="198678"/>
                </a:lnTo>
                <a:close/>
              </a:path>
              <a:path w="1510664" h="316865">
                <a:moveTo>
                  <a:pt x="1510080" y="0"/>
                </a:moveTo>
                <a:lnTo>
                  <a:pt x="677303" y="0"/>
                </a:lnTo>
                <a:lnTo>
                  <a:pt x="673862" y="711"/>
                </a:lnTo>
                <a:lnTo>
                  <a:pt x="653923" y="23393"/>
                </a:lnTo>
                <a:lnTo>
                  <a:pt x="653923" y="118186"/>
                </a:lnTo>
                <a:lnTo>
                  <a:pt x="677303" y="141579"/>
                </a:lnTo>
                <a:lnTo>
                  <a:pt x="1510080" y="141579"/>
                </a:lnTo>
                <a:lnTo>
                  <a:pt x="1510080" y="0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5587865" y="1784965"/>
            <a:ext cx="937260" cy="141605"/>
          </a:xfrm>
          <a:custGeom>
            <a:avLst/>
            <a:gdLst/>
            <a:ahLst/>
            <a:cxnLst/>
            <a:rect l="l" t="t" r="r" b="b"/>
            <a:pathLst>
              <a:path w="937259" h="141605">
                <a:moveTo>
                  <a:pt x="913669" y="141556"/>
                </a:moveTo>
                <a:lnTo>
                  <a:pt x="23390" y="141556"/>
                </a:lnTo>
                <a:lnTo>
                  <a:pt x="19949" y="140869"/>
                </a:lnTo>
                <a:lnTo>
                  <a:pt x="0" y="118170"/>
                </a:lnTo>
                <a:lnTo>
                  <a:pt x="0" y="114604"/>
                </a:lnTo>
                <a:lnTo>
                  <a:pt x="0" y="23386"/>
                </a:lnTo>
                <a:lnTo>
                  <a:pt x="23390" y="0"/>
                </a:lnTo>
                <a:lnTo>
                  <a:pt x="913669" y="0"/>
                </a:lnTo>
                <a:lnTo>
                  <a:pt x="937059" y="23386"/>
                </a:lnTo>
                <a:lnTo>
                  <a:pt x="937059" y="118170"/>
                </a:lnTo>
                <a:lnTo>
                  <a:pt x="917108" y="140869"/>
                </a:lnTo>
                <a:lnTo>
                  <a:pt x="913669" y="141556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4010370" y="1966984"/>
            <a:ext cx="297180" cy="141605"/>
          </a:xfrm>
          <a:custGeom>
            <a:avLst/>
            <a:gdLst/>
            <a:ahLst/>
            <a:cxnLst/>
            <a:rect l="l" t="t" r="r" b="b"/>
            <a:pathLst>
              <a:path w="297179" h="141605">
                <a:moveTo>
                  <a:pt x="273233" y="141556"/>
                </a:moveTo>
                <a:lnTo>
                  <a:pt x="23390" y="141556"/>
                </a:lnTo>
                <a:lnTo>
                  <a:pt x="19950" y="140869"/>
                </a:lnTo>
                <a:lnTo>
                  <a:pt x="0" y="118157"/>
                </a:lnTo>
                <a:lnTo>
                  <a:pt x="0" y="114604"/>
                </a:lnTo>
                <a:lnTo>
                  <a:pt x="0" y="23372"/>
                </a:lnTo>
                <a:lnTo>
                  <a:pt x="23390" y="0"/>
                </a:lnTo>
                <a:lnTo>
                  <a:pt x="273233" y="0"/>
                </a:lnTo>
                <a:lnTo>
                  <a:pt x="296623" y="23372"/>
                </a:lnTo>
                <a:lnTo>
                  <a:pt x="296623" y="118157"/>
                </a:lnTo>
                <a:lnTo>
                  <a:pt x="276673" y="140869"/>
                </a:lnTo>
                <a:lnTo>
                  <a:pt x="273233" y="141556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680102" y="571507"/>
          <a:ext cx="6278880" cy="16040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02155"/>
                <a:gridCol w="4192904"/>
              </a:tblGrid>
              <a:tr h="1132205">
                <a:tc>
                  <a:txBody>
                    <a:bodyPr/>
                    <a:lstStyle/>
                    <a:p>
                      <a:pPr marL="70485" marR="78105">
                        <a:lnSpc>
                          <a:spcPct val="121100"/>
                        </a:lnSpc>
                        <a:spcBef>
                          <a:spcPts val="270"/>
                        </a:spcBef>
                      </a:pPr>
                      <a:r>
                        <a:rPr dirty="0" sz="950" spc="-9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The</a:t>
                      </a:r>
                      <a:r>
                        <a:rPr dirty="0" sz="950" spc="-3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6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question</a:t>
                      </a:r>
                      <a:r>
                        <a:rPr dirty="0" sz="950" spc="1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"what</a:t>
                      </a:r>
                      <a:r>
                        <a:rPr dirty="0" sz="750" spc="25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does</a:t>
                      </a:r>
                      <a:r>
                        <a:rPr dirty="0" sz="750" spc="25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 spc="-25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the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document</a:t>
                      </a:r>
                      <a:r>
                        <a:rPr dirty="0" sz="750" spc="85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say"</a:t>
                      </a:r>
                      <a:r>
                        <a:rPr dirty="0" sz="750" spc="5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950" spc="-6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is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intentionally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vague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34290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 marR="64135">
                        <a:lnSpc>
                          <a:spcPct val="116100"/>
                        </a:lnSpc>
                        <a:spcBef>
                          <a:spcPts val="325"/>
                        </a:spcBef>
                      </a:pP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Because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6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it's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9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broad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rather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than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6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speci</a:t>
                      </a:r>
                      <a:r>
                        <a:rPr dirty="0" sz="900" spc="-60">
                          <a:solidFill>
                            <a:srgbClr val="111726"/>
                          </a:solidFill>
                          <a:latin typeface="Arial"/>
                          <a:cs typeface="Arial"/>
                        </a:rPr>
                        <a:t>ﬁ</a:t>
                      </a:r>
                      <a:r>
                        <a:rPr dirty="0" sz="950" spc="-6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c,</a:t>
                      </a:r>
                      <a:r>
                        <a:rPr dirty="0" sz="95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the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retriever's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top-</a:t>
                      </a:r>
                      <a:r>
                        <a:rPr dirty="0" sz="850" spc="-30">
                          <a:solidFill>
                            <a:srgbClr val="111726"/>
                          </a:solidFill>
                          <a:latin typeface="Arial"/>
                          <a:cs typeface="Arial"/>
                        </a:rPr>
                        <a:t>3</a:t>
                      </a:r>
                      <a:r>
                        <a:rPr dirty="0" sz="850" spc="-25">
                          <a:solidFill>
                            <a:srgbClr val="111726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chunks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span</a:t>
                      </a:r>
                      <a:r>
                        <a:rPr dirty="0" sz="95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three </a:t>
                      </a:r>
                      <a:r>
                        <a:rPr dirty="0" sz="950" spc="-6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di</a:t>
                      </a:r>
                      <a:r>
                        <a:rPr dirty="0" sz="900" spc="-60">
                          <a:solidFill>
                            <a:srgbClr val="111726"/>
                          </a:solidFill>
                          <a:latin typeface="Arial"/>
                          <a:cs typeface="Arial"/>
                        </a:rPr>
                        <a:t>ﬀ</a:t>
                      </a:r>
                      <a:r>
                        <a:rPr dirty="0" sz="950" spc="-6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erent,</a:t>
                      </a:r>
                      <a:r>
                        <a:rPr dirty="0" sz="950" spc="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only</a:t>
                      </a:r>
                      <a:r>
                        <a:rPr dirty="0" sz="950" spc="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loosely</a:t>
                      </a:r>
                      <a:r>
                        <a:rPr dirty="0" sz="950" spc="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related</a:t>
                      </a:r>
                      <a:r>
                        <a:rPr dirty="0" sz="950" spc="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sections</a:t>
                      </a:r>
                      <a:r>
                        <a:rPr dirty="0" sz="950" spc="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(Training</a:t>
                      </a:r>
                      <a:r>
                        <a:rPr dirty="0" sz="950" spc="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status/APIs,</a:t>
                      </a:r>
                      <a:r>
                        <a:rPr dirty="0" sz="950" spc="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Incident</a:t>
                      </a:r>
                      <a:r>
                        <a:rPr dirty="0" sz="950" spc="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database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columns,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9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Dashboard</a:t>
                      </a:r>
                      <a:r>
                        <a:rPr dirty="0" sz="95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backend/frontend)</a:t>
                      </a:r>
                      <a:r>
                        <a:rPr dirty="0" sz="95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rather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than</a:t>
                      </a:r>
                      <a:r>
                        <a:rPr dirty="0" sz="95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one</a:t>
                      </a:r>
                      <a:r>
                        <a:rPr dirty="0" sz="95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focused</a:t>
                      </a:r>
                      <a:r>
                        <a:rPr dirty="0" sz="95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topic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00" spc="-180">
                          <a:solidFill>
                            <a:srgbClr val="111726"/>
                          </a:solidFill>
                          <a:latin typeface="Arial"/>
                          <a:cs typeface="Arial"/>
                        </a:rPr>
                        <a:t>—</a:t>
                      </a:r>
                      <a:r>
                        <a:rPr dirty="0" sz="900" spc="-35">
                          <a:solidFill>
                            <a:srgbClr val="111726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and</a:t>
                      </a:r>
                      <a:r>
                        <a:rPr dirty="0" sz="95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2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the</a:t>
                      </a:r>
                      <a:r>
                        <a:rPr dirty="0" sz="950" spc="50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model's</a:t>
                      </a:r>
                      <a:r>
                        <a:rPr dirty="0" sz="95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answer</a:t>
                      </a:r>
                      <a:r>
                        <a:rPr dirty="0" sz="950" spc="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6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re</a:t>
                      </a:r>
                      <a:r>
                        <a:rPr dirty="0" sz="900" spc="-60">
                          <a:solidFill>
                            <a:srgbClr val="111726"/>
                          </a:solidFill>
                          <a:latin typeface="Arial"/>
                          <a:cs typeface="Arial"/>
                        </a:rPr>
                        <a:t>ﬂ</a:t>
                      </a:r>
                      <a:r>
                        <a:rPr dirty="0" sz="950" spc="-6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ects</a:t>
                      </a:r>
                      <a:r>
                        <a:rPr dirty="0" sz="950" spc="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that</a:t>
                      </a:r>
                      <a:r>
                        <a:rPr dirty="0" sz="950" spc="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by</a:t>
                      </a:r>
                      <a:r>
                        <a:rPr dirty="0" sz="95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summarizing</a:t>
                      </a:r>
                      <a:r>
                        <a:rPr dirty="0" sz="950" spc="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the</a:t>
                      </a:r>
                      <a:r>
                        <a:rPr dirty="0" sz="950" spc="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1000" spc="-65" i="1">
                          <a:solidFill>
                            <a:srgbClr val="111726"/>
                          </a:solidFill>
                          <a:latin typeface="Arial"/>
                          <a:cs typeface="Arial"/>
                        </a:rPr>
                        <a:t>Incidents</a:t>
                      </a:r>
                      <a:r>
                        <a:rPr dirty="0" sz="1000" spc="-60" i="1">
                          <a:solidFill>
                            <a:srgbClr val="111726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module</a:t>
                      </a:r>
                      <a:r>
                        <a:rPr dirty="0" sz="95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6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speci</a:t>
                      </a:r>
                      <a:r>
                        <a:rPr dirty="0" sz="900" spc="-65">
                          <a:solidFill>
                            <a:srgbClr val="111726"/>
                          </a:solidFill>
                          <a:latin typeface="Arial"/>
                          <a:cs typeface="Arial"/>
                        </a:rPr>
                        <a:t>ﬁ</a:t>
                      </a:r>
                      <a:r>
                        <a:rPr dirty="0" sz="950" spc="-6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cally,</a:t>
                      </a:r>
                      <a:r>
                        <a:rPr dirty="0" sz="950" spc="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3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since</a:t>
                      </a:r>
                      <a:r>
                        <a:rPr dirty="0" sz="950" spc="50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that's</a:t>
                      </a:r>
                      <a:r>
                        <a:rPr dirty="0" sz="95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where</a:t>
                      </a:r>
                      <a:r>
                        <a:rPr dirty="0" sz="95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the</a:t>
                      </a:r>
                      <a:r>
                        <a:rPr dirty="0" sz="950" spc="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9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most</a:t>
                      </a:r>
                      <a:r>
                        <a:rPr dirty="0" sz="95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9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concentrated</a:t>
                      </a:r>
                      <a:r>
                        <a:rPr dirty="0" sz="95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relevant</a:t>
                      </a:r>
                      <a:r>
                        <a:rPr dirty="0" sz="950" spc="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content</a:t>
                      </a:r>
                      <a:r>
                        <a:rPr dirty="0" sz="95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landed</a:t>
                      </a:r>
                      <a:r>
                        <a:rPr dirty="0" sz="95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9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among</a:t>
                      </a:r>
                      <a:r>
                        <a:rPr dirty="0" sz="950" spc="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the</a:t>
                      </a:r>
                      <a:r>
                        <a:rPr dirty="0" sz="95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retrieved chunks.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41275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</a:tr>
              <a:tr h="471805">
                <a:tc>
                  <a:txBody>
                    <a:bodyPr/>
                    <a:lstStyle/>
                    <a:p>
                      <a:pPr marL="70485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Interactive</a:t>
                      </a:r>
                      <a:r>
                        <a:rPr dirty="0" sz="95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loop</a:t>
                      </a:r>
                      <a:r>
                        <a:rPr dirty="0" sz="95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con</a:t>
                      </a:r>
                      <a:r>
                        <a:rPr dirty="0" sz="900" spc="-75">
                          <a:solidFill>
                            <a:srgbClr val="111726"/>
                          </a:solidFill>
                          <a:latin typeface="Arial"/>
                          <a:cs typeface="Arial"/>
                        </a:rPr>
                        <a:t>ﬁ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rmed</a:t>
                      </a:r>
                      <a:r>
                        <a:rPr dirty="0" sz="950" spc="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working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64769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 marR="314960">
                        <a:lnSpc>
                          <a:spcPct val="125699"/>
                        </a:lnSpc>
                        <a:spcBef>
                          <a:spcPts val="215"/>
                        </a:spcBef>
                      </a:pPr>
                      <a:r>
                        <a:rPr dirty="0" sz="950" spc="-7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After</a:t>
                      </a:r>
                      <a:r>
                        <a:rPr dirty="0" sz="950" spc="-2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printing</a:t>
                      </a:r>
                      <a:r>
                        <a:rPr dirty="0" sz="950" spc="-2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the</a:t>
                      </a:r>
                      <a:r>
                        <a:rPr dirty="0" sz="950" spc="-2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answer,</a:t>
                      </a:r>
                      <a:r>
                        <a:rPr dirty="0" sz="950" spc="-2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the</a:t>
                      </a:r>
                      <a:r>
                        <a:rPr dirty="0" sz="950" spc="-2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script</a:t>
                      </a:r>
                      <a:r>
                        <a:rPr dirty="0" sz="950" spc="-2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correctly</a:t>
                      </a:r>
                      <a:r>
                        <a:rPr dirty="0" sz="950" spc="-2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loops</a:t>
                      </a:r>
                      <a:r>
                        <a:rPr dirty="0" sz="950" spc="-2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9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back</a:t>
                      </a:r>
                      <a:r>
                        <a:rPr dirty="0" sz="950" spc="-2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to</a:t>
                      </a:r>
                      <a:r>
                        <a:rPr dirty="0" sz="950" spc="2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Ask</a:t>
                      </a:r>
                      <a:r>
                        <a:rPr dirty="0" sz="750" spc="45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a</a:t>
                      </a:r>
                      <a:r>
                        <a:rPr dirty="0" sz="750" spc="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question:</a:t>
                      </a:r>
                      <a:r>
                        <a:rPr dirty="0" sz="750" spc="-229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950" spc="-5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,</a:t>
                      </a:r>
                      <a:r>
                        <a:rPr dirty="0" sz="950" spc="50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awaiting</a:t>
                      </a:r>
                      <a:r>
                        <a:rPr dirty="0" sz="950" spc="-3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the</a:t>
                      </a:r>
                      <a:r>
                        <a:rPr dirty="0" sz="950" spc="-3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next</a:t>
                      </a:r>
                      <a:r>
                        <a:rPr dirty="0" sz="950" spc="-3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input</a:t>
                      </a:r>
                      <a:r>
                        <a:rPr dirty="0" sz="950" spc="-3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or</a:t>
                      </a:r>
                      <a:r>
                        <a:rPr dirty="0" sz="950" spc="19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exit</a:t>
                      </a:r>
                      <a:r>
                        <a:rPr dirty="0" sz="750" spc="-235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950" spc="-5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.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27305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object 9"/>
          <p:cNvSpPr/>
          <p:nvPr/>
        </p:nvSpPr>
        <p:spPr>
          <a:xfrm>
            <a:off x="943018" y="2526523"/>
            <a:ext cx="1436370" cy="195580"/>
          </a:xfrm>
          <a:custGeom>
            <a:avLst/>
            <a:gdLst/>
            <a:ahLst/>
            <a:cxnLst/>
            <a:rect l="l" t="t" r="r" b="b"/>
            <a:pathLst>
              <a:path w="1436370" h="195580">
                <a:moveTo>
                  <a:pt x="1412535" y="195488"/>
                </a:moveTo>
                <a:lnTo>
                  <a:pt x="23389" y="195488"/>
                </a:lnTo>
                <a:lnTo>
                  <a:pt x="19950" y="194800"/>
                </a:lnTo>
                <a:lnTo>
                  <a:pt x="0" y="172102"/>
                </a:lnTo>
                <a:lnTo>
                  <a:pt x="0" y="168535"/>
                </a:lnTo>
                <a:lnTo>
                  <a:pt x="0" y="23372"/>
                </a:lnTo>
                <a:lnTo>
                  <a:pt x="23389" y="0"/>
                </a:lnTo>
                <a:lnTo>
                  <a:pt x="1412535" y="0"/>
                </a:lnTo>
                <a:lnTo>
                  <a:pt x="1435925" y="23372"/>
                </a:lnTo>
                <a:lnTo>
                  <a:pt x="1435925" y="172102"/>
                </a:lnTo>
                <a:lnTo>
                  <a:pt x="1415975" y="194800"/>
                </a:lnTo>
                <a:lnTo>
                  <a:pt x="1412535" y="195488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667402" y="2479091"/>
            <a:ext cx="3295015" cy="24511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300" spc="-30" b="1">
                <a:solidFill>
                  <a:srgbClr val="111726"/>
                </a:solidFill>
                <a:latin typeface="Trebuchet MS"/>
                <a:cs typeface="Trebuchet MS"/>
              </a:rPr>
              <a:t>1</a:t>
            </a:r>
            <a:r>
              <a:rPr dirty="0" sz="1450" spc="-30" b="1">
                <a:solidFill>
                  <a:srgbClr val="111726"/>
                </a:solidFill>
                <a:latin typeface="Source Han Sans JP"/>
                <a:cs typeface="Source Han Sans JP"/>
              </a:rPr>
              <a:t>.</a:t>
            </a:r>
            <a:r>
              <a:rPr dirty="0" sz="1300" spc="-30" b="1">
                <a:solidFill>
                  <a:srgbClr val="111726"/>
                </a:solidFill>
                <a:latin typeface="Trebuchet MS"/>
                <a:cs typeface="Trebuchet MS"/>
              </a:rPr>
              <a:t>6</a:t>
            </a:r>
            <a:r>
              <a:rPr dirty="0" sz="1300" spc="105" b="1">
                <a:solidFill>
                  <a:srgbClr val="111726"/>
                </a:solidFill>
                <a:latin typeface="Trebuchet MS"/>
                <a:cs typeface="Trebuchet MS"/>
              </a:rPr>
              <a:t> </a:t>
            </a:r>
            <a:r>
              <a:rPr dirty="0" sz="1100" b="1">
                <a:solidFill>
                  <a:srgbClr val="111726"/>
                </a:solidFill>
                <a:latin typeface="Courier New"/>
                <a:cs typeface="Courier New"/>
              </a:rPr>
              <a:t>requirements.txt</a:t>
            </a:r>
            <a:r>
              <a:rPr dirty="0" sz="1100" spc="-160" b="1">
                <a:solidFill>
                  <a:srgbClr val="111726"/>
                </a:solidFill>
                <a:latin typeface="Courier New"/>
                <a:cs typeface="Courier New"/>
              </a:rPr>
              <a:t> </a:t>
            </a:r>
            <a:r>
              <a:rPr dirty="0" sz="1450" spc="-170" b="1">
                <a:solidFill>
                  <a:srgbClr val="111726"/>
                </a:solidFill>
                <a:latin typeface="Source Han Sans JP"/>
                <a:cs typeface="Source Han Sans JP"/>
              </a:rPr>
              <a:t>(PostgreSQL</a:t>
            </a:r>
            <a:r>
              <a:rPr dirty="0" sz="1450" spc="-50" b="1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450" spc="-100" b="1">
                <a:solidFill>
                  <a:srgbClr val="111726"/>
                </a:solidFill>
                <a:latin typeface="Source Han Sans JP"/>
                <a:cs typeface="Source Han Sans JP"/>
              </a:rPr>
              <a:t>project)</a:t>
            </a:r>
            <a:endParaRPr sz="1450">
              <a:latin typeface="Source Han Sans JP"/>
              <a:cs typeface="Source Han Sans JP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61782" y="2864641"/>
            <a:ext cx="1504950" cy="198755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313055">
              <a:lnSpc>
                <a:spcPct val="149300"/>
              </a:lnSpc>
              <a:spcBef>
                <a:spcPts val="95"/>
              </a:spcBef>
            </a:pPr>
            <a:r>
              <a:rPr dirty="0" sz="800" spc="-10">
                <a:solidFill>
                  <a:srgbClr val="E4E7EB"/>
                </a:solidFill>
                <a:latin typeface="Courier New"/>
                <a:cs typeface="Courier New"/>
              </a:rPr>
              <a:t>langchain</a:t>
            </a:r>
            <a:r>
              <a:rPr dirty="0" sz="800" spc="50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langchain-</a:t>
            </a:r>
            <a:r>
              <a:rPr dirty="0" sz="800" spc="-10">
                <a:solidFill>
                  <a:srgbClr val="E4E7EB"/>
                </a:solidFill>
                <a:latin typeface="Courier New"/>
                <a:cs typeface="Courier New"/>
              </a:rPr>
              <a:t>community</a:t>
            </a:r>
            <a:endParaRPr sz="800">
              <a:latin typeface="Courier New"/>
              <a:cs typeface="Courier New"/>
            </a:endParaRPr>
          </a:p>
          <a:p>
            <a:pPr marL="12700" marR="5080">
              <a:lnSpc>
                <a:spcPct val="143800"/>
              </a:lnSpc>
            </a:pP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langchain-text-</a:t>
            </a:r>
            <a:r>
              <a:rPr dirty="0" sz="800" spc="-10">
                <a:solidFill>
                  <a:srgbClr val="E4E7EB"/>
                </a:solidFill>
                <a:latin typeface="Courier New"/>
                <a:cs typeface="Courier New"/>
              </a:rPr>
              <a:t>splitters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sentence-</a:t>
            </a:r>
            <a:r>
              <a:rPr dirty="0" sz="800" spc="-10">
                <a:solidFill>
                  <a:srgbClr val="E4E7EB"/>
                </a:solidFill>
                <a:latin typeface="Courier New"/>
                <a:cs typeface="Courier New"/>
              </a:rPr>
              <a:t>transformers</a:t>
            </a:r>
            <a:endParaRPr sz="800">
              <a:latin typeface="Courier New"/>
              <a:cs typeface="Courier New"/>
            </a:endParaRPr>
          </a:p>
          <a:p>
            <a:pPr marL="12700" marR="559435">
              <a:lnSpc>
                <a:spcPct val="146000"/>
              </a:lnSpc>
              <a:spcBef>
                <a:spcPts val="35"/>
              </a:spcBef>
            </a:pPr>
            <a:r>
              <a:rPr dirty="0" sz="800" spc="-10">
                <a:solidFill>
                  <a:srgbClr val="E4E7EB"/>
                </a:solidFill>
                <a:latin typeface="Courier New"/>
                <a:cs typeface="Courier New"/>
              </a:rPr>
              <a:t>sqlalchemy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psycopg2-</a:t>
            </a:r>
            <a:r>
              <a:rPr dirty="0" sz="800" spc="-10">
                <a:solidFill>
                  <a:srgbClr val="E4E7EB"/>
                </a:solidFill>
                <a:latin typeface="Courier New"/>
                <a:cs typeface="Courier New"/>
              </a:rPr>
              <a:t>binary pgvector transformers accelerate</a:t>
            </a:r>
            <a:r>
              <a:rPr dirty="0" sz="800" spc="50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 spc="-10">
                <a:solidFill>
                  <a:srgbClr val="E4E7EB"/>
                </a:solidFill>
                <a:latin typeface="Courier New"/>
                <a:cs typeface="Courier New"/>
              </a:rPr>
              <a:t>torch</a:t>
            </a:r>
            <a:endParaRPr sz="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420"/>
              </a:spcBef>
            </a:pPr>
            <a:r>
              <a:rPr dirty="0" sz="800" spc="-10">
                <a:solidFill>
                  <a:srgbClr val="E4E7EB"/>
                </a:solidFill>
                <a:latin typeface="Courier New"/>
                <a:cs typeface="Courier New"/>
              </a:rPr>
              <a:t>pypdf</a:t>
            </a:r>
            <a:endParaRPr sz="800">
              <a:latin typeface="Courier New"/>
              <a:cs typeface="Courier New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754257" y="5445564"/>
            <a:ext cx="586740" cy="141605"/>
          </a:xfrm>
          <a:custGeom>
            <a:avLst/>
            <a:gdLst/>
            <a:ahLst/>
            <a:cxnLst/>
            <a:rect l="l" t="t" r="r" b="b"/>
            <a:pathLst>
              <a:path w="586740" h="141604">
                <a:moveTo>
                  <a:pt x="563114" y="141556"/>
                </a:moveTo>
                <a:lnTo>
                  <a:pt x="23389" y="141556"/>
                </a:lnTo>
                <a:lnTo>
                  <a:pt x="19950" y="140869"/>
                </a:lnTo>
                <a:lnTo>
                  <a:pt x="0" y="118170"/>
                </a:lnTo>
                <a:lnTo>
                  <a:pt x="0" y="114604"/>
                </a:lnTo>
                <a:lnTo>
                  <a:pt x="0" y="23372"/>
                </a:lnTo>
                <a:lnTo>
                  <a:pt x="23389" y="0"/>
                </a:lnTo>
                <a:lnTo>
                  <a:pt x="563114" y="0"/>
                </a:lnTo>
                <a:lnTo>
                  <a:pt x="586504" y="23372"/>
                </a:lnTo>
                <a:lnTo>
                  <a:pt x="586504" y="118170"/>
                </a:lnTo>
                <a:lnTo>
                  <a:pt x="566554" y="140869"/>
                </a:lnTo>
                <a:lnTo>
                  <a:pt x="563114" y="141556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754257" y="5735446"/>
            <a:ext cx="1179830" cy="141605"/>
          </a:xfrm>
          <a:custGeom>
            <a:avLst/>
            <a:gdLst/>
            <a:ahLst/>
            <a:cxnLst/>
            <a:rect l="l" t="t" r="r" b="b"/>
            <a:pathLst>
              <a:path w="1179830" h="141604">
                <a:moveTo>
                  <a:pt x="1156360" y="141556"/>
                </a:moveTo>
                <a:lnTo>
                  <a:pt x="23389" y="141556"/>
                </a:lnTo>
                <a:lnTo>
                  <a:pt x="19950" y="140869"/>
                </a:lnTo>
                <a:lnTo>
                  <a:pt x="0" y="118170"/>
                </a:lnTo>
                <a:lnTo>
                  <a:pt x="0" y="114604"/>
                </a:lnTo>
                <a:lnTo>
                  <a:pt x="0" y="23386"/>
                </a:lnTo>
                <a:lnTo>
                  <a:pt x="23389" y="0"/>
                </a:lnTo>
                <a:lnTo>
                  <a:pt x="1156360" y="0"/>
                </a:lnTo>
                <a:lnTo>
                  <a:pt x="1179750" y="23386"/>
                </a:lnTo>
                <a:lnTo>
                  <a:pt x="1179750" y="118170"/>
                </a:lnTo>
                <a:lnTo>
                  <a:pt x="1159800" y="140869"/>
                </a:lnTo>
                <a:lnTo>
                  <a:pt x="1156360" y="141556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4563167" y="5735446"/>
            <a:ext cx="708025" cy="141605"/>
          </a:xfrm>
          <a:custGeom>
            <a:avLst/>
            <a:gdLst/>
            <a:ahLst/>
            <a:cxnLst/>
            <a:rect l="l" t="t" r="r" b="b"/>
            <a:pathLst>
              <a:path w="708025" h="141604">
                <a:moveTo>
                  <a:pt x="684460" y="141556"/>
                </a:moveTo>
                <a:lnTo>
                  <a:pt x="23390" y="141556"/>
                </a:lnTo>
                <a:lnTo>
                  <a:pt x="19949" y="140869"/>
                </a:lnTo>
                <a:lnTo>
                  <a:pt x="0" y="118170"/>
                </a:lnTo>
                <a:lnTo>
                  <a:pt x="0" y="114604"/>
                </a:lnTo>
                <a:lnTo>
                  <a:pt x="0" y="23386"/>
                </a:lnTo>
                <a:lnTo>
                  <a:pt x="23390" y="0"/>
                </a:lnTo>
                <a:lnTo>
                  <a:pt x="684460" y="0"/>
                </a:lnTo>
                <a:lnTo>
                  <a:pt x="707850" y="23386"/>
                </a:lnTo>
                <a:lnTo>
                  <a:pt x="707850" y="118170"/>
                </a:lnTo>
                <a:lnTo>
                  <a:pt x="687900" y="140869"/>
                </a:lnTo>
                <a:lnTo>
                  <a:pt x="684460" y="141556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754253" y="6025324"/>
            <a:ext cx="916940" cy="316865"/>
          </a:xfrm>
          <a:custGeom>
            <a:avLst/>
            <a:gdLst/>
            <a:ahLst/>
            <a:cxnLst/>
            <a:rect l="l" t="t" r="r" b="b"/>
            <a:pathLst>
              <a:path w="916939" h="316864">
                <a:moveTo>
                  <a:pt x="559536" y="198653"/>
                </a:moveTo>
                <a:lnTo>
                  <a:pt x="536143" y="175272"/>
                </a:lnTo>
                <a:lnTo>
                  <a:pt x="0" y="175272"/>
                </a:lnTo>
                <a:lnTo>
                  <a:pt x="0" y="316839"/>
                </a:lnTo>
                <a:lnTo>
                  <a:pt x="536143" y="316839"/>
                </a:lnTo>
                <a:lnTo>
                  <a:pt x="559536" y="293446"/>
                </a:lnTo>
                <a:lnTo>
                  <a:pt x="559536" y="198653"/>
                </a:lnTo>
                <a:close/>
              </a:path>
              <a:path w="916939" h="316864">
                <a:moveTo>
                  <a:pt x="916838" y="0"/>
                </a:moveTo>
                <a:lnTo>
                  <a:pt x="23393" y="0"/>
                </a:lnTo>
                <a:lnTo>
                  <a:pt x="19951" y="685"/>
                </a:lnTo>
                <a:lnTo>
                  <a:pt x="0" y="23368"/>
                </a:lnTo>
                <a:lnTo>
                  <a:pt x="0" y="118173"/>
                </a:lnTo>
                <a:lnTo>
                  <a:pt x="23393" y="141566"/>
                </a:lnTo>
                <a:lnTo>
                  <a:pt x="916838" y="141566"/>
                </a:lnTo>
                <a:lnTo>
                  <a:pt x="916838" y="0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2722756" y="6025327"/>
            <a:ext cx="1827530" cy="141605"/>
          </a:xfrm>
          <a:custGeom>
            <a:avLst/>
            <a:gdLst/>
            <a:ahLst/>
            <a:cxnLst/>
            <a:rect l="l" t="t" r="r" b="b"/>
            <a:pathLst>
              <a:path w="1827529" h="141604">
                <a:moveTo>
                  <a:pt x="1803538" y="141556"/>
                </a:moveTo>
                <a:lnTo>
                  <a:pt x="23389" y="141556"/>
                </a:lnTo>
                <a:lnTo>
                  <a:pt x="19949" y="140869"/>
                </a:lnTo>
                <a:lnTo>
                  <a:pt x="0" y="118170"/>
                </a:lnTo>
                <a:lnTo>
                  <a:pt x="0" y="114604"/>
                </a:lnTo>
                <a:lnTo>
                  <a:pt x="0" y="23372"/>
                </a:lnTo>
                <a:lnTo>
                  <a:pt x="23389" y="0"/>
                </a:lnTo>
                <a:lnTo>
                  <a:pt x="1803538" y="0"/>
                </a:lnTo>
                <a:lnTo>
                  <a:pt x="1826928" y="23372"/>
                </a:lnTo>
                <a:lnTo>
                  <a:pt x="1826928" y="118170"/>
                </a:lnTo>
                <a:lnTo>
                  <a:pt x="1806978" y="140869"/>
                </a:lnTo>
                <a:lnTo>
                  <a:pt x="1803538" y="141556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754257" y="6490486"/>
            <a:ext cx="1294765" cy="141605"/>
          </a:xfrm>
          <a:custGeom>
            <a:avLst/>
            <a:gdLst/>
            <a:ahLst/>
            <a:cxnLst/>
            <a:rect l="l" t="t" r="r" b="b"/>
            <a:pathLst>
              <a:path w="1294764" h="141604">
                <a:moveTo>
                  <a:pt x="1270965" y="141556"/>
                </a:moveTo>
                <a:lnTo>
                  <a:pt x="23389" y="141556"/>
                </a:lnTo>
                <a:lnTo>
                  <a:pt x="19950" y="140862"/>
                </a:lnTo>
                <a:lnTo>
                  <a:pt x="0" y="118170"/>
                </a:lnTo>
                <a:lnTo>
                  <a:pt x="0" y="114604"/>
                </a:lnTo>
                <a:lnTo>
                  <a:pt x="0" y="23386"/>
                </a:lnTo>
                <a:lnTo>
                  <a:pt x="23389" y="0"/>
                </a:lnTo>
                <a:lnTo>
                  <a:pt x="1270965" y="0"/>
                </a:lnTo>
                <a:lnTo>
                  <a:pt x="1294355" y="23386"/>
                </a:lnTo>
                <a:lnTo>
                  <a:pt x="1294355" y="118170"/>
                </a:lnTo>
                <a:lnTo>
                  <a:pt x="1274405" y="140862"/>
                </a:lnTo>
                <a:lnTo>
                  <a:pt x="1270965" y="141556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754257" y="6780368"/>
            <a:ext cx="647700" cy="141605"/>
          </a:xfrm>
          <a:custGeom>
            <a:avLst/>
            <a:gdLst/>
            <a:ahLst/>
            <a:cxnLst/>
            <a:rect l="l" t="t" r="r" b="b"/>
            <a:pathLst>
              <a:path w="647700" h="141604">
                <a:moveTo>
                  <a:pt x="623787" y="141556"/>
                </a:moveTo>
                <a:lnTo>
                  <a:pt x="23389" y="141556"/>
                </a:lnTo>
                <a:lnTo>
                  <a:pt x="19950" y="140869"/>
                </a:lnTo>
                <a:lnTo>
                  <a:pt x="0" y="118170"/>
                </a:lnTo>
                <a:lnTo>
                  <a:pt x="0" y="114604"/>
                </a:lnTo>
                <a:lnTo>
                  <a:pt x="0" y="23386"/>
                </a:lnTo>
                <a:lnTo>
                  <a:pt x="23389" y="0"/>
                </a:lnTo>
                <a:lnTo>
                  <a:pt x="623787" y="0"/>
                </a:lnTo>
                <a:lnTo>
                  <a:pt x="647177" y="23386"/>
                </a:lnTo>
                <a:lnTo>
                  <a:pt x="647177" y="118170"/>
                </a:lnTo>
                <a:lnTo>
                  <a:pt x="627227" y="140869"/>
                </a:lnTo>
                <a:lnTo>
                  <a:pt x="623787" y="141556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754257" y="7070249"/>
            <a:ext cx="944244" cy="141605"/>
          </a:xfrm>
          <a:custGeom>
            <a:avLst/>
            <a:gdLst/>
            <a:ahLst/>
            <a:cxnLst/>
            <a:rect l="l" t="t" r="r" b="b"/>
            <a:pathLst>
              <a:path w="944244" h="141604">
                <a:moveTo>
                  <a:pt x="920410" y="141556"/>
                </a:moveTo>
                <a:lnTo>
                  <a:pt x="23389" y="141556"/>
                </a:lnTo>
                <a:lnTo>
                  <a:pt x="19950" y="140869"/>
                </a:lnTo>
                <a:lnTo>
                  <a:pt x="0" y="118170"/>
                </a:lnTo>
                <a:lnTo>
                  <a:pt x="0" y="114604"/>
                </a:lnTo>
                <a:lnTo>
                  <a:pt x="0" y="23372"/>
                </a:lnTo>
                <a:lnTo>
                  <a:pt x="23389" y="0"/>
                </a:lnTo>
                <a:lnTo>
                  <a:pt x="920410" y="0"/>
                </a:lnTo>
                <a:lnTo>
                  <a:pt x="943800" y="23372"/>
                </a:lnTo>
                <a:lnTo>
                  <a:pt x="943800" y="118170"/>
                </a:lnTo>
                <a:lnTo>
                  <a:pt x="923850" y="140869"/>
                </a:lnTo>
                <a:lnTo>
                  <a:pt x="920410" y="141556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5372139" y="7070249"/>
            <a:ext cx="586740" cy="141605"/>
          </a:xfrm>
          <a:custGeom>
            <a:avLst/>
            <a:gdLst/>
            <a:ahLst/>
            <a:cxnLst/>
            <a:rect l="l" t="t" r="r" b="b"/>
            <a:pathLst>
              <a:path w="586739" h="141604">
                <a:moveTo>
                  <a:pt x="563114" y="141556"/>
                </a:moveTo>
                <a:lnTo>
                  <a:pt x="23390" y="141556"/>
                </a:lnTo>
                <a:lnTo>
                  <a:pt x="19950" y="140869"/>
                </a:lnTo>
                <a:lnTo>
                  <a:pt x="0" y="118170"/>
                </a:lnTo>
                <a:lnTo>
                  <a:pt x="0" y="114604"/>
                </a:lnTo>
                <a:lnTo>
                  <a:pt x="0" y="23372"/>
                </a:lnTo>
                <a:lnTo>
                  <a:pt x="23390" y="0"/>
                </a:lnTo>
                <a:lnTo>
                  <a:pt x="563114" y="0"/>
                </a:lnTo>
                <a:lnTo>
                  <a:pt x="586504" y="23372"/>
                </a:lnTo>
                <a:lnTo>
                  <a:pt x="586504" y="118170"/>
                </a:lnTo>
                <a:lnTo>
                  <a:pt x="566554" y="140869"/>
                </a:lnTo>
                <a:lnTo>
                  <a:pt x="563114" y="141556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754257" y="7535409"/>
            <a:ext cx="526415" cy="141605"/>
          </a:xfrm>
          <a:custGeom>
            <a:avLst/>
            <a:gdLst/>
            <a:ahLst/>
            <a:cxnLst/>
            <a:rect l="l" t="t" r="r" b="b"/>
            <a:pathLst>
              <a:path w="526415" h="141604">
                <a:moveTo>
                  <a:pt x="502441" y="141556"/>
                </a:moveTo>
                <a:lnTo>
                  <a:pt x="23389" y="141556"/>
                </a:lnTo>
                <a:lnTo>
                  <a:pt x="19950" y="140869"/>
                </a:lnTo>
                <a:lnTo>
                  <a:pt x="0" y="118157"/>
                </a:lnTo>
                <a:lnTo>
                  <a:pt x="0" y="114604"/>
                </a:lnTo>
                <a:lnTo>
                  <a:pt x="0" y="23372"/>
                </a:lnTo>
                <a:lnTo>
                  <a:pt x="23389" y="0"/>
                </a:lnTo>
                <a:lnTo>
                  <a:pt x="502441" y="0"/>
                </a:lnTo>
                <a:lnTo>
                  <a:pt x="525831" y="23372"/>
                </a:lnTo>
                <a:lnTo>
                  <a:pt x="525831" y="118157"/>
                </a:lnTo>
                <a:lnTo>
                  <a:pt x="505881" y="140869"/>
                </a:lnTo>
                <a:lnTo>
                  <a:pt x="502441" y="141556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4522719" y="7535409"/>
            <a:ext cx="411480" cy="141605"/>
          </a:xfrm>
          <a:custGeom>
            <a:avLst/>
            <a:gdLst/>
            <a:ahLst/>
            <a:cxnLst/>
            <a:rect l="l" t="t" r="r" b="b"/>
            <a:pathLst>
              <a:path w="411479" h="141604">
                <a:moveTo>
                  <a:pt x="387837" y="141556"/>
                </a:moveTo>
                <a:lnTo>
                  <a:pt x="23390" y="141556"/>
                </a:lnTo>
                <a:lnTo>
                  <a:pt x="19950" y="140869"/>
                </a:lnTo>
                <a:lnTo>
                  <a:pt x="0" y="118157"/>
                </a:lnTo>
                <a:lnTo>
                  <a:pt x="0" y="114604"/>
                </a:lnTo>
                <a:lnTo>
                  <a:pt x="0" y="23372"/>
                </a:lnTo>
                <a:lnTo>
                  <a:pt x="23390" y="0"/>
                </a:lnTo>
                <a:lnTo>
                  <a:pt x="387837" y="0"/>
                </a:lnTo>
                <a:lnTo>
                  <a:pt x="411227" y="23372"/>
                </a:lnTo>
                <a:lnTo>
                  <a:pt x="411227" y="118157"/>
                </a:lnTo>
                <a:lnTo>
                  <a:pt x="391277" y="140869"/>
                </a:lnTo>
                <a:lnTo>
                  <a:pt x="387837" y="141556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754257" y="7825290"/>
            <a:ext cx="762000" cy="141605"/>
          </a:xfrm>
          <a:custGeom>
            <a:avLst/>
            <a:gdLst/>
            <a:ahLst/>
            <a:cxnLst/>
            <a:rect l="l" t="t" r="r" b="b"/>
            <a:pathLst>
              <a:path w="762000" h="141604">
                <a:moveTo>
                  <a:pt x="738392" y="141556"/>
                </a:moveTo>
                <a:lnTo>
                  <a:pt x="23389" y="141556"/>
                </a:lnTo>
                <a:lnTo>
                  <a:pt x="19950" y="140869"/>
                </a:lnTo>
                <a:lnTo>
                  <a:pt x="0" y="118157"/>
                </a:lnTo>
                <a:lnTo>
                  <a:pt x="0" y="114604"/>
                </a:lnTo>
                <a:lnTo>
                  <a:pt x="0" y="23372"/>
                </a:lnTo>
                <a:lnTo>
                  <a:pt x="23389" y="0"/>
                </a:lnTo>
                <a:lnTo>
                  <a:pt x="738392" y="0"/>
                </a:lnTo>
                <a:lnTo>
                  <a:pt x="761781" y="23372"/>
                </a:lnTo>
                <a:lnTo>
                  <a:pt x="761781" y="118157"/>
                </a:lnTo>
                <a:lnTo>
                  <a:pt x="741831" y="140869"/>
                </a:lnTo>
                <a:lnTo>
                  <a:pt x="738392" y="141556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754257" y="8115172"/>
            <a:ext cx="647700" cy="141605"/>
          </a:xfrm>
          <a:custGeom>
            <a:avLst/>
            <a:gdLst/>
            <a:ahLst/>
            <a:cxnLst/>
            <a:rect l="l" t="t" r="r" b="b"/>
            <a:pathLst>
              <a:path w="647700" h="141604">
                <a:moveTo>
                  <a:pt x="623787" y="141556"/>
                </a:moveTo>
                <a:lnTo>
                  <a:pt x="23389" y="141556"/>
                </a:lnTo>
                <a:lnTo>
                  <a:pt x="19950" y="140869"/>
                </a:lnTo>
                <a:lnTo>
                  <a:pt x="0" y="118157"/>
                </a:lnTo>
                <a:lnTo>
                  <a:pt x="0" y="114604"/>
                </a:lnTo>
                <a:lnTo>
                  <a:pt x="0" y="23372"/>
                </a:lnTo>
                <a:lnTo>
                  <a:pt x="23389" y="0"/>
                </a:lnTo>
                <a:lnTo>
                  <a:pt x="623787" y="0"/>
                </a:lnTo>
                <a:lnTo>
                  <a:pt x="647177" y="23372"/>
                </a:lnTo>
                <a:lnTo>
                  <a:pt x="647177" y="118157"/>
                </a:lnTo>
                <a:lnTo>
                  <a:pt x="627227" y="140869"/>
                </a:lnTo>
                <a:lnTo>
                  <a:pt x="623787" y="141556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2574444" y="8115172"/>
            <a:ext cx="768985" cy="141605"/>
          </a:xfrm>
          <a:custGeom>
            <a:avLst/>
            <a:gdLst/>
            <a:ahLst/>
            <a:cxnLst/>
            <a:rect l="l" t="t" r="r" b="b"/>
            <a:pathLst>
              <a:path w="768985" h="141604">
                <a:moveTo>
                  <a:pt x="745133" y="141556"/>
                </a:moveTo>
                <a:lnTo>
                  <a:pt x="23389" y="141556"/>
                </a:lnTo>
                <a:lnTo>
                  <a:pt x="19950" y="140869"/>
                </a:lnTo>
                <a:lnTo>
                  <a:pt x="0" y="118157"/>
                </a:lnTo>
                <a:lnTo>
                  <a:pt x="0" y="114604"/>
                </a:lnTo>
                <a:lnTo>
                  <a:pt x="0" y="23372"/>
                </a:lnTo>
                <a:lnTo>
                  <a:pt x="23389" y="0"/>
                </a:lnTo>
                <a:lnTo>
                  <a:pt x="745133" y="0"/>
                </a:lnTo>
                <a:lnTo>
                  <a:pt x="768523" y="23372"/>
                </a:lnTo>
                <a:lnTo>
                  <a:pt x="768523" y="118157"/>
                </a:lnTo>
                <a:lnTo>
                  <a:pt x="748573" y="140869"/>
                </a:lnTo>
                <a:lnTo>
                  <a:pt x="745133" y="141556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5412588" y="8115172"/>
            <a:ext cx="1065530" cy="141605"/>
          </a:xfrm>
          <a:custGeom>
            <a:avLst/>
            <a:gdLst/>
            <a:ahLst/>
            <a:cxnLst/>
            <a:rect l="l" t="t" r="r" b="b"/>
            <a:pathLst>
              <a:path w="1065529" h="141604">
                <a:moveTo>
                  <a:pt x="1041756" y="141556"/>
                </a:moveTo>
                <a:lnTo>
                  <a:pt x="23390" y="141556"/>
                </a:lnTo>
                <a:lnTo>
                  <a:pt x="19949" y="140869"/>
                </a:lnTo>
                <a:lnTo>
                  <a:pt x="0" y="118157"/>
                </a:lnTo>
                <a:lnTo>
                  <a:pt x="0" y="114604"/>
                </a:lnTo>
                <a:lnTo>
                  <a:pt x="0" y="23372"/>
                </a:lnTo>
                <a:lnTo>
                  <a:pt x="23390" y="0"/>
                </a:lnTo>
                <a:lnTo>
                  <a:pt x="1041756" y="0"/>
                </a:lnTo>
                <a:lnTo>
                  <a:pt x="1065146" y="23372"/>
                </a:lnTo>
                <a:lnTo>
                  <a:pt x="1065146" y="118157"/>
                </a:lnTo>
                <a:lnTo>
                  <a:pt x="1045196" y="140869"/>
                </a:lnTo>
                <a:lnTo>
                  <a:pt x="1041756" y="141556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754257" y="8405053"/>
            <a:ext cx="351155" cy="141605"/>
          </a:xfrm>
          <a:custGeom>
            <a:avLst/>
            <a:gdLst/>
            <a:ahLst/>
            <a:cxnLst/>
            <a:rect l="l" t="t" r="r" b="b"/>
            <a:pathLst>
              <a:path w="351155" h="141604">
                <a:moveTo>
                  <a:pt x="327164" y="141556"/>
                </a:moveTo>
                <a:lnTo>
                  <a:pt x="23389" y="141556"/>
                </a:lnTo>
                <a:lnTo>
                  <a:pt x="19950" y="140869"/>
                </a:lnTo>
                <a:lnTo>
                  <a:pt x="0" y="118170"/>
                </a:lnTo>
                <a:lnTo>
                  <a:pt x="0" y="114604"/>
                </a:lnTo>
                <a:lnTo>
                  <a:pt x="0" y="23372"/>
                </a:lnTo>
                <a:lnTo>
                  <a:pt x="23389" y="0"/>
                </a:lnTo>
                <a:lnTo>
                  <a:pt x="327164" y="0"/>
                </a:lnTo>
                <a:lnTo>
                  <a:pt x="350554" y="23372"/>
                </a:lnTo>
                <a:lnTo>
                  <a:pt x="350554" y="118170"/>
                </a:lnTo>
                <a:lnTo>
                  <a:pt x="330604" y="140869"/>
                </a:lnTo>
                <a:lnTo>
                  <a:pt x="327164" y="141556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4880015" y="8405053"/>
            <a:ext cx="1301115" cy="141605"/>
          </a:xfrm>
          <a:custGeom>
            <a:avLst/>
            <a:gdLst/>
            <a:ahLst/>
            <a:cxnLst/>
            <a:rect l="l" t="t" r="r" b="b"/>
            <a:pathLst>
              <a:path w="1301114" h="141604">
                <a:moveTo>
                  <a:pt x="1277706" y="141556"/>
                </a:moveTo>
                <a:lnTo>
                  <a:pt x="23389" y="141556"/>
                </a:lnTo>
                <a:lnTo>
                  <a:pt x="19949" y="140869"/>
                </a:lnTo>
                <a:lnTo>
                  <a:pt x="0" y="118170"/>
                </a:lnTo>
                <a:lnTo>
                  <a:pt x="0" y="114604"/>
                </a:lnTo>
                <a:lnTo>
                  <a:pt x="0" y="23372"/>
                </a:lnTo>
                <a:lnTo>
                  <a:pt x="23389" y="0"/>
                </a:lnTo>
                <a:lnTo>
                  <a:pt x="1277706" y="0"/>
                </a:lnTo>
                <a:lnTo>
                  <a:pt x="1301096" y="23372"/>
                </a:lnTo>
                <a:lnTo>
                  <a:pt x="1301096" y="118170"/>
                </a:lnTo>
                <a:lnTo>
                  <a:pt x="1281146" y="140869"/>
                </a:lnTo>
                <a:lnTo>
                  <a:pt x="1277706" y="141556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2277822" y="8580331"/>
            <a:ext cx="762000" cy="141605"/>
          </a:xfrm>
          <a:custGeom>
            <a:avLst/>
            <a:gdLst/>
            <a:ahLst/>
            <a:cxnLst/>
            <a:rect l="l" t="t" r="r" b="b"/>
            <a:pathLst>
              <a:path w="762000" h="141604">
                <a:moveTo>
                  <a:pt x="738391" y="141556"/>
                </a:moveTo>
                <a:lnTo>
                  <a:pt x="23389" y="141556"/>
                </a:lnTo>
                <a:lnTo>
                  <a:pt x="19950" y="140862"/>
                </a:lnTo>
                <a:lnTo>
                  <a:pt x="0" y="118170"/>
                </a:lnTo>
                <a:lnTo>
                  <a:pt x="0" y="114604"/>
                </a:lnTo>
                <a:lnTo>
                  <a:pt x="0" y="23386"/>
                </a:lnTo>
                <a:lnTo>
                  <a:pt x="23389" y="0"/>
                </a:lnTo>
                <a:lnTo>
                  <a:pt x="738391" y="0"/>
                </a:lnTo>
                <a:lnTo>
                  <a:pt x="761781" y="23386"/>
                </a:lnTo>
                <a:lnTo>
                  <a:pt x="761781" y="118170"/>
                </a:lnTo>
                <a:lnTo>
                  <a:pt x="741831" y="140862"/>
                </a:lnTo>
                <a:lnTo>
                  <a:pt x="738391" y="141556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754257" y="8870212"/>
            <a:ext cx="351155" cy="141605"/>
          </a:xfrm>
          <a:custGeom>
            <a:avLst/>
            <a:gdLst/>
            <a:ahLst/>
            <a:cxnLst/>
            <a:rect l="l" t="t" r="r" b="b"/>
            <a:pathLst>
              <a:path w="351155" h="141604">
                <a:moveTo>
                  <a:pt x="327164" y="141556"/>
                </a:moveTo>
                <a:lnTo>
                  <a:pt x="23389" y="141556"/>
                </a:lnTo>
                <a:lnTo>
                  <a:pt x="19950" y="140862"/>
                </a:lnTo>
                <a:lnTo>
                  <a:pt x="0" y="118170"/>
                </a:lnTo>
                <a:lnTo>
                  <a:pt x="0" y="114604"/>
                </a:lnTo>
                <a:lnTo>
                  <a:pt x="0" y="23386"/>
                </a:lnTo>
                <a:lnTo>
                  <a:pt x="23389" y="0"/>
                </a:lnTo>
                <a:lnTo>
                  <a:pt x="327164" y="0"/>
                </a:lnTo>
                <a:lnTo>
                  <a:pt x="350554" y="23386"/>
                </a:lnTo>
                <a:lnTo>
                  <a:pt x="350554" y="118170"/>
                </a:lnTo>
                <a:lnTo>
                  <a:pt x="330604" y="140862"/>
                </a:lnTo>
                <a:lnTo>
                  <a:pt x="327164" y="141556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4327217" y="8870212"/>
            <a:ext cx="708025" cy="141605"/>
          </a:xfrm>
          <a:custGeom>
            <a:avLst/>
            <a:gdLst/>
            <a:ahLst/>
            <a:cxnLst/>
            <a:rect l="l" t="t" r="r" b="b"/>
            <a:pathLst>
              <a:path w="708025" h="141604">
                <a:moveTo>
                  <a:pt x="684460" y="141556"/>
                </a:moveTo>
                <a:lnTo>
                  <a:pt x="23390" y="141556"/>
                </a:lnTo>
                <a:lnTo>
                  <a:pt x="19950" y="140862"/>
                </a:lnTo>
                <a:lnTo>
                  <a:pt x="0" y="118170"/>
                </a:lnTo>
                <a:lnTo>
                  <a:pt x="0" y="114604"/>
                </a:lnTo>
                <a:lnTo>
                  <a:pt x="0" y="23386"/>
                </a:lnTo>
                <a:lnTo>
                  <a:pt x="23390" y="0"/>
                </a:lnTo>
                <a:lnTo>
                  <a:pt x="684460" y="0"/>
                </a:lnTo>
                <a:lnTo>
                  <a:pt x="707850" y="23386"/>
                </a:lnTo>
                <a:lnTo>
                  <a:pt x="707850" y="118170"/>
                </a:lnTo>
                <a:lnTo>
                  <a:pt x="687900" y="140862"/>
                </a:lnTo>
                <a:lnTo>
                  <a:pt x="684460" y="141556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graphicFrame>
        <p:nvGraphicFramePr>
          <p:cNvPr id="32" name="object 32"/>
          <p:cNvGraphicFramePr>
            <a:graphicFrameLocks noGrp="1"/>
          </p:cNvGraphicFramePr>
          <p:nvPr/>
        </p:nvGraphicFramePr>
        <p:xfrm>
          <a:off x="680102" y="5081527"/>
          <a:ext cx="6278880" cy="39935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23365"/>
                <a:gridCol w="4671695"/>
              </a:tblGrid>
              <a:tr h="282575">
                <a:tc>
                  <a:txBody>
                    <a:bodyPr/>
                    <a:lstStyle/>
                    <a:p>
                      <a:pPr marL="70485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950" spc="-20" b="1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Line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64769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marL="70485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950" spc="-10" b="1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Purpose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64769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  <a:solidFill>
                      <a:srgbClr val="F7FAFB"/>
                    </a:solidFill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dirty="0" sz="750" spc="-1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langchain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90170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0485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Core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LangChain</a:t>
                      </a:r>
                      <a:r>
                        <a:rPr dirty="0" sz="95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framework</a:t>
                      </a:r>
                      <a:r>
                        <a:rPr dirty="0" sz="95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(chains,</a:t>
                      </a:r>
                      <a:r>
                        <a:rPr dirty="0" sz="95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9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document</a:t>
                      </a:r>
                      <a:r>
                        <a:rPr dirty="0" sz="95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abstractions).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64769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langchain-</a:t>
                      </a:r>
                      <a:r>
                        <a:rPr dirty="0" sz="750" spc="-1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community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90170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0485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950" spc="-9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Community-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maintained</a:t>
                      </a:r>
                      <a:r>
                        <a:rPr dirty="0" sz="950" spc="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integrations,</a:t>
                      </a:r>
                      <a:r>
                        <a:rPr dirty="0" sz="950" spc="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6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including</a:t>
                      </a:r>
                      <a:r>
                        <a:rPr dirty="0" sz="950" spc="2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PyPDFLoader</a:t>
                      </a:r>
                      <a:r>
                        <a:rPr dirty="0" sz="750" spc="-185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950" spc="-5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.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64769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</a:tr>
              <a:tr h="464820">
                <a:tc>
                  <a:txBody>
                    <a:bodyPr/>
                    <a:lstStyle/>
                    <a:p>
                      <a:pPr marL="70485" marR="530225" indent="26670">
                        <a:lnSpc>
                          <a:spcPct val="153300"/>
                        </a:lnSpc>
                        <a:spcBef>
                          <a:spcPts val="229"/>
                        </a:spcBef>
                      </a:pP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langchain-</a:t>
                      </a:r>
                      <a:r>
                        <a:rPr dirty="0" sz="750" spc="-2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text-</a:t>
                      </a:r>
                      <a:r>
                        <a:rPr dirty="0" sz="750" spc="-1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splitters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29209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0485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950" spc="-6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Provides</a:t>
                      </a:r>
                      <a:r>
                        <a:rPr dirty="0" sz="950" spc="30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RecursiveCharacterTextSplitter</a:t>
                      </a:r>
                      <a:r>
                        <a:rPr dirty="0" sz="750" spc="-17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950" spc="-5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.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64769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sentence-</a:t>
                      </a:r>
                      <a:r>
                        <a:rPr dirty="0" sz="750" spc="-1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transformers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90170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0485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950" spc="-9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Loads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and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runs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the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9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embedding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model.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64769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dirty="0" sz="750" spc="-1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sqlalchemy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90170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0485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950" spc="-10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ORM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6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/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9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database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toolkit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used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to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talk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to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PostgreSQL.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64769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</a:tr>
              <a:tr h="464820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psycopg2-</a:t>
                      </a:r>
                      <a:r>
                        <a:rPr dirty="0" sz="750" spc="-1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binary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90170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0485" marR="617220">
                        <a:lnSpc>
                          <a:spcPct val="121100"/>
                        </a:lnSpc>
                        <a:spcBef>
                          <a:spcPts val="270"/>
                        </a:spcBef>
                      </a:pPr>
                      <a:r>
                        <a:rPr dirty="0" sz="950" spc="-9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The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9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PostgreSQL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DBAPI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driver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SQLAlchemy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uses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under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the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9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hood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(</a:t>
                      </a:r>
                      <a:r>
                        <a:rPr dirty="0" sz="950" spc="2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+psycopg2</a:t>
                      </a:r>
                      <a:r>
                        <a:rPr dirty="0" sz="750" spc="-5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in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2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the</a:t>
                      </a:r>
                      <a:r>
                        <a:rPr dirty="0" sz="950" spc="50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connection</a:t>
                      </a:r>
                      <a:r>
                        <a:rPr dirty="0" sz="950" spc="2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string).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34290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dirty="0" sz="750" spc="-1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pgvector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90170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0485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Python/SQLAlchemy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integration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for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Postgres's</a:t>
                      </a:r>
                      <a:r>
                        <a:rPr dirty="0" sz="950" spc="23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vector</a:t>
                      </a:r>
                      <a:r>
                        <a:rPr dirty="0" sz="750" spc="5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type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and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operators.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64769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dirty="0" sz="750" spc="-1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transformers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90170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0485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Hugging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9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Face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library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used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to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load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and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run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the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9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Qwen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2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LLM.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64769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dirty="0" sz="750" spc="-1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accelerate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90170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0485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950" spc="-5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Helps</a:t>
                      </a:r>
                      <a:r>
                        <a:rPr dirty="0" sz="950" spc="22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transformers</a:t>
                      </a:r>
                      <a:r>
                        <a:rPr dirty="0" sz="750" spc="-15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place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model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layers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9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on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available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hardware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(</a:t>
                      </a:r>
                      <a:r>
                        <a:rPr dirty="0" sz="950" spc="2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device_map="auto"</a:t>
                      </a:r>
                      <a:r>
                        <a:rPr dirty="0" sz="750" spc="-215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950" spc="-2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).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64769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</a:tr>
              <a:tr h="464820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dirty="0" sz="750" spc="-1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torch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90170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0485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950" spc="-9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The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deep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learning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9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backend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9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(PyTorch)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underlying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6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both</a:t>
                      </a:r>
                      <a:r>
                        <a:rPr dirty="0" sz="950" spc="24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sentence-transformers</a:t>
                      </a:r>
                      <a:r>
                        <a:rPr dirty="0" sz="750" spc="5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950" spc="-2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and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  <a:p>
                      <a:pPr marL="9779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transformers</a:t>
                      </a:r>
                      <a:r>
                        <a:rPr dirty="0" sz="750" spc="-135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950" spc="-5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.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64769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dirty="0" sz="750" spc="-1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pypdf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90170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0485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950" spc="-9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The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PDF-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parsing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engine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used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internally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2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by</a:t>
                      </a:r>
                      <a:r>
                        <a:rPr dirty="0" sz="950" spc="229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PyPDFLoader</a:t>
                      </a:r>
                      <a:r>
                        <a:rPr dirty="0" sz="750" spc="-215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950" spc="-5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.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64769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3" name="object 33"/>
          <p:cNvSpPr/>
          <p:nvPr/>
        </p:nvSpPr>
        <p:spPr>
          <a:xfrm>
            <a:off x="943018" y="9780306"/>
            <a:ext cx="829310" cy="195580"/>
          </a:xfrm>
          <a:custGeom>
            <a:avLst/>
            <a:gdLst/>
            <a:ahLst/>
            <a:cxnLst/>
            <a:rect l="l" t="t" r="r" b="b"/>
            <a:pathLst>
              <a:path w="829310" h="195579">
                <a:moveTo>
                  <a:pt x="805806" y="195488"/>
                </a:moveTo>
                <a:lnTo>
                  <a:pt x="23389" y="195488"/>
                </a:lnTo>
                <a:lnTo>
                  <a:pt x="19950" y="194800"/>
                </a:lnTo>
                <a:lnTo>
                  <a:pt x="0" y="172102"/>
                </a:lnTo>
                <a:lnTo>
                  <a:pt x="0" y="168535"/>
                </a:lnTo>
                <a:lnTo>
                  <a:pt x="0" y="23372"/>
                </a:lnTo>
                <a:lnTo>
                  <a:pt x="23389" y="0"/>
                </a:lnTo>
                <a:lnTo>
                  <a:pt x="805806" y="0"/>
                </a:lnTo>
                <a:lnTo>
                  <a:pt x="829196" y="23372"/>
                </a:lnTo>
                <a:lnTo>
                  <a:pt x="829196" y="172102"/>
                </a:lnTo>
                <a:lnTo>
                  <a:pt x="809246" y="194800"/>
                </a:lnTo>
                <a:lnTo>
                  <a:pt x="805806" y="195488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 txBox="1"/>
          <p:nvPr/>
        </p:nvSpPr>
        <p:spPr>
          <a:xfrm>
            <a:off x="667402" y="9268297"/>
            <a:ext cx="2372360" cy="709930"/>
          </a:xfrm>
          <a:prstGeom prst="rect">
            <a:avLst/>
          </a:prstGeom>
        </p:spPr>
        <p:txBody>
          <a:bodyPr wrap="square" lIns="0" tIns="1212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5"/>
              </a:spcBef>
            </a:pPr>
            <a:r>
              <a:rPr dirty="0" sz="1750" spc="-240" b="1">
                <a:solidFill>
                  <a:srgbClr val="111726"/>
                </a:solidFill>
                <a:latin typeface="Source Han Sans JP"/>
                <a:cs typeface="Source Han Sans JP"/>
              </a:rPr>
              <a:t>PART</a:t>
            </a:r>
            <a:r>
              <a:rPr dirty="0" sz="1750" spc="-75" b="1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550" spc="-70" b="1">
                <a:solidFill>
                  <a:srgbClr val="111726"/>
                </a:solidFill>
                <a:latin typeface="Trebuchet MS"/>
                <a:cs typeface="Trebuchet MS"/>
              </a:rPr>
              <a:t>2</a:t>
            </a:r>
            <a:r>
              <a:rPr dirty="0" sz="1550" spc="-135" b="1">
                <a:solidFill>
                  <a:srgbClr val="111726"/>
                </a:solidFill>
                <a:latin typeface="Trebuchet MS"/>
                <a:cs typeface="Trebuchet MS"/>
              </a:rPr>
              <a:t> </a:t>
            </a:r>
            <a:r>
              <a:rPr dirty="0" sz="1600" spc="-305" b="1">
                <a:solidFill>
                  <a:srgbClr val="111726"/>
                </a:solidFill>
                <a:latin typeface="Arial"/>
                <a:cs typeface="Arial"/>
              </a:rPr>
              <a:t>—</a:t>
            </a:r>
            <a:r>
              <a:rPr dirty="0" sz="1600" spc="-120" b="1">
                <a:solidFill>
                  <a:srgbClr val="111726"/>
                </a:solidFill>
                <a:latin typeface="Arial"/>
                <a:cs typeface="Arial"/>
              </a:rPr>
              <a:t> </a:t>
            </a:r>
            <a:r>
              <a:rPr dirty="0" sz="1750" spc="-200" b="1">
                <a:solidFill>
                  <a:srgbClr val="111726"/>
                </a:solidFill>
                <a:latin typeface="Source Han Sans JP"/>
                <a:cs typeface="Source Han Sans JP"/>
              </a:rPr>
              <a:t>Apache</a:t>
            </a:r>
            <a:r>
              <a:rPr dirty="0" sz="1750" spc="-65" b="1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750" spc="-165" b="1">
                <a:solidFill>
                  <a:srgbClr val="111726"/>
                </a:solidFill>
                <a:latin typeface="Source Han Sans JP"/>
                <a:cs typeface="Source Han Sans JP"/>
              </a:rPr>
              <a:t>Solr</a:t>
            </a:r>
            <a:r>
              <a:rPr dirty="0" sz="1750" spc="-65" b="1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750" spc="-150" b="1">
                <a:solidFill>
                  <a:srgbClr val="111726"/>
                </a:solidFill>
                <a:latin typeface="Source Han Sans JP"/>
                <a:cs typeface="Source Han Sans JP"/>
              </a:rPr>
              <a:t>RAG</a:t>
            </a:r>
            <a:endParaRPr sz="1750">
              <a:latin typeface="Source Han Sans JP"/>
              <a:cs typeface="Source Han Sans JP"/>
            </a:endParaRPr>
          </a:p>
          <a:p>
            <a:pPr marL="12700">
              <a:lnSpc>
                <a:spcPct val="100000"/>
              </a:lnSpc>
              <a:spcBef>
                <a:spcPts val="695"/>
              </a:spcBef>
            </a:pPr>
            <a:r>
              <a:rPr dirty="0" sz="1300" spc="-30" b="1">
                <a:solidFill>
                  <a:srgbClr val="111726"/>
                </a:solidFill>
                <a:latin typeface="Trebuchet MS"/>
                <a:cs typeface="Trebuchet MS"/>
              </a:rPr>
              <a:t>2</a:t>
            </a:r>
            <a:r>
              <a:rPr dirty="0" sz="1450" spc="-30" b="1">
                <a:solidFill>
                  <a:srgbClr val="111726"/>
                </a:solidFill>
                <a:latin typeface="Source Han Sans JP"/>
                <a:cs typeface="Source Han Sans JP"/>
              </a:rPr>
              <a:t>.</a:t>
            </a:r>
            <a:r>
              <a:rPr dirty="0" sz="1300" spc="-30" b="1">
                <a:solidFill>
                  <a:srgbClr val="111726"/>
                </a:solidFill>
                <a:latin typeface="Trebuchet MS"/>
                <a:cs typeface="Trebuchet MS"/>
              </a:rPr>
              <a:t>1</a:t>
            </a:r>
            <a:r>
              <a:rPr dirty="0" sz="1300" spc="-60" b="1">
                <a:solidFill>
                  <a:srgbClr val="111726"/>
                </a:solidFill>
                <a:latin typeface="Trebuchet MS"/>
                <a:cs typeface="Trebuchet MS"/>
              </a:rPr>
              <a:t> </a:t>
            </a:r>
            <a:r>
              <a:rPr dirty="0" sz="1100" spc="-10" b="1">
                <a:solidFill>
                  <a:srgbClr val="111726"/>
                </a:solidFill>
                <a:latin typeface="Courier New"/>
                <a:cs typeface="Courier New"/>
              </a:rPr>
              <a:t>config.py</a:t>
            </a:r>
            <a:endParaRPr sz="11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80102" y="571520"/>
            <a:ext cx="6202680" cy="2326005"/>
          </a:xfrm>
          <a:custGeom>
            <a:avLst/>
            <a:gdLst/>
            <a:ahLst/>
            <a:cxnLst/>
            <a:rect l="l" t="t" r="r" b="b"/>
            <a:pathLst>
              <a:path w="6202680" h="2326005">
                <a:moveTo>
                  <a:pt x="6151728" y="2325781"/>
                </a:moveTo>
                <a:lnTo>
                  <a:pt x="50390" y="2325781"/>
                </a:lnTo>
                <a:lnTo>
                  <a:pt x="46883" y="2325437"/>
                </a:lnTo>
                <a:lnTo>
                  <a:pt x="11056" y="2304754"/>
                </a:lnTo>
                <a:lnTo>
                  <a:pt x="0" y="2275402"/>
                </a:lnTo>
                <a:lnTo>
                  <a:pt x="0" y="2271863"/>
                </a:lnTo>
                <a:lnTo>
                  <a:pt x="0" y="50392"/>
                </a:lnTo>
                <a:lnTo>
                  <a:pt x="18300" y="13287"/>
                </a:lnTo>
                <a:lnTo>
                  <a:pt x="50390" y="0"/>
                </a:lnTo>
                <a:lnTo>
                  <a:pt x="6151728" y="0"/>
                </a:lnTo>
                <a:lnTo>
                  <a:pt x="6188826" y="18289"/>
                </a:lnTo>
                <a:lnTo>
                  <a:pt x="6202118" y="50392"/>
                </a:lnTo>
                <a:lnTo>
                  <a:pt x="6202118" y="2275402"/>
                </a:lnTo>
                <a:lnTo>
                  <a:pt x="6183818" y="2312466"/>
                </a:lnTo>
                <a:lnTo>
                  <a:pt x="6155235" y="2325423"/>
                </a:lnTo>
                <a:lnTo>
                  <a:pt x="6151728" y="2325781"/>
                </a:lnTo>
                <a:close/>
              </a:path>
            </a:pathLst>
          </a:custGeom>
          <a:solidFill>
            <a:srgbClr val="0E172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680102" y="7164643"/>
            <a:ext cx="6202680" cy="6985"/>
          </a:xfrm>
          <a:custGeom>
            <a:avLst/>
            <a:gdLst/>
            <a:ahLst/>
            <a:cxnLst/>
            <a:rect l="l" t="t" r="r" b="b"/>
            <a:pathLst>
              <a:path w="6202680" h="6984">
                <a:moveTo>
                  <a:pt x="6202119" y="6741"/>
                </a:moveTo>
                <a:lnTo>
                  <a:pt x="0" y="6741"/>
                </a:lnTo>
                <a:lnTo>
                  <a:pt x="0" y="0"/>
                </a:lnTo>
                <a:lnTo>
                  <a:pt x="6202119" y="0"/>
                </a:lnTo>
                <a:lnTo>
                  <a:pt x="6202119" y="6741"/>
                </a:lnTo>
                <a:close/>
              </a:path>
            </a:pathLst>
          </a:custGeom>
          <a:solidFill>
            <a:srgbClr val="E4E7E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761782" y="672069"/>
            <a:ext cx="3601085" cy="210375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#</a:t>
            </a:r>
            <a:r>
              <a:rPr dirty="0" sz="800" spc="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 spc="-10">
                <a:solidFill>
                  <a:srgbClr val="E4E7EB"/>
                </a:solidFill>
                <a:latin typeface="Courier New"/>
                <a:cs typeface="Courier New"/>
              </a:rPr>
              <a:t>config.py</a:t>
            </a:r>
            <a:endParaRPr sz="800">
              <a:latin typeface="Courier New"/>
              <a:cs typeface="Courier New"/>
            </a:endParaRPr>
          </a:p>
          <a:p>
            <a:pPr marL="12700" marR="5080">
              <a:lnSpc>
                <a:spcPct val="290300"/>
              </a:lnSpc>
              <a:spcBef>
                <a:spcPts val="25"/>
              </a:spcBef>
            </a:pP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SOLR_URL</a:t>
            </a:r>
            <a:r>
              <a:rPr dirty="0" sz="800" spc="2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=</a:t>
            </a:r>
            <a:r>
              <a:rPr dirty="0" sz="800" spc="2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 spc="-10">
                <a:solidFill>
                  <a:srgbClr val="E4E7EB"/>
                </a:solidFill>
                <a:latin typeface="Courier New"/>
                <a:cs typeface="Courier New"/>
              </a:rPr>
              <a:t>"</a:t>
            </a:r>
            <a:r>
              <a:rPr dirty="0" sz="800" spc="-10">
                <a:solidFill>
                  <a:srgbClr val="E4E7EB"/>
                </a:solidFill>
                <a:latin typeface="Courier New"/>
                <a:cs typeface="Courier New"/>
                <a:hlinkClick r:id="rId2"/>
              </a:rPr>
              <a:t>http://localhost:8983/solr/rag_core</a:t>
            </a:r>
            <a:r>
              <a:rPr dirty="0" sz="800" spc="-10">
                <a:solidFill>
                  <a:srgbClr val="E4E7EB"/>
                </a:solidFill>
                <a:latin typeface="Courier New"/>
                <a:cs typeface="Courier New"/>
              </a:rPr>
              <a:t>"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EMBEDDING_MODEL</a:t>
            </a:r>
            <a:r>
              <a:rPr dirty="0" sz="800" spc="12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=</a:t>
            </a:r>
            <a:r>
              <a:rPr dirty="0" sz="800" spc="12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"sentence-transformers/all-MiniLM-L6-</a:t>
            </a:r>
            <a:r>
              <a:rPr dirty="0" sz="800" spc="-25">
                <a:solidFill>
                  <a:srgbClr val="E4E7EB"/>
                </a:solidFill>
                <a:latin typeface="Courier New"/>
                <a:cs typeface="Courier New"/>
              </a:rPr>
              <a:t>v2"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LLM_MODEL</a:t>
            </a:r>
            <a:r>
              <a:rPr dirty="0" sz="800" spc="7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=</a:t>
            </a:r>
            <a:r>
              <a:rPr dirty="0" sz="800" spc="7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"Qwen/Qwen2.5-0.5B-</a:t>
            </a:r>
            <a:r>
              <a:rPr dirty="0" sz="800" spc="-10">
                <a:solidFill>
                  <a:srgbClr val="E4E7EB"/>
                </a:solidFill>
                <a:latin typeface="Courier New"/>
                <a:cs typeface="Courier New"/>
              </a:rPr>
              <a:t>Instruct"</a:t>
            </a:r>
            <a:endParaRPr sz="800">
              <a:latin typeface="Courier New"/>
              <a:cs typeface="Courier New"/>
            </a:endParaRPr>
          </a:p>
          <a:p>
            <a:pPr marL="12700" marR="2162175">
              <a:lnSpc>
                <a:spcPct val="293100"/>
              </a:lnSpc>
            </a:pP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PDF_PATH</a:t>
            </a:r>
            <a:r>
              <a:rPr dirty="0" sz="800" spc="2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=</a:t>
            </a:r>
            <a:r>
              <a:rPr dirty="0" sz="800" spc="2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 spc="-10">
                <a:solidFill>
                  <a:srgbClr val="E4E7EB"/>
                </a:solidFill>
                <a:latin typeface="Courier New"/>
                <a:cs typeface="Courier New"/>
              </a:rPr>
              <a:t>"sample.pdf"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CHUNK_SIZE</a:t>
            </a:r>
            <a:r>
              <a:rPr dirty="0" sz="800" spc="2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=</a:t>
            </a:r>
            <a:r>
              <a:rPr dirty="0" sz="800" spc="3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 spc="-25">
                <a:solidFill>
                  <a:srgbClr val="E4E7EB"/>
                </a:solidFill>
                <a:latin typeface="Courier New"/>
                <a:cs typeface="Courier New"/>
              </a:rPr>
              <a:t>500</a:t>
            </a:r>
            <a:endParaRPr sz="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420"/>
              </a:spcBef>
            </a:pP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CHUNK_OVERLAP</a:t>
            </a:r>
            <a:r>
              <a:rPr dirty="0" sz="800" spc="3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=</a:t>
            </a:r>
            <a:r>
              <a:rPr dirty="0" sz="800" spc="3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 spc="-25">
                <a:solidFill>
                  <a:srgbClr val="E4E7EB"/>
                </a:solidFill>
                <a:latin typeface="Courier New"/>
                <a:cs typeface="Courier New"/>
              </a:rPr>
              <a:t>50</a:t>
            </a:r>
            <a:endParaRPr sz="800">
              <a:latin typeface="Courier New"/>
              <a:cs typeface="Courier New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54257" y="3369216"/>
            <a:ext cx="708025" cy="141605"/>
          </a:xfrm>
          <a:custGeom>
            <a:avLst/>
            <a:gdLst/>
            <a:ahLst/>
            <a:cxnLst/>
            <a:rect l="l" t="t" r="r" b="b"/>
            <a:pathLst>
              <a:path w="708025" h="141604">
                <a:moveTo>
                  <a:pt x="684460" y="141556"/>
                </a:moveTo>
                <a:lnTo>
                  <a:pt x="23389" y="141556"/>
                </a:lnTo>
                <a:lnTo>
                  <a:pt x="19950" y="140862"/>
                </a:lnTo>
                <a:lnTo>
                  <a:pt x="0" y="118170"/>
                </a:lnTo>
                <a:lnTo>
                  <a:pt x="0" y="114604"/>
                </a:lnTo>
                <a:lnTo>
                  <a:pt x="0" y="23386"/>
                </a:lnTo>
                <a:lnTo>
                  <a:pt x="23389" y="0"/>
                </a:lnTo>
                <a:lnTo>
                  <a:pt x="684460" y="0"/>
                </a:lnTo>
                <a:lnTo>
                  <a:pt x="707850" y="23386"/>
                </a:lnTo>
                <a:lnTo>
                  <a:pt x="707850" y="118170"/>
                </a:lnTo>
                <a:lnTo>
                  <a:pt x="687900" y="140862"/>
                </a:lnTo>
                <a:lnTo>
                  <a:pt x="684460" y="141556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754253" y="3659085"/>
            <a:ext cx="2218055" cy="316865"/>
          </a:xfrm>
          <a:custGeom>
            <a:avLst/>
            <a:gdLst/>
            <a:ahLst/>
            <a:cxnLst/>
            <a:rect l="l" t="t" r="r" b="b"/>
            <a:pathLst>
              <a:path w="2218055" h="316864">
                <a:moveTo>
                  <a:pt x="620204" y="0"/>
                </a:moveTo>
                <a:lnTo>
                  <a:pt x="23393" y="0"/>
                </a:lnTo>
                <a:lnTo>
                  <a:pt x="19951" y="698"/>
                </a:lnTo>
                <a:lnTo>
                  <a:pt x="0" y="23393"/>
                </a:lnTo>
                <a:lnTo>
                  <a:pt x="0" y="118173"/>
                </a:lnTo>
                <a:lnTo>
                  <a:pt x="23393" y="141566"/>
                </a:lnTo>
                <a:lnTo>
                  <a:pt x="620204" y="141566"/>
                </a:lnTo>
                <a:lnTo>
                  <a:pt x="620204" y="0"/>
                </a:lnTo>
                <a:close/>
              </a:path>
              <a:path w="2218055" h="316864">
                <a:moveTo>
                  <a:pt x="2217928" y="198653"/>
                </a:moveTo>
                <a:lnTo>
                  <a:pt x="2194534" y="175272"/>
                </a:lnTo>
                <a:lnTo>
                  <a:pt x="0" y="175272"/>
                </a:lnTo>
                <a:lnTo>
                  <a:pt x="0" y="316839"/>
                </a:lnTo>
                <a:lnTo>
                  <a:pt x="2194534" y="316839"/>
                </a:lnTo>
                <a:lnTo>
                  <a:pt x="2217928" y="293458"/>
                </a:lnTo>
                <a:lnTo>
                  <a:pt x="2217928" y="198653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5864264" y="3827633"/>
            <a:ext cx="526415" cy="141605"/>
          </a:xfrm>
          <a:custGeom>
            <a:avLst/>
            <a:gdLst/>
            <a:ahLst/>
            <a:cxnLst/>
            <a:rect l="l" t="t" r="r" b="b"/>
            <a:pathLst>
              <a:path w="526414" h="141604">
                <a:moveTo>
                  <a:pt x="502442" y="141556"/>
                </a:moveTo>
                <a:lnTo>
                  <a:pt x="23389" y="141556"/>
                </a:lnTo>
                <a:lnTo>
                  <a:pt x="19949" y="140862"/>
                </a:lnTo>
                <a:lnTo>
                  <a:pt x="0" y="118170"/>
                </a:lnTo>
                <a:lnTo>
                  <a:pt x="0" y="114604"/>
                </a:lnTo>
                <a:lnTo>
                  <a:pt x="0" y="23372"/>
                </a:lnTo>
                <a:lnTo>
                  <a:pt x="23389" y="0"/>
                </a:lnTo>
                <a:lnTo>
                  <a:pt x="502442" y="0"/>
                </a:lnTo>
                <a:lnTo>
                  <a:pt x="525831" y="23372"/>
                </a:lnTo>
                <a:lnTo>
                  <a:pt x="525831" y="118170"/>
                </a:lnTo>
                <a:lnTo>
                  <a:pt x="505881" y="140862"/>
                </a:lnTo>
                <a:lnTo>
                  <a:pt x="502442" y="141556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6444027" y="3827633"/>
            <a:ext cx="290195" cy="141605"/>
          </a:xfrm>
          <a:custGeom>
            <a:avLst/>
            <a:gdLst/>
            <a:ahLst/>
            <a:cxnLst/>
            <a:rect l="l" t="t" r="r" b="b"/>
            <a:pathLst>
              <a:path w="290195" h="141604">
                <a:moveTo>
                  <a:pt x="266491" y="141556"/>
                </a:moveTo>
                <a:lnTo>
                  <a:pt x="23389" y="141556"/>
                </a:lnTo>
                <a:lnTo>
                  <a:pt x="19949" y="140862"/>
                </a:lnTo>
                <a:lnTo>
                  <a:pt x="0" y="118170"/>
                </a:lnTo>
                <a:lnTo>
                  <a:pt x="0" y="114604"/>
                </a:lnTo>
                <a:lnTo>
                  <a:pt x="0" y="23372"/>
                </a:lnTo>
                <a:lnTo>
                  <a:pt x="23389" y="0"/>
                </a:lnTo>
                <a:lnTo>
                  <a:pt x="266491" y="0"/>
                </a:lnTo>
                <a:lnTo>
                  <a:pt x="289881" y="23372"/>
                </a:lnTo>
                <a:lnTo>
                  <a:pt x="289881" y="118170"/>
                </a:lnTo>
                <a:lnTo>
                  <a:pt x="269931" y="140862"/>
                </a:lnTo>
                <a:lnTo>
                  <a:pt x="266491" y="141556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754253" y="4292777"/>
            <a:ext cx="1800225" cy="316865"/>
          </a:xfrm>
          <a:custGeom>
            <a:avLst/>
            <a:gdLst/>
            <a:ahLst/>
            <a:cxnLst/>
            <a:rect l="l" t="t" r="r" b="b"/>
            <a:pathLst>
              <a:path w="1800225" h="316864">
                <a:moveTo>
                  <a:pt x="1685353" y="0"/>
                </a:moveTo>
                <a:lnTo>
                  <a:pt x="23393" y="0"/>
                </a:lnTo>
                <a:lnTo>
                  <a:pt x="19951" y="698"/>
                </a:lnTo>
                <a:lnTo>
                  <a:pt x="0" y="23380"/>
                </a:lnTo>
                <a:lnTo>
                  <a:pt x="0" y="118173"/>
                </a:lnTo>
                <a:lnTo>
                  <a:pt x="23393" y="141566"/>
                </a:lnTo>
                <a:lnTo>
                  <a:pt x="1685353" y="141566"/>
                </a:lnTo>
                <a:lnTo>
                  <a:pt x="1685353" y="0"/>
                </a:lnTo>
                <a:close/>
              </a:path>
              <a:path w="1800225" h="316864">
                <a:moveTo>
                  <a:pt x="1799958" y="198653"/>
                </a:moveTo>
                <a:lnTo>
                  <a:pt x="1776577" y="175272"/>
                </a:lnTo>
                <a:lnTo>
                  <a:pt x="0" y="175272"/>
                </a:lnTo>
                <a:lnTo>
                  <a:pt x="0" y="316839"/>
                </a:lnTo>
                <a:lnTo>
                  <a:pt x="1776577" y="316839"/>
                </a:lnTo>
                <a:lnTo>
                  <a:pt x="1799958" y="293458"/>
                </a:lnTo>
                <a:lnTo>
                  <a:pt x="1799958" y="198653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754257" y="4757951"/>
            <a:ext cx="2420620" cy="141605"/>
          </a:xfrm>
          <a:custGeom>
            <a:avLst/>
            <a:gdLst/>
            <a:ahLst/>
            <a:cxnLst/>
            <a:rect l="l" t="t" r="r" b="b"/>
            <a:pathLst>
              <a:path w="2420620" h="141604">
                <a:moveTo>
                  <a:pt x="2396784" y="141556"/>
                </a:moveTo>
                <a:lnTo>
                  <a:pt x="23389" y="141556"/>
                </a:lnTo>
                <a:lnTo>
                  <a:pt x="19950" y="140869"/>
                </a:lnTo>
                <a:lnTo>
                  <a:pt x="0" y="118170"/>
                </a:lnTo>
                <a:lnTo>
                  <a:pt x="0" y="114604"/>
                </a:lnTo>
                <a:lnTo>
                  <a:pt x="0" y="23372"/>
                </a:lnTo>
                <a:lnTo>
                  <a:pt x="23389" y="0"/>
                </a:lnTo>
                <a:lnTo>
                  <a:pt x="2396784" y="0"/>
                </a:lnTo>
                <a:lnTo>
                  <a:pt x="2420174" y="23372"/>
                </a:lnTo>
                <a:lnTo>
                  <a:pt x="2420174" y="118170"/>
                </a:lnTo>
                <a:lnTo>
                  <a:pt x="2400224" y="140869"/>
                </a:lnTo>
                <a:lnTo>
                  <a:pt x="2396784" y="141556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3491268" y="4926481"/>
            <a:ext cx="822960" cy="316865"/>
          </a:xfrm>
          <a:custGeom>
            <a:avLst/>
            <a:gdLst/>
            <a:ahLst/>
            <a:cxnLst/>
            <a:rect l="l" t="t" r="r" b="b"/>
            <a:pathLst>
              <a:path w="822960" h="316864">
                <a:moveTo>
                  <a:pt x="768527" y="198653"/>
                </a:moveTo>
                <a:lnTo>
                  <a:pt x="745134" y="175285"/>
                </a:lnTo>
                <a:lnTo>
                  <a:pt x="23393" y="175285"/>
                </a:lnTo>
                <a:lnTo>
                  <a:pt x="0" y="198653"/>
                </a:lnTo>
                <a:lnTo>
                  <a:pt x="0" y="289890"/>
                </a:lnTo>
                <a:lnTo>
                  <a:pt x="0" y="293446"/>
                </a:lnTo>
                <a:lnTo>
                  <a:pt x="23393" y="316839"/>
                </a:lnTo>
                <a:lnTo>
                  <a:pt x="745134" y="316839"/>
                </a:lnTo>
                <a:lnTo>
                  <a:pt x="768527" y="293446"/>
                </a:lnTo>
                <a:lnTo>
                  <a:pt x="768527" y="198653"/>
                </a:lnTo>
                <a:close/>
              </a:path>
              <a:path w="822960" h="316864">
                <a:moveTo>
                  <a:pt x="822464" y="23380"/>
                </a:moveTo>
                <a:lnTo>
                  <a:pt x="799071" y="0"/>
                </a:lnTo>
                <a:lnTo>
                  <a:pt x="320014" y="0"/>
                </a:lnTo>
                <a:lnTo>
                  <a:pt x="296633" y="23380"/>
                </a:lnTo>
                <a:lnTo>
                  <a:pt x="296633" y="114604"/>
                </a:lnTo>
                <a:lnTo>
                  <a:pt x="296633" y="118173"/>
                </a:lnTo>
                <a:lnTo>
                  <a:pt x="320014" y="141566"/>
                </a:lnTo>
                <a:lnTo>
                  <a:pt x="799071" y="141566"/>
                </a:lnTo>
                <a:lnTo>
                  <a:pt x="822464" y="118173"/>
                </a:lnTo>
                <a:lnTo>
                  <a:pt x="822464" y="23380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754257" y="5391646"/>
            <a:ext cx="1416050" cy="141605"/>
          </a:xfrm>
          <a:custGeom>
            <a:avLst/>
            <a:gdLst/>
            <a:ahLst/>
            <a:cxnLst/>
            <a:rect l="l" t="t" r="r" b="b"/>
            <a:pathLst>
              <a:path w="1416050" h="141604">
                <a:moveTo>
                  <a:pt x="1392311" y="141556"/>
                </a:moveTo>
                <a:lnTo>
                  <a:pt x="23389" y="141556"/>
                </a:lnTo>
                <a:lnTo>
                  <a:pt x="19950" y="140862"/>
                </a:lnTo>
                <a:lnTo>
                  <a:pt x="0" y="118170"/>
                </a:lnTo>
                <a:lnTo>
                  <a:pt x="0" y="114604"/>
                </a:lnTo>
                <a:lnTo>
                  <a:pt x="0" y="23386"/>
                </a:lnTo>
                <a:lnTo>
                  <a:pt x="23389" y="0"/>
                </a:lnTo>
                <a:lnTo>
                  <a:pt x="1392311" y="0"/>
                </a:lnTo>
                <a:lnTo>
                  <a:pt x="1415700" y="23386"/>
                </a:lnTo>
                <a:lnTo>
                  <a:pt x="1415700" y="118170"/>
                </a:lnTo>
                <a:lnTo>
                  <a:pt x="1395750" y="140862"/>
                </a:lnTo>
                <a:lnTo>
                  <a:pt x="1392311" y="141556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4812600" y="5391646"/>
            <a:ext cx="586740" cy="141605"/>
          </a:xfrm>
          <a:custGeom>
            <a:avLst/>
            <a:gdLst/>
            <a:ahLst/>
            <a:cxnLst/>
            <a:rect l="l" t="t" r="r" b="b"/>
            <a:pathLst>
              <a:path w="586739" h="141604">
                <a:moveTo>
                  <a:pt x="563115" y="141556"/>
                </a:moveTo>
                <a:lnTo>
                  <a:pt x="23389" y="141556"/>
                </a:lnTo>
                <a:lnTo>
                  <a:pt x="19949" y="140862"/>
                </a:lnTo>
                <a:lnTo>
                  <a:pt x="0" y="118170"/>
                </a:lnTo>
                <a:lnTo>
                  <a:pt x="0" y="114604"/>
                </a:lnTo>
                <a:lnTo>
                  <a:pt x="0" y="23386"/>
                </a:lnTo>
                <a:lnTo>
                  <a:pt x="23389" y="0"/>
                </a:lnTo>
                <a:lnTo>
                  <a:pt x="563115" y="0"/>
                </a:lnTo>
                <a:lnTo>
                  <a:pt x="586504" y="23386"/>
                </a:lnTo>
                <a:lnTo>
                  <a:pt x="586504" y="118170"/>
                </a:lnTo>
                <a:lnTo>
                  <a:pt x="566554" y="140862"/>
                </a:lnTo>
                <a:lnTo>
                  <a:pt x="563115" y="141556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754257" y="5856804"/>
            <a:ext cx="998219" cy="141605"/>
          </a:xfrm>
          <a:custGeom>
            <a:avLst/>
            <a:gdLst/>
            <a:ahLst/>
            <a:cxnLst/>
            <a:rect l="l" t="t" r="r" b="b"/>
            <a:pathLst>
              <a:path w="998219" h="141604">
                <a:moveTo>
                  <a:pt x="974342" y="141556"/>
                </a:moveTo>
                <a:lnTo>
                  <a:pt x="23389" y="141556"/>
                </a:lnTo>
                <a:lnTo>
                  <a:pt x="19950" y="140869"/>
                </a:lnTo>
                <a:lnTo>
                  <a:pt x="0" y="118170"/>
                </a:lnTo>
                <a:lnTo>
                  <a:pt x="0" y="114604"/>
                </a:lnTo>
                <a:lnTo>
                  <a:pt x="0" y="23372"/>
                </a:lnTo>
                <a:lnTo>
                  <a:pt x="23389" y="0"/>
                </a:lnTo>
                <a:lnTo>
                  <a:pt x="974342" y="0"/>
                </a:lnTo>
                <a:lnTo>
                  <a:pt x="997732" y="23372"/>
                </a:lnTo>
                <a:lnTo>
                  <a:pt x="997732" y="118170"/>
                </a:lnTo>
                <a:lnTo>
                  <a:pt x="977782" y="140869"/>
                </a:lnTo>
                <a:lnTo>
                  <a:pt x="974342" y="141556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6154146" y="5856804"/>
            <a:ext cx="586740" cy="141605"/>
          </a:xfrm>
          <a:custGeom>
            <a:avLst/>
            <a:gdLst/>
            <a:ahLst/>
            <a:cxnLst/>
            <a:rect l="l" t="t" r="r" b="b"/>
            <a:pathLst>
              <a:path w="586740" h="141604">
                <a:moveTo>
                  <a:pt x="563115" y="141556"/>
                </a:moveTo>
                <a:lnTo>
                  <a:pt x="23389" y="141556"/>
                </a:lnTo>
                <a:lnTo>
                  <a:pt x="19949" y="140869"/>
                </a:lnTo>
                <a:lnTo>
                  <a:pt x="0" y="118170"/>
                </a:lnTo>
                <a:lnTo>
                  <a:pt x="0" y="114604"/>
                </a:lnTo>
                <a:lnTo>
                  <a:pt x="0" y="23372"/>
                </a:lnTo>
                <a:lnTo>
                  <a:pt x="23389" y="0"/>
                </a:lnTo>
                <a:lnTo>
                  <a:pt x="563115" y="0"/>
                </a:lnTo>
                <a:lnTo>
                  <a:pt x="586504" y="23372"/>
                </a:lnTo>
                <a:lnTo>
                  <a:pt x="586504" y="118170"/>
                </a:lnTo>
                <a:lnTo>
                  <a:pt x="566554" y="140869"/>
                </a:lnTo>
                <a:lnTo>
                  <a:pt x="563115" y="141556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6" name="object 1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212613" y="6032082"/>
            <a:ext cx="229208" cy="141556"/>
          </a:xfrm>
          <a:prstGeom prst="rect">
            <a:avLst/>
          </a:prstGeom>
        </p:spPr>
      </p:pic>
      <p:sp>
        <p:nvSpPr>
          <p:cNvPr id="17" name="object 17"/>
          <p:cNvSpPr/>
          <p:nvPr/>
        </p:nvSpPr>
        <p:spPr>
          <a:xfrm>
            <a:off x="754257" y="6321964"/>
            <a:ext cx="1119505" cy="141605"/>
          </a:xfrm>
          <a:custGeom>
            <a:avLst/>
            <a:gdLst/>
            <a:ahLst/>
            <a:cxnLst/>
            <a:rect l="l" t="t" r="r" b="b"/>
            <a:pathLst>
              <a:path w="1119505" h="141604">
                <a:moveTo>
                  <a:pt x="1095688" y="141556"/>
                </a:moveTo>
                <a:lnTo>
                  <a:pt x="23389" y="141556"/>
                </a:lnTo>
                <a:lnTo>
                  <a:pt x="19950" y="140869"/>
                </a:lnTo>
                <a:lnTo>
                  <a:pt x="0" y="118157"/>
                </a:lnTo>
                <a:lnTo>
                  <a:pt x="0" y="114604"/>
                </a:lnTo>
                <a:lnTo>
                  <a:pt x="0" y="23372"/>
                </a:lnTo>
                <a:lnTo>
                  <a:pt x="23389" y="0"/>
                </a:lnTo>
                <a:lnTo>
                  <a:pt x="1095688" y="0"/>
                </a:lnTo>
                <a:lnTo>
                  <a:pt x="1119077" y="23372"/>
                </a:lnTo>
                <a:lnTo>
                  <a:pt x="1119077" y="118157"/>
                </a:lnTo>
                <a:lnTo>
                  <a:pt x="1099127" y="140869"/>
                </a:lnTo>
                <a:lnTo>
                  <a:pt x="1095688" y="141556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3963180" y="6490499"/>
            <a:ext cx="586740" cy="141605"/>
          </a:xfrm>
          <a:custGeom>
            <a:avLst/>
            <a:gdLst/>
            <a:ahLst/>
            <a:cxnLst/>
            <a:rect l="l" t="t" r="r" b="b"/>
            <a:pathLst>
              <a:path w="586739" h="141604">
                <a:moveTo>
                  <a:pt x="563114" y="141556"/>
                </a:moveTo>
                <a:lnTo>
                  <a:pt x="23390" y="141556"/>
                </a:lnTo>
                <a:lnTo>
                  <a:pt x="19949" y="140869"/>
                </a:lnTo>
                <a:lnTo>
                  <a:pt x="0" y="118170"/>
                </a:lnTo>
                <a:lnTo>
                  <a:pt x="0" y="114604"/>
                </a:lnTo>
                <a:lnTo>
                  <a:pt x="0" y="23372"/>
                </a:lnTo>
                <a:lnTo>
                  <a:pt x="23390" y="0"/>
                </a:lnTo>
                <a:lnTo>
                  <a:pt x="563114" y="0"/>
                </a:lnTo>
                <a:lnTo>
                  <a:pt x="586504" y="23372"/>
                </a:lnTo>
                <a:lnTo>
                  <a:pt x="586504" y="118170"/>
                </a:lnTo>
                <a:lnTo>
                  <a:pt x="566554" y="140869"/>
                </a:lnTo>
                <a:lnTo>
                  <a:pt x="563114" y="141556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9" name="object 1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102482" y="6490499"/>
            <a:ext cx="175277" cy="141556"/>
          </a:xfrm>
          <a:prstGeom prst="rect">
            <a:avLst/>
          </a:prstGeom>
        </p:spPr>
      </p:pic>
      <p:graphicFrame>
        <p:nvGraphicFramePr>
          <p:cNvPr id="20" name="object 20"/>
          <p:cNvGraphicFramePr>
            <a:graphicFrameLocks noGrp="1"/>
          </p:cNvGraphicFramePr>
          <p:nvPr/>
        </p:nvGraphicFramePr>
        <p:xfrm>
          <a:off x="680102" y="3005178"/>
          <a:ext cx="6278880" cy="369061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703195"/>
                <a:gridCol w="3491864"/>
              </a:tblGrid>
              <a:tr h="282575">
                <a:tc>
                  <a:txBody>
                    <a:bodyPr/>
                    <a:lstStyle/>
                    <a:p>
                      <a:pPr marL="70485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950" spc="-20" b="1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Line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64769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marL="70485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950" spc="-10" b="1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Explanation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64769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  <a:solidFill>
                      <a:srgbClr val="F7FAFB"/>
                    </a:solidFill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#</a:t>
                      </a:r>
                      <a:r>
                        <a:rPr dirty="0" sz="750" spc="25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 spc="-1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config.py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90170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0485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950" spc="-9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A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9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comment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naming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the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00" spc="-35">
                          <a:solidFill>
                            <a:srgbClr val="111726"/>
                          </a:solidFill>
                          <a:latin typeface="Arial"/>
                          <a:cs typeface="Arial"/>
                        </a:rPr>
                        <a:t>ﬁ</a:t>
                      </a:r>
                      <a:r>
                        <a:rPr dirty="0" sz="950" spc="-3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le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(has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9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no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functional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e</a:t>
                      </a:r>
                      <a:r>
                        <a:rPr dirty="0" sz="900" spc="-10">
                          <a:solidFill>
                            <a:srgbClr val="111726"/>
                          </a:solidFill>
                          <a:latin typeface="Arial"/>
                          <a:cs typeface="Arial"/>
                        </a:rPr>
                        <a:t>ﬀ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ect).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64769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</a:tr>
              <a:tr h="633095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SOLR_URL</a:t>
                      </a:r>
                      <a:r>
                        <a:rPr dirty="0" sz="750" spc="85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 spc="-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=</a:t>
                      </a:r>
                      <a:endParaRPr sz="750">
                        <a:latin typeface="Courier New"/>
                        <a:cs typeface="Courier New"/>
                      </a:endParaRPr>
                    </a:p>
                    <a:p>
                      <a:pPr marL="70485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dirty="0" sz="750" spc="-1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"</a:t>
                      </a:r>
                      <a:r>
                        <a:rPr dirty="0" sz="750" spc="-1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  <a:hlinkClick r:id="rId2"/>
                        </a:rPr>
                        <a:t>http://localhost:8983/solr/rag_core</a:t>
                      </a:r>
                      <a:r>
                        <a:rPr dirty="0" sz="750" spc="-1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"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90170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0485" marR="80010">
                        <a:lnSpc>
                          <a:spcPct val="121100"/>
                        </a:lnSpc>
                        <a:spcBef>
                          <a:spcPts val="270"/>
                        </a:spcBef>
                      </a:pPr>
                      <a:r>
                        <a:rPr dirty="0" sz="950" spc="-9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The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base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9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REST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endpoint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of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9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a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locally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running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6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Solr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instance,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pointing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2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at</a:t>
                      </a:r>
                      <a:r>
                        <a:rPr dirty="0" sz="950" spc="50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9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a</a:t>
                      </a:r>
                      <a:r>
                        <a:rPr dirty="0" sz="950" spc="-2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90" b="1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core</a:t>
                      </a:r>
                      <a:r>
                        <a:rPr dirty="0" sz="950" spc="-25" b="1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(Solr's</a:t>
                      </a:r>
                      <a:r>
                        <a:rPr dirty="0" sz="950" spc="-2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term</a:t>
                      </a:r>
                      <a:r>
                        <a:rPr dirty="0" sz="950" spc="-2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for</a:t>
                      </a:r>
                      <a:r>
                        <a:rPr dirty="0" sz="950" spc="-2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9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an</a:t>
                      </a:r>
                      <a:r>
                        <a:rPr dirty="0" sz="950" spc="-2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index/collection)</a:t>
                      </a:r>
                      <a:r>
                        <a:rPr dirty="0" sz="950" spc="-2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named</a:t>
                      </a:r>
                      <a:r>
                        <a:rPr dirty="0" sz="950" spc="20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rag_core</a:t>
                      </a:r>
                      <a:r>
                        <a:rPr dirty="0" sz="750" spc="-229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95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.</a:t>
                      </a:r>
                      <a:r>
                        <a:rPr dirty="0" sz="950" spc="20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750" spc="-2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8983</a:t>
                      </a:r>
                      <a:r>
                        <a:rPr dirty="0" sz="750" spc="50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950" spc="-6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is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Solr's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default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9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HTTP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2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port.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34290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</a:tr>
              <a:tr h="464820">
                <a:tc>
                  <a:txBody>
                    <a:bodyPr/>
                    <a:lstStyle/>
                    <a:p>
                      <a:pPr marL="70485" marR="849630" indent="26670">
                        <a:lnSpc>
                          <a:spcPct val="153300"/>
                        </a:lnSpc>
                        <a:spcBef>
                          <a:spcPts val="229"/>
                        </a:spcBef>
                      </a:pP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EMBEDDING_MODEL = </a:t>
                      </a:r>
                      <a:r>
                        <a:rPr dirty="0" sz="750" spc="-1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"sentence-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transformers/all-MiniLM-L6-</a:t>
                      </a:r>
                      <a:r>
                        <a:rPr dirty="0" sz="750" spc="-25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v2"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29209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0485" marR="169545">
                        <a:lnSpc>
                          <a:spcPct val="116399"/>
                        </a:lnSpc>
                        <a:spcBef>
                          <a:spcPts val="320"/>
                        </a:spcBef>
                      </a:pPr>
                      <a:r>
                        <a:rPr dirty="0" sz="950" spc="-9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The</a:t>
                      </a:r>
                      <a:r>
                        <a:rPr dirty="0" sz="950" spc="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sentence-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transformer</a:t>
                      </a:r>
                      <a:r>
                        <a:rPr dirty="0" sz="950" spc="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model</a:t>
                      </a:r>
                      <a:r>
                        <a:rPr dirty="0" sz="950" spc="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6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identi</a:t>
                      </a:r>
                      <a:r>
                        <a:rPr dirty="0" sz="900" spc="-65">
                          <a:solidFill>
                            <a:srgbClr val="111726"/>
                          </a:solidFill>
                          <a:latin typeface="Arial"/>
                          <a:cs typeface="Arial"/>
                        </a:rPr>
                        <a:t>ﬁ</a:t>
                      </a:r>
                      <a:r>
                        <a:rPr dirty="0" sz="950" spc="-6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er,</a:t>
                      </a:r>
                      <a:r>
                        <a:rPr dirty="0" sz="950" spc="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9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same</a:t>
                      </a:r>
                      <a:r>
                        <a:rPr dirty="0" sz="950" spc="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as</a:t>
                      </a:r>
                      <a:r>
                        <a:rPr dirty="0" sz="950" spc="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the</a:t>
                      </a:r>
                      <a:r>
                        <a:rPr dirty="0" sz="950" spc="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PostgreSQL</a:t>
                      </a:r>
                      <a:r>
                        <a:rPr dirty="0" sz="950" spc="50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project,</a:t>
                      </a:r>
                      <a:r>
                        <a:rPr dirty="0" sz="95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for</a:t>
                      </a:r>
                      <a:r>
                        <a:rPr dirty="0" sz="95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consistency</a:t>
                      </a:r>
                      <a:r>
                        <a:rPr dirty="0" sz="95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of</a:t>
                      </a:r>
                      <a:r>
                        <a:rPr dirty="0" sz="95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vector</a:t>
                      </a:r>
                      <a:r>
                        <a:rPr dirty="0" sz="950" spc="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dimensionality</a:t>
                      </a:r>
                      <a:r>
                        <a:rPr dirty="0" sz="95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(</a:t>
                      </a:r>
                      <a:r>
                        <a:rPr dirty="0" sz="850" spc="-10">
                          <a:solidFill>
                            <a:srgbClr val="111726"/>
                          </a:solidFill>
                          <a:latin typeface="Arial"/>
                          <a:cs typeface="Arial"/>
                        </a:rPr>
                        <a:t>384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).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40640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</a:tr>
              <a:tr h="633095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LLM_MODEL</a:t>
                      </a:r>
                      <a:r>
                        <a:rPr dirty="0" sz="750" spc="14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=</a:t>
                      </a:r>
                      <a:r>
                        <a:rPr dirty="0" sz="750" spc="145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"Qwen/Qwen2.5-0.5B-</a:t>
                      </a:r>
                      <a:r>
                        <a:rPr dirty="0" sz="750" spc="-1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Instruct"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90170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0485" marR="118110">
                        <a:lnSpc>
                          <a:spcPct val="118700"/>
                        </a:lnSpc>
                        <a:spcBef>
                          <a:spcPts val="295"/>
                        </a:spcBef>
                      </a:pP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Declared</a:t>
                      </a:r>
                      <a:r>
                        <a:rPr dirty="0" sz="95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here</a:t>
                      </a:r>
                      <a:r>
                        <a:rPr dirty="0" sz="950" spc="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for</a:t>
                      </a:r>
                      <a:r>
                        <a:rPr dirty="0" sz="95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reference/consistency,</a:t>
                      </a:r>
                      <a:r>
                        <a:rPr dirty="0" sz="950" spc="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though</a:t>
                      </a:r>
                      <a:r>
                        <a:rPr dirty="0" sz="950" spc="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the</a:t>
                      </a:r>
                      <a:r>
                        <a:rPr dirty="0" sz="95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actual</a:t>
                      </a:r>
                      <a:r>
                        <a:rPr dirty="0" sz="950" spc="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2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query</a:t>
                      </a:r>
                      <a:r>
                        <a:rPr dirty="0" sz="950" spc="50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script</a:t>
                      </a:r>
                      <a:r>
                        <a:rPr dirty="0" sz="950" spc="-2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6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(</a:t>
                      </a:r>
                      <a:r>
                        <a:rPr dirty="0" sz="950" spc="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query.py</a:t>
                      </a:r>
                      <a:r>
                        <a:rPr dirty="0" sz="750" spc="-22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950" spc="-6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)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6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calls</a:t>
                      </a:r>
                      <a:r>
                        <a:rPr dirty="0" sz="950" spc="-2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6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this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model</a:t>
                      </a:r>
                      <a:r>
                        <a:rPr dirty="0" sz="950" spc="-2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through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 b="1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Ollama</a:t>
                      </a:r>
                      <a:r>
                        <a:rPr dirty="0" sz="950" spc="-20" b="1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by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6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its</a:t>
                      </a:r>
                      <a:r>
                        <a:rPr dirty="0" sz="950" spc="-2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Ollama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3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tag</a:t>
                      </a:r>
                      <a:r>
                        <a:rPr dirty="0" sz="95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(</a:t>
                      </a:r>
                      <a:r>
                        <a:rPr dirty="0" sz="950" spc="3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qwen2.5:0.5b</a:t>
                      </a:r>
                      <a:r>
                        <a:rPr dirty="0" sz="750" spc="-204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950" spc="-6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)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rather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than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importing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6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this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constant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directly.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37465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</a:tr>
              <a:tr h="464820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PDF_PATH</a:t>
                      </a:r>
                      <a:r>
                        <a:rPr dirty="0" sz="750" spc="55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=</a:t>
                      </a:r>
                      <a:r>
                        <a:rPr dirty="0" sz="750" spc="6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 spc="-1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"sample.pdf"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90170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0485" marR="172085">
                        <a:lnSpc>
                          <a:spcPct val="125699"/>
                        </a:lnSpc>
                        <a:spcBef>
                          <a:spcPts val="215"/>
                        </a:spcBef>
                      </a:pP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Declared</a:t>
                      </a:r>
                      <a:r>
                        <a:rPr dirty="0" sz="950" spc="-2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here</a:t>
                      </a:r>
                      <a:r>
                        <a:rPr dirty="0" sz="950" spc="-2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for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6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reference;</a:t>
                      </a:r>
                      <a:r>
                        <a:rPr dirty="0" sz="950" spc="2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ingest.py</a:t>
                      </a:r>
                      <a:r>
                        <a:rPr dirty="0" sz="750" spc="-15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hardcodes</a:t>
                      </a:r>
                      <a:r>
                        <a:rPr dirty="0" sz="950" spc="-2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the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9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same</a:t>
                      </a:r>
                      <a:r>
                        <a:rPr dirty="0" sz="950" spc="-2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3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literal</a:t>
                      </a:r>
                      <a:r>
                        <a:rPr dirty="0" sz="950" spc="50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path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rather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than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importing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6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this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constant.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27305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</a:tr>
              <a:tr h="464820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CHUNK_SIZE</a:t>
                      </a:r>
                      <a:r>
                        <a:rPr dirty="0" sz="750" spc="65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=</a:t>
                      </a:r>
                      <a:r>
                        <a:rPr dirty="0" sz="750" spc="65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 spc="-25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500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90170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0485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Intended</a:t>
                      </a:r>
                      <a:r>
                        <a:rPr dirty="0" sz="950" spc="-3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chunk</a:t>
                      </a:r>
                      <a:r>
                        <a:rPr dirty="0" sz="950" spc="-2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size</a:t>
                      </a:r>
                      <a:r>
                        <a:rPr dirty="0" sz="950" spc="-2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in</a:t>
                      </a:r>
                      <a:r>
                        <a:rPr dirty="0" sz="950" spc="-2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characters</a:t>
                      </a:r>
                      <a:r>
                        <a:rPr dirty="0" sz="950" spc="-2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6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(de</a:t>
                      </a:r>
                      <a:r>
                        <a:rPr dirty="0" sz="900" spc="-65">
                          <a:solidFill>
                            <a:srgbClr val="111726"/>
                          </a:solidFill>
                          <a:latin typeface="Arial"/>
                          <a:cs typeface="Arial"/>
                        </a:rPr>
                        <a:t>ﬁ</a:t>
                      </a:r>
                      <a:r>
                        <a:rPr dirty="0" sz="950" spc="-6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ned</a:t>
                      </a:r>
                      <a:r>
                        <a:rPr dirty="0" sz="950" spc="-2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here,</a:t>
                      </a:r>
                      <a:r>
                        <a:rPr dirty="0" sz="950" spc="-2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6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though</a:t>
                      </a:r>
                      <a:r>
                        <a:rPr dirty="0" sz="950" spc="20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750" spc="-1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ingest.py</a:t>
                      </a:r>
                      <a:endParaRPr sz="750">
                        <a:latin typeface="Courier New"/>
                        <a:cs typeface="Courier New"/>
                      </a:endParaRPr>
                    </a:p>
                    <a:p>
                      <a:pPr marL="7048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dirty="0" sz="950" spc="-7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also</a:t>
                      </a:r>
                      <a:r>
                        <a:rPr dirty="0" sz="950" spc="-2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hardcodes</a:t>
                      </a:r>
                      <a:r>
                        <a:rPr dirty="0" sz="950" spc="204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500</a:t>
                      </a:r>
                      <a:r>
                        <a:rPr dirty="0" sz="750" spc="-25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950" spc="-7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directly</a:t>
                      </a:r>
                      <a:r>
                        <a:rPr dirty="0" sz="950" spc="-2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rather</a:t>
                      </a:r>
                      <a:r>
                        <a:rPr dirty="0" sz="950" spc="-2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than</a:t>
                      </a:r>
                      <a:r>
                        <a:rPr dirty="0" sz="950" spc="-2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referencing</a:t>
                      </a:r>
                      <a:r>
                        <a:rPr dirty="0" sz="950" spc="-2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6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this</a:t>
                      </a:r>
                      <a:r>
                        <a:rPr dirty="0" sz="950" spc="-2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constant).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64769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</a:tr>
              <a:tr h="457834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CHUNK_OVERLAP</a:t>
                      </a:r>
                      <a:r>
                        <a:rPr dirty="0" sz="750" spc="75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=</a:t>
                      </a:r>
                      <a:r>
                        <a:rPr dirty="0" sz="750" spc="8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 spc="-25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50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90170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0485" marR="509905">
                        <a:lnSpc>
                          <a:spcPct val="116399"/>
                        </a:lnSpc>
                        <a:spcBef>
                          <a:spcPts val="320"/>
                        </a:spcBef>
                      </a:pP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Intended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chunk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overlap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in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characters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(again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6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de</a:t>
                      </a:r>
                      <a:r>
                        <a:rPr dirty="0" sz="900" spc="-65">
                          <a:solidFill>
                            <a:srgbClr val="111726"/>
                          </a:solidFill>
                          <a:latin typeface="Arial"/>
                          <a:cs typeface="Arial"/>
                        </a:rPr>
                        <a:t>ﬁ</a:t>
                      </a:r>
                      <a:r>
                        <a:rPr dirty="0" sz="950" spc="-6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ned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here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2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for</a:t>
                      </a:r>
                      <a:r>
                        <a:rPr dirty="0" sz="950" spc="50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6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reference;</a:t>
                      </a:r>
                      <a:r>
                        <a:rPr dirty="0" sz="950" spc="1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ingest.py</a:t>
                      </a:r>
                      <a:r>
                        <a:rPr dirty="0" sz="750" spc="-6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hardcodes</a:t>
                      </a:r>
                      <a:r>
                        <a:rPr dirty="0" sz="950" spc="1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50</a:t>
                      </a:r>
                      <a:r>
                        <a:rPr dirty="0" sz="750" spc="-6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directly).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40640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1" name="object 21"/>
          <p:cNvSpPr/>
          <p:nvPr/>
        </p:nvSpPr>
        <p:spPr>
          <a:xfrm>
            <a:off x="943018" y="7346661"/>
            <a:ext cx="1348740" cy="195580"/>
          </a:xfrm>
          <a:custGeom>
            <a:avLst/>
            <a:gdLst/>
            <a:ahLst/>
            <a:cxnLst/>
            <a:rect l="l" t="t" r="r" b="b"/>
            <a:pathLst>
              <a:path w="1348739" h="195579">
                <a:moveTo>
                  <a:pt x="1324896" y="195501"/>
                </a:moveTo>
                <a:lnTo>
                  <a:pt x="23389" y="195501"/>
                </a:lnTo>
                <a:lnTo>
                  <a:pt x="19950" y="194813"/>
                </a:lnTo>
                <a:lnTo>
                  <a:pt x="0" y="172102"/>
                </a:lnTo>
                <a:lnTo>
                  <a:pt x="0" y="168535"/>
                </a:lnTo>
                <a:lnTo>
                  <a:pt x="0" y="23372"/>
                </a:lnTo>
                <a:lnTo>
                  <a:pt x="23389" y="0"/>
                </a:lnTo>
                <a:lnTo>
                  <a:pt x="1324896" y="0"/>
                </a:lnTo>
                <a:lnTo>
                  <a:pt x="1348286" y="23372"/>
                </a:lnTo>
                <a:lnTo>
                  <a:pt x="1348286" y="172102"/>
                </a:lnTo>
                <a:lnTo>
                  <a:pt x="1328336" y="194813"/>
                </a:lnTo>
                <a:lnTo>
                  <a:pt x="1324896" y="195501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 txBox="1"/>
          <p:nvPr/>
        </p:nvSpPr>
        <p:spPr>
          <a:xfrm>
            <a:off x="667402" y="6812210"/>
            <a:ext cx="3679190" cy="998219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000" spc="-90" b="1">
                <a:solidFill>
                  <a:srgbClr val="111726"/>
                </a:solidFill>
                <a:latin typeface="Source Han Sans JP"/>
                <a:cs typeface="Source Han Sans JP"/>
              </a:rPr>
              <a:t>Output:</a:t>
            </a:r>
            <a:r>
              <a:rPr dirty="0" sz="1000" spc="-30" b="1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100">
                <a:solidFill>
                  <a:srgbClr val="111726"/>
                </a:solidFill>
                <a:latin typeface="Source Han Sans JP"/>
                <a:cs typeface="Source Han Sans JP"/>
              </a:rPr>
              <a:t>none</a:t>
            </a:r>
            <a:r>
              <a:rPr dirty="0" sz="1000" spc="-1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950" spc="-204">
                <a:solidFill>
                  <a:srgbClr val="111726"/>
                </a:solidFill>
                <a:latin typeface="Arial"/>
                <a:cs typeface="Arial"/>
              </a:rPr>
              <a:t>—</a:t>
            </a:r>
            <a:r>
              <a:rPr dirty="0" sz="950" spc="-60">
                <a:solidFill>
                  <a:srgbClr val="111726"/>
                </a:solidFill>
                <a:latin typeface="Arial"/>
                <a:cs typeface="Arial"/>
              </a:rPr>
              <a:t> </a:t>
            </a:r>
            <a:r>
              <a:rPr dirty="0" sz="1000" spc="-85">
                <a:solidFill>
                  <a:srgbClr val="111726"/>
                </a:solidFill>
                <a:latin typeface="Source Han Sans JP"/>
                <a:cs typeface="Source Han Sans JP"/>
              </a:rPr>
              <a:t>pure</a:t>
            </a:r>
            <a:r>
              <a:rPr dirty="0" sz="1000" spc="-20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95">
                <a:solidFill>
                  <a:srgbClr val="111726"/>
                </a:solidFill>
                <a:latin typeface="Source Han Sans JP"/>
                <a:cs typeface="Source Han Sans JP"/>
              </a:rPr>
              <a:t>constant</a:t>
            </a:r>
            <a:r>
              <a:rPr dirty="0" sz="1000" spc="-20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10">
                <a:solidFill>
                  <a:srgbClr val="111726"/>
                </a:solidFill>
                <a:latin typeface="Source Han Sans JP"/>
                <a:cs typeface="Source Han Sans JP"/>
              </a:rPr>
              <a:t>de</a:t>
            </a:r>
            <a:r>
              <a:rPr dirty="0" sz="950" spc="-10">
                <a:solidFill>
                  <a:srgbClr val="111726"/>
                </a:solidFill>
                <a:latin typeface="Arial"/>
                <a:cs typeface="Arial"/>
              </a:rPr>
              <a:t>ﬁ</a:t>
            </a:r>
            <a:r>
              <a:rPr dirty="0" sz="1000" spc="-10">
                <a:solidFill>
                  <a:srgbClr val="111726"/>
                </a:solidFill>
                <a:latin typeface="Source Han Sans JP"/>
                <a:cs typeface="Source Han Sans JP"/>
              </a:rPr>
              <a:t>nitions.</a:t>
            </a:r>
            <a:endParaRPr sz="1000">
              <a:latin typeface="Source Han Sans JP"/>
              <a:cs typeface="Source Han Sans JP"/>
            </a:endParaRPr>
          </a:p>
          <a:p>
            <a:pPr>
              <a:lnSpc>
                <a:spcPct val="100000"/>
              </a:lnSpc>
              <a:spcBef>
                <a:spcPts val="994"/>
              </a:spcBef>
            </a:pPr>
            <a:endParaRPr sz="850">
              <a:latin typeface="Source Han Sans JP"/>
              <a:cs typeface="Source Han Sans JP"/>
            </a:endParaRPr>
          </a:p>
          <a:p>
            <a:pPr marL="12700">
              <a:lnSpc>
                <a:spcPct val="100000"/>
              </a:lnSpc>
            </a:pPr>
            <a:r>
              <a:rPr dirty="0" sz="1300" spc="-30" b="1">
                <a:solidFill>
                  <a:srgbClr val="111726"/>
                </a:solidFill>
                <a:latin typeface="Trebuchet MS"/>
                <a:cs typeface="Trebuchet MS"/>
              </a:rPr>
              <a:t>2</a:t>
            </a:r>
            <a:r>
              <a:rPr dirty="0" sz="1450" spc="-30" b="1">
                <a:solidFill>
                  <a:srgbClr val="111726"/>
                </a:solidFill>
                <a:latin typeface="Source Han Sans JP"/>
                <a:cs typeface="Source Han Sans JP"/>
              </a:rPr>
              <a:t>.</a:t>
            </a:r>
            <a:r>
              <a:rPr dirty="0" sz="1300" spc="-30" b="1">
                <a:solidFill>
                  <a:srgbClr val="111726"/>
                </a:solidFill>
                <a:latin typeface="Trebuchet MS"/>
                <a:cs typeface="Trebuchet MS"/>
              </a:rPr>
              <a:t>2</a:t>
            </a:r>
            <a:r>
              <a:rPr dirty="0" sz="1300" spc="-60" b="1">
                <a:solidFill>
                  <a:srgbClr val="111726"/>
                </a:solidFill>
                <a:latin typeface="Trebuchet MS"/>
                <a:cs typeface="Trebuchet MS"/>
              </a:rPr>
              <a:t> </a:t>
            </a:r>
            <a:r>
              <a:rPr dirty="0" sz="1100" spc="-10" b="1">
                <a:solidFill>
                  <a:srgbClr val="111726"/>
                </a:solidFill>
                <a:latin typeface="Courier New"/>
                <a:cs typeface="Courier New"/>
              </a:rPr>
              <a:t>schema_setup.py</a:t>
            </a:r>
            <a:endParaRPr sz="11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885"/>
              </a:spcBef>
            </a:pPr>
            <a:r>
              <a:rPr dirty="0" sz="1000" spc="-80">
                <a:solidFill>
                  <a:srgbClr val="111726"/>
                </a:solidFill>
                <a:latin typeface="Source Han Sans JP"/>
                <a:cs typeface="Source Han Sans JP"/>
              </a:rPr>
              <a:t>This</a:t>
            </a:r>
            <a:r>
              <a:rPr dirty="0" sz="1000" spc="-20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70">
                <a:solidFill>
                  <a:srgbClr val="111726"/>
                </a:solidFill>
                <a:latin typeface="Source Han Sans JP"/>
                <a:cs typeface="Source Han Sans JP"/>
              </a:rPr>
              <a:t>is</a:t>
            </a:r>
            <a:r>
              <a:rPr dirty="0" sz="1000" spc="-20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90">
                <a:solidFill>
                  <a:srgbClr val="111726"/>
                </a:solidFill>
                <a:latin typeface="Source Han Sans JP"/>
                <a:cs typeface="Source Han Sans JP"/>
              </a:rPr>
              <a:t>a</a:t>
            </a:r>
            <a:r>
              <a:rPr dirty="0" sz="1000" spc="-1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100">
                <a:solidFill>
                  <a:srgbClr val="111726"/>
                </a:solidFill>
                <a:latin typeface="Source Han Sans JP"/>
                <a:cs typeface="Source Han Sans JP"/>
              </a:rPr>
              <a:t>one-</a:t>
            </a:r>
            <a:r>
              <a:rPr dirty="0" sz="1000" spc="-90">
                <a:solidFill>
                  <a:srgbClr val="111726"/>
                </a:solidFill>
                <a:latin typeface="Source Han Sans JP"/>
                <a:cs typeface="Source Han Sans JP"/>
              </a:rPr>
              <a:t>time</a:t>
            </a:r>
            <a:r>
              <a:rPr dirty="0" sz="1000" spc="-20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90">
                <a:solidFill>
                  <a:srgbClr val="111726"/>
                </a:solidFill>
                <a:latin typeface="Source Han Sans JP"/>
                <a:cs typeface="Source Han Sans JP"/>
              </a:rPr>
              <a:t>setup</a:t>
            </a:r>
            <a:r>
              <a:rPr dirty="0" sz="1000" spc="-1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75">
                <a:solidFill>
                  <a:srgbClr val="111726"/>
                </a:solidFill>
                <a:latin typeface="Source Han Sans JP"/>
                <a:cs typeface="Source Han Sans JP"/>
              </a:rPr>
              <a:t>script</a:t>
            </a:r>
            <a:r>
              <a:rPr dirty="0" sz="1000" spc="-20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80">
                <a:solidFill>
                  <a:srgbClr val="111726"/>
                </a:solidFill>
                <a:latin typeface="Source Han Sans JP"/>
                <a:cs typeface="Source Han Sans JP"/>
              </a:rPr>
              <a:t>that</a:t>
            </a:r>
            <a:r>
              <a:rPr dirty="0" sz="1000" spc="-20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90">
                <a:solidFill>
                  <a:srgbClr val="111726"/>
                </a:solidFill>
                <a:latin typeface="Source Han Sans JP"/>
                <a:cs typeface="Source Han Sans JP"/>
              </a:rPr>
              <a:t>adds</a:t>
            </a:r>
            <a:r>
              <a:rPr dirty="0" sz="1000" spc="-1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90">
                <a:solidFill>
                  <a:srgbClr val="111726"/>
                </a:solidFill>
                <a:latin typeface="Source Han Sans JP"/>
                <a:cs typeface="Source Han Sans JP"/>
              </a:rPr>
              <a:t>a</a:t>
            </a:r>
            <a:r>
              <a:rPr dirty="0" sz="1000" spc="-20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85">
                <a:solidFill>
                  <a:srgbClr val="111726"/>
                </a:solidFill>
                <a:latin typeface="Source Han Sans JP"/>
                <a:cs typeface="Source Han Sans JP"/>
              </a:rPr>
              <a:t>vector</a:t>
            </a:r>
            <a:r>
              <a:rPr dirty="0" sz="1000" spc="-1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950" spc="-50">
                <a:solidFill>
                  <a:srgbClr val="111726"/>
                </a:solidFill>
                <a:latin typeface="Arial"/>
                <a:cs typeface="Arial"/>
              </a:rPr>
              <a:t>ﬁ</a:t>
            </a:r>
            <a:r>
              <a:rPr dirty="0" sz="1000" spc="-50">
                <a:solidFill>
                  <a:srgbClr val="111726"/>
                </a:solidFill>
                <a:latin typeface="Source Han Sans JP"/>
                <a:cs typeface="Source Han Sans JP"/>
              </a:rPr>
              <a:t>eld</a:t>
            </a:r>
            <a:r>
              <a:rPr dirty="0" sz="1000" spc="-20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90">
                <a:solidFill>
                  <a:srgbClr val="111726"/>
                </a:solidFill>
                <a:latin typeface="Source Han Sans JP"/>
                <a:cs typeface="Source Han Sans JP"/>
              </a:rPr>
              <a:t>to</a:t>
            </a:r>
            <a:r>
              <a:rPr dirty="0" sz="1000" spc="-20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90">
                <a:solidFill>
                  <a:srgbClr val="111726"/>
                </a:solidFill>
                <a:latin typeface="Source Han Sans JP"/>
                <a:cs typeface="Source Han Sans JP"/>
              </a:rPr>
              <a:t>the</a:t>
            </a:r>
            <a:r>
              <a:rPr dirty="0" sz="1000" spc="-1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75">
                <a:solidFill>
                  <a:srgbClr val="111726"/>
                </a:solidFill>
                <a:latin typeface="Source Han Sans JP"/>
                <a:cs typeface="Source Han Sans JP"/>
              </a:rPr>
              <a:t>Solr</a:t>
            </a:r>
            <a:r>
              <a:rPr dirty="0" sz="1000" spc="-20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55">
                <a:solidFill>
                  <a:srgbClr val="111726"/>
                </a:solidFill>
                <a:latin typeface="Source Han Sans JP"/>
                <a:cs typeface="Source Han Sans JP"/>
              </a:rPr>
              <a:t>schema.</a:t>
            </a:r>
            <a:endParaRPr sz="1000">
              <a:latin typeface="Source Han Sans JP"/>
              <a:cs typeface="Source Han Sans JP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80102" y="571506"/>
            <a:ext cx="6202680" cy="4281170"/>
          </a:xfrm>
          <a:custGeom>
            <a:avLst/>
            <a:gdLst/>
            <a:ahLst/>
            <a:cxnLst/>
            <a:rect l="l" t="t" r="r" b="b"/>
            <a:pathLst>
              <a:path w="6202680" h="4281170">
                <a:moveTo>
                  <a:pt x="6151728" y="4280810"/>
                </a:moveTo>
                <a:lnTo>
                  <a:pt x="50390" y="4280810"/>
                </a:lnTo>
                <a:lnTo>
                  <a:pt x="46883" y="4280466"/>
                </a:lnTo>
                <a:lnTo>
                  <a:pt x="11056" y="4259770"/>
                </a:lnTo>
                <a:lnTo>
                  <a:pt x="0" y="4230404"/>
                </a:lnTo>
                <a:lnTo>
                  <a:pt x="0" y="4226879"/>
                </a:lnTo>
                <a:lnTo>
                  <a:pt x="0" y="50392"/>
                </a:lnTo>
                <a:lnTo>
                  <a:pt x="18300" y="13273"/>
                </a:lnTo>
                <a:lnTo>
                  <a:pt x="50390" y="0"/>
                </a:lnTo>
                <a:lnTo>
                  <a:pt x="6151728" y="0"/>
                </a:lnTo>
                <a:lnTo>
                  <a:pt x="6188826" y="18302"/>
                </a:lnTo>
                <a:lnTo>
                  <a:pt x="6202118" y="50392"/>
                </a:lnTo>
                <a:lnTo>
                  <a:pt x="6202118" y="4230404"/>
                </a:lnTo>
                <a:lnTo>
                  <a:pt x="6183818" y="4267482"/>
                </a:lnTo>
                <a:lnTo>
                  <a:pt x="6155235" y="4280453"/>
                </a:lnTo>
                <a:lnTo>
                  <a:pt x="6151728" y="4280810"/>
                </a:lnTo>
                <a:close/>
              </a:path>
            </a:pathLst>
          </a:custGeom>
          <a:solidFill>
            <a:srgbClr val="0E172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761782" y="672055"/>
            <a:ext cx="2984500" cy="40652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import</a:t>
            </a:r>
            <a:r>
              <a:rPr dirty="0" sz="800" spc="3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 spc="-10">
                <a:solidFill>
                  <a:srgbClr val="E4E7EB"/>
                </a:solidFill>
                <a:latin typeface="Courier New"/>
                <a:cs typeface="Courier New"/>
              </a:rPr>
              <a:t>requests</a:t>
            </a:r>
            <a:endParaRPr sz="800">
              <a:latin typeface="Courier New"/>
              <a:cs typeface="Courier New"/>
            </a:endParaRPr>
          </a:p>
          <a:p>
            <a:pPr marL="12700" marR="5080">
              <a:lnSpc>
                <a:spcPct val="293100"/>
              </a:lnSpc>
            </a:pP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SOLR_URL</a:t>
            </a:r>
            <a:r>
              <a:rPr dirty="0" sz="800" spc="2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=</a:t>
            </a:r>
            <a:r>
              <a:rPr dirty="0" sz="800" spc="2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 spc="-10">
                <a:solidFill>
                  <a:srgbClr val="E4E7EB"/>
                </a:solidFill>
                <a:latin typeface="Courier New"/>
                <a:cs typeface="Courier New"/>
              </a:rPr>
              <a:t>"</a:t>
            </a:r>
            <a:r>
              <a:rPr dirty="0" sz="800" spc="-10">
                <a:solidFill>
                  <a:srgbClr val="E4E7EB"/>
                </a:solidFill>
                <a:latin typeface="Courier New"/>
                <a:cs typeface="Courier New"/>
                <a:hlinkClick r:id="rId2"/>
              </a:rPr>
              <a:t>http://localhost:8983/solr/rag_core</a:t>
            </a:r>
            <a:r>
              <a:rPr dirty="0" sz="800" spc="-10">
                <a:solidFill>
                  <a:srgbClr val="E4E7EB"/>
                </a:solidFill>
                <a:latin typeface="Courier New"/>
                <a:cs typeface="Courier New"/>
              </a:rPr>
              <a:t>"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payload</a:t>
            </a:r>
            <a:r>
              <a:rPr dirty="0" sz="800" spc="2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=</a:t>
            </a:r>
            <a:r>
              <a:rPr dirty="0" sz="800" spc="2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 spc="-50">
                <a:solidFill>
                  <a:srgbClr val="E4E7EB"/>
                </a:solidFill>
                <a:latin typeface="Courier New"/>
                <a:cs typeface="Courier New"/>
              </a:rPr>
              <a:t>{</a:t>
            </a:r>
            <a:endParaRPr sz="800">
              <a:latin typeface="Courier New"/>
              <a:cs typeface="Courier New"/>
            </a:endParaRPr>
          </a:p>
          <a:p>
            <a:pPr marL="259079">
              <a:lnSpc>
                <a:spcPct val="100000"/>
              </a:lnSpc>
              <a:spcBef>
                <a:spcPts val="420"/>
              </a:spcBef>
            </a:pP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"add-field":</a:t>
            </a:r>
            <a:r>
              <a:rPr dirty="0" sz="800" spc="5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 spc="-50">
                <a:solidFill>
                  <a:srgbClr val="E4E7EB"/>
                </a:solidFill>
                <a:latin typeface="Courier New"/>
                <a:cs typeface="Courier New"/>
              </a:rPr>
              <a:t>{</a:t>
            </a:r>
            <a:endParaRPr sz="800">
              <a:latin typeface="Courier New"/>
              <a:cs typeface="Courier New"/>
            </a:endParaRPr>
          </a:p>
          <a:p>
            <a:pPr marL="505459">
              <a:lnSpc>
                <a:spcPct val="100000"/>
              </a:lnSpc>
              <a:spcBef>
                <a:spcPts val="420"/>
              </a:spcBef>
            </a:pP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"name":</a:t>
            </a:r>
            <a:r>
              <a:rPr dirty="0" sz="800" spc="3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 spc="-10">
                <a:solidFill>
                  <a:srgbClr val="E4E7EB"/>
                </a:solidFill>
                <a:latin typeface="Courier New"/>
                <a:cs typeface="Courier New"/>
              </a:rPr>
              <a:t>"embedding",</a:t>
            </a:r>
            <a:endParaRPr sz="800">
              <a:latin typeface="Courier New"/>
              <a:cs typeface="Courier New"/>
            </a:endParaRPr>
          </a:p>
          <a:p>
            <a:pPr marL="505459" marR="1176020">
              <a:lnSpc>
                <a:spcPct val="145600"/>
              </a:lnSpc>
              <a:spcBef>
                <a:spcPts val="35"/>
              </a:spcBef>
            </a:pP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"type":</a:t>
            </a:r>
            <a:r>
              <a:rPr dirty="0" sz="800" spc="3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 spc="-10">
                <a:solidFill>
                  <a:srgbClr val="E4E7EB"/>
                </a:solidFill>
                <a:latin typeface="Courier New"/>
                <a:cs typeface="Courier New"/>
              </a:rPr>
              <a:t>"knn_vector",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"stored":</a:t>
            </a:r>
            <a:r>
              <a:rPr dirty="0" sz="800" spc="4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 spc="-10">
                <a:solidFill>
                  <a:srgbClr val="E4E7EB"/>
                </a:solidFill>
                <a:latin typeface="Courier New"/>
                <a:cs typeface="Courier New"/>
              </a:rPr>
              <a:t>True,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"indexed":</a:t>
            </a:r>
            <a:r>
              <a:rPr dirty="0" sz="800" spc="5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 spc="-10">
                <a:solidFill>
                  <a:srgbClr val="E4E7EB"/>
                </a:solidFill>
                <a:latin typeface="Courier New"/>
                <a:cs typeface="Courier New"/>
              </a:rPr>
              <a:t>True,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"dimension":</a:t>
            </a:r>
            <a:r>
              <a:rPr dirty="0" sz="800" spc="5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 spc="-20">
                <a:solidFill>
                  <a:srgbClr val="E4E7EB"/>
                </a:solidFill>
                <a:latin typeface="Courier New"/>
                <a:cs typeface="Courier New"/>
              </a:rPr>
              <a:t>384,</a:t>
            </a:r>
            <a:endParaRPr sz="800">
              <a:latin typeface="Courier New"/>
              <a:cs typeface="Courier New"/>
            </a:endParaRPr>
          </a:p>
          <a:p>
            <a:pPr marL="505459">
              <a:lnSpc>
                <a:spcPct val="100000"/>
              </a:lnSpc>
              <a:spcBef>
                <a:spcPts val="420"/>
              </a:spcBef>
            </a:pP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"similarityFunction":</a:t>
            </a:r>
            <a:r>
              <a:rPr dirty="0" sz="800" spc="9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 spc="-10">
                <a:solidFill>
                  <a:srgbClr val="E4E7EB"/>
                </a:solidFill>
                <a:latin typeface="Courier New"/>
                <a:cs typeface="Courier New"/>
              </a:rPr>
              <a:t>"cosine"</a:t>
            </a:r>
            <a:endParaRPr sz="800">
              <a:latin typeface="Courier New"/>
              <a:cs typeface="Courier New"/>
            </a:endParaRPr>
          </a:p>
          <a:p>
            <a:pPr marL="259079">
              <a:lnSpc>
                <a:spcPct val="100000"/>
              </a:lnSpc>
              <a:spcBef>
                <a:spcPts val="475"/>
              </a:spcBef>
            </a:pPr>
            <a:r>
              <a:rPr dirty="0" sz="800" spc="-50">
                <a:solidFill>
                  <a:srgbClr val="E4E7EB"/>
                </a:solidFill>
                <a:latin typeface="Courier New"/>
                <a:cs typeface="Courier New"/>
              </a:rPr>
              <a:t>}</a:t>
            </a:r>
            <a:endParaRPr sz="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420"/>
              </a:spcBef>
            </a:pPr>
            <a:r>
              <a:rPr dirty="0" sz="800" spc="-50">
                <a:solidFill>
                  <a:srgbClr val="E4E7EB"/>
                </a:solidFill>
                <a:latin typeface="Courier New"/>
                <a:cs typeface="Courier New"/>
              </a:rPr>
              <a:t>}</a:t>
            </a:r>
            <a:endParaRPr sz="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500"/>
              </a:spcBef>
            </a:pPr>
            <a:endParaRPr sz="800">
              <a:latin typeface="Courier New"/>
              <a:cs typeface="Courier New"/>
            </a:endParaRPr>
          </a:p>
          <a:p>
            <a:pPr algn="just" marL="259079" marR="1422400" indent="-247015">
              <a:lnSpc>
                <a:spcPct val="146500"/>
              </a:lnSpc>
            </a:pP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response</a:t>
            </a:r>
            <a:r>
              <a:rPr dirty="0" sz="800" spc="2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=</a:t>
            </a:r>
            <a:r>
              <a:rPr dirty="0" sz="800" spc="2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 spc="-10">
                <a:solidFill>
                  <a:srgbClr val="E4E7EB"/>
                </a:solidFill>
                <a:latin typeface="Courier New"/>
                <a:cs typeface="Courier New"/>
              </a:rPr>
              <a:t>requests.post( f"{SOLR_URL}/schema", json=payload,</a:t>
            </a:r>
            <a:endParaRPr sz="800">
              <a:latin typeface="Courier New"/>
              <a:cs typeface="Courier New"/>
            </a:endParaRPr>
          </a:p>
          <a:p>
            <a:pPr algn="just" marL="259079">
              <a:lnSpc>
                <a:spcPct val="100000"/>
              </a:lnSpc>
              <a:spcBef>
                <a:spcPts val="420"/>
              </a:spcBef>
            </a:pP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headers={"Content-Type":</a:t>
            </a:r>
            <a:r>
              <a:rPr dirty="0" sz="800" spc="11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 spc="-10">
                <a:solidFill>
                  <a:srgbClr val="E4E7EB"/>
                </a:solidFill>
                <a:latin typeface="Courier New"/>
                <a:cs typeface="Courier New"/>
              </a:rPr>
              <a:t>"application/json"}</a:t>
            </a:r>
            <a:endParaRPr sz="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420"/>
              </a:spcBef>
            </a:pPr>
            <a:r>
              <a:rPr dirty="0" sz="800" spc="-50">
                <a:solidFill>
                  <a:srgbClr val="E4E7EB"/>
                </a:solidFill>
                <a:latin typeface="Courier New"/>
                <a:cs typeface="Courier New"/>
              </a:rPr>
              <a:t>)</a:t>
            </a:r>
            <a:endParaRPr sz="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475"/>
              </a:spcBef>
            </a:pPr>
            <a:endParaRPr sz="800">
              <a:latin typeface="Courier New"/>
              <a:cs typeface="Courier New"/>
            </a:endParaRPr>
          </a:p>
          <a:p>
            <a:pPr marL="12700" marR="1299210">
              <a:lnSpc>
                <a:spcPct val="149300"/>
              </a:lnSpc>
            </a:pPr>
            <a:r>
              <a:rPr dirty="0" sz="800" spc="-10">
                <a:solidFill>
                  <a:srgbClr val="E4E7EB"/>
                </a:solidFill>
                <a:latin typeface="Courier New"/>
                <a:cs typeface="Courier New"/>
              </a:rPr>
              <a:t>print(response.status_code) print(response.text)</a:t>
            </a:r>
            <a:endParaRPr sz="800">
              <a:latin typeface="Courier New"/>
              <a:cs typeface="Courier New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54257" y="5324217"/>
            <a:ext cx="944244" cy="141605"/>
          </a:xfrm>
          <a:custGeom>
            <a:avLst/>
            <a:gdLst/>
            <a:ahLst/>
            <a:cxnLst/>
            <a:rect l="l" t="t" r="r" b="b"/>
            <a:pathLst>
              <a:path w="944244" h="141604">
                <a:moveTo>
                  <a:pt x="920410" y="141556"/>
                </a:moveTo>
                <a:lnTo>
                  <a:pt x="23389" y="141556"/>
                </a:lnTo>
                <a:lnTo>
                  <a:pt x="19950" y="140869"/>
                </a:lnTo>
                <a:lnTo>
                  <a:pt x="0" y="118170"/>
                </a:lnTo>
                <a:lnTo>
                  <a:pt x="0" y="114604"/>
                </a:lnTo>
                <a:lnTo>
                  <a:pt x="0" y="23386"/>
                </a:lnTo>
                <a:lnTo>
                  <a:pt x="23389" y="0"/>
                </a:lnTo>
                <a:lnTo>
                  <a:pt x="920410" y="0"/>
                </a:lnTo>
                <a:lnTo>
                  <a:pt x="943800" y="23386"/>
                </a:lnTo>
                <a:lnTo>
                  <a:pt x="943800" y="118170"/>
                </a:lnTo>
                <a:lnTo>
                  <a:pt x="923850" y="140869"/>
                </a:lnTo>
                <a:lnTo>
                  <a:pt x="920410" y="141556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3767678" y="5324217"/>
            <a:ext cx="526415" cy="141605"/>
          </a:xfrm>
          <a:custGeom>
            <a:avLst/>
            <a:gdLst/>
            <a:ahLst/>
            <a:cxnLst/>
            <a:rect l="l" t="t" r="r" b="b"/>
            <a:pathLst>
              <a:path w="526414" h="141604">
                <a:moveTo>
                  <a:pt x="502441" y="141556"/>
                </a:moveTo>
                <a:lnTo>
                  <a:pt x="23389" y="141556"/>
                </a:lnTo>
                <a:lnTo>
                  <a:pt x="19949" y="140869"/>
                </a:lnTo>
                <a:lnTo>
                  <a:pt x="0" y="118170"/>
                </a:lnTo>
                <a:lnTo>
                  <a:pt x="0" y="114604"/>
                </a:lnTo>
                <a:lnTo>
                  <a:pt x="0" y="23386"/>
                </a:lnTo>
                <a:lnTo>
                  <a:pt x="23389" y="0"/>
                </a:lnTo>
                <a:lnTo>
                  <a:pt x="502441" y="0"/>
                </a:lnTo>
                <a:lnTo>
                  <a:pt x="525832" y="23386"/>
                </a:lnTo>
                <a:lnTo>
                  <a:pt x="525832" y="118170"/>
                </a:lnTo>
                <a:lnTo>
                  <a:pt x="505881" y="140869"/>
                </a:lnTo>
                <a:lnTo>
                  <a:pt x="502441" y="141556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754253" y="5789357"/>
            <a:ext cx="2218055" cy="316865"/>
          </a:xfrm>
          <a:custGeom>
            <a:avLst/>
            <a:gdLst/>
            <a:ahLst/>
            <a:cxnLst/>
            <a:rect l="l" t="t" r="r" b="b"/>
            <a:pathLst>
              <a:path w="2218055" h="316864">
                <a:moveTo>
                  <a:pt x="620204" y="0"/>
                </a:moveTo>
                <a:lnTo>
                  <a:pt x="23393" y="0"/>
                </a:lnTo>
                <a:lnTo>
                  <a:pt x="19951" y="685"/>
                </a:lnTo>
                <a:lnTo>
                  <a:pt x="0" y="23380"/>
                </a:lnTo>
                <a:lnTo>
                  <a:pt x="0" y="118173"/>
                </a:lnTo>
                <a:lnTo>
                  <a:pt x="23393" y="141554"/>
                </a:lnTo>
                <a:lnTo>
                  <a:pt x="620204" y="141554"/>
                </a:lnTo>
                <a:lnTo>
                  <a:pt x="620204" y="0"/>
                </a:lnTo>
                <a:close/>
              </a:path>
              <a:path w="2218055" h="316864">
                <a:moveTo>
                  <a:pt x="2217928" y="198653"/>
                </a:moveTo>
                <a:lnTo>
                  <a:pt x="2194534" y="175260"/>
                </a:lnTo>
                <a:lnTo>
                  <a:pt x="0" y="175260"/>
                </a:lnTo>
                <a:lnTo>
                  <a:pt x="0" y="316839"/>
                </a:lnTo>
                <a:lnTo>
                  <a:pt x="2194534" y="316839"/>
                </a:lnTo>
                <a:lnTo>
                  <a:pt x="2217928" y="293446"/>
                </a:lnTo>
                <a:lnTo>
                  <a:pt x="2217928" y="198653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5763142" y="5789376"/>
            <a:ext cx="586740" cy="141605"/>
          </a:xfrm>
          <a:custGeom>
            <a:avLst/>
            <a:gdLst/>
            <a:ahLst/>
            <a:cxnLst/>
            <a:rect l="l" t="t" r="r" b="b"/>
            <a:pathLst>
              <a:path w="586739" h="141604">
                <a:moveTo>
                  <a:pt x="563114" y="141556"/>
                </a:moveTo>
                <a:lnTo>
                  <a:pt x="23390" y="141556"/>
                </a:lnTo>
                <a:lnTo>
                  <a:pt x="19949" y="140862"/>
                </a:lnTo>
                <a:lnTo>
                  <a:pt x="0" y="118170"/>
                </a:lnTo>
                <a:lnTo>
                  <a:pt x="0" y="114604"/>
                </a:lnTo>
                <a:lnTo>
                  <a:pt x="0" y="23372"/>
                </a:lnTo>
                <a:lnTo>
                  <a:pt x="23390" y="0"/>
                </a:lnTo>
                <a:lnTo>
                  <a:pt x="563114" y="0"/>
                </a:lnTo>
                <a:lnTo>
                  <a:pt x="586504" y="23372"/>
                </a:lnTo>
                <a:lnTo>
                  <a:pt x="586504" y="118170"/>
                </a:lnTo>
                <a:lnTo>
                  <a:pt x="566554" y="140862"/>
                </a:lnTo>
                <a:lnTo>
                  <a:pt x="563114" y="141556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754257" y="6254535"/>
            <a:ext cx="708025" cy="141605"/>
          </a:xfrm>
          <a:custGeom>
            <a:avLst/>
            <a:gdLst/>
            <a:ahLst/>
            <a:cxnLst/>
            <a:rect l="l" t="t" r="r" b="b"/>
            <a:pathLst>
              <a:path w="708025" h="141604">
                <a:moveTo>
                  <a:pt x="684460" y="141556"/>
                </a:moveTo>
                <a:lnTo>
                  <a:pt x="23389" y="141556"/>
                </a:lnTo>
                <a:lnTo>
                  <a:pt x="19950" y="140869"/>
                </a:lnTo>
                <a:lnTo>
                  <a:pt x="0" y="118170"/>
                </a:lnTo>
                <a:lnTo>
                  <a:pt x="0" y="114604"/>
                </a:lnTo>
                <a:lnTo>
                  <a:pt x="0" y="23372"/>
                </a:lnTo>
                <a:lnTo>
                  <a:pt x="23389" y="0"/>
                </a:lnTo>
                <a:lnTo>
                  <a:pt x="684460" y="0"/>
                </a:lnTo>
                <a:lnTo>
                  <a:pt x="707850" y="23372"/>
                </a:lnTo>
                <a:lnTo>
                  <a:pt x="707850" y="118170"/>
                </a:lnTo>
                <a:lnTo>
                  <a:pt x="687900" y="140869"/>
                </a:lnTo>
                <a:lnTo>
                  <a:pt x="684460" y="141556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754257" y="6544416"/>
            <a:ext cx="883285" cy="141605"/>
          </a:xfrm>
          <a:custGeom>
            <a:avLst/>
            <a:gdLst/>
            <a:ahLst/>
            <a:cxnLst/>
            <a:rect l="l" t="t" r="r" b="b"/>
            <a:pathLst>
              <a:path w="883285" h="141604">
                <a:moveTo>
                  <a:pt x="859737" y="141556"/>
                </a:moveTo>
                <a:lnTo>
                  <a:pt x="23389" y="141556"/>
                </a:lnTo>
                <a:lnTo>
                  <a:pt x="19950" y="140869"/>
                </a:lnTo>
                <a:lnTo>
                  <a:pt x="0" y="118170"/>
                </a:lnTo>
                <a:lnTo>
                  <a:pt x="0" y="114604"/>
                </a:lnTo>
                <a:lnTo>
                  <a:pt x="0" y="23372"/>
                </a:lnTo>
                <a:lnTo>
                  <a:pt x="23389" y="0"/>
                </a:lnTo>
                <a:lnTo>
                  <a:pt x="859737" y="0"/>
                </a:lnTo>
                <a:lnTo>
                  <a:pt x="883127" y="23372"/>
                </a:lnTo>
                <a:lnTo>
                  <a:pt x="883127" y="118170"/>
                </a:lnTo>
                <a:lnTo>
                  <a:pt x="863177" y="140869"/>
                </a:lnTo>
                <a:lnTo>
                  <a:pt x="859737" y="141556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5493485" y="6544416"/>
            <a:ext cx="526415" cy="141605"/>
          </a:xfrm>
          <a:custGeom>
            <a:avLst/>
            <a:gdLst/>
            <a:ahLst/>
            <a:cxnLst/>
            <a:rect l="l" t="t" r="r" b="b"/>
            <a:pathLst>
              <a:path w="526414" h="141604">
                <a:moveTo>
                  <a:pt x="502441" y="141556"/>
                </a:moveTo>
                <a:lnTo>
                  <a:pt x="23390" y="141556"/>
                </a:lnTo>
                <a:lnTo>
                  <a:pt x="19949" y="140869"/>
                </a:lnTo>
                <a:lnTo>
                  <a:pt x="0" y="118170"/>
                </a:lnTo>
                <a:lnTo>
                  <a:pt x="0" y="114604"/>
                </a:lnTo>
                <a:lnTo>
                  <a:pt x="0" y="23372"/>
                </a:lnTo>
                <a:lnTo>
                  <a:pt x="23390" y="0"/>
                </a:lnTo>
                <a:lnTo>
                  <a:pt x="502441" y="0"/>
                </a:lnTo>
                <a:lnTo>
                  <a:pt x="525831" y="23372"/>
                </a:lnTo>
                <a:lnTo>
                  <a:pt x="525831" y="118170"/>
                </a:lnTo>
                <a:lnTo>
                  <a:pt x="505881" y="140869"/>
                </a:lnTo>
                <a:lnTo>
                  <a:pt x="502441" y="141556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754257" y="6834299"/>
            <a:ext cx="1240790" cy="141605"/>
          </a:xfrm>
          <a:custGeom>
            <a:avLst/>
            <a:gdLst/>
            <a:ahLst/>
            <a:cxnLst/>
            <a:rect l="l" t="t" r="r" b="b"/>
            <a:pathLst>
              <a:path w="1240789" h="141604">
                <a:moveTo>
                  <a:pt x="1217033" y="141556"/>
                </a:moveTo>
                <a:lnTo>
                  <a:pt x="23389" y="141556"/>
                </a:lnTo>
                <a:lnTo>
                  <a:pt x="19950" y="140862"/>
                </a:lnTo>
                <a:lnTo>
                  <a:pt x="0" y="118157"/>
                </a:lnTo>
                <a:lnTo>
                  <a:pt x="0" y="114604"/>
                </a:lnTo>
                <a:lnTo>
                  <a:pt x="0" y="23372"/>
                </a:lnTo>
                <a:lnTo>
                  <a:pt x="23389" y="0"/>
                </a:lnTo>
                <a:lnTo>
                  <a:pt x="1217033" y="0"/>
                </a:lnTo>
                <a:lnTo>
                  <a:pt x="1240423" y="23372"/>
                </a:lnTo>
                <a:lnTo>
                  <a:pt x="1240423" y="118157"/>
                </a:lnTo>
                <a:lnTo>
                  <a:pt x="1220473" y="140862"/>
                </a:lnTo>
                <a:lnTo>
                  <a:pt x="1217033" y="141556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4502494" y="6834299"/>
            <a:ext cx="586740" cy="141605"/>
          </a:xfrm>
          <a:custGeom>
            <a:avLst/>
            <a:gdLst/>
            <a:ahLst/>
            <a:cxnLst/>
            <a:rect l="l" t="t" r="r" b="b"/>
            <a:pathLst>
              <a:path w="586739" h="141604">
                <a:moveTo>
                  <a:pt x="563114" y="141556"/>
                </a:moveTo>
                <a:lnTo>
                  <a:pt x="23390" y="141556"/>
                </a:lnTo>
                <a:lnTo>
                  <a:pt x="19950" y="140862"/>
                </a:lnTo>
                <a:lnTo>
                  <a:pt x="0" y="118157"/>
                </a:lnTo>
                <a:lnTo>
                  <a:pt x="0" y="114604"/>
                </a:lnTo>
                <a:lnTo>
                  <a:pt x="0" y="23372"/>
                </a:lnTo>
                <a:lnTo>
                  <a:pt x="23390" y="0"/>
                </a:lnTo>
                <a:lnTo>
                  <a:pt x="563114" y="0"/>
                </a:lnTo>
                <a:lnTo>
                  <a:pt x="586504" y="23372"/>
                </a:lnTo>
                <a:lnTo>
                  <a:pt x="586504" y="118157"/>
                </a:lnTo>
                <a:lnTo>
                  <a:pt x="566554" y="140862"/>
                </a:lnTo>
                <a:lnTo>
                  <a:pt x="563114" y="141556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754257" y="7124180"/>
            <a:ext cx="1294765" cy="141605"/>
          </a:xfrm>
          <a:custGeom>
            <a:avLst/>
            <a:gdLst/>
            <a:ahLst/>
            <a:cxnLst/>
            <a:rect l="l" t="t" r="r" b="b"/>
            <a:pathLst>
              <a:path w="1294764" h="141604">
                <a:moveTo>
                  <a:pt x="1270965" y="141556"/>
                </a:moveTo>
                <a:lnTo>
                  <a:pt x="23389" y="141556"/>
                </a:lnTo>
                <a:lnTo>
                  <a:pt x="19950" y="140862"/>
                </a:lnTo>
                <a:lnTo>
                  <a:pt x="0" y="118157"/>
                </a:lnTo>
                <a:lnTo>
                  <a:pt x="0" y="114604"/>
                </a:lnTo>
                <a:lnTo>
                  <a:pt x="0" y="23372"/>
                </a:lnTo>
                <a:lnTo>
                  <a:pt x="23389" y="0"/>
                </a:lnTo>
                <a:lnTo>
                  <a:pt x="1270965" y="0"/>
                </a:lnTo>
                <a:lnTo>
                  <a:pt x="1294355" y="23372"/>
                </a:lnTo>
                <a:lnTo>
                  <a:pt x="1294355" y="118157"/>
                </a:lnTo>
                <a:lnTo>
                  <a:pt x="1274405" y="140862"/>
                </a:lnTo>
                <a:lnTo>
                  <a:pt x="1270965" y="141556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754257" y="7582597"/>
            <a:ext cx="944244" cy="141605"/>
          </a:xfrm>
          <a:custGeom>
            <a:avLst/>
            <a:gdLst/>
            <a:ahLst/>
            <a:cxnLst/>
            <a:rect l="l" t="t" r="r" b="b"/>
            <a:pathLst>
              <a:path w="944244" h="141604">
                <a:moveTo>
                  <a:pt x="920410" y="141556"/>
                </a:moveTo>
                <a:lnTo>
                  <a:pt x="23389" y="141556"/>
                </a:lnTo>
                <a:lnTo>
                  <a:pt x="19950" y="140869"/>
                </a:lnTo>
                <a:lnTo>
                  <a:pt x="0" y="118170"/>
                </a:lnTo>
                <a:lnTo>
                  <a:pt x="0" y="114604"/>
                </a:lnTo>
                <a:lnTo>
                  <a:pt x="0" y="23372"/>
                </a:lnTo>
                <a:lnTo>
                  <a:pt x="23389" y="0"/>
                </a:lnTo>
                <a:lnTo>
                  <a:pt x="920410" y="0"/>
                </a:lnTo>
                <a:lnTo>
                  <a:pt x="943800" y="23372"/>
                </a:lnTo>
                <a:lnTo>
                  <a:pt x="943800" y="118170"/>
                </a:lnTo>
                <a:lnTo>
                  <a:pt x="923850" y="140869"/>
                </a:lnTo>
                <a:lnTo>
                  <a:pt x="920410" y="141556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754257" y="8034273"/>
            <a:ext cx="998219" cy="141605"/>
          </a:xfrm>
          <a:custGeom>
            <a:avLst/>
            <a:gdLst/>
            <a:ahLst/>
            <a:cxnLst/>
            <a:rect l="l" t="t" r="r" b="b"/>
            <a:pathLst>
              <a:path w="998219" h="141604">
                <a:moveTo>
                  <a:pt x="974342" y="141556"/>
                </a:moveTo>
                <a:lnTo>
                  <a:pt x="23389" y="141556"/>
                </a:lnTo>
                <a:lnTo>
                  <a:pt x="19950" y="140869"/>
                </a:lnTo>
                <a:lnTo>
                  <a:pt x="0" y="118170"/>
                </a:lnTo>
                <a:lnTo>
                  <a:pt x="0" y="114604"/>
                </a:lnTo>
                <a:lnTo>
                  <a:pt x="0" y="23386"/>
                </a:lnTo>
                <a:lnTo>
                  <a:pt x="23389" y="0"/>
                </a:lnTo>
                <a:lnTo>
                  <a:pt x="974342" y="0"/>
                </a:lnTo>
                <a:lnTo>
                  <a:pt x="997732" y="23386"/>
                </a:lnTo>
                <a:lnTo>
                  <a:pt x="997732" y="118170"/>
                </a:lnTo>
                <a:lnTo>
                  <a:pt x="977782" y="140869"/>
                </a:lnTo>
                <a:lnTo>
                  <a:pt x="974342" y="141556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754257" y="8330896"/>
            <a:ext cx="1058545" cy="141605"/>
          </a:xfrm>
          <a:custGeom>
            <a:avLst/>
            <a:gdLst/>
            <a:ahLst/>
            <a:cxnLst/>
            <a:rect l="l" t="t" r="r" b="b"/>
            <a:pathLst>
              <a:path w="1058545" h="141604">
                <a:moveTo>
                  <a:pt x="1035015" y="141556"/>
                </a:moveTo>
                <a:lnTo>
                  <a:pt x="23389" y="141556"/>
                </a:lnTo>
                <a:lnTo>
                  <a:pt x="19950" y="140869"/>
                </a:lnTo>
                <a:lnTo>
                  <a:pt x="0" y="118157"/>
                </a:lnTo>
                <a:lnTo>
                  <a:pt x="0" y="114604"/>
                </a:lnTo>
                <a:lnTo>
                  <a:pt x="0" y="23372"/>
                </a:lnTo>
                <a:lnTo>
                  <a:pt x="23389" y="0"/>
                </a:lnTo>
                <a:lnTo>
                  <a:pt x="1035015" y="0"/>
                </a:lnTo>
                <a:lnTo>
                  <a:pt x="1058405" y="23372"/>
                </a:lnTo>
                <a:lnTo>
                  <a:pt x="1058405" y="118157"/>
                </a:lnTo>
                <a:lnTo>
                  <a:pt x="1038454" y="140869"/>
                </a:lnTo>
                <a:lnTo>
                  <a:pt x="1035015" y="141556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4131716" y="8499433"/>
            <a:ext cx="998219" cy="141605"/>
          </a:xfrm>
          <a:custGeom>
            <a:avLst/>
            <a:gdLst/>
            <a:ahLst/>
            <a:cxnLst/>
            <a:rect l="l" t="t" r="r" b="b"/>
            <a:pathLst>
              <a:path w="998220" h="141604">
                <a:moveTo>
                  <a:pt x="974341" y="141556"/>
                </a:moveTo>
                <a:lnTo>
                  <a:pt x="23389" y="141556"/>
                </a:lnTo>
                <a:lnTo>
                  <a:pt x="19949" y="140869"/>
                </a:lnTo>
                <a:lnTo>
                  <a:pt x="0" y="118170"/>
                </a:lnTo>
                <a:lnTo>
                  <a:pt x="0" y="114604"/>
                </a:lnTo>
                <a:lnTo>
                  <a:pt x="0" y="23372"/>
                </a:lnTo>
                <a:lnTo>
                  <a:pt x="23389" y="0"/>
                </a:lnTo>
                <a:lnTo>
                  <a:pt x="974341" y="0"/>
                </a:lnTo>
                <a:lnTo>
                  <a:pt x="997731" y="23372"/>
                </a:lnTo>
                <a:lnTo>
                  <a:pt x="997731" y="118170"/>
                </a:lnTo>
                <a:lnTo>
                  <a:pt x="977781" y="140869"/>
                </a:lnTo>
                <a:lnTo>
                  <a:pt x="974341" y="141556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754257" y="8789314"/>
            <a:ext cx="1827530" cy="141605"/>
          </a:xfrm>
          <a:custGeom>
            <a:avLst/>
            <a:gdLst/>
            <a:ahLst/>
            <a:cxnLst/>
            <a:rect l="l" t="t" r="r" b="b"/>
            <a:pathLst>
              <a:path w="1827530" h="141604">
                <a:moveTo>
                  <a:pt x="1803538" y="141556"/>
                </a:moveTo>
                <a:lnTo>
                  <a:pt x="23389" y="141556"/>
                </a:lnTo>
                <a:lnTo>
                  <a:pt x="19950" y="140862"/>
                </a:lnTo>
                <a:lnTo>
                  <a:pt x="0" y="118170"/>
                </a:lnTo>
                <a:lnTo>
                  <a:pt x="0" y="114604"/>
                </a:lnTo>
                <a:lnTo>
                  <a:pt x="0" y="23386"/>
                </a:lnTo>
                <a:lnTo>
                  <a:pt x="23389" y="0"/>
                </a:lnTo>
                <a:lnTo>
                  <a:pt x="1803538" y="0"/>
                </a:lnTo>
                <a:lnTo>
                  <a:pt x="1826928" y="23386"/>
                </a:lnTo>
                <a:lnTo>
                  <a:pt x="1826928" y="118170"/>
                </a:lnTo>
                <a:lnTo>
                  <a:pt x="1806978" y="140862"/>
                </a:lnTo>
                <a:lnTo>
                  <a:pt x="1803538" y="141556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9" name="object 1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54257" y="9247732"/>
            <a:ext cx="114604" cy="141556"/>
          </a:xfrm>
          <a:prstGeom prst="rect">
            <a:avLst/>
          </a:prstGeom>
        </p:spPr>
      </p:pic>
      <p:sp>
        <p:nvSpPr>
          <p:cNvPr id="20" name="object 20"/>
          <p:cNvSpPr/>
          <p:nvPr/>
        </p:nvSpPr>
        <p:spPr>
          <a:xfrm>
            <a:off x="3700264" y="9247732"/>
            <a:ext cx="701675" cy="141605"/>
          </a:xfrm>
          <a:custGeom>
            <a:avLst/>
            <a:gdLst/>
            <a:ahLst/>
            <a:cxnLst/>
            <a:rect l="l" t="t" r="r" b="b"/>
            <a:pathLst>
              <a:path w="701675" h="141604">
                <a:moveTo>
                  <a:pt x="677719" y="141556"/>
                </a:moveTo>
                <a:lnTo>
                  <a:pt x="23389" y="141556"/>
                </a:lnTo>
                <a:lnTo>
                  <a:pt x="19950" y="140862"/>
                </a:lnTo>
                <a:lnTo>
                  <a:pt x="0" y="118170"/>
                </a:lnTo>
                <a:lnTo>
                  <a:pt x="0" y="114604"/>
                </a:lnTo>
                <a:lnTo>
                  <a:pt x="0" y="23372"/>
                </a:lnTo>
                <a:lnTo>
                  <a:pt x="23389" y="0"/>
                </a:lnTo>
                <a:lnTo>
                  <a:pt x="677719" y="0"/>
                </a:lnTo>
                <a:lnTo>
                  <a:pt x="701109" y="23372"/>
                </a:lnTo>
                <a:lnTo>
                  <a:pt x="701109" y="118170"/>
                </a:lnTo>
                <a:lnTo>
                  <a:pt x="681158" y="140862"/>
                </a:lnTo>
                <a:lnTo>
                  <a:pt x="677719" y="141556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21" name="object 2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54257" y="9537613"/>
            <a:ext cx="114604" cy="141556"/>
          </a:xfrm>
          <a:prstGeom prst="rect">
            <a:avLst/>
          </a:prstGeom>
        </p:spPr>
      </p:pic>
      <p:sp>
        <p:nvSpPr>
          <p:cNvPr id="22" name="object 22"/>
          <p:cNvSpPr/>
          <p:nvPr/>
        </p:nvSpPr>
        <p:spPr>
          <a:xfrm>
            <a:off x="3700264" y="9537613"/>
            <a:ext cx="465455" cy="141605"/>
          </a:xfrm>
          <a:custGeom>
            <a:avLst/>
            <a:gdLst/>
            <a:ahLst/>
            <a:cxnLst/>
            <a:rect l="l" t="t" r="r" b="b"/>
            <a:pathLst>
              <a:path w="465454" h="141604">
                <a:moveTo>
                  <a:pt x="441768" y="141556"/>
                </a:moveTo>
                <a:lnTo>
                  <a:pt x="23389" y="141556"/>
                </a:lnTo>
                <a:lnTo>
                  <a:pt x="19950" y="140862"/>
                </a:lnTo>
                <a:lnTo>
                  <a:pt x="0" y="118170"/>
                </a:lnTo>
                <a:lnTo>
                  <a:pt x="0" y="114604"/>
                </a:lnTo>
                <a:lnTo>
                  <a:pt x="0" y="23372"/>
                </a:lnTo>
                <a:lnTo>
                  <a:pt x="23389" y="0"/>
                </a:lnTo>
                <a:lnTo>
                  <a:pt x="441768" y="0"/>
                </a:lnTo>
                <a:lnTo>
                  <a:pt x="465158" y="23372"/>
                </a:lnTo>
                <a:lnTo>
                  <a:pt x="465158" y="118170"/>
                </a:lnTo>
                <a:lnTo>
                  <a:pt x="445208" y="140862"/>
                </a:lnTo>
                <a:lnTo>
                  <a:pt x="441768" y="141556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754257" y="9827495"/>
            <a:ext cx="1530350" cy="141605"/>
          </a:xfrm>
          <a:custGeom>
            <a:avLst/>
            <a:gdLst/>
            <a:ahLst/>
            <a:cxnLst/>
            <a:rect l="l" t="t" r="r" b="b"/>
            <a:pathLst>
              <a:path w="1530350" h="141604">
                <a:moveTo>
                  <a:pt x="1506915" y="141556"/>
                </a:moveTo>
                <a:lnTo>
                  <a:pt x="23389" y="141556"/>
                </a:lnTo>
                <a:lnTo>
                  <a:pt x="19950" y="140862"/>
                </a:lnTo>
                <a:lnTo>
                  <a:pt x="0" y="118170"/>
                </a:lnTo>
                <a:lnTo>
                  <a:pt x="0" y="114604"/>
                </a:lnTo>
                <a:lnTo>
                  <a:pt x="0" y="23372"/>
                </a:lnTo>
                <a:lnTo>
                  <a:pt x="23389" y="0"/>
                </a:lnTo>
                <a:lnTo>
                  <a:pt x="1506915" y="0"/>
                </a:lnTo>
                <a:lnTo>
                  <a:pt x="1530305" y="23372"/>
                </a:lnTo>
                <a:lnTo>
                  <a:pt x="1530305" y="118170"/>
                </a:lnTo>
                <a:lnTo>
                  <a:pt x="1510355" y="140862"/>
                </a:lnTo>
                <a:lnTo>
                  <a:pt x="1506915" y="141556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graphicFrame>
        <p:nvGraphicFramePr>
          <p:cNvPr id="24" name="object 24"/>
          <p:cNvGraphicFramePr>
            <a:graphicFrameLocks noGrp="1"/>
          </p:cNvGraphicFramePr>
          <p:nvPr/>
        </p:nvGraphicFramePr>
        <p:xfrm>
          <a:off x="680102" y="4960180"/>
          <a:ext cx="6278880" cy="50711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26970"/>
                <a:gridCol w="3768725"/>
              </a:tblGrid>
              <a:tr h="282575">
                <a:tc>
                  <a:txBody>
                    <a:bodyPr/>
                    <a:lstStyle/>
                    <a:p>
                      <a:pPr marL="70485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950" spc="-20" b="1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Line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64769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marL="70485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950" spc="-10" b="1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Explanation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64769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  <a:solidFill>
                      <a:srgbClr val="F7FAFB"/>
                    </a:solidFill>
                  </a:tcPr>
                </a:tc>
              </a:tr>
              <a:tr h="464820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import</a:t>
                      </a:r>
                      <a:r>
                        <a:rPr dirty="0" sz="750" spc="7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 spc="-1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requests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90170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0485" marR="109855">
                        <a:lnSpc>
                          <a:spcPct val="121100"/>
                        </a:lnSpc>
                        <a:spcBef>
                          <a:spcPts val="270"/>
                        </a:spcBef>
                      </a:pP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Imports</a:t>
                      </a:r>
                      <a:r>
                        <a:rPr dirty="0" sz="950" spc="-3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2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the</a:t>
                      </a:r>
                      <a:r>
                        <a:rPr dirty="0" sz="950" spc="20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requests</a:t>
                      </a:r>
                      <a:r>
                        <a:rPr dirty="0" sz="750" spc="-4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950" spc="-9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HTTP</a:t>
                      </a:r>
                      <a:r>
                        <a:rPr dirty="0" sz="950" spc="-2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6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client</a:t>
                      </a:r>
                      <a:r>
                        <a:rPr dirty="0" sz="950" spc="-2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library</a:t>
                      </a:r>
                      <a:r>
                        <a:rPr dirty="0" sz="950" spc="-2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used</a:t>
                      </a:r>
                      <a:r>
                        <a:rPr dirty="0" sz="950" spc="-2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to</a:t>
                      </a:r>
                      <a:r>
                        <a:rPr dirty="0" sz="950" spc="-3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6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call</a:t>
                      </a:r>
                      <a:r>
                        <a:rPr dirty="0" sz="950" spc="-2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Solr's</a:t>
                      </a:r>
                      <a:r>
                        <a:rPr dirty="0" sz="950" spc="-2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9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REST</a:t>
                      </a:r>
                      <a:r>
                        <a:rPr dirty="0" sz="950" spc="-2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6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Schema</a:t>
                      </a:r>
                      <a:r>
                        <a:rPr dirty="0" sz="950" spc="50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2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API.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34290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</a:tr>
              <a:tr h="464820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SOLR_URL</a:t>
                      </a:r>
                      <a:r>
                        <a:rPr dirty="0" sz="750" spc="85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 spc="-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=</a:t>
                      </a:r>
                      <a:endParaRPr sz="750">
                        <a:latin typeface="Courier New"/>
                        <a:cs typeface="Courier New"/>
                      </a:endParaRPr>
                    </a:p>
                    <a:p>
                      <a:pPr marL="70485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dirty="0" sz="750" spc="-1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"</a:t>
                      </a:r>
                      <a:r>
                        <a:rPr dirty="0" sz="750" spc="-1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  <a:hlinkClick r:id="rId2"/>
                        </a:rPr>
                        <a:t>http://localhost:8983/solr/rag_core</a:t>
                      </a:r>
                      <a:r>
                        <a:rPr dirty="0" sz="750" spc="-1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"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90170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0485" marR="158750">
                        <a:lnSpc>
                          <a:spcPct val="121100"/>
                        </a:lnSpc>
                        <a:spcBef>
                          <a:spcPts val="270"/>
                        </a:spcBef>
                      </a:pP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Re-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declares</a:t>
                      </a:r>
                      <a:r>
                        <a:rPr dirty="0" sz="950" spc="-2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the</a:t>
                      </a:r>
                      <a:r>
                        <a:rPr dirty="0" sz="950" spc="-2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6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Solr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core</a:t>
                      </a:r>
                      <a:r>
                        <a:rPr dirty="0" sz="950" spc="-2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9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URL</a:t>
                      </a:r>
                      <a:r>
                        <a:rPr dirty="0" sz="950" spc="-2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locally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(independent</a:t>
                      </a:r>
                      <a:r>
                        <a:rPr dirty="0" sz="950" spc="-2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of</a:t>
                      </a:r>
                      <a:r>
                        <a:rPr dirty="0" sz="950" spc="2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config.py</a:t>
                      </a:r>
                      <a:r>
                        <a:rPr dirty="0" sz="750" spc="-22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950" spc="-5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,</a:t>
                      </a:r>
                      <a:r>
                        <a:rPr dirty="0" sz="950" spc="-2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so</a:t>
                      </a:r>
                      <a:r>
                        <a:rPr dirty="0" sz="950" spc="-2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this</a:t>
                      </a:r>
                      <a:r>
                        <a:rPr dirty="0" sz="950" spc="50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script</a:t>
                      </a:r>
                      <a:r>
                        <a:rPr dirty="0" sz="950" spc="-2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has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9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no</a:t>
                      </a:r>
                      <a:r>
                        <a:rPr dirty="0" sz="950" spc="-2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import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dependency).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34290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payload</a:t>
                      </a:r>
                      <a:r>
                        <a:rPr dirty="0" sz="750" spc="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=</a:t>
                      </a:r>
                      <a:r>
                        <a:rPr dirty="0" sz="750" spc="55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 spc="-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{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90170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0485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Builds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the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9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JSON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9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body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describing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9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a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9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schema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change.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64769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"add-field":</a:t>
                      </a:r>
                      <a:r>
                        <a:rPr dirty="0" sz="750" spc="12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 spc="-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{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90170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0485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Tells</a:t>
                      </a:r>
                      <a:r>
                        <a:rPr dirty="0" sz="950" spc="-3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Solr's</a:t>
                      </a:r>
                      <a:r>
                        <a:rPr dirty="0" sz="950" spc="-3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9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Schema</a:t>
                      </a:r>
                      <a:r>
                        <a:rPr dirty="0" sz="950" spc="-2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API</a:t>
                      </a:r>
                      <a:r>
                        <a:rPr dirty="0" sz="950" spc="-3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to</a:t>
                      </a:r>
                      <a:r>
                        <a:rPr dirty="0" sz="950" spc="-2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9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add</a:t>
                      </a:r>
                      <a:r>
                        <a:rPr dirty="0" sz="950" spc="-3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9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a</a:t>
                      </a:r>
                      <a:r>
                        <a:rPr dirty="0" sz="950" spc="-2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9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new</a:t>
                      </a:r>
                      <a:r>
                        <a:rPr dirty="0" sz="950" spc="-3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00" spc="-45">
                          <a:solidFill>
                            <a:srgbClr val="111726"/>
                          </a:solidFill>
                          <a:latin typeface="Arial"/>
                          <a:cs typeface="Arial"/>
                        </a:rPr>
                        <a:t>ﬁ</a:t>
                      </a:r>
                      <a:r>
                        <a:rPr dirty="0" sz="950" spc="-4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eld</a:t>
                      </a:r>
                      <a:r>
                        <a:rPr dirty="0" sz="950" spc="-2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to</a:t>
                      </a:r>
                      <a:r>
                        <a:rPr dirty="0" sz="950" spc="-3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2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the</a:t>
                      </a:r>
                      <a:r>
                        <a:rPr dirty="0" sz="950" spc="19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rag_core</a:t>
                      </a:r>
                      <a:r>
                        <a:rPr dirty="0" sz="750" spc="-4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collection.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64769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"name":</a:t>
                      </a:r>
                      <a:r>
                        <a:rPr dirty="0" sz="750" spc="75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 spc="-1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"embedding",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90170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0485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950" spc="-9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The</a:t>
                      </a:r>
                      <a:r>
                        <a:rPr dirty="0" sz="950" spc="-3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9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new</a:t>
                      </a:r>
                      <a:r>
                        <a:rPr dirty="0" sz="950" spc="-3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00" spc="-45">
                          <a:solidFill>
                            <a:srgbClr val="111726"/>
                          </a:solidFill>
                          <a:latin typeface="Arial"/>
                          <a:cs typeface="Arial"/>
                        </a:rPr>
                        <a:t>ﬁ</a:t>
                      </a:r>
                      <a:r>
                        <a:rPr dirty="0" sz="950" spc="-4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eld</a:t>
                      </a:r>
                      <a:r>
                        <a:rPr dirty="0" sz="950" spc="-3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6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will</a:t>
                      </a:r>
                      <a:r>
                        <a:rPr dirty="0" sz="950" spc="-3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9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be</a:t>
                      </a:r>
                      <a:r>
                        <a:rPr dirty="0" sz="950" spc="-3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4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called</a:t>
                      </a:r>
                      <a:r>
                        <a:rPr dirty="0" sz="950" spc="1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embedding</a:t>
                      </a:r>
                      <a:r>
                        <a:rPr dirty="0" sz="750" spc="-24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950" spc="-5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.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64769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</a:tr>
              <a:tr h="457834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"type":</a:t>
                      </a:r>
                      <a:r>
                        <a:rPr dirty="0" sz="750" spc="75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 spc="-1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"knn_vector",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90170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0485" marR="107314">
                        <a:lnSpc>
                          <a:spcPct val="116399"/>
                        </a:lnSpc>
                        <a:spcBef>
                          <a:spcPts val="320"/>
                        </a:spcBef>
                      </a:pP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Uses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Solr's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dense-vector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00" spc="-45">
                          <a:solidFill>
                            <a:srgbClr val="111726"/>
                          </a:solidFill>
                          <a:latin typeface="Arial"/>
                          <a:cs typeface="Arial"/>
                        </a:rPr>
                        <a:t>ﬁ</a:t>
                      </a:r>
                      <a:r>
                        <a:rPr dirty="0" sz="950" spc="-4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eld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type,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which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supports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9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approximate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k-</a:t>
                      </a:r>
                      <a:r>
                        <a:rPr dirty="0" sz="950" spc="-6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nearest-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neighbor</a:t>
                      </a:r>
                      <a:r>
                        <a:rPr dirty="0" sz="95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search.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40640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</a:tr>
              <a:tr h="451484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"stored":</a:t>
                      </a:r>
                      <a:r>
                        <a:rPr dirty="0" sz="750" spc="95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 spc="-1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True,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90170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0485" marR="102235">
                        <a:lnSpc>
                          <a:spcPct val="116399"/>
                        </a:lnSpc>
                        <a:spcBef>
                          <a:spcPts val="320"/>
                        </a:spcBef>
                      </a:pPr>
                      <a:r>
                        <a:rPr dirty="0" sz="950" spc="-9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The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00" spc="-55">
                          <a:solidFill>
                            <a:srgbClr val="111726"/>
                          </a:solidFill>
                          <a:latin typeface="Arial"/>
                          <a:cs typeface="Arial"/>
                        </a:rPr>
                        <a:t>ﬁ</a:t>
                      </a:r>
                      <a:r>
                        <a:rPr dirty="0" sz="950" spc="-5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eld's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9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raw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value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6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will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9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be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stored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and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retrievable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in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query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results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(not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2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just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indexed).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40640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</a:tr>
              <a:tr h="296545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"indexed":</a:t>
                      </a:r>
                      <a:r>
                        <a:rPr dirty="0" sz="750" spc="105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 spc="-1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True,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90170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0485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950" spc="-9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The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00" spc="-45">
                          <a:solidFill>
                            <a:srgbClr val="111726"/>
                          </a:solidFill>
                          <a:latin typeface="Arial"/>
                          <a:cs typeface="Arial"/>
                        </a:rPr>
                        <a:t>ﬁ</a:t>
                      </a:r>
                      <a:r>
                        <a:rPr dirty="0" sz="950" spc="-4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eld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6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is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indexed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so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5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it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can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9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be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searched/used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in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9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kNN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queries.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64769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</a:tr>
              <a:tr h="457834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"dimension":</a:t>
                      </a:r>
                      <a:r>
                        <a:rPr dirty="0" sz="750" spc="12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 spc="-2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384,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90170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0485" marR="69215">
                        <a:lnSpc>
                          <a:spcPct val="116399"/>
                        </a:lnSpc>
                        <a:spcBef>
                          <a:spcPts val="320"/>
                        </a:spcBef>
                      </a:pP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Declares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the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vector's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dimensionality</a:t>
                      </a:r>
                      <a:r>
                        <a:rPr dirty="0" sz="95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00" spc="-180">
                          <a:solidFill>
                            <a:srgbClr val="111726"/>
                          </a:solidFill>
                          <a:latin typeface="Arial"/>
                          <a:cs typeface="Arial"/>
                        </a:rPr>
                        <a:t>—</a:t>
                      </a:r>
                      <a:r>
                        <a:rPr dirty="0" sz="900" spc="-40">
                          <a:solidFill>
                            <a:srgbClr val="111726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50" spc="-9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must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9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match</a:t>
                      </a:r>
                      <a:r>
                        <a:rPr dirty="0" sz="95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the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9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embedding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6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model's</a:t>
                      </a:r>
                      <a:r>
                        <a:rPr dirty="0" sz="950" spc="50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output</a:t>
                      </a:r>
                      <a:r>
                        <a:rPr dirty="0" sz="950" spc="-2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size</a:t>
                      </a:r>
                      <a:r>
                        <a:rPr dirty="0" sz="950" spc="-2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4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(</a:t>
                      </a:r>
                      <a:r>
                        <a:rPr dirty="0" sz="850" spc="-40">
                          <a:solidFill>
                            <a:srgbClr val="111726"/>
                          </a:solidFill>
                          <a:latin typeface="Arial"/>
                          <a:cs typeface="Arial"/>
                        </a:rPr>
                        <a:t>384</a:t>
                      </a:r>
                      <a:r>
                        <a:rPr dirty="0" sz="850" spc="-35">
                          <a:solidFill>
                            <a:srgbClr val="111726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50" spc="-3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for</a:t>
                      </a:r>
                      <a:r>
                        <a:rPr dirty="0" sz="950" spc="2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all-MiniLM-L6-v2</a:t>
                      </a:r>
                      <a:r>
                        <a:rPr dirty="0" sz="750" spc="-22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950" spc="-2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).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40640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</a:tr>
              <a:tr h="457834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"similarityFunction":</a:t>
                      </a:r>
                      <a:r>
                        <a:rPr dirty="0" sz="750" spc="195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 spc="-1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"cosine"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90170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0485" marR="80010">
                        <a:lnSpc>
                          <a:spcPct val="116399"/>
                        </a:lnSpc>
                        <a:spcBef>
                          <a:spcPts val="320"/>
                        </a:spcBef>
                      </a:pPr>
                      <a:r>
                        <a:rPr dirty="0" sz="950" spc="-7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Con</a:t>
                      </a:r>
                      <a:r>
                        <a:rPr dirty="0" sz="900" spc="-70">
                          <a:solidFill>
                            <a:srgbClr val="111726"/>
                          </a:solidFill>
                          <a:latin typeface="Arial"/>
                          <a:cs typeface="Arial"/>
                        </a:rPr>
                        <a:t>ﬁ</a:t>
                      </a:r>
                      <a:r>
                        <a:rPr dirty="0" sz="950" spc="-7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gures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the</a:t>
                      </a:r>
                      <a:r>
                        <a:rPr dirty="0" sz="95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00" spc="-45">
                          <a:solidFill>
                            <a:srgbClr val="111726"/>
                          </a:solidFill>
                          <a:latin typeface="Arial"/>
                          <a:cs typeface="Arial"/>
                        </a:rPr>
                        <a:t>ﬁ</a:t>
                      </a:r>
                      <a:r>
                        <a:rPr dirty="0" sz="950" spc="-4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eld</a:t>
                      </a:r>
                      <a:r>
                        <a:rPr dirty="0" sz="95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to</a:t>
                      </a:r>
                      <a:r>
                        <a:rPr dirty="0" sz="95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use</a:t>
                      </a:r>
                      <a:r>
                        <a:rPr dirty="0" sz="95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cosine</a:t>
                      </a:r>
                      <a:r>
                        <a:rPr dirty="0" sz="95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similarity</a:t>
                      </a:r>
                      <a:r>
                        <a:rPr dirty="0" sz="95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9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when</a:t>
                      </a:r>
                      <a:r>
                        <a:rPr dirty="0" sz="95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9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comparing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vectors</a:t>
                      </a:r>
                      <a:r>
                        <a:rPr dirty="0" sz="95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4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during</a:t>
                      </a:r>
                      <a:r>
                        <a:rPr dirty="0" sz="950" spc="50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9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kNN</a:t>
                      </a:r>
                      <a:r>
                        <a:rPr dirty="0" sz="950" spc="-3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search.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40640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dirty="0" sz="750" spc="-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}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90170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0485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Closes</a:t>
                      </a:r>
                      <a:r>
                        <a:rPr dirty="0" sz="950" spc="-3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2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the</a:t>
                      </a:r>
                      <a:r>
                        <a:rPr dirty="0" sz="950" spc="16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"add-field"</a:t>
                      </a:r>
                      <a:r>
                        <a:rPr dirty="0" sz="750" spc="-65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object.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64769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dirty="0" sz="750" spc="-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}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90170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0485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Closes</a:t>
                      </a:r>
                      <a:r>
                        <a:rPr dirty="0" sz="950" spc="-3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2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the</a:t>
                      </a:r>
                      <a:r>
                        <a:rPr dirty="0" sz="950" spc="14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payload</a:t>
                      </a:r>
                      <a:r>
                        <a:rPr dirty="0" sz="750" spc="-75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object.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64769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response</a:t>
                      </a:r>
                      <a:r>
                        <a:rPr dirty="0" sz="750" spc="55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=</a:t>
                      </a:r>
                      <a:r>
                        <a:rPr dirty="0" sz="750" spc="6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 spc="-1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requests.post(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90170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0485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Sends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the</a:t>
                      </a:r>
                      <a:r>
                        <a:rPr dirty="0" sz="95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schema-change</a:t>
                      </a:r>
                      <a:r>
                        <a:rPr dirty="0" sz="95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request</a:t>
                      </a:r>
                      <a:r>
                        <a:rPr dirty="0" sz="95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to</a:t>
                      </a:r>
                      <a:r>
                        <a:rPr dirty="0" sz="95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2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Solr.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64769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80102" y="3510769"/>
            <a:ext cx="6202680" cy="6985"/>
          </a:xfrm>
          <a:custGeom>
            <a:avLst/>
            <a:gdLst/>
            <a:ahLst/>
            <a:cxnLst/>
            <a:rect l="l" t="t" r="r" b="b"/>
            <a:pathLst>
              <a:path w="6202680" h="6985">
                <a:moveTo>
                  <a:pt x="6202119" y="6741"/>
                </a:moveTo>
                <a:lnTo>
                  <a:pt x="0" y="6741"/>
                </a:lnTo>
                <a:lnTo>
                  <a:pt x="0" y="0"/>
                </a:lnTo>
                <a:lnTo>
                  <a:pt x="6202119" y="0"/>
                </a:lnTo>
                <a:lnTo>
                  <a:pt x="6202119" y="6741"/>
                </a:lnTo>
                <a:close/>
              </a:path>
            </a:pathLst>
          </a:custGeom>
          <a:solidFill>
            <a:srgbClr val="E4E7E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680102" y="4286034"/>
            <a:ext cx="6202680" cy="1429385"/>
          </a:xfrm>
          <a:custGeom>
            <a:avLst/>
            <a:gdLst/>
            <a:ahLst/>
            <a:cxnLst/>
            <a:rect l="l" t="t" r="r" b="b"/>
            <a:pathLst>
              <a:path w="6202680" h="1429385">
                <a:moveTo>
                  <a:pt x="6151728" y="1429170"/>
                </a:moveTo>
                <a:lnTo>
                  <a:pt x="50390" y="1429170"/>
                </a:lnTo>
                <a:lnTo>
                  <a:pt x="46883" y="1428826"/>
                </a:lnTo>
                <a:lnTo>
                  <a:pt x="11056" y="1408130"/>
                </a:lnTo>
                <a:lnTo>
                  <a:pt x="0" y="1378778"/>
                </a:lnTo>
                <a:lnTo>
                  <a:pt x="0" y="1375252"/>
                </a:lnTo>
                <a:lnTo>
                  <a:pt x="0" y="50378"/>
                </a:lnTo>
                <a:lnTo>
                  <a:pt x="18300" y="13273"/>
                </a:lnTo>
                <a:lnTo>
                  <a:pt x="50390" y="0"/>
                </a:lnTo>
                <a:lnTo>
                  <a:pt x="6151728" y="0"/>
                </a:lnTo>
                <a:lnTo>
                  <a:pt x="6188826" y="18289"/>
                </a:lnTo>
                <a:lnTo>
                  <a:pt x="6202118" y="50378"/>
                </a:lnTo>
                <a:lnTo>
                  <a:pt x="6202118" y="1378778"/>
                </a:lnTo>
                <a:lnTo>
                  <a:pt x="6183818" y="1415869"/>
                </a:lnTo>
                <a:lnTo>
                  <a:pt x="6155235" y="1428826"/>
                </a:lnTo>
                <a:lnTo>
                  <a:pt x="6151728" y="1429170"/>
                </a:lnTo>
                <a:close/>
              </a:path>
            </a:pathLst>
          </a:custGeom>
          <a:solidFill>
            <a:srgbClr val="0E172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680102" y="8371344"/>
            <a:ext cx="6202680" cy="1254125"/>
          </a:xfrm>
          <a:custGeom>
            <a:avLst/>
            <a:gdLst/>
            <a:ahLst/>
            <a:cxnLst/>
            <a:rect l="l" t="t" r="r" b="b"/>
            <a:pathLst>
              <a:path w="6202680" h="1254125">
                <a:moveTo>
                  <a:pt x="6151728" y="1253906"/>
                </a:moveTo>
                <a:lnTo>
                  <a:pt x="50390" y="1253906"/>
                </a:lnTo>
                <a:lnTo>
                  <a:pt x="46883" y="1253562"/>
                </a:lnTo>
                <a:lnTo>
                  <a:pt x="11056" y="1232866"/>
                </a:lnTo>
                <a:lnTo>
                  <a:pt x="0" y="1203500"/>
                </a:lnTo>
                <a:lnTo>
                  <a:pt x="0" y="1199975"/>
                </a:lnTo>
                <a:lnTo>
                  <a:pt x="0" y="50392"/>
                </a:lnTo>
                <a:lnTo>
                  <a:pt x="18300" y="13287"/>
                </a:lnTo>
                <a:lnTo>
                  <a:pt x="50390" y="0"/>
                </a:lnTo>
                <a:lnTo>
                  <a:pt x="6151728" y="0"/>
                </a:lnTo>
                <a:lnTo>
                  <a:pt x="6188826" y="18289"/>
                </a:lnTo>
                <a:lnTo>
                  <a:pt x="6202118" y="50392"/>
                </a:lnTo>
                <a:lnTo>
                  <a:pt x="6202118" y="1203500"/>
                </a:lnTo>
                <a:lnTo>
                  <a:pt x="6183818" y="1240578"/>
                </a:lnTo>
                <a:lnTo>
                  <a:pt x="6155235" y="1253549"/>
                </a:lnTo>
                <a:lnTo>
                  <a:pt x="6151728" y="1253906"/>
                </a:lnTo>
                <a:close/>
              </a:path>
            </a:pathLst>
          </a:custGeom>
          <a:solidFill>
            <a:srgbClr val="0E1729"/>
          </a:solidFill>
        </p:spPr>
        <p:txBody>
          <a:bodyPr wrap="square" lIns="0" tIns="0" rIns="0" bIns="0" rtlCol="0"/>
          <a:lstStyle/>
          <a:p/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680102" y="9733113"/>
          <a:ext cx="6278880" cy="2895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238375"/>
                <a:gridCol w="3957320"/>
              </a:tblGrid>
              <a:tr h="289560">
                <a:tc>
                  <a:txBody>
                    <a:bodyPr/>
                    <a:lstStyle/>
                    <a:p>
                      <a:pPr marL="70485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950" spc="-20" b="1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Line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64769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marL="69850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950" spc="-10" b="1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Explanation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64769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  <a:solidFill>
                      <a:srgbClr val="F7FAFB"/>
                    </a:solidFill>
                  </a:tcPr>
                </a:tc>
              </a:tr>
            </a:tbl>
          </a:graphicData>
        </a:graphic>
      </p:graphicFrame>
      <p:sp>
        <p:nvSpPr>
          <p:cNvPr id="6" name="object 6"/>
          <p:cNvSpPr/>
          <p:nvPr/>
        </p:nvSpPr>
        <p:spPr>
          <a:xfrm>
            <a:off x="754257" y="652401"/>
            <a:ext cx="1294765" cy="141605"/>
          </a:xfrm>
          <a:custGeom>
            <a:avLst/>
            <a:gdLst/>
            <a:ahLst/>
            <a:cxnLst/>
            <a:rect l="l" t="t" r="r" b="b"/>
            <a:pathLst>
              <a:path w="1294764" h="141604">
                <a:moveTo>
                  <a:pt x="1270965" y="141556"/>
                </a:moveTo>
                <a:lnTo>
                  <a:pt x="23389" y="141556"/>
                </a:lnTo>
                <a:lnTo>
                  <a:pt x="19950" y="140869"/>
                </a:lnTo>
                <a:lnTo>
                  <a:pt x="0" y="118170"/>
                </a:lnTo>
                <a:lnTo>
                  <a:pt x="0" y="114604"/>
                </a:lnTo>
                <a:lnTo>
                  <a:pt x="0" y="23372"/>
                </a:lnTo>
                <a:lnTo>
                  <a:pt x="23389" y="0"/>
                </a:lnTo>
                <a:lnTo>
                  <a:pt x="1270965" y="0"/>
                </a:lnTo>
                <a:lnTo>
                  <a:pt x="1294355" y="23372"/>
                </a:lnTo>
                <a:lnTo>
                  <a:pt x="1294355" y="118170"/>
                </a:lnTo>
                <a:lnTo>
                  <a:pt x="1274405" y="140869"/>
                </a:lnTo>
                <a:lnTo>
                  <a:pt x="1270965" y="141556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3181174" y="820937"/>
            <a:ext cx="2541905" cy="141605"/>
          </a:xfrm>
          <a:custGeom>
            <a:avLst/>
            <a:gdLst/>
            <a:ahLst/>
            <a:cxnLst/>
            <a:rect l="l" t="t" r="r" b="b"/>
            <a:pathLst>
              <a:path w="2541904" h="141605">
                <a:moveTo>
                  <a:pt x="2518130" y="141556"/>
                </a:moveTo>
                <a:lnTo>
                  <a:pt x="23389" y="141556"/>
                </a:lnTo>
                <a:lnTo>
                  <a:pt x="19950" y="140869"/>
                </a:lnTo>
                <a:lnTo>
                  <a:pt x="0" y="118170"/>
                </a:lnTo>
                <a:lnTo>
                  <a:pt x="0" y="114604"/>
                </a:lnTo>
                <a:lnTo>
                  <a:pt x="0" y="23372"/>
                </a:lnTo>
                <a:lnTo>
                  <a:pt x="23389" y="0"/>
                </a:lnTo>
                <a:lnTo>
                  <a:pt x="2518130" y="0"/>
                </a:lnTo>
                <a:lnTo>
                  <a:pt x="2541520" y="23372"/>
                </a:lnTo>
                <a:lnTo>
                  <a:pt x="2541520" y="118170"/>
                </a:lnTo>
                <a:lnTo>
                  <a:pt x="2521570" y="140869"/>
                </a:lnTo>
                <a:lnTo>
                  <a:pt x="2518130" y="141556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754257" y="1110819"/>
            <a:ext cx="822960" cy="141605"/>
          </a:xfrm>
          <a:custGeom>
            <a:avLst/>
            <a:gdLst/>
            <a:ahLst/>
            <a:cxnLst/>
            <a:rect l="l" t="t" r="r" b="b"/>
            <a:pathLst>
              <a:path w="822960" h="141605">
                <a:moveTo>
                  <a:pt x="799065" y="141556"/>
                </a:moveTo>
                <a:lnTo>
                  <a:pt x="23389" y="141556"/>
                </a:lnTo>
                <a:lnTo>
                  <a:pt x="19950" y="140869"/>
                </a:lnTo>
                <a:lnTo>
                  <a:pt x="0" y="118170"/>
                </a:lnTo>
                <a:lnTo>
                  <a:pt x="0" y="114604"/>
                </a:lnTo>
                <a:lnTo>
                  <a:pt x="0" y="23372"/>
                </a:lnTo>
                <a:lnTo>
                  <a:pt x="23389" y="0"/>
                </a:lnTo>
                <a:lnTo>
                  <a:pt x="799065" y="0"/>
                </a:lnTo>
                <a:lnTo>
                  <a:pt x="822454" y="23372"/>
                </a:lnTo>
                <a:lnTo>
                  <a:pt x="822454" y="118170"/>
                </a:lnTo>
                <a:lnTo>
                  <a:pt x="802504" y="140869"/>
                </a:lnTo>
                <a:lnTo>
                  <a:pt x="799065" y="141556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3659815" y="1110819"/>
            <a:ext cx="472440" cy="141605"/>
          </a:xfrm>
          <a:custGeom>
            <a:avLst/>
            <a:gdLst/>
            <a:ahLst/>
            <a:cxnLst/>
            <a:rect l="l" t="t" r="r" b="b"/>
            <a:pathLst>
              <a:path w="472439" h="141605">
                <a:moveTo>
                  <a:pt x="448510" y="141556"/>
                </a:moveTo>
                <a:lnTo>
                  <a:pt x="23389" y="141556"/>
                </a:lnTo>
                <a:lnTo>
                  <a:pt x="19950" y="140869"/>
                </a:lnTo>
                <a:lnTo>
                  <a:pt x="0" y="118170"/>
                </a:lnTo>
                <a:lnTo>
                  <a:pt x="0" y="114604"/>
                </a:lnTo>
                <a:lnTo>
                  <a:pt x="0" y="23372"/>
                </a:lnTo>
                <a:lnTo>
                  <a:pt x="23389" y="0"/>
                </a:lnTo>
                <a:lnTo>
                  <a:pt x="448510" y="0"/>
                </a:lnTo>
                <a:lnTo>
                  <a:pt x="471900" y="23372"/>
                </a:lnTo>
                <a:lnTo>
                  <a:pt x="471900" y="118170"/>
                </a:lnTo>
                <a:lnTo>
                  <a:pt x="451950" y="140869"/>
                </a:lnTo>
                <a:lnTo>
                  <a:pt x="448510" y="141556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754253" y="1400682"/>
            <a:ext cx="1449705" cy="316865"/>
          </a:xfrm>
          <a:custGeom>
            <a:avLst/>
            <a:gdLst/>
            <a:ahLst/>
            <a:cxnLst/>
            <a:rect l="l" t="t" r="r" b="b"/>
            <a:pathLst>
              <a:path w="1449705" h="316864">
                <a:moveTo>
                  <a:pt x="1152779" y="198653"/>
                </a:moveTo>
                <a:lnTo>
                  <a:pt x="1129398" y="175272"/>
                </a:lnTo>
                <a:lnTo>
                  <a:pt x="0" y="175272"/>
                </a:lnTo>
                <a:lnTo>
                  <a:pt x="0" y="316839"/>
                </a:lnTo>
                <a:lnTo>
                  <a:pt x="1129398" y="316839"/>
                </a:lnTo>
                <a:lnTo>
                  <a:pt x="1152779" y="293458"/>
                </a:lnTo>
                <a:lnTo>
                  <a:pt x="1152779" y="198653"/>
                </a:lnTo>
                <a:close/>
              </a:path>
              <a:path w="1449705" h="316864">
                <a:moveTo>
                  <a:pt x="1449412" y="0"/>
                </a:moveTo>
                <a:lnTo>
                  <a:pt x="23393" y="0"/>
                </a:lnTo>
                <a:lnTo>
                  <a:pt x="19951" y="698"/>
                </a:lnTo>
                <a:lnTo>
                  <a:pt x="0" y="23393"/>
                </a:lnTo>
                <a:lnTo>
                  <a:pt x="0" y="118173"/>
                </a:lnTo>
                <a:lnTo>
                  <a:pt x="23393" y="141566"/>
                </a:lnTo>
                <a:lnTo>
                  <a:pt x="1449412" y="141566"/>
                </a:lnTo>
                <a:lnTo>
                  <a:pt x="1449412" y="0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1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54257" y="1865860"/>
            <a:ext cx="114604" cy="141556"/>
          </a:xfrm>
          <a:prstGeom prst="rect">
            <a:avLst/>
          </a:prstGeom>
        </p:spPr>
      </p:pic>
      <p:sp>
        <p:nvSpPr>
          <p:cNvPr id="12" name="object 12"/>
          <p:cNvSpPr/>
          <p:nvPr/>
        </p:nvSpPr>
        <p:spPr>
          <a:xfrm>
            <a:off x="3700264" y="1865860"/>
            <a:ext cx="1119505" cy="141605"/>
          </a:xfrm>
          <a:custGeom>
            <a:avLst/>
            <a:gdLst/>
            <a:ahLst/>
            <a:cxnLst/>
            <a:rect l="l" t="t" r="r" b="b"/>
            <a:pathLst>
              <a:path w="1119504" h="141605">
                <a:moveTo>
                  <a:pt x="1095688" y="141556"/>
                </a:moveTo>
                <a:lnTo>
                  <a:pt x="23389" y="141556"/>
                </a:lnTo>
                <a:lnTo>
                  <a:pt x="19950" y="140862"/>
                </a:lnTo>
                <a:lnTo>
                  <a:pt x="0" y="118170"/>
                </a:lnTo>
                <a:lnTo>
                  <a:pt x="0" y="114604"/>
                </a:lnTo>
                <a:lnTo>
                  <a:pt x="0" y="23372"/>
                </a:lnTo>
                <a:lnTo>
                  <a:pt x="23389" y="0"/>
                </a:lnTo>
                <a:lnTo>
                  <a:pt x="1095688" y="0"/>
                </a:lnTo>
                <a:lnTo>
                  <a:pt x="1119078" y="23372"/>
                </a:lnTo>
                <a:lnTo>
                  <a:pt x="1119078" y="118170"/>
                </a:lnTo>
                <a:lnTo>
                  <a:pt x="1099127" y="140862"/>
                </a:lnTo>
                <a:lnTo>
                  <a:pt x="1095688" y="141556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754257" y="2155741"/>
            <a:ext cx="1652270" cy="141605"/>
          </a:xfrm>
          <a:custGeom>
            <a:avLst/>
            <a:gdLst/>
            <a:ahLst/>
            <a:cxnLst/>
            <a:rect l="l" t="t" r="r" b="b"/>
            <a:pathLst>
              <a:path w="1652270" h="141605">
                <a:moveTo>
                  <a:pt x="1628261" y="141556"/>
                </a:moveTo>
                <a:lnTo>
                  <a:pt x="23389" y="141556"/>
                </a:lnTo>
                <a:lnTo>
                  <a:pt x="19950" y="140862"/>
                </a:lnTo>
                <a:lnTo>
                  <a:pt x="0" y="118170"/>
                </a:lnTo>
                <a:lnTo>
                  <a:pt x="0" y="114604"/>
                </a:lnTo>
                <a:lnTo>
                  <a:pt x="0" y="23372"/>
                </a:lnTo>
                <a:lnTo>
                  <a:pt x="23389" y="0"/>
                </a:lnTo>
                <a:lnTo>
                  <a:pt x="1628261" y="0"/>
                </a:lnTo>
                <a:lnTo>
                  <a:pt x="1651651" y="23372"/>
                </a:lnTo>
                <a:lnTo>
                  <a:pt x="1651651" y="118170"/>
                </a:lnTo>
                <a:lnTo>
                  <a:pt x="1631701" y="140862"/>
                </a:lnTo>
                <a:lnTo>
                  <a:pt x="1628261" y="141556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4" name="object 1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659815" y="2331018"/>
            <a:ext cx="229208" cy="141556"/>
          </a:xfrm>
          <a:prstGeom prst="rect">
            <a:avLst/>
          </a:prstGeom>
        </p:spPr>
      </p:pic>
      <p:sp>
        <p:nvSpPr>
          <p:cNvPr id="15" name="object 15"/>
          <p:cNvSpPr/>
          <p:nvPr/>
        </p:nvSpPr>
        <p:spPr>
          <a:xfrm>
            <a:off x="754257" y="2620900"/>
            <a:ext cx="1240790" cy="141605"/>
          </a:xfrm>
          <a:custGeom>
            <a:avLst/>
            <a:gdLst/>
            <a:ahLst/>
            <a:cxnLst/>
            <a:rect l="l" t="t" r="r" b="b"/>
            <a:pathLst>
              <a:path w="1240789" h="141605">
                <a:moveTo>
                  <a:pt x="1217033" y="141556"/>
                </a:moveTo>
                <a:lnTo>
                  <a:pt x="23389" y="141556"/>
                </a:lnTo>
                <a:lnTo>
                  <a:pt x="19950" y="140869"/>
                </a:lnTo>
                <a:lnTo>
                  <a:pt x="0" y="118157"/>
                </a:lnTo>
                <a:lnTo>
                  <a:pt x="0" y="114604"/>
                </a:lnTo>
                <a:lnTo>
                  <a:pt x="0" y="23372"/>
                </a:lnTo>
                <a:lnTo>
                  <a:pt x="23389" y="0"/>
                </a:lnTo>
                <a:lnTo>
                  <a:pt x="1217033" y="0"/>
                </a:lnTo>
                <a:lnTo>
                  <a:pt x="1240423" y="23372"/>
                </a:lnTo>
                <a:lnTo>
                  <a:pt x="1240423" y="118157"/>
                </a:lnTo>
                <a:lnTo>
                  <a:pt x="1220473" y="140869"/>
                </a:lnTo>
                <a:lnTo>
                  <a:pt x="1217033" y="141556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3181174" y="2789436"/>
            <a:ext cx="2541905" cy="141605"/>
          </a:xfrm>
          <a:custGeom>
            <a:avLst/>
            <a:gdLst/>
            <a:ahLst/>
            <a:cxnLst/>
            <a:rect l="l" t="t" r="r" b="b"/>
            <a:pathLst>
              <a:path w="2541904" h="141605">
                <a:moveTo>
                  <a:pt x="2518130" y="141556"/>
                </a:moveTo>
                <a:lnTo>
                  <a:pt x="23389" y="141556"/>
                </a:lnTo>
                <a:lnTo>
                  <a:pt x="19950" y="140869"/>
                </a:lnTo>
                <a:lnTo>
                  <a:pt x="0" y="118170"/>
                </a:lnTo>
                <a:lnTo>
                  <a:pt x="0" y="114604"/>
                </a:lnTo>
                <a:lnTo>
                  <a:pt x="0" y="23372"/>
                </a:lnTo>
                <a:lnTo>
                  <a:pt x="23389" y="0"/>
                </a:lnTo>
                <a:lnTo>
                  <a:pt x="2518130" y="0"/>
                </a:lnTo>
                <a:lnTo>
                  <a:pt x="2541520" y="23372"/>
                </a:lnTo>
                <a:lnTo>
                  <a:pt x="2541520" y="118170"/>
                </a:lnTo>
                <a:lnTo>
                  <a:pt x="2521570" y="140869"/>
                </a:lnTo>
                <a:lnTo>
                  <a:pt x="2518130" y="141556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5938419" y="2789436"/>
            <a:ext cx="532765" cy="141605"/>
          </a:xfrm>
          <a:custGeom>
            <a:avLst/>
            <a:gdLst/>
            <a:ahLst/>
            <a:cxnLst/>
            <a:rect l="l" t="t" r="r" b="b"/>
            <a:pathLst>
              <a:path w="532764" h="141605">
                <a:moveTo>
                  <a:pt x="509184" y="141556"/>
                </a:moveTo>
                <a:lnTo>
                  <a:pt x="23390" y="141556"/>
                </a:lnTo>
                <a:lnTo>
                  <a:pt x="19949" y="140869"/>
                </a:lnTo>
                <a:lnTo>
                  <a:pt x="0" y="118170"/>
                </a:lnTo>
                <a:lnTo>
                  <a:pt x="0" y="114604"/>
                </a:lnTo>
                <a:lnTo>
                  <a:pt x="0" y="23372"/>
                </a:lnTo>
                <a:lnTo>
                  <a:pt x="23390" y="0"/>
                </a:lnTo>
                <a:lnTo>
                  <a:pt x="509184" y="0"/>
                </a:lnTo>
                <a:lnTo>
                  <a:pt x="532573" y="23372"/>
                </a:lnTo>
                <a:lnTo>
                  <a:pt x="532573" y="118170"/>
                </a:lnTo>
                <a:lnTo>
                  <a:pt x="512623" y="140869"/>
                </a:lnTo>
                <a:lnTo>
                  <a:pt x="509184" y="141556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8" name="object 18"/>
          <p:cNvGrpSpPr/>
          <p:nvPr/>
        </p:nvGrpSpPr>
        <p:grpSpPr>
          <a:xfrm>
            <a:off x="3639591" y="3133249"/>
            <a:ext cx="957580" cy="141605"/>
            <a:chOff x="3639591" y="3133249"/>
            <a:chExt cx="957580" cy="141605"/>
          </a:xfrm>
        </p:grpSpPr>
        <p:sp>
          <p:nvSpPr>
            <p:cNvPr id="19" name="object 19"/>
            <p:cNvSpPr/>
            <p:nvPr/>
          </p:nvSpPr>
          <p:spPr>
            <a:xfrm>
              <a:off x="3639591" y="3133249"/>
              <a:ext cx="708025" cy="141605"/>
            </a:xfrm>
            <a:custGeom>
              <a:avLst/>
              <a:gdLst/>
              <a:ahLst/>
              <a:cxnLst/>
              <a:rect l="l" t="t" r="r" b="b"/>
              <a:pathLst>
                <a:path w="708025" h="141604">
                  <a:moveTo>
                    <a:pt x="684460" y="141556"/>
                  </a:moveTo>
                  <a:lnTo>
                    <a:pt x="23389" y="141556"/>
                  </a:lnTo>
                  <a:lnTo>
                    <a:pt x="19950" y="140869"/>
                  </a:lnTo>
                  <a:lnTo>
                    <a:pt x="0" y="118170"/>
                  </a:lnTo>
                  <a:lnTo>
                    <a:pt x="0" y="114604"/>
                  </a:lnTo>
                  <a:lnTo>
                    <a:pt x="0" y="23372"/>
                  </a:lnTo>
                  <a:lnTo>
                    <a:pt x="23389" y="0"/>
                  </a:lnTo>
                  <a:lnTo>
                    <a:pt x="684460" y="0"/>
                  </a:lnTo>
                  <a:lnTo>
                    <a:pt x="707850" y="23372"/>
                  </a:lnTo>
                  <a:lnTo>
                    <a:pt x="707850" y="118170"/>
                  </a:lnTo>
                  <a:lnTo>
                    <a:pt x="687900" y="140869"/>
                  </a:lnTo>
                  <a:lnTo>
                    <a:pt x="684460" y="141556"/>
                  </a:lnTo>
                  <a:close/>
                </a:path>
              </a:pathLst>
            </a:custGeom>
            <a:solidFill>
              <a:srgbClr val="F4F5F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0" name="object 2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367666" y="3133249"/>
              <a:ext cx="229209" cy="141556"/>
            </a:xfrm>
            <a:prstGeom prst="rect">
              <a:avLst/>
            </a:prstGeom>
          </p:spPr>
        </p:pic>
      </p:grpSp>
      <p:graphicFrame>
        <p:nvGraphicFramePr>
          <p:cNvPr id="21" name="object 21"/>
          <p:cNvGraphicFramePr>
            <a:graphicFrameLocks noGrp="1"/>
          </p:cNvGraphicFramePr>
          <p:nvPr/>
        </p:nvGraphicFramePr>
        <p:xfrm>
          <a:off x="680102" y="571504"/>
          <a:ext cx="6278880" cy="27686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26970"/>
                <a:gridCol w="3768725"/>
              </a:tblGrid>
              <a:tr h="457834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dirty="0" sz="750" spc="-1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f"{SOLR_URL}/schema",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90170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0485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950" spc="-7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Solr's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9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Schema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API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endpoint,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2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e.g.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  <a:p>
                      <a:pPr marL="97790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  <a:hlinkClick r:id="rId5"/>
                        </a:rPr>
                        <a:t>http://localhost:8983/solr/rag_core/schema</a:t>
                      </a:r>
                      <a:r>
                        <a:rPr dirty="0" sz="750" spc="12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  <a:hlinkClick r:id="rId5"/>
                        </a:rPr>
                        <a:t> </a:t>
                      </a:r>
                      <a:r>
                        <a:rPr dirty="0" sz="950" spc="-5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.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64769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dirty="0" sz="750" spc="-1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json=payload,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90170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0485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950" spc="-5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Serializes</a:t>
                      </a:r>
                      <a:r>
                        <a:rPr dirty="0" sz="950" spc="20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payload</a:t>
                      </a:r>
                      <a:r>
                        <a:rPr dirty="0" sz="750" spc="-4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to</a:t>
                      </a:r>
                      <a:r>
                        <a:rPr dirty="0" sz="950" spc="-2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9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JSON</a:t>
                      </a:r>
                      <a:r>
                        <a:rPr dirty="0" sz="950" spc="-2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and</a:t>
                      </a:r>
                      <a:r>
                        <a:rPr dirty="0" sz="950" spc="-2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sets</a:t>
                      </a:r>
                      <a:r>
                        <a:rPr dirty="0" sz="950" spc="-2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5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it</a:t>
                      </a:r>
                      <a:r>
                        <a:rPr dirty="0" sz="950" spc="-2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as</a:t>
                      </a:r>
                      <a:r>
                        <a:rPr dirty="0" sz="950" spc="-2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the</a:t>
                      </a:r>
                      <a:r>
                        <a:rPr dirty="0" sz="950" spc="-2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request</a:t>
                      </a:r>
                      <a:r>
                        <a:rPr dirty="0" sz="950" spc="-2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2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body.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64769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</a:tr>
              <a:tr h="464820">
                <a:tc>
                  <a:txBody>
                    <a:bodyPr/>
                    <a:lstStyle/>
                    <a:p>
                      <a:pPr marL="70485" marR="901065" indent="26670">
                        <a:lnSpc>
                          <a:spcPct val="153300"/>
                        </a:lnSpc>
                        <a:spcBef>
                          <a:spcPts val="229"/>
                        </a:spcBef>
                      </a:pP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headers={"Content-</a:t>
                      </a:r>
                      <a:r>
                        <a:rPr dirty="0" sz="750" spc="-1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Type": "application/json"}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29209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0485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950" spc="-7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Explicitly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declares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the</a:t>
                      </a:r>
                      <a:r>
                        <a:rPr dirty="0" sz="95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content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type</a:t>
                      </a:r>
                      <a:r>
                        <a:rPr dirty="0" sz="95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as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2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JSON.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64769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dirty="0" sz="750" spc="-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)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90170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0485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Closes</a:t>
                      </a:r>
                      <a:r>
                        <a:rPr dirty="0" sz="950" spc="-3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2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the</a:t>
                      </a:r>
                      <a:r>
                        <a:rPr dirty="0" sz="950" spc="19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requests.post(...)</a:t>
                      </a:r>
                      <a:r>
                        <a:rPr dirty="0" sz="750" spc="-4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950" spc="-2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call.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64769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</a:tr>
              <a:tr h="464820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dirty="0" sz="750" spc="-1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print(response.status_code)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90170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0485" marR="462915">
                        <a:lnSpc>
                          <a:spcPct val="121100"/>
                        </a:lnSpc>
                        <a:spcBef>
                          <a:spcPts val="270"/>
                        </a:spcBef>
                      </a:pPr>
                      <a:r>
                        <a:rPr dirty="0" sz="950" spc="-7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Prints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the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9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HTTP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status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9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code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returned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by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Solr.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 b="1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Output</a:t>
                      </a:r>
                      <a:r>
                        <a:rPr dirty="0" sz="950" spc="-10" b="1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 b="1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(example,</a:t>
                      </a:r>
                      <a:r>
                        <a:rPr dirty="0" sz="950" spc="-10" b="1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35" b="1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on</a:t>
                      </a:r>
                      <a:r>
                        <a:rPr dirty="0" sz="950" spc="500" b="1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0" b="1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success):</a:t>
                      </a:r>
                      <a:r>
                        <a:rPr dirty="0" sz="950" spc="110" b="1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750" spc="-25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200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34290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</a:tr>
              <a:tr h="802005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dirty="0" sz="750" spc="-1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print(response.text)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90170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0485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950" spc="-7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Prints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Solr's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9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raw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9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JSON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response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body.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 b="1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Output</a:t>
                      </a:r>
                      <a:r>
                        <a:rPr dirty="0" sz="950" spc="-10" b="1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 b="1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(example,</a:t>
                      </a:r>
                      <a:r>
                        <a:rPr dirty="0" sz="950" spc="-10" b="1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100" b="1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on</a:t>
                      </a:r>
                      <a:r>
                        <a:rPr dirty="0" sz="950" spc="-15" b="1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10" b="1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success):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  <a:p>
                      <a:pPr marL="97790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{"responseHeader":{"status":0,"QTime":45}}</a:t>
                      </a:r>
                      <a:r>
                        <a:rPr dirty="0" sz="750" spc="4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900" spc="-180">
                          <a:solidFill>
                            <a:srgbClr val="111726"/>
                          </a:solidFill>
                          <a:latin typeface="Arial"/>
                          <a:cs typeface="Arial"/>
                        </a:rPr>
                        <a:t>—</a:t>
                      </a:r>
                      <a:r>
                        <a:rPr dirty="0" sz="900" spc="-25">
                          <a:solidFill>
                            <a:srgbClr val="111726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5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a</a:t>
                      </a:r>
                      <a:r>
                        <a:rPr dirty="0" sz="950" spc="2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status:0</a:t>
                      </a:r>
                      <a:r>
                        <a:rPr dirty="0" sz="750" spc="4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inside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  <a:p>
                      <a:pPr marL="70485" marR="135890">
                        <a:lnSpc>
                          <a:spcPct val="116399"/>
                        </a:lnSpc>
                        <a:spcBef>
                          <a:spcPts val="55"/>
                        </a:spcBef>
                      </a:pP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the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9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body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9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means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the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operation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succeeded,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even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though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the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00" spc="-45">
                          <a:solidFill>
                            <a:srgbClr val="111726"/>
                          </a:solidFill>
                          <a:latin typeface="Arial"/>
                          <a:cs typeface="Arial"/>
                        </a:rPr>
                        <a:t>ﬁ</a:t>
                      </a:r>
                      <a:r>
                        <a:rPr dirty="0" sz="950" spc="-4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eld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9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name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2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still</a:t>
                      </a:r>
                      <a:r>
                        <a:rPr dirty="0" sz="950" spc="50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9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shows</a:t>
                      </a:r>
                      <a:r>
                        <a:rPr dirty="0" sz="950" spc="-3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as</a:t>
                      </a:r>
                      <a:r>
                        <a:rPr dirty="0" sz="950" spc="19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status_code</a:t>
                      </a:r>
                      <a:r>
                        <a:rPr dirty="0" sz="750" spc="18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200</a:t>
                      </a:r>
                      <a:r>
                        <a:rPr dirty="0" sz="750" spc="-4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at</a:t>
                      </a:r>
                      <a:r>
                        <a:rPr dirty="0" sz="950" spc="-2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the</a:t>
                      </a:r>
                      <a:r>
                        <a:rPr dirty="0" sz="950" spc="-3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9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HTTP</a:t>
                      </a:r>
                      <a:r>
                        <a:rPr dirty="0" sz="950" spc="-2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layer.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64769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2" name="object 22"/>
          <p:cNvSpPr/>
          <p:nvPr/>
        </p:nvSpPr>
        <p:spPr>
          <a:xfrm>
            <a:off x="943018" y="3692788"/>
            <a:ext cx="1261110" cy="195580"/>
          </a:xfrm>
          <a:custGeom>
            <a:avLst/>
            <a:gdLst/>
            <a:ahLst/>
            <a:cxnLst/>
            <a:rect l="l" t="t" r="r" b="b"/>
            <a:pathLst>
              <a:path w="1261110" h="195579">
                <a:moveTo>
                  <a:pt x="1237258" y="195488"/>
                </a:moveTo>
                <a:lnTo>
                  <a:pt x="23389" y="195488"/>
                </a:lnTo>
                <a:lnTo>
                  <a:pt x="19950" y="194793"/>
                </a:lnTo>
                <a:lnTo>
                  <a:pt x="0" y="172102"/>
                </a:lnTo>
                <a:lnTo>
                  <a:pt x="0" y="168535"/>
                </a:lnTo>
                <a:lnTo>
                  <a:pt x="0" y="23386"/>
                </a:lnTo>
                <a:lnTo>
                  <a:pt x="23389" y="0"/>
                </a:lnTo>
                <a:lnTo>
                  <a:pt x="1237258" y="0"/>
                </a:lnTo>
                <a:lnTo>
                  <a:pt x="1260648" y="23386"/>
                </a:lnTo>
                <a:lnTo>
                  <a:pt x="1260648" y="172102"/>
                </a:lnTo>
                <a:lnTo>
                  <a:pt x="1240697" y="194793"/>
                </a:lnTo>
                <a:lnTo>
                  <a:pt x="1237258" y="195488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2500289" y="4016377"/>
            <a:ext cx="424815" cy="148590"/>
          </a:xfrm>
          <a:custGeom>
            <a:avLst/>
            <a:gdLst/>
            <a:ahLst/>
            <a:cxnLst/>
            <a:rect l="l" t="t" r="r" b="b"/>
            <a:pathLst>
              <a:path w="424814" h="148589">
                <a:moveTo>
                  <a:pt x="401320" y="148298"/>
                </a:moveTo>
                <a:lnTo>
                  <a:pt x="23389" y="148298"/>
                </a:lnTo>
                <a:lnTo>
                  <a:pt x="19949" y="147610"/>
                </a:lnTo>
                <a:lnTo>
                  <a:pt x="0" y="124912"/>
                </a:lnTo>
                <a:lnTo>
                  <a:pt x="0" y="121345"/>
                </a:lnTo>
                <a:lnTo>
                  <a:pt x="0" y="23372"/>
                </a:lnTo>
                <a:lnTo>
                  <a:pt x="23389" y="0"/>
                </a:lnTo>
                <a:lnTo>
                  <a:pt x="401320" y="0"/>
                </a:lnTo>
                <a:lnTo>
                  <a:pt x="424710" y="23372"/>
                </a:lnTo>
                <a:lnTo>
                  <a:pt x="424710" y="124912"/>
                </a:lnTo>
                <a:lnTo>
                  <a:pt x="404760" y="147610"/>
                </a:lnTo>
                <a:lnTo>
                  <a:pt x="401320" y="148298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4253061" y="4016377"/>
            <a:ext cx="856615" cy="148590"/>
          </a:xfrm>
          <a:custGeom>
            <a:avLst/>
            <a:gdLst/>
            <a:ahLst/>
            <a:cxnLst/>
            <a:rect l="l" t="t" r="r" b="b"/>
            <a:pathLst>
              <a:path w="856614" h="148589">
                <a:moveTo>
                  <a:pt x="832772" y="148298"/>
                </a:moveTo>
                <a:lnTo>
                  <a:pt x="23390" y="148298"/>
                </a:lnTo>
                <a:lnTo>
                  <a:pt x="19949" y="147610"/>
                </a:lnTo>
                <a:lnTo>
                  <a:pt x="0" y="124912"/>
                </a:lnTo>
                <a:lnTo>
                  <a:pt x="0" y="121345"/>
                </a:lnTo>
                <a:lnTo>
                  <a:pt x="0" y="23372"/>
                </a:lnTo>
                <a:lnTo>
                  <a:pt x="23390" y="0"/>
                </a:lnTo>
                <a:lnTo>
                  <a:pt x="832772" y="0"/>
                </a:lnTo>
                <a:lnTo>
                  <a:pt x="856162" y="23372"/>
                </a:lnTo>
                <a:lnTo>
                  <a:pt x="856162" y="124912"/>
                </a:lnTo>
                <a:lnTo>
                  <a:pt x="836211" y="147610"/>
                </a:lnTo>
                <a:lnTo>
                  <a:pt x="832772" y="148298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5351915" y="4016377"/>
            <a:ext cx="418465" cy="148590"/>
          </a:xfrm>
          <a:custGeom>
            <a:avLst/>
            <a:gdLst/>
            <a:ahLst/>
            <a:cxnLst/>
            <a:rect l="l" t="t" r="r" b="b"/>
            <a:pathLst>
              <a:path w="418464" h="148589">
                <a:moveTo>
                  <a:pt x="394579" y="148298"/>
                </a:moveTo>
                <a:lnTo>
                  <a:pt x="23390" y="148298"/>
                </a:lnTo>
                <a:lnTo>
                  <a:pt x="19950" y="147610"/>
                </a:lnTo>
                <a:lnTo>
                  <a:pt x="0" y="124912"/>
                </a:lnTo>
                <a:lnTo>
                  <a:pt x="0" y="121345"/>
                </a:lnTo>
                <a:lnTo>
                  <a:pt x="0" y="23372"/>
                </a:lnTo>
                <a:lnTo>
                  <a:pt x="23390" y="0"/>
                </a:lnTo>
                <a:lnTo>
                  <a:pt x="394579" y="0"/>
                </a:lnTo>
                <a:lnTo>
                  <a:pt x="417968" y="23372"/>
                </a:lnTo>
                <a:lnTo>
                  <a:pt x="417968" y="124912"/>
                </a:lnTo>
                <a:lnTo>
                  <a:pt x="398018" y="147610"/>
                </a:lnTo>
                <a:lnTo>
                  <a:pt x="394579" y="148298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 txBox="1"/>
          <p:nvPr/>
        </p:nvSpPr>
        <p:spPr>
          <a:xfrm>
            <a:off x="667402" y="3645355"/>
            <a:ext cx="5644515" cy="51752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300" spc="-30" b="1">
                <a:solidFill>
                  <a:srgbClr val="111726"/>
                </a:solidFill>
                <a:latin typeface="Trebuchet MS"/>
                <a:cs typeface="Trebuchet MS"/>
              </a:rPr>
              <a:t>2</a:t>
            </a:r>
            <a:r>
              <a:rPr dirty="0" sz="1450" spc="-30" b="1">
                <a:solidFill>
                  <a:srgbClr val="111726"/>
                </a:solidFill>
                <a:latin typeface="Source Han Sans JP"/>
                <a:cs typeface="Source Han Sans JP"/>
              </a:rPr>
              <a:t>.</a:t>
            </a:r>
            <a:r>
              <a:rPr dirty="0" sz="1300" spc="-30" b="1">
                <a:solidFill>
                  <a:srgbClr val="111726"/>
                </a:solidFill>
                <a:latin typeface="Trebuchet MS"/>
                <a:cs typeface="Trebuchet MS"/>
              </a:rPr>
              <a:t>3</a:t>
            </a:r>
            <a:r>
              <a:rPr dirty="0" sz="1300" spc="-60" b="1">
                <a:solidFill>
                  <a:srgbClr val="111726"/>
                </a:solidFill>
                <a:latin typeface="Trebuchet MS"/>
                <a:cs typeface="Trebuchet MS"/>
              </a:rPr>
              <a:t> </a:t>
            </a:r>
            <a:r>
              <a:rPr dirty="0" sz="1100" spc="-10" b="1">
                <a:solidFill>
                  <a:srgbClr val="111726"/>
                </a:solidFill>
                <a:latin typeface="Courier New"/>
                <a:cs typeface="Courier New"/>
              </a:rPr>
              <a:t>solr_client.py</a:t>
            </a:r>
            <a:endParaRPr sz="11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940"/>
              </a:spcBef>
            </a:pPr>
            <a:r>
              <a:rPr dirty="0" sz="1000" spc="-100">
                <a:solidFill>
                  <a:srgbClr val="111726"/>
                </a:solidFill>
                <a:latin typeface="Source Han Sans JP"/>
                <a:cs typeface="Source Han Sans JP"/>
              </a:rPr>
              <a:t>A</a:t>
            </a:r>
            <a:r>
              <a:rPr dirty="0" sz="1000" spc="-3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80">
                <a:solidFill>
                  <a:srgbClr val="111726"/>
                </a:solidFill>
                <a:latin typeface="Source Han Sans JP"/>
                <a:cs typeface="Source Han Sans JP"/>
              </a:rPr>
              <a:t>small</a:t>
            </a:r>
            <a:r>
              <a:rPr dirty="0" sz="1000" spc="-3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95">
                <a:solidFill>
                  <a:srgbClr val="111726"/>
                </a:solidFill>
                <a:latin typeface="Source Han Sans JP"/>
                <a:cs typeface="Source Han Sans JP"/>
              </a:rPr>
              <a:t>wrapper</a:t>
            </a:r>
            <a:r>
              <a:rPr dirty="0" sz="1000" spc="-3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95">
                <a:solidFill>
                  <a:srgbClr val="111726"/>
                </a:solidFill>
                <a:latin typeface="Source Han Sans JP"/>
                <a:cs typeface="Source Han Sans JP"/>
              </a:rPr>
              <a:t>module</a:t>
            </a:r>
            <a:r>
              <a:rPr dirty="0" sz="1000" spc="-3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90">
                <a:solidFill>
                  <a:srgbClr val="111726"/>
                </a:solidFill>
                <a:latin typeface="Source Han Sans JP"/>
                <a:cs typeface="Source Han Sans JP"/>
              </a:rPr>
              <a:t>around</a:t>
            </a:r>
            <a:r>
              <a:rPr dirty="0" sz="1000" spc="-3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40">
                <a:solidFill>
                  <a:srgbClr val="111726"/>
                </a:solidFill>
                <a:latin typeface="Source Han Sans JP"/>
                <a:cs typeface="Source Han Sans JP"/>
              </a:rPr>
              <a:t>the</a:t>
            </a:r>
            <a:r>
              <a:rPr dirty="0" sz="1000" spc="170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800">
                <a:solidFill>
                  <a:srgbClr val="111726"/>
                </a:solidFill>
                <a:latin typeface="Courier New"/>
                <a:cs typeface="Courier New"/>
              </a:rPr>
              <a:t>pysolr</a:t>
            </a:r>
            <a:r>
              <a:rPr dirty="0" sz="800" spc="-80">
                <a:solidFill>
                  <a:srgbClr val="111726"/>
                </a:solidFill>
                <a:latin typeface="Courier New"/>
                <a:cs typeface="Courier New"/>
              </a:rPr>
              <a:t> </a:t>
            </a:r>
            <a:r>
              <a:rPr dirty="0" sz="1000" spc="-70">
                <a:solidFill>
                  <a:srgbClr val="111726"/>
                </a:solidFill>
                <a:latin typeface="Source Han Sans JP"/>
                <a:cs typeface="Source Han Sans JP"/>
              </a:rPr>
              <a:t>client,</a:t>
            </a:r>
            <a:r>
              <a:rPr dirty="0" sz="1000" spc="-3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85">
                <a:solidFill>
                  <a:srgbClr val="111726"/>
                </a:solidFill>
                <a:latin typeface="Source Han Sans JP"/>
                <a:cs typeface="Source Han Sans JP"/>
              </a:rPr>
              <a:t>providing</a:t>
            </a:r>
            <a:r>
              <a:rPr dirty="0" sz="1000" spc="-3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70">
                <a:solidFill>
                  <a:srgbClr val="111726"/>
                </a:solidFill>
                <a:latin typeface="Source Han Sans JP"/>
                <a:cs typeface="Source Han Sans JP"/>
              </a:rPr>
              <a:t>reusable</a:t>
            </a:r>
            <a:r>
              <a:rPr dirty="0" sz="1000" spc="17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800">
                <a:solidFill>
                  <a:srgbClr val="111726"/>
                </a:solidFill>
                <a:latin typeface="Courier New"/>
                <a:cs typeface="Courier New"/>
              </a:rPr>
              <a:t>add_documents</a:t>
            </a:r>
            <a:r>
              <a:rPr dirty="0" sz="800" spc="-80">
                <a:solidFill>
                  <a:srgbClr val="111726"/>
                </a:solidFill>
                <a:latin typeface="Courier New"/>
                <a:cs typeface="Courier New"/>
              </a:rPr>
              <a:t> </a:t>
            </a:r>
            <a:r>
              <a:rPr dirty="0" sz="1000" spc="-55">
                <a:solidFill>
                  <a:srgbClr val="111726"/>
                </a:solidFill>
                <a:latin typeface="Source Han Sans JP"/>
                <a:cs typeface="Source Han Sans JP"/>
              </a:rPr>
              <a:t>and</a:t>
            </a:r>
            <a:r>
              <a:rPr dirty="0" sz="1000" spc="17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800">
                <a:solidFill>
                  <a:srgbClr val="111726"/>
                </a:solidFill>
                <a:latin typeface="Courier New"/>
                <a:cs typeface="Courier New"/>
              </a:rPr>
              <a:t>search</a:t>
            </a:r>
            <a:r>
              <a:rPr dirty="0" sz="800" spc="-80">
                <a:solidFill>
                  <a:srgbClr val="111726"/>
                </a:solidFill>
                <a:latin typeface="Courier New"/>
                <a:cs typeface="Courier New"/>
              </a:rPr>
              <a:t> </a:t>
            </a:r>
            <a:r>
              <a:rPr dirty="0" sz="1000" spc="-45">
                <a:solidFill>
                  <a:srgbClr val="111726"/>
                </a:solidFill>
                <a:latin typeface="Source Han Sans JP"/>
                <a:cs typeface="Source Han Sans JP"/>
              </a:rPr>
              <a:t>functions.</a:t>
            </a:r>
            <a:endParaRPr sz="1000">
              <a:latin typeface="Source Han Sans JP"/>
              <a:cs typeface="Source Han Sans JP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761782" y="4386582"/>
            <a:ext cx="2984500" cy="121412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#</a:t>
            </a:r>
            <a:r>
              <a:rPr dirty="0" sz="800" spc="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 spc="-10">
                <a:solidFill>
                  <a:srgbClr val="E4E7EB"/>
                </a:solidFill>
                <a:latin typeface="Courier New"/>
                <a:cs typeface="Courier New"/>
              </a:rPr>
              <a:t>solr_client.py</a:t>
            </a:r>
            <a:endParaRPr sz="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894"/>
              </a:spcBef>
            </a:pPr>
            <a:endParaRPr sz="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import</a:t>
            </a:r>
            <a:r>
              <a:rPr dirty="0" sz="800" spc="3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 spc="-10">
                <a:solidFill>
                  <a:srgbClr val="E4E7EB"/>
                </a:solidFill>
                <a:latin typeface="Courier New"/>
                <a:cs typeface="Courier New"/>
              </a:rPr>
              <a:t>pysolr</a:t>
            </a:r>
            <a:endParaRPr sz="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475"/>
              </a:spcBef>
            </a:pP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from</a:t>
            </a:r>
            <a:r>
              <a:rPr dirty="0" sz="800" spc="2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config</a:t>
            </a:r>
            <a:r>
              <a:rPr dirty="0" sz="800" spc="3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import</a:t>
            </a:r>
            <a:r>
              <a:rPr dirty="0" sz="800" spc="3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 spc="-10">
                <a:solidFill>
                  <a:srgbClr val="E4E7EB"/>
                </a:solidFill>
                <a:latin typeface="Courier New"/>
                <a:cs typeface="Courier New"/>
              </a:rPr>
              <a:t>SOLR_URL</a:t>
            </a:r>
            <a:endParaRPr sz="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endParaRPr sz="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#</a:t>
            </a:r>
            <a:r>
              <a:rPr dirty="0" sz="800" spc="1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Connect</a:t>
            </a:r>
            <a:r>
              <a:rPr dirty="0" sz="800" spc="2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to</a:t>
            </a:r>
            <a:r>
              <a:rPr dirty="0" sz="800" spc="2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 spc="-20">
                <a:solidFill>
                  <a:srgbClr val="E4E7EB"/>
                </a:solidFill>
                <a:latin typeface="Courier New"/>
                <a:cs typeface="Courier New"/>
              </a:rPr>
              <a:t>Solr</a:t>
            </a:r>
            <a:endParaRPr sz="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420"/>
              </a:spcBef>
            </a:pP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solr</a:t>
            </a:r>
            <a:r>
              <a:rPr dirty="0" sz="800" spc="4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=</a:t>
            </a:r>
            <a:r>
              <a:rPr dirty="0" sz="800" spc="4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pysolr.Solr(SOLR_URL,</a:t>
            </a:r>
            <a:r>
              <a:rPr dirty="0" sz="800" spc="4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 spc="-10">
                <a:solidFill>
                  <a:srgbClr val="E4E7EB"/>
                </a:solidFill>
                <a:latin typeface="Courier New"/>
                <a:cs typeface="Courier New"/>
              </a:rPr>
              <a:t>always_commit=True)</a:t>
            </a:r>
            <a:endParaRPr sz="800">
              <a:latin typeface="Courier New"/>
              <a:cs typeface="Courier New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754257" y="6193860"/>
            <a:ext cx="998219" cy="141605"/>
          </a:xfrm>
          <a:custGeom>
            <a:avLst/>
            <a:gdLst/>
            <a:ahLst/>
            <a:cxnLst/>
            <a:rect l="l" t="t" r="r" b="b"/>
            <a:pathLst>
              <a:path w="998219" h="141604">
                <a:moveTo>
                  <a:pt x="974342" y="141556"/>
                </a:moveTo>
                <a:lnTo>
                  <a:pt x="23389" y="141556"/>
                </a:lnTo>
                <a:lnTo>
                  <a:pt x="19950" y="140862"/>
                </a:lnTo>
                <a:lnTo>
                  <a:pt x="0" y="118157"/>
                </a:lnTo>
                <a:lnTo>
                  <a:pt x="0" y="114604"/>
                </a:lnTo>
                <a:lnTo>
                  <a:pt x="0" y="23372"/>
                </a:lnTo>
                <a:lnTo>
                  <a:pt x="23389" y="0"/>
                </a:lnTo>
                <a:lnTo>
                  <a:pt x="974342" y="0"/>
                </a:lnTo>
                <a:lnTo>
                  <a:pt x="997732" y="23372"/>
                </a:lnTo>
                <a:lnTo>
                  <a:pt x="997732" y="118157"/>
                </a:lnTo>
                <a:lnTo>
                  <a:pt x="977782" y="140862"/>
                </a:lnTo>
                <a:lnTo>
                  <a:pt x="974342" y="141556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754257" y="6483742"/>
            <a:ext cx="822960" cy="141605"/>
          </a:xfrm>
          <a:custGeom>
            <a:avLst/>
            <a:gdLst/>
            <a:ahLst/>
            <a:cxnLst/>
            <a:rect l="l" t="t" r="r" b="b"/>
            <a:pathLst>
              <a:path w="822960" h="141604">
                <a:moveTo>
                  <a:pt x="799065" y="141556"/>
                </a:moveTo>
                <a:lnTo>
                  <a:pt x="23389" y="141556"/>
                </a:lnTo>
                <a:lnTo>
                  <a:pt x="19950" y="140869"/>
                </a:lnTo>
                <a:lnTo>
                  <a:pt x="0" y="118170"/>
                </a:lnTo>
                <a:lnTo>
                  <a:pt x="0" y="114604"/>
                </a:lnTo>
                <a:lnTo>
                  <a:pt x="0" y="23372"/>
                </a:lnTo>
                <a:lnTo>
                  <a:pt x="23389" y="0"/>
                </a:lnTo>
                <a:lnTo>
                  <a:pt x="799065" y="0"/>
                </a:lnTo>
                <a:lnTo>
                  <a:pt x="822454" y="23372"/>
                </a:lnTo>
                <a:lnTo>
                  <a:pt x="822454" y="118170"/>
                </a:lnTo>
                <a:lnTo>
                  <a:pt x="802504" y="140869"/>
                </a:lnTo>
                <a:lnTo>
                  <a:pt x="799065" y="141556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3140725" y="6483742"/>
            <a:ext cx="411480" cy="141605"/>
          </a:xfrm>
          <a:custGeom>
            <a:avLst/>
            <a:gdLst/>
            <a:ahLst/>
            <a:cxnLst/>
            <a:rect l="l" t="t" r="r" b="b"/>
            <a:pathLst>
              <a:path w="411479" h="141604">
                <a:moveTo>
                  <a:pt x="387837" y="141556"/>
                </a:moveTo>
                <a:lnTo>
                  <a:pt x="23390" y="141556"/>
                </a:lnTo>
                <a:lnTo>
                  <a:pt x="19950" y="140869"/>
                </a:lnTo>
                <a:lnTo>
                  <a:pt x="0" y="118170"/>
                </a:lnTo>
                <a:lnTo>
                  <a:pt x="0" y="114604"/>
                </a:lnTo>
                <a:lnTo>
                  <a:pt x="0" y="23372"/>
                </a:lnTo>
                <a:lnTo>
                  <a:pt x="23390" y="0"/>
                </a:lnTo>
                <a:lnTo>
                  <a:pt x="387837" y="0"/>
                </a:lnTo>
                <a:lnTo>
                  <a:pt x="411227" y="23372"/>
                </a:lnTo>
                <a:lnTo>
                  <a:pt x="411227" y="118170"/>
                </a:lnTo>
                <a:lnTo>
                  <a:pt x="391277" y="140869"/>
                </a:lnTo>
                <a:lnTo>
                  <a:pt x="387837" y="141556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754257" y="6773623"/>
            <a:ext cx="1652270" cy="141605"/>
          </a:xfrm>
          <a:custGeom>
            <a:avLst/>
            <a:gdLst/>
            <a:ahLst/>
            <a:cxnLst/>
            <a:rect l="l" t="t" r="r" b="b"/>
            <a:pathLst>
              <a:path w="1652270" h="141604">
                <a:moveTo>
                  <a:pt x="1628261" y="141556"/>
                </a:moveTo>
                <a:lnTo>
                  <a:pt x="23389" y="141556"/>
                </a:lnTo>
                <a:lnTo>
                  <a:pt x="19950" y="140869"/>
                </a:lnTo>
                <a:lnTo>
                  <a:pt x="0" y="118170"/>
                </a:lnTo>
                <a:lnTo>
                  <a:pt x="0" y="114604"/>
                </a:lnTo>
                <a:lnTo>
                  <a:pt x="0" y="23372"/>
                </a:lnTo>
                <a:lnTo>
                  <a:pt x="23389" y="0"/>
                </a:lnTo>
                <a:lnTo>
                  <a:pt x="1628261" y="0"/>
                </a:lnTo>
                <a:lnTo>
                  <a:pt x="1651651" y="23372"/>
                </a:lnTo>
                <a:lnTo>
                  <a:pt x="1651651" y="118170"/>
                </a:lnTo>
                <a:lnTo>
                  <a:pt x="1631701" y="140869"/>
                </a:lnTo>
                <a:lnTo>
                  <a:pt x="1628261" y="141556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3747452" y="6773620"/>
            <a:ext cx="1112520" cy="316865"/>
          </a:xfrm>
          <a:custGeom>
            <a:avLst/>
            <a:gdLst/>
            <a:ahLst/>
            <a:cxnLst/>
            <a:rect l="l" t="t" r="r" b="b"/>
            <a:pathLst>
              <a:path w="1112520" h="316865">
                <a:moveTo>
                  <a:pt x="586498" y="198653"/>
                </a:moveTo>
                <a:lnTo>
                  <a:pt x="563105" y="175272"/>
                </a:lnTo>
                <a:lnTo>
                  <a:pt x="23380" y="175272"/>
                </a:lnTo>
                <a:lnTo>
                  <a:pt x="0" y="198653"/>
                </a:lnTo>
                <a:lnTo>
                  <a:pt x="0" y="289877"/>
                </a:lnTo>
                <a:lnTo>
                  <a:pt x="0" y="293446"/>
                </a:lnTo>
                <a:lnTo>
                  <a:pt x="23380" y="316826"/>
                </a:lnTo>
                <a:lnTo>
                  <a:pt x="563105" y="316826"/>
                </a:lnTo>
                <a:lnTo>
                  <a:pt x="586498" y="293446"/>
                </a:lnTo>
                <a:lnTo>
                  <a:pt x="586498" y="198653"/>
                </a:lnTo>
                <a:close/>
              </a:path>
              <a:path w="1112520" h="316865">
                <a:moveTo>
                  <a:pt x="1112329" y="23368"/>
                </a:moveTo>
                <a:lnTo>
                  <a:pt x="1088936" y="0"/>
                </a:lnTo>
                <a:lnTo>
                  <a:pt x="549211" y="0"/>
                </a:lnTo>
                <a:lnTo>
                  <a:pt x="525830" y="23368"/>
                </a:lnTo>
                <a:lnTo>
                  <a:pt x="525830" y="114604"/>
                </a:lnTo>
                <a:lnTo>
                  <a:pt x="525830" y="118173"/>
                </a:lnTo>
                <a:lnTo>
                  <a:pt x="549211" y="141554"/>
                </a:lnTo>
                <a:lnTo>
                  <a:pt x="1088936" y="141554"/>
                </a:lnTo>
                <a:lnTo>
                  <a:pt x="1112329" y="118173"/>
                </a:lnTo>
                <a:lnTo>
                  <a:pt x="1112329" y="23368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5244052" y="6773623"/>
            <a:ext cx="937260" cy="141605"/>
          </a:xfrm>
          <a:custGeom>
            <a:avLst/>
            <a:gdLst/>
            <a:ahLst/>
            <a:cxnLst/>
            <a:rect l="l" t="t" r="r" b="b"/>
            <a:pathLst>
              <a:path w="937260" h="141604">
                <a:moveTo>
                  <a:pt x="913669" y="141556"/>
                </a:moveTo>
                <a:lnTo>
                  <a:pt x="23390" y="141556"/>
                </a:lnTo>
                <a:lnTo>
                  <a:pt x="19949" y="140869"/>
                </a:lnTo>
                <a:lnTo>
                  <a:pt x="0" y="118170"/>
                </a:lnTo>
                <a:lnTo>
                  <a:pt x="0" y="114604"/>
                </a:lnTo>
                <a:lnTo>
                  <a:pt x="0" y="23372"/>
                </a:lnTo>
                <a:lnTo>
                  <a:pt x="23390" y="0"/>
                </a:lnTo>
                <a:lnTo>
                  <a:pt x="913669" y="0"/>
                </a:lnTo>
                <a:lnTo>
                  <a:pt x="937059" y="23372"/>
                </a:lnTo>
                <a:lnTo>
                  <a:pt x="937059" y="118170"/>
                </a:lnTo>
                <a:lnTo>
                  <a:pt x="917109" y="140869"/>
                </a:lnTo>
                <a:lnTo>
                  <a:pt x="913669" y="141556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754257" y="7238782"/>
            <a:ext cx="1058545" cy="141605"/>
          </a:xfrm>
          <a:custGeom>
            <a:avLst/>
            <a:gdLst/>
            <a:ahLst/>
            <a:cxnLst/>
            <a:rect l="l" t="t" r="r" b="b"/>
            <a:pathLst>
              <a:path w="1058545" h="141604">
                <a:moveTo>
                  <a:pt x="1035015" y="141556"/>
                </a:moveTo>
                <a:lnTo>
                  <a:pt x="23389" y="141556"/>
                </a:lnTo>
                <a:lnTo>
                  <a:pt x="19950" y="140862"/>
                </a:lnTo>
                <a:lnTo>
                  <a:pt x="0" y="118170"/>
                </a:lnTo>
                <a:lnTo>
                  <a:pt x="0" y="114604"/>
                </a:lnTo>
                <a:lnTo>
                  <a:pt x="0" y="23372"/>
                </a:lnTo>
                <a:lnTo>
                  <a:pt x="23389" y="0"/>
                </a:lnTo>
                <a:lnTo>
                  <a:pt x="1035015" y="0"/>
                </a:lnTo>
                <a:lnTo>
                  <a:pt x="1058405" y="23372"/>
                </a:lnTo>
                <a:lnTo>
                  <a:pt x="1058405" y="118170"/>
                </a:lnTo>
                <a:lnTo>
                  <a:pt x="1038454" y="140862"/>
                </a:lnTo>
                <a:lnTo>
                  <a:pt x="1035015" y="141556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754253" y="7528648"/>
            <a:ext cx="1240790" cy="492125"/>
          </a:xfrm>
          <a:custGeom>
            <a:avLst/>
            <a:gdLst/>
            <a:ahLst/>
            <a:cxnLst/>
            <a:rect l="l" t="t" r="r" b="b"/>
            <a:pathLst>
              <a:path w="1240789" h="492125">
                <a:moveTo>
                  <a:pt x="384263" y="0"/>
                </a:moveTo>
                <a:lnTo>
                  <a:pt x="23393" y="0"/>
                </a:lnTo>
                <a:lnTo>
                  <a:pt x="19951" y="698"/>
                </a:lnTo>
                <a:lnTo>
                  <a:pt x="0" y="23393"/>
                </a:lnTo>
                <a:lnTo>
                  <a:pt x="0" y="118173"/>
                </a:lnTo>
                <a:lnTo>
                  <a:pt x="23393" y="141566"/>
                </a:lnTo>
                <a:lnTo>
                  <a:pt x="384263" y="141566"/>
                </a:lnTo>
                <a:lnTo>
                  <a:pt x="384263" y="0"/>
                </a:lnTo>
                <a:close/>
              </a:path>
              <a:path w="1240789" h="492125">
                <a:moveTo>
                  <a:pt x="1152779" y="373938"/>
                </a:moveTo>
                <a:lnTo>
                  <a:pt x="1129398" y="350558"/>
                </a:lnTo>
                <a:lnTo>
                  <a:pt x="0" y="350558"/>
                </a:lnTo>
                <a:lnTo>
                  <a:pt x="0" y="492112"/>
                </a:lnTo>
                <a:lnTo>
                  <a:pt x="1129398" y="492112"/>
                </a:lnTo>
                <a:lnTo>
                  <a:pt x="1152779" y="468718"/>
                </a:lnTo>
                <a:lnTo>
                  <a:pt x="1152779" y="373938"/>
                </a:lnTo>
                <a:close/>
              </a:path>
              <a:path w="1240789" h="492125">
                <a:moveTo>
                  <a:pt x="1240421" y="175260"/>
                </a:moveTo>
                <a:lnTo>
                  <a:pt x="0" y="175260"/>
                </a:lnTo>
                <a:lnTo>
                  <a:pt x="0" y="316839"/>
                </a:lnTo>
                <a:lnTo>
                  <a:pt x="1240421" y="316839"/>
                </a:lnTo>
                <a:lnTo>
                  <a:pt x="1240421" y="175260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4286768" y="7528664"/>
            <a:ext cx="526415" cy="141605"/>
          </a:xfrm>
          <a:custGeom>
            <a:avLst/>
            <a:gdLst/>
            <a:ahLst/>
            <a:cxnLst/>
            <a:rect l="l" t="t" r="r" b="b"/>
            <a:pathLst>
              <a:path w="526414" h="141604">
                <a:moveTo>
                  <a:pt x="502442" y="141556"/>
                </a:moveTo>
                <a:lnTo>
                  <a:pt x="23390" y="141556"/>
                </a:lnTo>
                <a:lnTo>
                  <a:pt x="19949" y="140862"/>
                </a:lnTo>
                <a:lnTo>
                  <a:pt x="0" y="118170"/>
                </a:lnTo>
                <a:lnTo>
                  <a:pt x="0" y="114604"/>
                </a:lnTo>
                <a:lnTo>
                  <a:pt x="0" y="23386"/>
                </a:lnTo>
                <a:lnTo>
                  <a:pt x="23390" y="0"/>
                </a:lnTo>
                <a:lnTo>
                  <a:pt x="502442" y="0"/>
                </a:lnTo>
                <a:lnTo>
                  <a:pt x="525831" y="23386"/>
                </a:lnTo>
                <a:lnTo>
                  <a:pt x="525831" y="118170"/>
                </a:lnTo>
                <a:lnTo>
                  <a:pt x="505881" y="140862"/>
                </a:lnTo>
                <a:lnTo>
                  <a:pt x="502442" y="141556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5331691" y="7528664"/>
            <a:ext cx="1119505" cy="141605"/>
          </a:xfrm>
          <a:custGeom>
            <a:avLst/>
            <a:gdLst/>
            <a:ahLst/>
            <a:cxnLst/>
            <a:rect l="l" t="t" r="r" b="b"/>
            <a:pathLst>
              <a:path w="1119504" h="141604">
                <a:moveTo>
                  <a:pt x="1095688" y="141556"/>
                </a:moveTo>
                <a:lnTo>
                  <a:pt x="23390" y="141556"/>
                </a:lnTo>
                <a:lnTo>
                  <a:pt x="19949" y="140862"/>
                </a:lnTo>
                <a:lnTo>
                  <a:pt x="0" y="118170"/>
                </a:lnTo>
                <a:lnTo>
                  <a:pt x="0" y="114604"/>
                </a:lnTo>
                <a:lnTo>
                  <a:pt x="0" y="23386"/>
                </a:lnTo>
                <a:lnTo>
                  <a:pt x="23390" y="0"/>
                </a:lnTo>
                <a:lnTo>
                  <a:pt x="1095688" y="0"/>
                </a:lnTo>
                <a:lnTo>
                  <a:pt x="1119078" y="23386"/>
                </a:lnTo>
                <a:lnTo>
                  <a:pt x="1119078" y="118170"/>
                </a:lnTo>
                <a:lnTo>
                  <a:pt x="1099127" y="140862"/>
                </a:lnTo>
                <a:lnTo>
                  <a:pt x="1095688" y="141556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graphicFrame>
        <p:nvGraphicFramePr>
          <p:cNvPr id="38" name="object 38"/>
          <p:cNvGraphicFramePr>
            <a:graphicFrameLocks noGrp="1"/>
          </p:cNvGraphicFramePr>
          <p:nvPr/>
        </p:nvGraphicFramePr>
        <p:xfrm>
          <a:off x="680102" y="5823081"/>
          <a:ext cx="6278880" cy="24250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00225"/>
                <a:gridCol w="4395470"/>
              </a:tblGrid>
              <a:tr h="289560">
                <a:tc>
                  <a:txBody>
                    <a:bodyPr/>
                    <a:lstStyle/>
                    <a:p>
                      <a:pPr marL="70485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950" spc="-20" b="1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Line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64769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950" spc="-10" b="1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Explanation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64769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  <a:solidFill>
                      <a:srgbClr val="F7FAFB"/>
                    </a:solidFill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#</a:t>
                      </a:r>
                      <a:r>
                        <a:rPr dirty="0" sz="750" spc="25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 spc="-1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solr_client.py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90170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950" spc="-6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File-</a:t>
                      </a:r>
                      <a:r>
                        <a:rPr dirty="0" sz="950" spc="-7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identifying</a:t>
                      </a:r>
                      <a:r>
                        <a:rPr dirty="0" sz="950" spc="5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comment.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64769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import</a:t>
                      </a:r>
                      <a:r>
                        <a:rPr dirty="0" sz="750" spc="7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 spc="-1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pysolr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90170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Imports</a:t>
                      </a:r>
                      <a:r>
                        <a:rPr dirty="0" sz="950" spc="-2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the</a:t>
                      </a:r>
                      <a:r>
                        <a:rPr dirty="0" sz="950" spc="20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pysolr</a:t>
                      </a:r>
                      <a:r>
                        <a:rPr dirty="0" sz="750" spc="-3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950" spc="-7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library,</a:t>
                      </a:r>
                      <a:r>
                        <a:rPr dirty="0" sz="950" spc="-2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9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a</a:t>
                      </a:r>
                      <a:r>
                        <a:rPr dirty="0" sz="950" spc="-2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Pythonic</a:t>
                      </a:r>
                      <a:r>
                        <a:rPr dirty="0" sz="950" spc="-2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6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client</a:t>
                      </a:r>
                      <a:r>
                        <a:rPr dirty="0" sz="950" spc="-2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for</a:t>
                      </a:r>
                      <a:r>
                        <a:rPr dirty="0" sz="950" spc="-2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Solr's</a:t>
                      </a:r>
                      <a:r>
                        <a:rPr dirty="0" sz="950" spc="-2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9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REST</a:t>
                      </a:r>
                      <a:r>
                        <a:rPr dirty="0" sz="950" spc="-2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API.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64769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</a:tr>
              <a:tr h="464820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from</a:t>
                      </a:r>
                      <a:r>
                        <a:rPr dirty="0" sz="750" spc="65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config</a:t>
                      </a:r>
                      <a:r>
                        <a:rPr dirty="0" sz="750" spc="65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import</a:t>
                      </a:r>
                      <a:r>
                        <a:rPr dirty="0" sz="750" spc="65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 spc="-1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SOLR_URL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90170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 marR="457834">
                        <a:lnSpc>
                          <a:spcPct val="121100"/>
                        </a:lnSpc>
                        <a:spcBef>
                          <a:spcPts val="270"/>
                        </a:spcBef>
                      </a:pP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Reuses</a:t>
                      </a:r>
                      <a:r>
                        <a:rPr dirty="0" sz="950" spc="-3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the</a:t>
                      </a:r>
                      <a:r>
                        <a:rPr dirty="0" sz="950" spc="-2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6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Solr</a:t>
                      </a:r>
                      <a:r>
                        <a:rPr dirty="0" sz="950" spc="-3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core</a:t>
                      </a:r>
                      <a:r>
                        <a:rPr dirty="0" sz="950" spc="-2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9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URL</a:t>
                      </a:r>
                      <a:r>
                        <a:rPr dirty="0" sz="950" spc="-3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6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de</a:t>
                      </a:r>
                      <a:r>
                        <a:rPr dirty="0" sz="900" spc="-65">
                          <a:solidFill>
                            <a:srgbClr val="111726"/>
                          </a:solidFill>
                          <a:latin typeface="Arial"/>
                          <a:cs typeface="Arial"/>
                        </a:rPr>
                        <a:t>ﬁ</a:t>
                      </a:r>
                      <a:r>
                        <a:rPr dirty="0" sz="950" spc="-6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ned</a:t>
                      </a:r>
                      <a:r>
                        <a:rPr dirty="0" sz="950" spc="-2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in</a:t>
                      </a:r>
                      <a:r>
                        <a:rPr dirty="0" sz="950" spc="19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config.py</a:t>
                      </a:r>
                      <a:r>
                        <a:rPr dirty="0" sz="750" spc="-35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950" spc="-5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(unlike</a:t>
                      </a:r>
                      <a:r>
                        <a:rPr dirty="0" sz="950" spc="19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schema_setup.py</a:t>
                      </a:r>
                      <a:r>
                        <a:rPr dirty="0" sz="750" spc="-229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950" spc="-5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,</a:t>
                      </a:r>
                      <a:r>
                        <a:rPr dirty="0" sz="950" spc="-2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2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this</a:t>
                      </a:r>
                      <a:r>
                        <a:rPr dirty="0" sz="950" spc="50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module</a:t>
                      </a:r>
                      <a:r>
                        <a:rPr dirty="0" sz="950" spc="-3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does</a:t>
                      </a:r>
                      <a:r>
                        <a:rPr dirty="0" sz="950" spc="-3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depend</a:t>
                      </a:r>
                      <a:r>
                        <a:rPr dirty="0" sz="950" spc="-3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2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on</a:t>
                      </a:r>
                      <a:r>
                        <a:rPr dirty="0" sz="950" spc="16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config.py</a:t>
                      </a:r>
                      <a:r>
                        <a:rPr dirty="0" sz="750" spc="-24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950" spc="-2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).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34290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#</a:t>
                      </a:r>
                      <a:r>
                        <a:rPr dirty="0" sz="750" spc="35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Connect</a:t>
                      </a:r>
                      <a:r>
                        <a:rPr dirty="0" sz="750" spc="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to</a:t>
                      </a:r>
                      <a:r>
                        <a:rPr dirty="0" sz="750" spc="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 spc="-2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Solr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90170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950" spc="-9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Comment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describing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the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next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line.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64769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</a:tr>
              <a:tr h="802005">
                <a:tc>
                  <a:txBody>
                    <a:bodyPr/>
                    <a:lstStyle/>
                    <a:p>
                      <a:pPr marL="70485" marR="478790" indent="26670">
                        <a:lnSpc>
                          <a:spcPct val="153300"/>
                        </a:lnSpc>
                        <a:spcBef>
                          <a:spcPts val="229"/>
                        </a:spcBef>
                      </a:pP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solr</a:t>
                      </a:r>
                      <a:r>
                        <a:rPr dirty="0" sz="750" spc="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 spc="-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= </a:t>
                      </a:r>
                      <a:r>
                        <a:rPr dirty="0" sz="750" spc="-1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pysolr.Solr(SOLR_URL, always_commit=True)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29209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 marR="81280">
                        <a:lnSpc>
                          <a:spcPct val="119500"/>
                        </a:lnSpc>
                        <a:spcBef>
                          <a:spcPts val="285"/>
                        </a:spcBef>
                      </a:pP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Creates</a:t>
                      </a:r>
                      <a:r>
                        <a:rPr dirty="0" sz="950" spc="-2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9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a</a:t>
                      </a:r>
                      <a:r>
                        <a:rPr dirty="0" sz="950" spc="-2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6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client</a:t>
                      </a:r>
                      <a:r>
                        <a:rPr dirty="0" sz="950" spc="-2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object</a:t>
                      </a:r>
                      <a:r>
                        <a:rPr dirty="0" sz="950" spc="-2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9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bound</a:t>
                      </a:r>
                      <a:r>
                        <a:rPr dirty="0" sz="950" spc="-2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to</a:t>
                      </a:r>
                      <a:r>
                        <a:rPr dirty="0" sz="950" spc="-2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the</a:t>
                      </a:r>
                      <a:r>
                        <a:rPr dirty="0" sz="950" spc="20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rag_core</a:t>
                      </a:r>
                      <a:r>
                        <a:rPr dirty="0" sz="750" spc="-35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950" spc="-6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endpoint.</a:t>
                      </a:r>
                      <a:r>
                        <a:rPr dirty="0" sz="950" spc="19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always_commit=True</a:t>
                      </a:r>
                      <a:r>
                        <a:rPr dirty="0" sz="750" spc="-35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950" spc="-2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makes</a:t>
                      </a:r>
                      <a:r>
                        <a:rPr dirty="0" sz="950" spc="50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every</a:t>
                      </a:r>
                      <a:r>
                        <a:rPr dirty="0" sz="95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write</a:t>
                      </a:r>
                      <a:r>
                        <a:rPr dirty="0" sz="950" spc="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(add/delete)</a:t>
                      </a:r>
                      <a:r>
                        <a:rPr dirty="0" sz="950" spc="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immediately</a:t>
                      </a:r>
                      <a:r>
                        <a:rPr dirty="0" sz="950" spc="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6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visible</a:t>
                      </a:r>
                      <a:r>
                        <a:rPr dirty="0" sz="950" spc="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to</a:t>
                      </a:r>
                      <a:r>
                        <a:rPr dirty="0" sz="95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searches,</a:t>
                      </a:r>
                      <a:r>
                        <a:rPr dirty="0" sz="950" spc="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without</a:t>
                      </a:r>
                      <a:r>
                        <a:rPr dirty="0" sz="950" spc="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needing</a:t>
                      </a:r>
                      <a:r>
                        <a:rPr dirty="0" sz="950" spc="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9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a</a:t>
                      </a:r>
                      <a:r>
                        <a:rPr dirty="0" sz="950" spc="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separate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manual</a:t>
                      </a:r>
                      <a:r>
                        <a:rPr dirty="0" sz="950" spc="-2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9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commit</a:t>
                      </a:r>
                      <a:r>
                        <a:rPr dirty="0" sz="950" spc="-2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6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call</a:t>
                      </a:r>
                      <a:r>
                        <a:rPr dirty="0" sz="950" spc="-2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00" spc="-180">
                          <a:solidFill>
                            <a:srgbClr val="111726"/>
                          </a:solidFill>
                          <a:latin typeface="Arial"/>
                          <a:cs typeface="Arial"/>
                        </a:rPr>
                        <a:t>—</a:t>
                      </a:r>
                      <a:r>
                        <a:rPr dirty="0" sz="900" spc="-55">
                          <a:solidFill>
                            <a:srgbClr val="111726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convenient</a:t>
                      </a:r>
                      <a:r>
                        <a:rPr dirty="0" sz="950" spc="-2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for</a:t>
                      </a:r>
                      <a:r>
                        <a:rPr dirty="0" sz="950" spc="-2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9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a</a:t>
                      </a:r>
                      <a:r>
                        <a:rPr dirty="0" sz="950" spc="-2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small</a:t>
                      </a:r>
                      <a:r>
                        <a:rPr dirty="0" sz="950" spc="-2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9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demo,</a:t>
                      </a:r>
                      <a:r>
                        <a:rPr dirty="0" sz="950" spc="-2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though</a:t>
                      </a:r>
                      <a:r>
                        <a:rPr dirty="0" sz="950" spc="-2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5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it</a:t>
                      </a:r>
                      <a:r>
                        <a:rPr dirty="0" sz="950" spc="-2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can</a:t>
                      </a:r>
                      <a:r>
                        <a:rPr dirty="0" sz="950" spc="-2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9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add</a:t>
                      </a:r>
                      <a:r>
                        <a:rPr dirty="0" sz="950" spc="-2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overhead</a:t>
                      </a:r>
                      <a:r>
                        <a:rPr dirty="0" sz="950" spc="-2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in</a:t>
                      </a:r>
                      <a:r>
                        <a:rPr dirty="0" sz="950" spc="-2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high-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throughput</a:t>
                      </a:r>
                      <a:r>
                        <a:rPr dirty="0" sz="950" spc="2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production</a:t>
                      </a:r>
                      <a:r>
                        <a:rPr dirty="0" sz="950" spc="2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ingestion.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36195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9" name="object 39"/>
          <p:cNvSpPr txBox="1"/>
          <p:nvPr/>
        </p:nvSpPr>
        <p:spPr>
          <a:xfrm>
            <a:off x="761782" y="8419577"/>
            <a:ext cx="3416300" cy="109093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59079" marR="1607185" indent="-247015">
              <a:lnSpc>
                <a:spcPct val="143800"/>
              </a:lnSpc>
              <a:spcBef>
                <a:spcPts val="95"/>
              </a:spcBef>
            </a:pP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def</a:t>
            </a:r>
            <a:r>
              <a:rPr dirty="0" sz="800" spc="1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 spc="-10">
                <a:solidFill>
                  <a:srgbClr val="E4E7EB"/>
                </a:solidFill>
                <a:latin typeface="Courier New"/>
                <a:cs typeface="Courier New"/>
              </a:rPr>
              <a:t>add_documents(documents): </a:t>
            </a:r>
            <a:r>
              <a:rPr dirty="0" sz="800" spc="-25">
                <a:solidFill>
                  <a:srgbClr val="E4E7EB"/>
                </a:solidFill>
                <a:latin typeface="Courier New"/>
                <a:cs typeface="Courier New"/>
              </a:rPr>
              <a:t>"""</a:t>
            </a:r>
            <a:endParaRPr sz="800">
              <a:latin typeface="Courier New"/>
              <a:cs typeface="Courier New"/>
            </a:endParaRPr>
          </a:p>
          <a:p>
            <a:pPr marL="259079" marR="313055">
              <a:lnSpc>
                <a:spcPct val="143800"/>
              </a:lnSpc>
              <a:spcBef>
                <a:spcPts val="55"/>
              </a:spcBef>
            </a:pP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Upload</a:t>
            </a:r>
            <a:r>
              <a:rPr dirty="0" sz="800" spc="3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document</a:t>
            </a:r>
            <a:r>
              <a:rPr dirty="0" sz="800" spc="3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chunks</a:t>
            </a:r>
            <a:r>
              <a:rPr dirty="0" sz="800" spc="3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and</a:t>
            </a:r>
            <a:r>
              <a:rPr dirty="0" sz="800" spc="3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embeddings</a:t>
            </a:r>
            <a:r>
              <a:rPr dirty="0" sz="800" spc="3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to</a:t>
            </a:r>
            <a:r>
              <a:rPr dirty="0" sz="800" spc="3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 spc="-10">
                <a:solidFill>
                  <a:srgbClr val="E4E7EB"/>
                </a:solidFill>
                <a:latin typeface="Courier New"/>
                <a:cs typeface="Courier New"/>
              </a:rPr>
              <a:t>Solr. </a:t>
            </a:r>
            <a:r>
              <a:rPr dirty="0" sz="800" spc="-25">
                <a:solidFill>
                  <a:srgbClr val="E4E7EB"/>
                </a:solidFill>
                <a:latin typeface="Courier New"/>
                <a:cs typeface="Courier New"/>
              </a:rPr>
              <a:t>"""</a:t>
            </a:r>
            <a:endParaRPr sz="800">
              <a:latin typeface="Courier New"/>
              <a:cs typeface="Courier New"/>
            </a:endParaRPr>
          </a:p>
          <a:p>
            <a:pPr marL="259079">
              <a:lnSpc>
                <a:spcPct val="100000"/>
              </a:lnSpc>
              <a:spcBef>
                <a:spcPts val="475"/>
              </a:spcBef>
            </a:pPr>
            <a:r>
              <a:rPr dirty="0" sz="800" spc="-10">
                <a:solidFill>
                  <a:srgbClr val="E4E7EB"/>
                </a:solidFill>
                <a:latin typeface="Courier New"/>
                <a:cs typeface="Courier New"/>
              </a:rPr>
              <a:t>solr.add(documents)</a:t>
            </a:r>
            <a:endParaRPr sz="800">
              <a:latin typeface="Courier New"/>
              <a:cs typeface="Courier New"/>
            </a:endParaRPr>
          </a:p>
          <a:p>
            <a:pPr marL="259079">
              <a:lnSpc>
                <a:spcPct val="100000"/>
              </a:lnSpc>
              <a:spcBef>
                <a:spcPts val="420"/>
              </a:spcBef>
            </a:pP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print(f"Indexed</a:t>
            </a:r>
            <a:r>
              <a:rPr dirty="0" sz="800" spc="6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{len(documents)}</a:t>
            </a:r>
            <a:r>
              <a:rPr dirty="0" sz="800" spc="6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document</a:t>
            </a:r>
            <a:r>
              <a:rPr dirty="0" sz="800" spc="6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 spc="-10">
                <a:solidFill>
                  <a:srgbClr val="E4E7EB"/>
                </a:solidFill>
                <a:latin typeface="Courier New"/>
                <a:cs typeface="Courier New"/>
              </a:rPr>
              <a:t>chunks.")</a:t>
            </a:r>
            <a:endParaRPr sz="8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80102" y="2708540"/>
            <a:ext cx="6202680" cy="3034030"/>
          </a:xfrm>
          <a:custGeom>
            <a:avLst/>
            <a:gdLst/>
            <a:ahLst/>
            <a:cxnLst/>
            <a:rect l="l" t="t" r="r" b="b"/>
            <a:pathLst>
              <a:path w="6202680" h="3034029">
                <a:moveTo>
                  <a:pt x="6151728" y="3033631"/>
                </a:moveTo>
                <a:lnTo>
                  <a:pt x="50390" y="3033631"/>
                </a:lnTo>
                <a:lnTo>
                  <a:pt x="46883" y="3033287"/>
                </a:lnTo>
                <a:lnTo>
                  <a:pt x="11056" y="3012605"/>
                </a:lnTo>
                <a:lnTo>
                  <a:pt x="0" y="2983239"/>
                </a:lnTo>
                <a:lnTo>
                  <a:pt x="0" y="2979713"/>
                </a:lnTo>
                <a:lnTo>
                  <a:pt x="0" y="50392"/>
                </a:lnTo>
                <a:lnTo>
                  <a:pt x="18300" y="13273"/>
                </a:lnTo>
                <a:lnTo>
                  <a:pt x="50390" y="0"/>
                </a:lnTo>
                <a:lnTo>
                  <a:pt x="6151728" y="0"/>
                </a:lnTo>
                <a:lnTo>
                  <a:pt x="6188826" y="18262"/>
                </a:lnTo>
                <a:lnTo>
                  <a:pt x="6202118" y="50392"/>
                </a:lnTo>
                <a:lnTo>
                  <a:pt x="6202118" y="2983239"/>
                </a:lnTo>
                <a:lnTo>
                  <a:pt x="6183818" y="3020344"/>
                </a:lnTo>
                <a:lnTo>
                  <a:pt x="6155235" y="3033287"/>
                </a:lnTo>
                <a:lnTo>
                  <a:pt x="6151728" y="3033631"/>
                </a:lnTo>
                <a:close/>
              </a:path>
            </a:pathLst>
          </a:custGeom>
          <a:solidFill>
            <a:srgbClr val="0E172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754257" y="652403"/>
            <a:ext cx="1773555" cy="141605"/>
          </a:xfrm>
          <a:custGeom>
            <a:avLst/>
            <a:gdLst/>
            <a:ahLst/>
            <a:cxnLst/>
            <a:rect l="l" t="t" r="r" b="b"/>
            <a:pathLst>
              <a:path w="1773555" h="141604">
                <a:moveTo>
                  <a:pt x="1749607" y="141556"/>
                </a:moveTo>
                <a:lnTo>
                  <a:pt x="23389" y="141556"/>
                </a:lnTo>
                <a:lnTo>
                  <a:pt x="19950" y="140869"/>
                </a:lnTo>
                <a:lnTo>
                  <a:pt x="0" y="118170"/>
                </a:lnTo>
                <a:lnTo>
                  <a:pt x="0" y="114604"/>
                </a:lnTo>
                <a:lnTo>
                  <a:pt x="0" y="23372"/>
                </a:lnTo>
                <a:lnTo>
                  <a:pt x="23389" y="0"/>
                </a:lnTo>
                <a:lnTo>
                  <a:pt x="1749607" y="0"/>
                </a:lnTo>
                <a:lnTo>
                  <a:pt x="1772996" y="23372"/>
                </a:lnTo>
                <a:lnTo>
                  <a:pt x="1772996" y="118170"/>
                </a:lnTo>
                <a:lnTo>
                  <a:pt x="1753046" y="140869"/>
                </a:lnTo>
                <a:lnTo>
                  <a:pt x="1749607" y="141556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754253" y="1104061"/>
            <a:ext cx="1746250" cy="316865"/>
          </a:xfrm>
          <a:custGeom>
            <a:avLst/>
            <a:gdLst/>
            <a:ahLst/>
            <a:cxnLst/>
            <a:rect l="l" t="t" r="r" b="b"/>
            <a:pathLst>
              <a:path w="1746250" h="316865">
                <a:moveTo>
                  <a:pt x="1328064" y="198666"/>
                </a:moveTo>
                <a:lnTo>
                  <a:pt x="1304671" y="175272"/>
                </a:lnTo>
                <a:lnTo>
                  <a:pt x="0" y="175272"/>
                </a:lnTo>
                <a:lnTo>
                  <a:pt x="0" y="316852"/>
                </a:lnTo>
                <a:lnTo>
                  <a:pt x="1304671" y="316852"/>
                </a:lnTo>
                <a:lnTo>
                  <a:pt x="1328064" y="293458"/>
                </a:lnTo>
                <a:lnTo>
                  <a:pt x="1328064" y="198666"/>
                </a:lnTo>
                <a:close/>
              </a:path>
              <a:path w="1746250" h="316865">
                <a:moveTo>
                  <a:pt x="1746034" y="0"/>
                </a:moveTo>
                <a:lnTo>
                  <a:pt x="23393" y="0"/>
                </a:lnTo>
                <a:lnTo>
                  <a:pt x="19951" y="685"/>
                </a:lnTo>
                <a:lnTo>
                  <a:pt x="0" y="23406"/>
                </a:lnTo>
                <a:lnTo>
                  <a:pt x="0" y="118186"/>
                </a:lnTo>
                <a:lnTo>
                  <a:pt x="23393" y="141566"/>
                </a:lnTo>
                <a:lnTo>
                  <a:pt x="1746034" y="141566"/>
                </a:lnTo>
                <a:lnTo>
                  <a:pt x="1746034" y="0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754257" y="1569238"/>
            <a:ext cx="1179830" cy="141605"/>
          </a:xfrm>
          <a:custGeom>
            <a:avLst/>
            <a:gdLst/>
            <a:ahLst/>
            <a:cxnLst/>
            <a:rect l="l" t="t" r="r" b="b"/>
            <a:pathLst>
              <a:path w="1179830" h="141605">
                <a:moveTo>
                  <a:pt x="1156360" y="141556"/>
                </a:moveTo>
                <a:lnTo>
                  <a:pt x="23389" y="141556"/>
                </a:lnTo>
                <a:lnTo>
                  <a:pt x="19950" y="140862"/>
                </a:lnTo>
                <a:lnTo>
                  <a:pt x="0" y="118170"/>
                </a:lnTo>
                <a:lnTo>
                  <a:pt x="0" y="114604"/>
                </a:lnTo>
                <a:lnTo>
                  <a:pt x="0" y="23372"/>
                </a:lnTo>
                <a:lnTo>
                  <a:pt x="23389" y="0"/>
                </a:lnTo>
                <a:lnTo>
                  <a:pt x="1156360" y="0"/>
                </a:lnTo>
                <a:lnTo>
                  <a:pt x="1179750" y="23372"/>
                </a:lnTo>
                <a:lnTo>
                  <a:pt x="1179750" y="118170"/>
                </a:lnTo>
                <a:lnTo>
                  <a:pt x="1159800" y="140862"/>
                </a:lnTo>
                <a:lnTo>
                  <a:pt x="1156360" y="141556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2992413" y="1913051"/>
            <a:ext cx="1119505" cy="141605"/>
          </a:xfrm>
          <a:custGeom>
            <a:avLst/>
            <a:gdLst/>
            <a:ahLst/>
            <a:cxnLst/>
            <a:rect l="l" t="t" r="r" b="b"/>
            <a:pathLst>
              <a:path w="1119504" h="141605">
                <a:moveTo>
                  <a:pt x="1095688" y="141556"/>
                </a:moveTo>
                <a:lnTo>
                  <a:pt x="23389" y="141556"/>
                </a:lnTo>
                <a:lnTo>
                  <a:pt x="19949" y="140869"/>
                </a:lnTo>
                <a:lnTo>
                  <a:pt x="0" y="118170"/>
                </a:lnTo>
                <a:lnTo>
                  <a:pt x="0" y="114604"/>
                </a:lnTo>
                <a:lnTo>
                  <a:pt x="0" y="23372"/>
                </a:lnTo>
                <a:lnTo>
                  <a:pt x="23389" y="0"/>
                </a:lnTo>
                <a:lnTo>
                  <a:pt x="1095688" y="0"/>
                </a:lnTo>
                <a:lnTo>
                  <a:pt x="1119077" y="23372"/>
                </a:lnTo>
                <a:lnTo>
                  <a:pt x="1119077" y="118170"/>
                </a:lnTo>
                <a:lnTo>
                  <a:pt x="1099127" y="140869"/>
                </a:lnTo>
                <a:lnTo>
                  <a:pt x="1095688" y="141556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754253" y="2202915"/>
            <a:ext cx="1921510" cy="316865"/>
          </a:xfrm>
          <a:custGeom>
            <a:avLst/>
            <a:gdLst/>
            <a:ahLst/>
            <a:cxnLst/>
            <a:rect l="l" t="t" r="r" b="b"/>
            <a:pathLst>
              <a:path w="1921510" h="316864">
                <a:moveTo>
                  <a:pt x="1092111" y="198666"/>
                </a:moveTo>
                <a:lnTo>
                  <a:pt x="1068717" y="175285"/>
                </a:lnTo>
                <a:lnTo>
                  <a:pt x="0" y="175285"/>
                </a:lnTo>
                <a:lnTo>
                  <a:pt x="0" y="316852"/>
                </a:lnTo>
                <a:lnTo>
                  <a:pt x="1068717" y="316852"/>
                </a:lnTo>
                <a:lnTo>
                  <a:pt x="1092111" y="293446"/>
                </a:lnTo>
                <a:lnTo>
                  <a:pt x="1092111" y="198666"/>
                </a:lnTo>
                <a:close/>
              </a:path>
              <a:path w="1921510" h="316864">
                <a:moveTo>
                  <a:pt x="1921306" y="0"/>
                </a:moveTo>
                <a:lnTo>
                  <a:pt x="23393" y="0"/>
                </a:lnTo>
                <a:lnTo>
                  <a:pt x="19951" y="698"/>
                </a:lnTo>
                <a:lnTo>
                  <a:pt x="0" y="23380"/>
                </a:lnTo>
                <a:lnTo>
                  <a:pt x="0" y="118186"/>
                </a:lnTo>
                <a:lnTo>
                  <a:pt x="23393" y="141579"/>
                </a:lnTo>
                <a:lnTo>
                  <a:pt x="1921306" y="141579"/>
                </a:lnTo>
                <a:lnTo>
                  <a:pt x="1921306" y="0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6201336" y="2202919"/>
            <a:ext cx="445134" cy="141605"/>
          </a:xfrm>
          <a:custGeom>
            <a:avLst/>
            <a:gdLst/>
            <a:ahLst/>
            <a:cxnLst/>
            <a:rect l="l" t="t" r="r" b="b"/>
            <a:pathLst>
              <a:path w="445134" h="141605">
                <a:moveTo>
                  <a:pt x="444934" y="141577"/>
                </a:moveTo>
                <a:lnTo>
                  <a:pt x="23389" y="141577"/>
                </a:lnTo>
                <a:lnTo>
                  <a:pt x="19949" y="140883"/>
                </a:lnTo>
                <a:lnTo>
                  <a:pt x="0" y="118185"/>
                </a:lnTo>
                <a:lnTo>
                  <a:pt x="0" y="23387"/>
                </a:lnTo>
                <a:lnTo>
                  <a:pt x="23389" y="0"/>
                </a:lnTo>
                <a:lnTo>
                  <a:pt x="444934" y="0"/>
                </a:lnTo>
                <a:lnTo>
                  <a:pt x="444934" y="141577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2992413" y="2378203"/>
            <a:ext cx="1153160" cy="141605"/>
          </a:xfrm>
          <a:custGeom>
            <a:avLst/>
            <a:gdLst/>
            <a:ahLst/>
            <a:cxnLst/>
            <a:rect l="l" t="t" r="r" b="b"/>
            <a:pathLst>
              <a:path w="1153160" h="141605">
                <a:moveTo>
                  <a:pt x="1129395" y="141565"/>
                </a:moveTo>
                <a:lnTo>
                  <a:pt x="0" y="141565"/>
                </a:lnTo>
                <a:lnTo>
                  <a:pt x="0" y="0"/>
                </a:lnTo>
                <a:lnTo>
                  <a:pt x="1129395" y="0"/>
                </a:lnTo>
                <a:lnTo>
                  <a:pt x="1132834" y="682"/>
                </a:lnTo>
                <a:lnTo>
                  <a:pt x="1152785" y="23380"/>
                </a:lnTo>
                <a:lnTo>
                  <a:pt x="1152785" y="118165"/>
                </a:lnTo>
                <a:lnTo>
                  <a:pt x="1129395" y="141565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graphicFrame>
        <p:nvGraphicFramePr>
          <p:cNvPr id="10" name="object 10"/>
          <p:cNvGraphicFramePr>
            <a:graphicFrameLocks noGrp="1"/>
          </p:cNvGraphicFramePr>
          <p:nvPr/>
        </p:nvGraphicFramePr>
        <p:xfrm>
          <a:off x="680102" y="571505"/>
          <a:ext cx="6278880" cy="20142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238375"/>
                <a:gridCol w="3957320"/>
              </a:tblGrid>
              <a:tr h="451484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def</a:t>
                      </a:r>
                      <a:r>
                        <a:rPr dirty="0" sz="750" spc="45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 spc="-1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add_documents(documents):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90170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0" marR="199390">
                        <a:lnSpc>
                          <a:spcPct val="116399"/>
                        </a:lnSpc>
                        <a:spcBef>
                          <a:spcPts val="320"/>
                        </a:spcBef>
                      </a:pPr>
                      <a:r>
                        <a:rPr dirty="0" sz="950" spc="-6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De</a:t>
                      </a:r>
                      <a:r>
                        <a:rPr dirty="0" sz="900" spc="-65">
                          <a:solidFill>
                            <a:srgbClr val="111726"/>
                          </a:solidFill>
                          <a:latin typeface="Arial"/>
                          <a:cs typeface="Arial"/>
                        </a:rPr>
                        <a:t>ﬁ</a:t>
                      </a:r>
                      <a:r>
                        <a:rPr dirty="0" sz="950" spc="-6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nes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9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a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function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that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takes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9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a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6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list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of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dictionaries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(each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representing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one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2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Solr</a:t>
                      </a:r>
                      <a:r>
                        <a:rPr dirty="0" sz="950" spc="50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document)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and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indexes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2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them.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40640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</a:tr>
              <a:tr h="464820">
                <a:tc>
                  <a:txBody>
                    <a:bodyPr/>
                    <a:lstStyle/>
                    <a:p>
                      <a:pPr marL="70485" marR="416559" indent="26670">
                        <a:lnSpc>
                          <a:spcPct val="153300"/>
                        </a:lnSpc>
                        <a:spcBef>
                          <a:spcPts val="229"/>
                        </a:spcBef>
                      </a:pP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"""Upload</a:t>
                      </a:r>
                      <a:r>
                        <a:rPr dirty="0" sz="750" spc="85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document</a:t>
                      </a:r>
                      <a:r>
                        <a:rPr dirty="0" sz="750" spc="85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chunks</a:t>
                      </a:r>
                      <a:r>
                        <a:rPr dirty="0" sz="750" spc="85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 spc="-25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and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embeddings</a:t>
                      </a:r>
                      <a:r>
                        <a:rPr dirty="0" sz="750" spc="7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to</a:t>
                      </a:r>
                      <a:r>
                        <a:rPr dirty="0" sz="750" spc="7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 spc="-1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Solr."""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29209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0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Docstring</a:t>
                      </a:r>
                      <a:r>
                        <a:rPr dirty="0" sz="950" spc="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describing</a:t>
                      </a:r>
                      <a:r>
                        <a:rPr dirty="0" sz="950" spc="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the</a:t>
                      </a:r>
                      <a:r>
                        <a:rPr dirty="0" sz="950" spc="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function's</a:t>
                      </a:r>
                      <a:r>
                        <a:rPr dirty="0" sz="950" spc="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purpose.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64769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</a:tr>
              <a:tr h="633095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dirty="0" sz="750" spc="-1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solr.add(documents)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90170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0" marR="199390">
                        <a:lnSpc>
                          <a:spcPct val="118700"/>
                        </a:lnSpc>
                        <a:spcBef>
                          <a:spcPts val="295"/>
                        </a:spcBef>
                      </a:pP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Sends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the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6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list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of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9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documents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to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Solr's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9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Update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API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in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9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a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single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9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batch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request,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adding/replacing</a:t>
                      </a:r>
                      <a:r>
                        <a:rPr dirty="0" sz="95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them</a:t>
                      </a:r>
                      <a:r>
                        <a:rPr dirty="0" sz="950" spc="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in</a:t>
                      </a:r>
                      <a:r>
                        <a:rPr dirty="0" sz="950" spc="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the</a:t>
                      </a:r>
                      <a:r>
                        <a:rPr dirty="0" sz="950" spc="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index</a:t>
                      </a:r>
                      <a:r>
                        <a:rPr dirty="0" sz="950" spc="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(commit</a:t>
                      </a:r>
                      <a:r>
                        <a:rPr dirty="0" sz="95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happens</a:t>
                      </a:r>
                      <a:r>
                        <a:rPr dirty="0" sz="950" spc="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automatically</a:t>
                      </a:r>
                      <a:r>
                        <a:rPr dirty="0" sz="950" spc="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6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because</a:t>
                      </a:r>
                      <a:r>
                        <a:rPr dirty="0" sz="95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always_commit=True</a:t>
                      </a:r>
                      <a:r>
                        <a:rPr dirty="0" sz="750" spc="-85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950" spc="-2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).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37465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</a:tr>
              <a:tr h="464820">
                <a:tc>
                  <a:txBody>
                    <a:bodyPr/>
                    <a:lstStyle/>
                    <a:p>
                      <a:pPr marL="70485" marR="238760" indent="26670">
                        <a:lnSpc>
                          <a:spcPct val="153300"/>
                        </a:lnSpc>
                        <a:spcBef>
                          <a:spcPts val="229"/>
                        </a:spcBef>
                      </a:pP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print(f"Indexed</a:t>
                      </a:r>
                      <a:r>
                        <a:rPr dirty="0" sz="750" spc="145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 spc="-1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{len(documents)}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document</a:t>
                      </a:r>
                      <a:r>
                        <a:rPr dirty="0" sz="750" spc="85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 spc="-1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chunks.")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29209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0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950" spc="-7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Con</a:t>
                      </a:r>
                      <a:r>
                        <a:rPr dirty="0" sz="900" spc="-70">
                          <a:solidFill>
                            <a:srgbClr val="111726"/>
                          </a:solidFill>
                          <a:latin typeface="Arial"/>
                          <a:cs typeface="Arial"/>
                        </a:rPr>
                        <a:t>ﬁ</a:t>
                      </a:r>
                      <a:r>
                        <a:rPr dirty="0" sz="950" spc="-7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rms</a:t>
                      </a:r>
                      <a:r>
                        <a:rPr dirty="0" sz="950" spc="-2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9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how</a:t>
                      </a:r>
                      <a:r>
                        <a:rPr dirty="0" sz="950" spc="-2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9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many</a:t>
                      </a:r>
                      <a:r>
                        <a:rPr dirty="0" sz="950" spc="-2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9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documents</a:t>
                      </a:r>
                      <a:r>
                        <a:rPr dirty="0" sz="950" spc="-2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were</a:t>
                      </a:r>
                      <a:r>
                        <a:rPr dirty="0" sz="950" spc="-2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indexed.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 b="1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Output</a:t>
                      </a:r>
                      <a:r>
                        <a:rPr dirty="0" sz="950" spc="-20" b="1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0" b="1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(example):</a:t>
                      </a:r>
                      <a:r>
                        <a:rPr dirty="0" sz="950" spc="200" b="1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750" spc="-1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Indexed</a:t>
                      </a:r>
                      <a:endParaRPr sz="750">
                        <a:latin typeface="Courier New"/>
                        <a:cs typeface="Courier New"/>
                      </a:endParaRPr>
                    </a:p>
                    <a:p>
                      <a:pPr marL="69850">
                        <a:lnSpc>
                          <a:spcPct val="100000"/>
                        </a:lnSpc>
                        <a:spcBef>
                          <a:spcPts val="439"/>
                        </a:spcBef>
                      </a:pP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42</a:t>
                      </a:r>
                      <a:r>
                        <a:rPr dirty="0" sz="750" spc="6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document</a:t>
                      </a:r>
                      <a:r>
                        <a:rPr dirty="0" sz="750" spc="65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 spc="-1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chunks.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64769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object 11"/>
          <p:cNvSpPr txBox="1"/>
          <p:nvPr/>
        </p:nvSpPr>
        <p:spPr>
          <a:xfrm>
            <a:off x="761782" y="2756773"/>
            <a:ext cx="4636135" cy="287083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59079" marR="2334260" indent="-247015">
              <a:lnSpc>
                <a:spcPct val="143800"/>
              </a:lnSpc>
              <a:spcBef>
                <a:spcPts val="95"/>
              </a:spcBef>
            </a:pP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def</a:t>
            </a:r>
            <a:r>
              <a:rPr dirty="0" sz="800" spc="6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search(query_embedding,</a:t>
            </a:r>
            <a:r>
              <a:rPr dirty="0" sz="800" spc="6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 spc="-10">
                <a:solidFill>
                  <a:srgbClr val="E4E7EB"/>
                </a:solidFill>
                <a:latin typeface="Courier New"/>
                <a:cs typeface="Courier New"/>
              </a:rPr>
              <a:t>top_k=3): </a:t>
            </a:r>
            <a:r>
              <a:rPr dirty="0" sz="800" spc="-25">
                <a:solidFill>
                  <a:srgbClr val="E4E7EB"/>
                </a:solidFill>
                <a:latin typeface="Courier New"/>
                <a:cs typeface="Courier New"/>
              </a:rPr>
              <a:t>"""</a:t>
            </a:r>
            <a:endParaRPr sz="800">
              <a:latin typeface="Courier New"/>
              <a:cs typeface="Courier New"/>
            </a:endParaRPr>
          </a:p>
          <a:p>
            <a:pPr marL="259079" marR="1409700">
              <a:lnSpc>
                <a:spcPct val="143800"/>
              </a:lnSpc>
              <a:spcBef>
                <a:spcPts val="55"/>
              </a:spcBef>
            </a:pP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Perform</a:t>
            </a:r>
            <a:r>
              <a:rPr dirty="0" sz="800" spc="3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vector</a:t>
            </a:r>
            <a:r>
              <a:rPr dirty="0" sz="800" spc="3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similarity</a:t>
            </a:r>
            <a:r>
              <a:rPr dirty="0" sz="800" spc="3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search</a:t>
            </a:r>
            <a:r>
              <a:rPr dirty="0" sz="800" spc="3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using</a:t>
            </a:r>
            <a:r>
              <a:rPr dirty="0" sz="800" spc="3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Solr</a:t>
            </a:r>
            <a:r>
              <a:rPr dirty="0" sz="800" spc="3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 spc="-20">
                <a:solidFill>
                  <a:srgbClr val="E4E7EB"/>
                </a:solidFill>
                <a:latin typeface="Courier New"/>
                <a:cs typeface="Courier New"/>
              </a:rPr>
              <a:t>KNN. </a:t>
            </a:r>
            <a:r>
              <a:rPr dirty="0" sz="800" spc="-25">
                <a:solidFill>
                  <a:srgbClr val="E4E7EB"/>
                </a:solidFill>
                <a:latin typeface="Courier New"/>
                <a:cs typeface="Courier New"/>
              </a:rPr>
              <a:t>"""</a:t>
            </a:r>
            <a:endParaRPr sz="800">
              <a:latin typeface="Courier New"/>
              <a:cs typeface="Courier New"/>
            </a:endParaRPr>
          </a:p>
          <a:p>
            <a:pPr marL="259079">
              <a:lnSpc>
                <a:spcPct val="100000"/>
              </a:lnSpc>
              <a:spcBef>
                <a:spcPts val="475"/>
              </a:spcBef>
            </a:pP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embedding_str</a:t>
            </a:r>
            <a:r>
              <a:rPr dirty="0" sz="800" spc="5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=</a:t>
            </a:r>
            <a:r>
              <a:rPr dirty="0" sz="800" spc="5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",".join(map(str,</a:t>
            </a:r>
            <a:r>
              <a:rPr dirty="0" sz="800" spc="5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 spc="-10">
                <a:solidFill>
                  <a:srgbClr val="E4E7EB"/>
                </a:solidFill>
                <a:latin typeface="Courier New"/>
                <a:cs typeface="Courier New"/>
              </a:rPr>
              <a:t>query_embedding))</a:t>
            </a:r>
            <a:endParaRPr sz="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420"/>
              </a:spcBef>
            </a:pPr>
            <a:endParaRPr sz="800">
              <a:latin typeface="Courier New"/>
              <a:cs typeface="Courier New"/>
            </a:endParaRPr>
          </a:p>
          <a:p>
            <a:pPr marL="505459" marR="3012440" indent="-247015">
              <a:lnSpc>
                <a:spcPct val="149300"/>
              </a:lnSpc>
            </a:pP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results</a:t>
            </a:r>
            <a:r>
              <a:rPr dirty="0" sz="800" spc="2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=</a:t>
            </a:r>
            <a:r>
              <a:rPr dirty="0" sz="800" spc="2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 spc="-10">
                <a:solidFill>
                  <a:srgbClr val="E4E7EB"/>
                </a:solidFill>
                <a:latin typeface="Courier New"/>
                <a:cs typeface="Courier New"/>
              </a:rPr>
              <a:t>solr.search( "*:*",</a:t>
            </a:r>
            <a:endParaRPr sz="800">
              <a:latin typeface="Courier New"/>
              <a:cs typeface="Courier New"/>
            </a:endParaRPr>
          </a:p>
          <a:p>
            <a:pPr marL="505459">
              <a:lnSpc>
                <a:spcPct val="100000"/>
              </a:lnSpc>
              <a:spcBef>
                <a:spcPts val="420"/>
              </a:spcBef>
            </a:pPr>
            <a:r>
              <a:rPr dirty="0" sz="800" spc="-25">
                <a:solidFill>
                  <a:srgbClr val="E4E7EB"/>
                </a:solidFill>
                <a:latin typeface="Courier New"/>
                <a:cs typeface="Courier New"/>
              </a:rPr>
              <a:t>**{</a:t>
            </a:r>
            <a:endParaRPr sz="800">
              <a:latin typeface="Courier New"/>
              <a:cs typeface="Courier New"/>
            </a:endParaRPr>
          </a:p>
          <a:p>
            <a:pPr marL="751840">
              <a:lnSpc>
                <a:spcPct val="100000"/>
              </a:lnSpc>
              <a:spcBef>
                <a:spcPts val="470"/>
              </a:spcBef>
            </a:pP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"rows":</a:t>
            </a:r>
            <a:r>
              <a:rPr dirty="0" sz="800" spc="3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 spc="-10">
                <a:solidFill>
                  <a:srgbClr val="E4E7EB"/>
                </a:solidFill>
                <a:latin typeface="Courier New"/>
                <a:cs typeface="Courier New"/>
              </a:rPr>
              <a:t>top_k,</a:t>
            </a:r>
            <a:endParaRPr sz="800">
              <a:latin typeface="Courier New"/>
              <a:cs typeface="Courier New"/>
            </a:endParaRPr>
          </a:p>
          <a:p>
            <a:pPr marL="751840">
              <a:lnSpc>
                <a:spcPct val="100000"/>
              </a:lnSpc>
              <a:spcBef>
                <a:spcPts val="420"/>
              </a:spcBef>
            </a:pP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"fl":</a:t>
            </a:r>
            <a:r>
              <a:rPr dirty="0" sz="800" spc="2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 spc="-10">
                <a:solidFill>
                  <a:srgbClr val="E4E7EB"/>
                </a:solidFill>
                <a:latin typeface="Courier New"/>
                <a:cs typeface="Courier New"/>
              </a:rPr>
              <a:t>"id,content,score",</a:t>
            </a:r>
            <a:endParaRPr sz="800">
              <a:latin typeface="Courier New"/>
              <a:cs typeface="Courier New"/>
            </a:endParaRPr>
          </a:p>
          <a:p>
            <a:pPr marL="751840">
              <a:lnSpc>
                <a:spcPct val="100000"/>
              </a:lnSpc>
              <a:spcBef>
                <a:spcPts val="420"/>
              </a:spcBef>
            </a:pP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"fq":</a:t>
            </a:r>
            <a:r>
              <a:rPr dirty="0" sz="800" spc="3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"{!knn</a:t>
            </a:r>
            <a:r>
              <a:rPr dirty="0" sz="800" spc="3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f=embedding</a:t>
            </a:r>
            <a:r>
              <a:rPr dirty="0" sz="800" spc="4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topK=%d}[%s]"</a:t>
            </a:r>
            <a:r>
              <a:rPr dirty="0" sz="800" spc="3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%</a:t>
            </a:r>
            <a:r>
              <a:rPr dirty="0" sz="800" spc="4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(top_k,</a:t>
            </a:r>
            <a:r>
              <a:rPr dirty="0" sz="800" spc="3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 spc="-10">
                <a:solidFill>
                  <a:srgbClr val="E4E7EB"/>
                </a:solidFill>
                <a:latin typeface="Courier New"/>
                <a:cs typeface="Courier New"/>
              </a:rPr>
              <a:t>embedding_str)</a:t>
            </a:r>
            <a:endParaRPr sz="800">
              <a:latin typeface="Courier New"/>
              <a:cs typeface="Courier New"/>
            </a:endParaRPr>
          </a:p>
          <a:p>
            <a:pPr marL="505459">
              <a:lnSpc>
                <a:spcPct val="100000"/>
              </a:lnSpc>
              <a:spcBef>
                <a:spcPts val="475"/>
              </a:spcBef>
            </a:pPr>
            <a:r>
              <a:rPr dirty="0" sz="800" spc="-50">
                <a:solidFill>
                  <a:srgbClr val="E4E7EB"/>
                </a:solidFill>
                <a:latin typeface="Courier New"/>
                <a:cs typeface="Courier New"/>
              </a:rPr>
              <a:t>}</a:t>
            </a:r>
            <a:endParaRPr sz="800">
              <a:latin typeface="Courier New"/>
              <a:cs typeface="Courier New"/>
            </a:endParaRPr>
          </a:p>
          <a:p>
            <a:pPr marL="259079">
              <a:lnSpc>
                <a:spcPct val="100000"/>
              </a:lnSpc>
              <a:spcBef>
                <a:spcPts val="420"/>
              </a:spcBef>
            </a:pPr>
            <a:r>
              <a:rPr dirty="0" sz="800" spc="-50">
                <a:solidFill>
                  <a:srgbClr val="E4E7EB"/>
                </a:solidFill>
                <a:latin typeface="Courier New"/>
                <a:cs typeface="Courier New"/>
              </a:rPr>
              <a:t>)</a:t>
            </a:r>
            <a:endParaRPr sz="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endParaRPr sz="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800">
              <a:latin typeface="Courier New"/>
              <a:cs typeface="Courier New"/>
            </a:endParaRPr>
          </a:p>
          <a:p>
            <a:pPr marL="259079">
              <a:lnSpc>
                <a:spcPct val="100000"/>
              </a:lnSpc>
            </a:pP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return</a:t>
            </a:r>
            <a:r>
              <a:rPr dirty="0" sz="800" spc="3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 spc="-10">
                <a:solidFill>
                  <a:srgbClr val="E4E7EB"/>
                </a:solidFill>
                <a:latin typeface="Courier New"/>
                <a:cs typeface="Courier New"/>
              </a:rPr>
              <a:t>results</a:t>
            </a:r>
            <a:endParaRPr sz="800">
              <a:latin typeface="Courier New"/>
              <a:cs typeface="Courier New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754253" y="6220815"/>
            <a:ext cx="1624965" cy="316865"/>
          </a:xfrm>
          <a:custGeom>
            <a:avLst/>
            <a:gdLst/>
            <a:ahLst/>
            <a:cxnLst/>
            <a:rect l="l" t="t" r="r" b="b"/>
            <a:pathLst>
              <a:path w="1624964" h="316865">
                <a:moveTo>
                  <a:pt x="559536" y="198653"/>
                </a:moveTo>
                <a:lnTo>
                  <a:pt x="536143" y="175272"/>
                </a:lnTo>
                <a:lnTo>
                  <a:pt x="0" y="175272"/>
                </a:lnTo>
                <a:lnTo>
                  <a:pt x="0" y="316839"/>
                </a:lnTo>
                <a:lnTo>
                  <a:pt x="536143" y="316839"/>
                </a:lnTo>
                <a:lnTo>
                  <a:pt x="559536" y="293458"/>
                </a:lnTo>
                <a:lnTo>
                  <a:pt x="559536" y="198653"/>
                </a:lnTo>
                <a:close/>
              </a:path>
              <a:path w="1624964" h="316865">
                <a:moveTo>
                  <a:pt x="1624685" y="0"/>
                </a:moveTo>
                <a:lnTo>
                  <a:pt x="23393" y="0"/>
                </a:lnTo>
                <a:lnTo>
                  <a:pt x="19951" y="698"/>
                </a:lnTo>
                <a:lnTo>
                  <a:pt x="0" y="23380"/>
                </a:lnTo>
                <a:lnTo>
                  <a:pt x="0" y="118173"/>
                </a:lnTo>
                <a:lnTo>
                  <a:pt x="23393" y="141566"/>
                </a:lnTo>
                <a:lnTo>
                  <a:pt x="1624685" y="141566"/>
                </a:lnTo>
                <a:lnTo>
                  <a:pt x="1624685" y="0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4590133" y="6389363"/>
            <a:ext cx="351155" cy="141605"/>
          </a:xfrm>
          <a:custGeom>
            <a:avLst/>
            <a:gdLst/>
            <a:ahLst/>
            <a:cxnLst/>
            <a:rect l="l" t="t" r="r" b="b"/>
            <a:pathLst>
              <a:path w="351154" h="141604">
                <a:moveTo>
                  <a:pt x="327164" y="141556"/>
                </a:moveTo>
                <a:lnTo>
                  <a:pt x="23390" y="141556"/>
                </a:lnTo>
                <a:lnTo>
                  <a:pt x="19950" y="140862"/>
                </a:lnTo>
                <a:lnTo>
                  <a:pt x="0" y="118170"/>
                </a:lnTo>
                <a:lnTo>
                  <a:pt x="0" y="114604"/>
                </a:lnTo>
                <a:lnTo>
                  <a:pt x="0" y="23372"/>
                </a:lnTo>
                <a:lnTo>
                  <a:pt x="23390" y="0"/>
                </a:lnTo>
                <a:lnTo>
                  <a:pt x="327164" y="0"/>
                </a:lnTo>
                <a:lnTo>
                  <a:pt x="350554" y="23372"/>
                </a:lnTo>
                <a:lnTo>
                  <a:pt x="350554" y="118170"/>
                </a:lnTo>
                <a:lnTo>
                  <a:pt x="330604" y="140862"/>
                </a:lnTo>
                <a:lnTo>
                  <a:pt x="327164" y="141556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754253" y="6685977"/>
            <a:ext cx="2096770" cy="316865"/>
          </a:xfrm>
          <a:custGeom>
            <a:avLst/>
            <a:gdLst/>
            <a:ahLst/>
            <a:cxnLst/>
            <a:rect l="l" t="t" r="r" b="b"/>
            <a:pathLst>
              <a:path w="2096770" h="316865">
                <a:moveTo>
                  <a:pt x="1092111" y="198653"/>
                </a:moveTo>
                <a:lnTo>
                  <a:pt x="1068717" y="175272"/>
                </a:lnTo>
                <a:lnTo>
                  <a:pt x="0" y="175272"/>
                </a:lnTo>
                <a:lnTo>
                  <a:pt x="0" y="316839"/>
                </a:lnTo>
                <a:lnTo>
                  <a:pt x="1068717" y="316839"/>
                </a:lnTo>
                <a:lnTo>
                  <a:pt x="1092111" y="293458"/>
                </a:lnTo>
                <a:lnTo>
                  <a:pt x="1092111" y="198653"/>
                </a:lnTo>
                <a:close/>
              </a:path>
              <a:path w="2096770" h="316865">
                <a:moveTo>
                  <a:pt x="2096579" y="0"/>
                </a:moveTo>
                <a:lnTo>
                  <a:pt x="23393" y="0"/>
                </a:lnTo>
                <a:lnTo>
                  <a:pt x="19951" y="673"/>
                </a:lnTo>
                <a:lnTo>
                  <a:pt x="0" y="23380"/>
                </a:lnTo>
                <a:lnTo>
                  <a:pt x="0" y="118173"/>
                </a:lnTo>
                <a:lnTo>
                  <a:pt x="23393" y="141566"/>
                </a:lnTo>
                <a:lnTo>
                  <a:pt x="2096579" y="141566"/>
                </a:lnTo>
                <a:lnTo>
                  <a:pt x="2096579" y="0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754253" y="7151128"/>
            <a:ext cx="1982470" cy="316865"/>
          </a:xfrm>
          <a:custGeom>
            <a:avLst/>
            <a:gdLst/>
            <a:ahLst/>
            <a:cxnLst/>
            <a:rect l="l" t="t" r="r" b="b"/>
            <a:pathLst>
              <a:path w="1982470" h="316865">
                <a:moveTo>
                  <a:pt x="1031443" y="198666"/>
                </a:moveTo>
                <a:lnTo>
                  <a:pt x="1008049" y="175285"/>
                </a:lnTo>
                <a:lnTo>
                  <a:pt x="0" y="175285"/>
                </a:lnTo>
                <a:lnTo>
                  <a:pt x="0" y="316852"/>
                </a:lnTo>
                <a:lnTo>
                  <a:pt x="1008049" y="316852"/>
                </a:lnTo>
                <a:lnTo>
                  <a:pt x="1031443" y="293458"/>
                </a:lnTo>
                <a:lnTo>
                  <a:pt x="1031443" y="198666"/>
                </a:lnTo>
                <a:close/>
              </a:path>
              <a:path w="1982470" h="316865">
                <a:moveTo>
                  <a:pt x="1981974" y="0"/>
                </a:moveTo>
                <a:lnTo>
                  <a:pt x="23393" y="0"/>
                </a:lnTo>
                <a:lnTo>
                  <a:pt x="19951" y="698"/>
                </a:lnTo>
                <a:lnTo>
                  <a:pt x="0" y="23380"/>
                </a:lnTo>
                <a:lnTo>
                  <a:pt x="0" y="118186"/>
                </a:lnTo>
                <a:lnTo>
                  <a:pt x="23393" y="141566"/>
                </a:lnTo>
                <a:lnTo>
                  <a:pt x="1981974" y="141566"/>
                </a:lnTo>
                <a:lnTo>
                  <a:pt x="1981974" y="0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3498021" y="7319681"/>
            <a:ext cx="1301115" cy="141605"/>
          </a:xfrm>
          <a:custGeom>
            <a:avLst/>
            <a:gdLst/>
            <a:ahLst/>
            <a:cxnLst/>
            <a:rect l="l" t="t" r="r" b="b"/>
            <a:pathLst>
              <a:path w="1301114" h="141604">
                <a:moveTo>
                  <a:pt x="1277706" y="141570"/>
                </a:moveTo>
                <a:lnTo>
                  <a:pt x="23389" y="141570"/>
                </a:lnTo>
                <a:lnTo>
                  <a:pt x="19950" y="140882"/>
                </a:lnTo>
                <a:lnTo>
                  <a:pt x="0" y="118170"/>
                </a:lnTo>
                <a:lnTo>
                  <a:pt x="0" y="114604"/>
                </a:lnTo>
                <a:lnTo>
                  <a:pt x="0" y="23372"/>
                </a:lnTo>
                <a:lnTo>
                  <a:pt x="23389" y="0"/>
                </a:lnTo>
                <a:lnTo>
                  <a:pt x="1277706" y="0"/>
                </a:lnTo>
                <a:lnTo>
                  <a:pt x="1301096" y="23372"/>
                </a:lnTo>
                <a:lnTo>
                  <a:pt x="1301096" y="118170"/>
                </a:lnTo>
                <a:lnTo>
                  <a:pt x="1281146" y="140882"/>
                </a:lnTo>
                <a:lnTo>
                  <a:pt x="1277706" y="141570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754257" y="7784840"/>
            <a:ext cx="1355090" cy="141605"/>
          </a:xfrm>
          <a:custGeom>
            <a:avLst/>
            <a:gdLst/>
            <a:ahLst/>
            <a:cxnLst/>
            <a:rect l="l" t="t" r="r" b="b"/>
            <a:pathLst>
              <a:path w="1355089" h="141604">
                <a:moveTo>
                  <a:pt x="1331638" y="141556"/>
                </a:moveTo>
                <a:lnTo>
                  <a:pt x="23389" y="141556"/>
                </a:lnTo>
                <a:lnTo>
                  <a:pt x="19950" y="140862"/>
                </a:lnTo>
                <a:lnTo>
                  <a:pt x="0" y="118170"/>
                </a:lnTo>
                <a:lnTo>
                  <a:pt x="0" y="114604"/>
                </a:lnTo>
                <a:lnTo>
                  <a:pt x="0" y="23372"/>
                </a:lnTo>
                <a:lnTo>
                  <a:pt x="23389" y="0"/>
                </a:lnTo>
                <a:lnTo>
                  <a:pt x="1331638" y="0"/>
                </a:lnTo>
                <a:lnTo>
                  <a:pt x="1355028" y="23372"/>
                </a:lnTo>
                <a:lnTo>
                  <a:pt x="1355028" y="118170"/>
                </a:lnTo>
                <a:lnTo>
                  <a:pt x="1335077" y="140862"/>
                </a:lnTo>
                <a:lnTo>
                  <a:pt x="1331638" y="141556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754257" y="8074721"/>
            <a:ext cx="411480" cy="141605"/>
          </a:xfrm>
          <a:custGeom>
            <a:avLst/>
            <a:gdLst/>
            <a:ahLst/>
            <a:cxnLst/>
            <a:rect l="l" t="t" r="r" b="b"/>
            <a:pathLst>
              <a:path w="411480" h="141604">
                <a:moveTo>
                  <a:pt x="387837" y="141556"/>
                </a:moveTo>
                <a:lnTo>
                  <a:pt x="23389" y="141556"/>
                </a:lnTo>
                <a:lnTo>
                  <a:pt x="19950" y="140869"/>
                </a:lnTo>
                <a:lnTo>
                  <a:pt x="0" y="118170"/>
                </a:lnTo>
                <a:lnTo>
                  <a:pt x="0" y="114604"/>
                </a:lnTo>
                <a:lnTo>
                  <a:pt x="0" y="23372"/>
                </a:lnTo>
                <a:lnTo>
                  <a:pt x="23389" y="0"/>
                </a:lnTo>
                <a:lnTo>
                  <a:pt x="387837" y="0"/>
                </a:lnTo>
                <a:lnTo>
                  <a:pt x="411227" y="23372"/>
                </a:lnTo>
                <a:lnTo>
                  <a:pt x="411227" y="118170"/>
                </a:lnTo>
                <a:lnTo>
                  <a:pt x="391277" y="140869"/>
                </a:lnTo>
                <a:lnTo>
                  <a:pt x="387837" y="141556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9" name="object 19"/>
          <p:cNvGrpSpPr/>
          <p:nvPr/>
        </p:nvGrpSpPr>
        <p:grpSpPr>
          <a:xfrm>
            <a:off x="3794644" y="8074721"/>
            <a:ext cx="337185" cy="316865"/>
            <a:chOff x="3794644" y="8074721"/>
            <a:chExt cx="337185" cy="316865"/>
          </a:xfrm>
        </p:grpSpPr>
        <p:pic>
          <p:nvPicPr>
            <p:cNvPr id="20" name="object 2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902507" y="8074721"/>
              <a:ext cx="229208" cy="141556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794644" y="8249999"/>
              <a:ext cx="175277" cy="141556"/>
            </a:xfrm>
            <a:prstGeom prst="rect">
              <a:avLst/>
            </a:prstGeom>
          </p:spPr>
        </p:pic>
      </p:grpSp>
      <p:pic>
        <p:nvPicPr>
          <p:cNvPr id="22" name="object 22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54257" y="8539880"/>
            <a:ext cx="229208" cy="141556"/>
          </a:xfrm>
          <a:prstGeom prst="rect">
            <a:avLst/>
          </a:prstGeom>
        </p:spPr>
      </p:pic>
      <p:sp>
        <p:nvSpPr>
          <p:cNvPr id="23" name="object 23"/>
          <p:cNvSpPr/>
          <p:nvPr/>
        </p:nvSpPr>
        <p:spPr>
          <a:xfrm>
            <a:off x="754257" y="8998298"/>
            <a:ext cx="883285" cy="141605"/>
          </a:xfrm>
          <a:custGeom>
            <a:avLst/>
            <a:gdLst/>
            <a:ahLst/>
            <a:cxnLst/>
            <a:rect l="l" t="t" r="r" b="b"/>
            <a:pathLst>
              <a:path w="883285" h="141604">
                <a:moveTo>
                  <a:pt x="859737" y="141556"/>
                </a:moveTo>
                <a:lnTo>
                  <a:pt x="23389" y="141556"/>
                </a:lnTo>
                <a:lnTo>
                  <a:pt x="19950" y="140862"/>
                </a:lnTo>
                <a:lnTo>
                  <a:pt x="0" y="118157"/>
                </a:lnTo>
                <a:lnTo>
                  <a:pt x="0" y="114604"/>
                </a:lnTo>
                <a:lnTo>
                  <a:pt x="0" y="23372"/>
                </a:lnTo>
                <a:lnTo>
                  <a:pt x="23389" y="0"/>
                </a:lnTo>
                <a:lnTo>
                  <a:pt x="859737" y="0"/>
                </a:lnTo>
                <a:lnTo>
                  <a:pt x="883127" y="23372"/>
                </a:lnTo>
                <a:lnTo>
                  <a:pt x="883127" y="118157"/>
                </a:lnTo>
                <a:lnTo>
                  <a:pt x="863177" y="140862"/>
                </a:lnTo>
                <a:lnTo>
                  <a:pt x="859737" y="141556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4954170" y="8998298"/>
            <a:ext cx="344170" cy="141605"/>
          </a:xfrm>
          <a:custGeom>
            <a:avLst/>
            <a:gdLst/>
            <a:ahLst/>
            <a:cxnLst/>
            <a:rect l="l" t="t" r="r" b="b"/>
            <a:pathLst>
              <a:path w="344170" h="141604">
                <a:moveTo>
                  <a:pt x="320423" y="141556"/>
                </a:moveTo>
                <a:lnTo>
                  <a:pt x="23390" y="141556"/>
                </a:lnTo>
                <a:lnTo>
                  <a:pt x="19949" y="140862"/>
                </a:lnTo>
                <a:lnTo>
                  <a:pt x="0" y="118157"/>
                </a:lnTo>
                <a:lnTo>
                  <a:pt x="0" y="114604"/>
                </a:lnTo>
                <a:lnTo>
                  <a:pt x="0" y="23372"/>
                </a:lnTo>
                <a:lnTo>
                  <a:pt x="23390" y="0"/>
                </a:lnTo>
                <a:lnTo>
                  <a:pt x="320423" y="0"/>
                </a:lnTo>
                <a:lnTo>
                  <a:pt x="343813" y="23372"/>
                </a:lnTo>
                <a:lnTo>
                  <a:pt x="343813" y="118157"/>
                </a:lnTo>
                <a:lnTo>
                  <a:pt x="323862" y="140862"/>
                </a:lnTo>
                <a:lnTo>
                  <a:pt x="320423" y="141556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754257" y="9288179"/>
            <a:ext cx="1530350" cy="141605"/>
          </a:xfrm>
          <a:custGeom>
            <a:avLst/>
            <a:gdLst/>
            <a:ahLst/>
            <a:cxnLst/>
            <a:rect l="l" t="t" r="r" b="b"/>
            <a:pathLst>
              <a:path w="1530350" h="141604">
                <a:moveTo>
                  <a:pt x="1506915" y="141556"/>
                </a:moveTo>
                <a:lnTo>
                  <a:pt x="23389" y="141556"/>
                </a:lnTo>
                <a:lnTo>
                  <a:pt x="19950" y="140869"/>
                </a:lnTo>
                <a:lnTo>
                  <a:pt x="0" y="118157"/>
                </a:lnTo>
                <a:lnTo>
                  <a:pt x="0" y="114604"/>
                </a:lnTo>
                <a:lnTo>
                  <a:pt x="0" y="23372"/>
                </a:lnTo>
                <a:lnTo>
                  <a:pt x="23389" y="0"/>
                </a:lnTo>
                <a:lnTo>
                  <a:pt x="1506915" y="0"/>
                </a:lnTo>
                <a:lnTo>
                  <a:pt x="1530305" y="23372"/>
                </a:lnTo>
                <a:lnTo>
                  <a:pt x="1530305" y="118157"/>
                </a:lnTo>
                <a:lnTo>
                  <a:pt x="1510355" y="140869"/>
                </a:lnTo>
                <a:lnTo>
                  <a:pt x="1506915" y="141556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26" name="object 2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286768" y="9288179"/>
            <a:ext cx="175277" cy="141556"/>
          </a:xfrm>
          <a:prstGeom prst="rect">
            <a:avLst/>
          </a:prstGeom>
        </p:spPr>
      </p:pic>
      <p:sp>
        <p:nvSpPr>
          <p:cNvPr id="27" name="object 27"/>
          <p:cNvSpPr/>
          <p:nvPr/>
        </p:nvSpPr>
        <p:spPr>
          <a:xfrm>
            <a:off x="4515977" y="9288179"/>
            <a:ext cx="465455" cy="141605"/>
          </a:xfrm>
          <a:custGeom>
            <a:avLst/>
            <a:gdLst/>
            <a:ahLst/>
            <a:cxnLst/>
            <a:rect l="l" t="t" r="r" b="b"/>
            <a:pathLst>
              <a:path w="465454" h="141604">
                <a:moveTo>
                  <a:pt x="441769" y="141556"/>
                </a:moveTo>
                <a:lnTo>
                  <a:pt x="23390" y="141556"/>
                </a:lnTo>
                <a:lnTo>
                  <a:pt x="19949" y="140869"/>
                </a:lnTo>
                <a:lnTo>
                  <a:pt x="0" y="118157"/>
                </a:lnTo>
                <a:lnTo>
                  <a:pt x="0" y="114604"/>
                </a:lnTo>
                <a:lnTo>
                  <a:pt x="0" y="23372"/>
                </a:lnTo>
                <a:lnTo>
                  <a:pt x="23390" y="0"/>
                </a:lnTo>
                <a:lnTo>
                  <a:pt x="441769" y="0"/>
                </a:lnTo>
                <a:lnTo>
                  <a:pt x="465158" y="23372"/>
                </a:lnTo>
                <a:lnTo>
                  <a:pt x="465158" y="118157"/>
                </a:lnTo>
                <a:lnTo>
                  <a:pt x="445208" y="140869"/>
                </a:lnTo>
                <a:lnTo>
                  <a:pt x="441769" y="141556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5729435" y="9288179"/>
            <a:ext cx="351155" cy="141605"/>
          </a:xfrm>
          <a:custGeom>
            <a:avLst/>
            <a:gdLst/>
            <a:ahLst/>
            <a:cxnLst/>
            <a:rect l="l" t="t" r="r" b="b"/>
            <a:pathLst>
              <a:path w="351154" h="141604">
                <a:moveTo>
                  <a:pt x="327164" y="141556"/>
                </a:moveTo>
                <a:lnTo>
                  <a:pt x="23390" y="141556"/>
                </a:lnTo>
                <a:lnTo>
                  <a:pt x="19949" y="140869"/>
                </a:lnTo>
                <a:lnTo>
                  <a:pt x="0" y="118157"/>
                </a:lnTo>
                <a:lnTo>
                  <a:pt x="0" y="114604"/>
                </a:lnTo>
                <a:lnTo>
                  <a:pt x="0" y="23372"/>
                </a:lnTo>
                <a:lnTo>
                  <a:pt x="23390" y="0"/>
                </a:lnTo>
                <a:lnTo>
                  <a:pt x="327164" y="0"/>
                </a:lnTo>
                <a:lnTo>
                  <a:pt x="350554" y="23372"/>
                </a:lnTo>
                <a:lnTo>
                  <a:pt x="350554" y="118157"/>
                </a:lnTo>
                <a:lnTo>
                  <a:pt x="330604" y="140869"/>
                </a:lnTo>
                <a:lnTo>
                  <a:pt x="327164" y="141556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graphicFrame>
        <p:nvGraphicFramePr>
          <p:cNvPr id="29" name="object 29"/>
          <p:cNvGraphicFramePr>
            <a:graphicFrameLocks noGrp="1"/>
          </p:cNvGraphicFramePr>
          <p:nvPr/>
        </p:nvGraphicFramePr>
        <p:xfrm>
          <a:off x="680102" y="5850048"/>
          <a:ext cx="6278880" cy="38119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251710"/>
                <a:gridCol w="3943985"/>
              </a:tblGrid>
              <a:tr h="289560">
                <a:tc>
                  <a:txBody>
                    <a:bodyPr/>
                    <a:lstStyle/>
                    <a:p>
                      <a:pPr marL="70485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950" spc="-20" b="1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Line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64769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marL="73025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950" spc="-10" b="1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Explanation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64769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  <a:solidFill>
                      <a:srgbClr val="F7FAFB"/>
                    </a:solidFill>
                  </a:tcPr>
                </a:tc>
              </a:tr>
              <a:tr h="464820">
                <a:tc>
                  <a:txBody>
                    <a:bodyPr/>
                    <a:lstStyle/>
                    <a:p>
                      <a:pPr marL="70485" marR="548640" indent="26670">
                        <a:lnSpc>
                          <a:spcPct val="153300"/>
                        </a:lnSpc>
                        <a:spcBef>
                          <a:spcPts val="229"/>
                        </a:spcBef>
                      </a:pP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def</a:t>
                      </a:r>
                      <a:r>
                        <a:rPr dirty="0" sz="750" spc="45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 spc="-1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search(query_embedding, top_k=3):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29209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3025" marR="431165">
                        <a:lnSpc>
                          <a:spcPct val="116399"/>
                        </a:lnSpc>
                        <a:spcBef>
                          <a:spcPts val="320"/>
                        </a:spcBef>
                      </a:pPr>
                      <a:r>
                        <a:rPr dirty="0" sz="950" spc="-6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De</a:t>
                      </a:r>
                      <a:r>
                        <a:rPr dirty="0" sz="900" spc="-65">
                          <a:solidFill>
                            <a:srgbClr val="111726"/>
                          </a:solidFill>
                          <a:latin typeface="Arial"/>
                          <a:cs typeface="Arial"/>
                        </a:rPr>
                        <a:t>ﬁ</a:t>
                      </a:r>
                      <a:r>
                        <a:rPr dirty="0" sz="950" spc="-6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nes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9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a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function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performing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9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a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vector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similarity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search,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given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9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a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4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query's</a:t>
                      </a:r>
                      <a:r>
                        <a:rPr dirty="0" sz="950" spc="50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9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embedding</a:t>
                      </a:r>
                      <a:r>
                        <a:rPr dirty="0" sz="950" spc="-2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vector,</a:t>
                      </a:r>
                      <a:r>
                        <a:rPr dirty="0" sz="950" spc="-2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returning</a:t>
                      </a:r>
                      <a:r>
                        <a:rPr dirty="0" sz="950" spc="-2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2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the</a:t>
                      </a:r>
                      <a:r>
                        <a:rPr dirty="0" sz="950" spc="20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top_k</a:t>
                      </a:r>
                      <a:r>
                        <a:rPr dirty="0" sz="750" spc="-35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950" spc="-7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(default</a:t>
                      </a:r>
                      <a:r>
                        <a:rPr dirty="0" sz="950" spc="-2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850" spc="-50">
                          <a:solidFill>
                            <a:srgbClr val="111726"/>
                          </a:solidFill>
                          <a:latin typeface="Arial"/>
                          <a:cs typeface="Arial"/>
                        </a:rPr>
                        <a:t>3</a:t>
                      </a:r>
                      <a:r>
                        <a:rPr dirty="0" sz="950" spc="-5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)</a:t>
                      </a:r>
                      <a:r>
                        <a:rPr dirty="0" sz="950" spc="-2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closest</a:t>
                      </a:r>
                      <a:r>
                        <a:rPr dirty="0" sz="950" spc="-2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4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documents.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40640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</a:tr>
              <a:tr h="464820">
                <a:tc>
                  <a:txBody>
                    <a:bodyPr/>
                    <a:lstStyle/>
                    <a:p>
                      <a:pPr marL="70485" marR="74930" indent="26670">
                        <a:lnSpc>
                          <a:spcPct val="153300"/>
                        </a:lnSpc>
                        <a:spcBef>
                          <a:spcPts val="229"/>
                        </a:spcBef>
                      </a:pP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"""Perform</a:t>
                      </a:r>
                      <a:r>
                        <a:rPr dirty="0" sz="750" spc="9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vector</a:t>
                      </a:r>
                      <a:r>
                        <a:rPr dirty="0" sz="750" spc="95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similarity</a:t>
                      </a:r>
                      <a:r>
                        <a:rPr dirty="0" sz="750" spc="95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 spc="-1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search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using</a:t>
                      </a:r>
                      <a:r>
                        <a:rPr dirty="0" sz="750" spc="55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Solr</a:t>
                      </a:r>
                      <a:r>
                        <a:rPr dirty="0" sz="750" spc="6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 spc="-1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KNN."""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29209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3025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Docstring.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64769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</a:tr>
              <a:tr h="633095">
                <a:tc>
                  <a:txBody>
                    <a:bodyPr/>
                    <a:lstStyle/>
                    <a:p>
                      <a:pPr marL="70485" marR="194310" indent="26670">
                        <a:lnSpc>
                          <a:spcPct val="153300"/>
                        </a:lnSpc>
                        <a:spcBef>
                          <a:spcPts val="229"/>
                        </a:spcBef>
                      </a:pP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embedding_str</a:t>
                      </a:r>
                      <a:r>
                        <a:rPr dirty="0" sz="750" spc="75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=</a:t>
                      </a:r>
                      <a:r>
                        <a:rPr dirty="0" sz="750" spc="8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 spc="-1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",".join(map(str, query_embedding))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29209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3025" marR="287020">
                        <a:lnSpc>
                          <a:spcPct val="118700"/>
                        </a:lnSpc>
                        <a:spcBef>
                          <a:spcPts val="295"/>
                        </a:spcBef>
                      </a:pP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Converts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the</a:t>
                      </a:r>
                      <a:r>
                        <a:rPr dirty="0" sz="95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numeric</a:t>
                      </a:r>
                      <a:r>
                        <a:rPr dirty="0" sz="95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vector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(a</a:t>
                      </a:r>
                      <a:r>
                        <a:rPr dirty="0" sz="95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list/array</a:t>
                      </a:r>
                      <a:r>
                        <a:rPr dirty="0" sz="95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of</a:t>
                      </a:r>
                      <a:r>
                        <a:rPr dirty="0" sz="95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00" spc="-60">
                          <a:solidFill>
                            <a:srgbClr val="111726"/>
                          </a:solidFill>
                          <a:latin typeface="Arial"/>
                          <a:cs typeface="Arial"/>
                        </a:rPr>
                        <a:t>ﬂ</a:t>
                      </a:r>
                      <a:r>
                        <a:rPr dirty="0" sz="950" spc="-6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oats)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into</a:t>
                      </a:r>
                      <a:r>
                        <a:rPr dirty="0" sz="95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9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a</a:t>
                      </a:r>
                      <a:r>
                        <a:rPr dirty="0" sz="95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10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comma-</a:t>
                      </a:r>
                      <a:r>
                        <a:rPr dirty="0" sz="950" spc="-6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separated</a:t>
                      </a:r>
                      <a:r>
                        <a:rPr dirty="0" sz="950" spc="50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string</a:t>
                      </a:r>
                      <a:r>
                        <a:rPr dirty="0" sz="950" spc="-2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3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like</a:t>
                      </a:r>
                      <a:r>
                        <a:rPr dirty="0" sz="950" spc="22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"0.12,-0.03,0.44,..."</a:t>
                      </a:r>
                      <a:r>
                        <a:rPr dirty="0" sz="750" spc="-215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950" spc="-5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,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the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textual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format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Solr's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9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kNN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query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syntax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expects.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37465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results</a:t>
                      </a:r>
                      <a:r>
                        <a:rPr dirty="0" sz="750" spc="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=</a:t>
                      </a:r>
                      <a:r>
                        <a:rPr dirty="0" sz="750" spc="55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 spc="-1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solr.search(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90170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3025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Executes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9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a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search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request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against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2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Solr.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64769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</a:tr>
              <a:tr h="464820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dirty="0" sz="750" spc="-1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"*:*",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90170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3025" marR="184785">
                        <a:lnSpc>
                          <a:spcPct val="121100"/>
                        </a:lnSpc>
                        <a:spcBef>
                          <a:spcPts val="270"/>
                        </a:spcBef>
                      </a:pPr>
                      <a:r>
                        <a:rPr dirty="0" sz="950" spc="-9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The</a:t>
                      </a:r>
                      <a:r>
                        <a:rPr dirty="0" sz="950" spc="-2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main</a:t>
                      </a:r>
                      <a:r>
                        <a:rPr dirty="0" sz="950" spc="-2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query</a:t>
                      </a:r>
                      <a:r>
                        <a:rPr dirty="0" sz="950" spc="-2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00" spc="-50">
                          <a:solidFill>
                            <a:srgbClr val="111726"/>
                          </a:solidFill>
                          <a:latin typeface="Arial"/>
                          <a:cs typeface="Arial"/>
                        </a:rPr>
                        <a:t>—</a:t>
                      </a:r>
                      <a:r>
                        <a:rPr dirty="0" sz="900" spc="175">
                          <a:solidFill>
                            <a:srgbClr val="111726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*:*</a:t>
                      </a:r>
                      <a:r>
                        <a:rPr dirty="0" sz="750" spc="-2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950" spc="-9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matches</a:t>
                      </a:r>
                      <a:r>
                        <a:rPr dirty="0" sz="950" spc="-2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5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all</a:t>
                      </a:r>
                      <a:r>
                        <a:rPr dirty="0" sz="950" spc="-2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documents;</a:t>
                      </a:r>
                      <a:r>
                        <a:rPr dirty="0" sz="950" spc="-2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the</a:t>
                      </a:r>
                      <a:r>
                        <a:rPr dirty="0" sz="950" spc="-2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actual</a:t>
                      </a:r>
                      <a:r>
                        <a:rPr dirty="0" sz="950" spc="-2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similarity</a:t>
                      </a:r>
                      <a:r>
                        <a:rPr dirty="0" sz="950" spc="-2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00" spc="-35">
                          <a:solidFill>
                            <a:srgbClr val="111726"/>
                          </a:solidFill>
                          <a:latin typeface="Arial"/>
                          <a:cs typeface="Arial"/>
                        </a:rPr>
                        <a:t>ﬁ</a:t>
                      </a:r>
                      <a:r>
                        <a:rPr dirty="0" sz="950" spc="-3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ltering</a:t>
                      </a:r>
                      <a:r>
                        <a:rPr dirty="0" sz="950" spc="50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happens</a:t>
                      </a:r>
                      <a:r>
                        <a:rPr dirty="0" sz="950" spc="-3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via</a:t>
                      </a:r>
                      <a:r>
                        <a:rPr dirty="0" sz="950" spc="-3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2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the</a:t>
                      </a:r>
                      <a:r>
                        <a:rPr dirty="0" sz="950" spc="19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fq</a:t>
                      </a:r>
                      <a:r>
                        <a:rPr dirty="0" sz="750" spc="-45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950" spc="-4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(</a:t>
                      </a:r>
                      <a:r>
                        <a:rPr dirty="0" sz="900" spc="-45">
                          <a:solidFill>
                            <a:srgbClr val="111726"/>
                          </a:solidFill>
                          <a:latin typeface="Arial"/>
                          <a:cs typeface="Arial"/>
                        </a:rPr>
                        <a:t>ﬁ</a:t>
                      </a:r>
                      <a:r>
                        <a:rPr dirty="0" sz="950" spc="-4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lter</a:t>
                      </a:r>
                      <a:r>
                        <a:rPr dirty="0" sz="950" spc="-3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query)</a:t>
                      </a:r>
                      <a:r>
                        <a:rPr dirty="0" sz="950" spc="-3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9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parameter</a:t>
                      </a:r>
                      <a:r>
                        <a:rPr dirty="0" sz="950" spc="-3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below.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34290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</a:tr>
              <a:tr h="457834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dirty="0" sz="750" spc="-25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**{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90170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3025" marR="542925">
                        <a:lnSpc>
                          <a:spcPct val="116399"/>
                        </a:lnSpc>
                        <a:spcBef>
                          <a:spcPts val="320"/>
                        </a:spcBef>
                      </a:pPr>
                      <a:r>
                        <a:rPr dirty="0" sz="950" spc="-9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Unpacks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9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a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dictionary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of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additional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6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Solr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query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parameters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as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6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keyword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arguments.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40640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"rows":</a:t>
                      </a:r>
                      <a:r>
                        <a:rPr dirty="0" sz="750" spc="75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 spc="-1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top_k,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90170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3025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Limits</a:t>
                      </a:r>
                      <a:r>
                        <a:rPr dirty="0" sz="950" spc="-2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the</a:t>
                      </a:r>
                      <a:r>
                        <a:rPr dirty="0" sz="950" spc="-2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9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number</a:t>
                      </a:r>
                      <a:r>
                        <a:rPr dirty="0" sz="950" spc="-2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of</a:t>
                      </a:r>
                      <a:r>
                        <a:rPr dirty="0" sz="950" spc="-2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returned</a:t>
                      </a:r>
                      <a:r>
                        <a:rPr dirty="0" sz="950" spc="-2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results</a:t>
                      </a:r>
                      <a:r>
                        <a:rPr dirty="0" sz="950" spc="-2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to</a:t>
                      </a:r>
                      <a:r>
                        <a:rPr dirty="0" sz="950" spc="20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top_k</a:t>
                      </a:r>
                      <a:r>
                        <a:rPr dirty="0" sz="750" spc="-225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950" spc="-5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.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64769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</a:tr>
              <a:tr h="457834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"fl":</a:t>
                      </a:r>
                      <a:r>
                        <a:rPr dirty="0" sz="750" spc="6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 spc="-1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"id,content,score",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90170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3025" marR="95250">
                        <a:lnSpc>
                          <a:spcPct val="121100"/>
                        </a:lnSpc>
                        <a:spcBef>
                          <a:spcPts val="270"/>
                        </a:spcBef>
                      </a:pPr>
                      <a:r>
                        <a:rPr dirty="0" sz="950" spc="-7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Field</a:t>
                      </a:r>
                      <a:r>
                        <a:rPr dirty="0" sz="950" spc="-3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6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list</a:t>
                      </a:r>
                      <a:r>
                        <a:rPr dirty="0" sz="950" spc="-3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00" spc="-180">
                          <a:solidFill>
                            <a:srgbClr val="111726"/>
                          </a:solidFill>
                          <a:latin typeface="Arial"/>
                          <a:cs typeface="Arial"/>
                        </a:rPr>
                        <a:t>—</a:t>
                      </a:r>
                      <a:r>
                        <a:rPr dirty="0" sz="900" spc="-70">
                          <a:solidFill>
                            <a:srgbClr val="111726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only</a:t>
                      </a:r>
                      <a:r>
                        <a:rPr dirty="0" sz="950" spc="-3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return</a:t>
                      </a:r>
                      <a:r>
                        <a:rPr dirty="0" sz="950" spc="-3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2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the</a:t>
                      </a:r>
                      <a:r>
                        <a:rPr dirty="0" sz="950" spc="1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id</a:t>
                      </a:r>
                      <a:r>
                        <a:rPr dirty="0" sz="750" spc="-24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95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,</a:t>
                      </a:r>
                      <a:r>
                        <a:rPr dirty="0" sz="950" spc="1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content</a:t>
                      </a:r>
                      <a:r>
                        <a:rPr dirty="0" sz="750" spc="-235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950" spc="-5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,</a:t>
                      </a:r>
                      <a:r>
                        <a:rPr dirty="0" sz="950" spc="-3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and</a:t>
                      </a:r>
                      <a:r>
                        <a:rPr dirty="0" sz="950" spc="-3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relevance</a:t>
                      </a:r>
                      <a:r>
                        <a:rPr dirty="0" sz="950" spc="1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score</a:t>
                      </a:r>
                      <a:r>
                        <a:rPr dirty="0" sz="750" spc="-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900" spc="-50">
                          <a:solidFill>
                            <a:srgbClr val="111726"/>
                          </a:solidFill>
                          <a:latin typeface="Arial"/>
                          <a:cs typeface="Arial"/>
                        </a:rPr>
                        <a:t>ﬁ</a:t>
                      </a:r>
                      <a:r>
                        <a:rPr dirty="0" sz="950" spc="-5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elds</a:t>
                      </a:r>
                      <a:r>
                        <a:rPr dirty="0" sz="950" spc="-3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for</a:t>
                      </a:r>
                      <a:r>
                        <a:rPr dirty="0" sz="950" spc="-3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2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each</a:t>
                      </a:r>
                      <a:r>
                        <a:rPr dirty="0" sz="950" spc="50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2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hit.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34290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80102" y="2418668"/>
            <a:ext cx="6202680" cy="6985"/>
          </a:xfrm>
          <a:custGeom>
            <a:avLst/>
            <a:gdLst/>
            <a:ahLst/>
            <a:cxnLst/>
            <a:rect l="l" t="t" r="r" b="b"/>
            <a:pathLst>
              <a:path w="6202680" h="6985">
                <a:moveTo>
                  <a:pt x="6202119" y="6741"/>
                </a:moveTo>
                <a:lnTo>
                  <a:pt x="0" y="6741"/>
                </a:lnTo>
                <a:lnTo>
                  <a:pt x="0" y="0"/>
                </a:lnTo>
                <a:lnTo>
                  <a:pt x="6202119" y="0"/>
                </a:lnTo>
                <a:lnTo>
                  <a:pt x="6202119" y="6741"/>
                </a:lnTo>
                <a:close/>
              </a:path>
            </a:pathLst>
          </a:custGeom>
          <a:solidFill>
            <a:srgbClr val="E4E7E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680102" y="3173709"/>
            <a:ext cx="6202680" cy="1436370"/>
          </a:xfrm>
          <a:custGeom>
            <a:avLst/>
            <a:gdLst/>
            <a:ahLst/>
            <a:cxnLst/>
            <a:rect l="l" t="t" r="r" b="b"/>
            <a:pathLst>
              <a:path w="6202680" h="1436370">
                <a:moveTo>
                  <a:pt x="6151728" y="1435925"/>
                </a:moveTo>
                <a:lnTo>
                  <a:pt x="50390" y="1435925"/>
                </a:lnTo>
                <a:lnTo>
                  <a:pt x="46883" y="1435581"/>
                </a:lnTo>
                <a:lnTo>
                  <a:pt x="11056" y="1414885"/>
                </a:lnTo>
                <a:lnTo>
                  <a:pt x="0" y="1385533"/>
                </a:lnTo>
                <a:lnTo>
                  <a:pt x="0" y="1381993"/>
                </a:lnTo>
                <a:lnTo>
                  <a:pt x="0" y="50392"/>
                </a:lnTo>
                <a:lnTo>
                  <a:pt x="18300" y="13260"/>
                </a:lnTo>
                <a:lnTo>
                  <a:pt x="50390" y="0"/>
                </a:lnTo>
                <a:lnTo>
                  <a:pt x="6151728" y="0"/>
                </a:lnTo>
                <a:lnTo>
                  <a:pt x="6188826" y="18276"/>
                </a:lnTo>
                <a:lnTo>
                  <a:pt x="6202118" y="50392"/>
                </a:lnTo>
                <a:lnTo>
                  <a:pt x="6202118" y="1385533"/>
                </a:lnTo>
                <a:lnTo>
                  <a:pt x="6183818" y="1422624"/>
                </a:lnTo>
                <a:lnTo>
                  <a:pt x="6155235" y="1435581"/>
                </a:lnTo>
                <a:lnTo>
                  <a:pt x="6151728" y="1435925"/>
                </a:lnTo>
                <a:close/>
              </a:path>
            </a:pathLst>
          </a:custGeom>
          <a:solidFill>
            <a:srgbClr val="0E172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680102" y="7609572"/>
            <a:ext cx="6202680" cy="546100"/>
          </a:xfrm>
          <a:custGeom>
            <a:avLst/>
            <a:gdLst/>
            <a:ahLst/>
            <a:cxnLst/>
            <a:rect l="l" t="t" r="r" b="b"/>
            <a:pathLst>
              <a:path w="6202680" h="546100">
                <a:moveTo>
                  <a:pt x="6151728" y="546042"/>
                </a:moveTo>
                <a:lnTo>
                  <a:pt x="50390" y="546042"/>
                </a:lnTo>
                <a:lnTo>
                  <a:pt x="46883" y="545685"/>
                </a:lnTo>
                <a:lnTo>
                  <a:pt x="11056" y="525016"/>
                </a:lnTo>
                <a:lnTo>
                  <a:pt x="0" y="495650"/>
                </a:lnTo>
                <a:lnTo>
                  <a:pt x="0" y="492124"/>
                </a:lnTo>
                <a:lnTo>
                  <a:pt x="0" y="50378"/>
                </a:lnTo>
                <a:lnTo>
                  <a:pt x="18300" y="13273"/>
                </a:lnTo>
                <a:lnTo>
                  <a:pt x="50390" y="0"/>
                </a:lnTo>
                <a:lnTo>
                  <a:pt x="6151728" y="0"/>
                </a:lnTo>
                <a:lnTo>
                  <a:pt x="6188826" y="18289"/>
                </a:lnTo>
                <a:lnTo>
                  <a:pt x="6202118" y="50378"/>
                </a:lnTo>
                <a:lnTo>
                  <a:pt x="6202118" y="495650"/>
                </a:lnTo>
                <a:lnTo>
                  <a:pt x="6183818" y="532741"/>
                </a:lnTo>
                <a:lnTo>
                  <a:pt x="6155235" y="545685"/>
                </a:lnTo>
                <a:lnTo>
                  <a:pt x="6151728" y="546042"/>
                </a:lnTo>
                <a:close/>
              </a:path>
            </a:pathLst>
          </a:custGeom>
          <a:solidFill>
            <a:srgbClr val="0E172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754253" y="652372"/>
            <a:ext cx="1982470" cy="316865"/>
          </a:xfrm>
          <a:custGeom>
            <a:avLst/>
            <a:gdLst/>
            <a:ahLst/>
            <a:cxnLst/>
            <a:rect l="l" t="t" r="r" b="b"/>
            <a:pathLst>
              <a:path w="1982470" h="316865">
                <a:moveTo>
                  <a:pt x="1799958" y="198666"/>
                </a:moveTo>
                <a:lnTo>
                  <a:pt x="1776577" y="175285"/>
                </a:lnTo>
                <a:lnTo>
                  <a:pt x="0" y="175285"/>
                </a:lnTo>
                <a:lnTo>
                  <a:pt x="0" y="316839"/>
                </a:lnTo>
                <a:lnTo>
                  <a:pt x="1776577" y="316839"/>
                </a:lnTo>
                <a:lnTo>
                  <a:pt x="1799958" y="293471"/>
                </a:lnTo>
                <a:lnTo>
                  <a:pt x="1799958" y="198666"/>
                </a:lnTo>
                <a:close/>
              </a:path>
              <a:path w="1982470" h="316865">
                <a:moveTo>
                  <a:pt x="1981974" y="0"/>
                </a:moveTo>
                <a:lnTo>
                  <a:pt x="23393" y="0"/>
                </a:lnTo>
                <a:lnTo>
                  <a:pt x="19951" y="698"/>
                </a:lnTo>
                <a:lnTo>
                  <a:pt x="0" y="23406"/>
                </a:lnTo>
                <a:lnTo>
                  <a:pt x="0" y="118186"/>
                </a:lnTo>
                <a:lnTo>
                  <a:pt x="23393" y="141579"/>
                </a:lnTo>
                <a:lnTo>
                  <a:pt x="1981974" y="141579"/>
                </a:lnTo>
                <a:lnTo>
                  <a:pt x="1981974" y="0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3005896" y="820949"/>
            <a:ext cx="586740" cy="141605"/>
          </a:xfrm>
          <a:custGeom>
            <a:avLst/>
            <a:gdLst/>
            <a:ahLst/>
            <a:cxnLst/>
            <a:rect l="l" t="t" r="r" b="b"/>
            <a:pathLst>
              <a:path w="586739" h="141605">
                <a:moveTo>
                  <a:pt x="563115" y="141556"/>
                </a:moveTo>
                <a:lnTo>
                  <a:pt x="23389" y="141556"/>
                </a:lnTo>
                <a:lnTo>
                  <a:pt x="19950" y="140869"/>
                </a:lnTo>
                <a:lnTo>
                  <a:pt x="0" y="118157"/>
                </a:lnTo>
                <a:lnTo>
                  <a:pt x="0" y="114604"/>
                </a:lnTo>
                <a:lnTo>
                  <a:pt x="0" y="23372"/>
                </a:lnTo>
                <a:lnTo>
                  <a:pt x="23389" y="0"/>
                </a:lnTo>
                <a:lnTo>
                  <a:pt x="563115" y="0"/>
                </a:lnTo>
                <a:lnTo>
                  <a:pt x="586504" y="23372"/>
                </a:lnTo>
                <a:lnTo>
                  <a:pt x="586504" y="118157"/>
                </a:lnTo>
                <a:lnTo>
                  <a:pt x="566554" y="140869"/>
                </a:lnTo>
                <a:lnTo>
                  <a:pt x="563115" y="141556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4192389" y="820949"/>
            <a:ext cx="297180" cy="141605"/>
          </a:xfrm>
          <a:custGeom>
            <a:avLst/>
            <a:gdLst/>
            <a:ahLst/>
            <a:cxnLst/>
            <a:rect l="l" t="t" r="r" b="b"/>
            <a:pathLst>
              <a:path w="297179" h="141605">
                <a:moveTo>
                  <a:pt x="273232" y="141556"/>
                </a:moveTo>
                <a:lnTo>
                  <a:pt x="23390" y="141556"/>
                </a:lnTo>
                <a:lnTo>
                  <a:pt x="19950" y="140869"/>
                </a:lnTo>
                <a:lnTo>
                  <a:pt x="0" y="118157"/>
                </a:lnTo>
                <a:lnTo>
                  <a:pt x="0" y="114604"/>
                </a:lnTo>
                <a:lnTo>
                  <a:pt x="0" y="23372"/>
                </a:lnTo>
                <a:lnTo>
                  <a:pt x="23390" y="0"/>
                </a:lnTo>
                <a:lnTo>
                  <a:pt x="273232" y="0"/>
                </a:lnTo>
                <a:lnTo>
                  <a:pt x="296623" y="23372"/>
                </a:lnTo>
                <a:lnTo>
                  <a:pt x="296623" y="118157"/>
                </a:lnTo>
                <a:lnTo>
                  <a:pt x="276672" y="140869"/>
                </a:lnTo>
                <a:lnTo>
                  <a:pt x="273232" y="141556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4563167" y="996226"/>
            <a:ext cx="822960" cy="141605"/>
          </a:xfrm>
          <a:custGeom>
            <a:avLst/>
            <a:gdLst/>
            <a:ahLst/>
            <a:cxnLst/>
            <a:rect l="l" t="t" r="r" b="b"/>
            <a:pathLst>
              <a:path w="822960" h="141605">
                <a:moveTo>
                  <a:pt x="799065" y="141556"/>
                </a:moveTo>
                <a:lnTo>
                  <a:pt x="23390" y="141556"/>
                </a:lnTo>
                <a:lnTo>
                  <a:pt x="19949" y="140862"/>
                </a:lnTo>
                <a:lnTo>
                  <a:pt x="0" y="118170"/>
                </a:lnTo>
                <a:lnTo>
                  <a:pt x="0" y="114604"/>
                </a:lnTo>
                <a:lnTo>
                  <a:pt x="0" y="23372"/>
                </a:lnTo>
                <a:lnTo>
                  <a:pt x="23390" y="0"/>
                </a:lnTo>
                <a:lnTo>
                  <a:pt x="799065" y="0"/>
                </a:lnTo>
                <a:lnTo>
                  <a:pt x="822454" y="23372"/>
                </a:lnTo>
                <a:lnTo>
                  <a:pt x="822454" y="118170"/>
                </a:lnTo>
                <a:lnTo>
                  <a:pt x="802504" y="140862"/>
                </a:lnTo>
                <a:lnTo>
                  <a:pt x="799065" y="141556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54257" y="1286108"/>
            <a:ext cx="114604" cy="141556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54257" y="1575989"/>
            <a:ext cx="114604" cy="141556"/>
          </a:xfrm>
          <a:prstGeom prst="rect">
            <a:avLst/>
          </a:prstGeom>
        </p:spPr>
      </p:pic>
      <p:sp>
        <p:nvSpPr>
          <p:cNvPr id="11" name="object 11"/>
          <p:cNvSpPr/>
          <p:nvPr/>
        </p:nvSpPr>
        <p:spPr>
          <a:xfrm>
            <a:off x="3524987" y="1575989"/>
            <a:ext cx="1004569" cy="141605"/>
          </a:xfrm>
          <a:custGeom>
            <a:avLst/>
            <a:gdLst/>
            <a:ahLst/>
            <a:cxnLst/>
            <a:rect l="l" t="t" r="r" b="b"/>
            <a:pathLst>
              <a:path w="1004570" h="141605">
                <a:moveTo>
                  <a:pt x="981083" y="141556"/>
                </a:moveTo>
                <a:lnTo>
                  <a:pt x="23389" y="141556"/>
                </a:lnTo>
                <a:lnTo>
                  <a:pt x="19950" y="140862"/>
                </a:lnTo>
                <a:lnTo>
                  <a:pt x="0" y="118170"/>
                </a:lnTo>
                <a:lnTo>
                  <a:pt x="0" y="114604"/>
                </a:lnTo>
                <a:lnTo>
                  <a:pt x="0" y="23372"/>
                </a:lnTo>
                <a:lnTo>
                  <a:pt x="23389" y="0"/>
                </a:lnTo>
                <a:lnTo>
                  <a:pt x="981083" y="0"/>
                </a:lnTo>
                <a:lnTo>
                  <a:pt x="1004473" y="23372"/>
                </a:lnTo>
                <a:lnTo>
                  <a:pt x="1004473" y="118170"/>
                </a:lnTo>
                <a:lnTo>
                  <a:pt x="984523" y="140862"/>
                </a:lnTo>
                <a:lnTo>
                  <a:pt x="981083" y="141556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754257" y="1865871"/>
            <a:ext cx="883285" cy="141605"/>
          </a:xfrm>
          <a:custGeom>
            <a:avLst/>
            <a:gdLst/>
            <a:ahLst/>
            <a:cxnLst/>
            <a:rect l="l" t="t" r="r" b="b"/>
            <a:pathLst>
              <a:path w="883285" h="141605">
                <a:moveTo>
                  <a:pt x="859737" y="141556"/>
                </a:moveTo>
                <a:lnTo>
                  <a:pt x="23389" y="141556"/>
                </a:lnTo>
                <a:lnTo>
                  <a:pt x="19950" y="140862"/>
                </a:lnTo>
                <a:lnTo>
                  <a:pt x="0" y="118170"/>
                </a:lnTo>
                <a:lnTo>
                  <a:pt x="0" y="114604"/>
                </a:lnTo>
                <a:lnTo>
                  <a:pt x="0" y="23372"/>
                </a:lnTo>
                <a:lnTo>
                  <a:pt x="23389" y="0"/>
                </a:lnTo>
                <a:lnTo>
                  <a:pt x="859737" y="0"/>
                </a:lnTo>
                <a:lnTo>
                  <a:pt x="883127" y="23372"/>
                </a:lnTo>
                <a:lnTo>
                  <a:pt x="883127" y="118170"/>
                </a:lnTo>
                <a:lnTo>
                  <a:pt x="863177" y="140862"/>
                </a:lnTo>
                <a:lnTo>
                  <a:pt x="859737" y="141556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3484538" y="1865871"/>
            <a:ext cx="883285" cy="141605"/>
          </a:xfrm>
          <a:custGeom>
            <a:avLst/>
            <a:gdLst/>
            <a:ahLst/>
            <a:cxnLst/>
            <a:rect l="l" t="t" r="r" b="b"/>
            <a:pathLst>
              <a:path w="883285" h="141605">
                <a:moveTo>
                  <a:pt x="859737" y="141556"/>
                </a:moveTo>
                <a:lnTo>
                  <a:pt x="23389" y="141556"/>
                </a:lnTo>
                <a:lnTo>
                  <a:pt x="19950" y="140862"/>
                </a:lnTo>
                <a:lnTo>
                  <a:pt x="0" y="118170"/>
                </a:lnTo>
                <a:lnTo>
                  <a:pt x="0" y="114604"/>
                </a:lnTo>
                <a:lnTo>
                  <a:pt x="0" y="23372"/>
                </a:lnTo>
                <a:lnTo>
                  <a:pt x="23389" y="0"/>
                </a:lnTo>
                <a:lnTo>
                  <a:pt x="859737" y="0"/>
                </a:lnTo>
                <a:lnTo>
                  <a:pt x="883127" y="23372"/>
                </a:lnTo>
                <a:lnTo>
                  <a:pt x="883127" y="118170"/>
                </a:lnTo>
                <a:lnTo>
                  <a:pt x="863177" y="140862"/>
                </a:lnTo>
                <a:lnTo>
                  <a:pt x="859737" y="141556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graphicFrame>
        <p:nvGraphicFramePr>
          <p:cNvPr id="14" name="object 14"/>
          <p:cNvGraphicFramePr>
            <a:graphicFrameLocks noGrp="1"/>
          </p:cNvGraphicFramePr>
          <p:nvPr/>
        </p:nvGraphicFramePr>
        <p:xfrm>
          <a:off x="680102" y="571516"/>
          <a:ext cx="6278880" cy="16770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251710"/>
                <a:gridCol w="3943985"/>
              </a:tblGrid>
              <a:tr h="633095">
                <a:tc>
                  <a:txBody>
                    <a:bodyPr/>
                    <a:lstStyle/>
                    <a:p>
                      <a:pPr marL="70485" marR="194310" indent="26670">
                        <a:lnSpc>
                          <a:spcPct val="153300"/>
                        </a:lnSpc>
                        <a:spcBef>
                          <a:spcPts val="229"/>
                        </a:spcBef>
                      </a:pP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"fq":</a:t>
                      </a:r>
                      <a:r>
                        <a:rPr dirty="0" sz="750" spc="8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"{!knn</a:t>
                      </a:r>
                      <a:r>
                        <a:rPr dirty="0" sz="750" spc="8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f=embedding</a:t>
                      </a:r>
                      <a:r>
                        <a:rPr dirty="0" sz="750" spc="85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 spc="-1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topK=%d}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[%s]"</a:t>
                      </a:r>
                      <a:r>
                        <a:rPr dirty="0" sz="750" spc="55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%</a:t>
                      </a:r>
                      <a:r>
                        <a:rPr dirty="0" sz="750" spc="55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(top_k,</a:t>
                      </a:r>
                      <a:r>
                        <a:rPr dirty="0" sz="750" spc="6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 spc="-1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embedding_str)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29209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3025" marR="311150">
                        <a:lnSpc>
                          <a:spcPct val="118700"/>
                        </a:lnSpc>
                        <a:spcBef>
                          <a:spcPts val="295"/>
                        </a:spcBef>
                      </a:pP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Builds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9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a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6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Solr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100" b="1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kNN</a:t>
                      </a:r>
                      <a:r>
                        <a:rPr dirty="0" sz="950" spc="-10" b="1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00" spc="-55" b="1">
                          <a:solidFill>
                            <a:srgbClr val="111726"/>
                          </a:solidFill>
                          <a:latin typeface="Arial"/>
                          <a:cs typeface="Arial"/>
                        </a:rPr>
                        <a:t>ﬁ</a:t>
                      </a:r>
                      <a:r>
                        <a:rPr dirty="0" sz="950" spc="-55" b="1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lter</a:t>
                      </a:r>
                      <a:r>
                        <a:rPr dirty="0" sz="950" spc="-15" b="1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 b="1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query</a:t>
                      </a:r>
                      <a:r>
                        <a:rPr dirty="0" sz="950" spc="-10" b="1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using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Solr's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local-</a:t>
                      </a:r>
                      <a:r>
                        <a:rPr dirty="0" sz="950" spc="-9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params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syntax: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search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2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the</a:t>
                      </a:r>
                      <a:r>
                        <a:rPr dirty="0" sz="95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embedding</a:t>
                      </a:r>
                      <a:r>
                        <a:rPr dirty="0" sz="750" spc="-25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900" spc="-45">
                          <a:solidFill>
                            <a:srgbClr val="111726"/>
                          </a:solidFill>
                          <a:latin typeface="Arial"/>
                          <a:cs typeface="Arial"/>
                        </a:rPr>
                        <a:t>ﬁ</a:t>
                      </a:r>
                      <a:r>
                        <a:rPr dirty="0" sz="950" spc="-4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eld</a:t>
                      </a:r>
                      <a:r>
                        <a:rPr dirty="0" sz="950" spc="-2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for</a:t>
                      </a:r>
                      <a:r>
                        <a:rPr dirty="0" sz="950" spc="-2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2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the</a:t>
                      </a:r>
                      <a:r>
                        <a:rPr dirty="0" sz="950" spc="204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topK</a:t>
                      </a:r>
                      <a:r>
                        <a:rPr dirty="0" sz="750" spc="-3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nearest</a:t>
                      </a:r>
                      <a:r>
                        <a:rPr dirty="0" sz="950" spc="-2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neighbours</a:t>
                      </a:r>
                      <a:r>
                        <a:rPr dirty="0" sz="950" spc="-2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to</a:t>
                      </a:r>
                      <a:r>
                        <a:rPr dirty="0" sz="950" spc="-2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the</a:t>
                      </a:r>
                      <a:r>
                        <a:rPr dirty="0" sz="950" spc="-2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vector</a:t>
                      </a:r>
                      <a:r>
                        <a:rPr dirty="0" sz="950" spc="-2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given</a:t>
                      </a:r>
                      <a:r>
                        <a:rPr dirty="0" sz="950" spc="-2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2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in</a:t>
                      </a:r>
                      <a:r>
                        <a:rPr dirty="0" sz="950" spc="50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brackets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(the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10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comma-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separated</a:t>
                      </a:r>
                      <a:r>
                        <a:rPr dirty="0" sz="950" spc="25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embedding_str</a:t>
                      </a:r>
                      <a:r>
                        <a:rPr dirty="0" sz="750" spc="-204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950" spc="-2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).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37465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dirty="0" sz="750" spc="-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}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90170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3025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Closes</a:t>
                      </a:r>
                      <a:r>
                        <a:rPr dirty="0" sz="950" spc="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the</a:t>
                      </a:r>
                      <a:r>
                        <a:rPr dirty="0" sz="950" spc="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9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parameter</a:t>
                      </a:r>
                      <a:r>
                        <a:rPr dirty="0" sz="950" spc="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dictionary.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64769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dirty="0" sz="750" spc="-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)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90170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3025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Closes</a:t>
                      </a:r>
                      <a:r>
                        <a:rPr dirty="0" sz="950" spc="-3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2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the</a:t>
                      </a:r>
                      <a:r>
                        <a:rPr dirty="0" sz="950" spc="1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solr.search(...)</a:t>
                      </a:r>
                      <a:r>
                        <a:rPr dirty="0" sz="750" spc="-4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call.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64769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</a:tr>
              <a:tr h="464820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return</a:t>
                      </a:r>
                      <a:r>
                        <a:rPr dirty="0" sz="750" spc="7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 spc="-1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results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90170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3025" marR="74930">
                        <a:lnSpc>
                          <a:spcPct val="121100"/>
                        </a:lnSpc>
                        <a:spcBef>
                          <a:spcPts val="270"/>
                        </a:spcBef>
                      </a:pP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Returns</a:t>
                      </a:r>
                      <a:r>
                        <a:rPr dirty="0" sz="950" spc="-2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a</a:t>
                      </a:r>
                      <a:r>
                        <a:rPr dirty="0" sz="950" spc="22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pysolr.Results</a:t>
                      </a:r>
                      <a:r>
                        <a:rPr dirty="0" sz="750" spc="-2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object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(iterable,</a:t>
                      </a:r>
                      <a:r>
                        <a:rPr dirty="0" sz="950" spc="-2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each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item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6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is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9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a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dict-</a:t>
                      </a:r>
                      <a:r>
                        <a:rPr dirty="0" sz="950" spc="-6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like</a:t>
                      </a:r>
                      <a:r>
                        <a:rPr dirty="0" sz="950" spc="-2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5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document)</a:t>
                      </a:r>
                      <a:r>
                        <a:rPr dirty="0" sz="950" spc="50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to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the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caller.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34290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5" name="object 15"/>
          <p:cNvSpPr/>
          <p:nvPr/>
        </p:nvSpPr>
        <p:spPr>
          <a:xfrm>
            <a:off x="943018" y="2600687"/>
            <a:ext cx="829310" cy="195580"/>
          </a:xfrm>
          <a:custGeom>
            <a:avLst/>
            <a:gdLst/>
            <a:ahLst/>
            <a:cxnLst/>
            <a:rect l="l" t="t" r="r" b="b"/>
            <a:pathLst>
              <a:path w="829310" h="195580">
                <a:moveTo>
                  <a:pt x="805806" y="195488"/>
                </a:moveTo>
                <a:lnTo>
                  <a:pt x="23389" y="195488"/>
                </a:lnTo>
                <a:lnTo>
                  <a:pt x="19950" y="194800"/>
                </a:lnTo>
                <a:lnTo>
                  <a:pt x="0" y="172102"/>
                </a:lnTo>
                <a:lnTo>
                  <a:pt x="0" y="168535"/>
                </a:lnTo>
                <a:lnTo>
                  <a:pt x="0" y="23372"/>
                </a:lnTo>
                <a:lnTo>
                  <a:pt x="23389" y="0"/>
                </a:lnTo>
                <a:lnTo>
                  <a:pt x="805806" y="0"/>
                </a:lnTo>
                <a:lnTo>
                  <a:pt x="829196" y="23372"/>
                </a:lnTo>
                <a:lnTo>
                  <a:pt x="829196" y="172102"/>
                </a:lnTo>
                <a:lnTo>
                  <a:pt x="809246" y="194800"/>
                </a:lnTo>
                <a:lnTo>
                  <a:pt x="805806" y="195488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667402" y="2553253"/>
            <a:ext cx="3719195" cy="51117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300" spc="-30" b="1">
                <a:solidFill>
                  <a:srgbClr val="111726"/>
                </a:solidFill>
                <a:latin typeface="Trebuchet MS"/>
                <a:cs typeface="Trebuchet MS"/>
              </a:rPr>
              <a:t>2</a:t>
            </a:r>
            <a:r>
              <a:rPr dirty="0" sz="1450" spc="-30" b="1">
                <a:solidFill>
                  <a:srgbClr val="111726"/>
                </a:solidFill>
                <a:latin typeface="Source Han Sans JP"/>
                <a:cs typeface="Source Han Sans JP"/>
              </a:rPr>
              <a:t>.</a:t>
            </a:r>
            <a:r>
              <a:rPr dirty="0" sz="1300" spc="-30" b="1">
                <a:solidFill>
                  <a:srgbClr val="111726"/>
                </a:solidFill>
                <a:latin typeface="Trebuchet MS"/>
                <a:cs typeface="Trebuchet MS"/>
              </a:rPr>
              <a:t>4</a:t>
            </a:r>
            <a:r>
              <a:rPr dirty="0" sz="1300" spc="-60" b="1">
                <a:solidFill>
                  <a:srgbClr val="111726"/>
                </a:solidFill>
                <a:latin typeface="Trebuchet MS"/>
                <a:cs typeface="Trebuchet MS"/>
              </a:rPr>
              <a:t> </a:t>
            </a:r>
            <a:r>
              <a:rPr dirty="0" sz="1100" spc="-10" b="1">
                <a:solidFill>
                  <a:srgbClr val="111726"/>
                </a:solidFill>
                <a:latin typeface="Courier New"/>
                <a:cs typeface="Courier New"/>
              </a:rPr>
              <a:t>ingest.py</a:t>
            </a:r>
            <a:endParaRPr sz="11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885"/>
              </a:spcBef>
            </a:pPr>
            <a:r>
              <a:rPr dirty="0" sz="1000" spc="-95">
                <a:solidFill>
                  <a:srgbClr val="111726"/>
                </a:solidFill>
                <a:latin typeface="Source Han Sans JP"/>
                <a:cs typeface="Source Han Sans JP"/>
              </a:rPr>
              <a:t>Loads</a:t>
            </a:r>
            <a:r>
              <a:rPr dirty="0" sz="1000" spc="-2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90">
                <a:solidFill>
                  <a:srgbClr val="111726"/>
                </a:solidFill>
                <a:latin typeface="Source Han Sans JP"/>
                <a:cs typeface="Source Han Sans JP"/>
              </a:rPr>
              <a:t>the</a:t>
            </a:r>
            <a:r>
              <a:rPr dirty="0" sz="1000" spc="-20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105">
                <a:solidFill>
                  <a:srgbClr val="111726"/>
                </a:solidFill>
                <a:latin typeface="Source Han Sans JP"/>
                <a:cs typeface="Source Han Sans JP"/>
              </a:rPr>
              <a:t>PDF,</a:t>
            </a:r>
            <a:r>
              <a:rPr dirty="0" sz="1000" spc="-20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95">
                <a:solidFill>
                  <a:srgbClr val="111726"/>
                </a:solidFill>
                <a:latin typeface="Source Han Sans JP"/>
                <a:cs typeface="Source Han Sans JP"/>
              </a:rPr>
              <a:t>chunks</a:t>
            </a:r>
            <a:r>
              <a:rPr dirty="0" sz="1000" spc="-2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50">
                <a:solidFill>
                  <a:srgbClr val="111726"/>
                </a:solidFill>
                <a:latin typeface="Source Han Sans JP"/>
                <a:cs typeface="Source Han Sans JP"/>
              </a:rPr>
              <a:t>it,</a:t>
            </a:r>
            <a:r>
              <a:rPr dirty="0" sz="1000" spc="-20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100">
                <a:solidFill>
                  <a:srgbClr val="111726"/>
                </a:solidFill>
                <a:latin typeface="Source Han Sans JP"/>
                <a:cs typeface="Source Han Sans JP"/>
              </a:rPr>
              <a:t>embeds</a:t>
            </a:r>
            <a:r>
              <a:rPr dirty="0" sz="1000" spc="-20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95">
                <a:solidFill>
                  <a:srgbClr val="111726"/>
                </a:solidFill>
                <a:latin typeface="Source Han Sans JP"/>
                <a:cs typeface="Source Han Sans JP"/>
              </a:rPr>
              <a:t>each</a:t>
            </a:r>
            <a:r>
              <a:rPr dirty="0" sz="1000" spc="-2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85">
                <a:solidFill>
                  <a:srgbClr val="111726"/>
                </a:solidFill>
                <a:latin typeface="Source Han Sans JP"/>
                <a:cs typeface="Source Han Sans JP"/>
              </a:rPr>
              <a:t>chunk,</a:t>
            </a:r>
            <a:r>
              <a:rPr dirty="0" sz="1000" spc="-20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95">
                <a:solidFill>
                  <a:srgbClr val="111726"/>
                </a:solidFill>
                <a:latin typeface="Source Han Sans JP"/>
                <a:cs typeface="Source Han Sans JP"/>
              </a:rPr>
              <a:t>and</a:t>
            </a:r>
            <a:r>
              <a:rPr dirty="0" sz="1000" spc="-20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90">
                <a:solidFill>
                  <a:srgbClr val="111726"/>
                </a:solidFill>
                <a:latin typeface="Source Han Sans JP"/>
                <a:cs typeface="Source Han Sans JP"/>
              </a:rPr>
              <a:t>indexes</a:t>
            </a:r>
            <a:r>
              <a:rPr dirty="0" sz="1000" spc="-2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100">
                <a:solidFill>
                  <a:srgbClr val="111726"/>
                </a:solidFill>
                <a:latin typeface="Source Han Sans JP"/>
                <a:cs typeface="Source Han Sans JP"/>
              </a:rPr>
              <a:t>them</a:t>
            </a:r>
            <a:r>
              <a:rPr dirty="0" sz="1000" spc="-20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80">
                <a:solidFill>
                  <a:srgbClr val="111726"/>
                </a:solidFill>
                <a:latin typeface="Source Han Sans JP"/>
                <a:cs typeface="Source Han Sans JP"/>
              </a:rPr>
              <a:t>into</a:t>
            </a:r>
            <a:r>
              <a:rPr dirty="0" sz="1000" spc="-20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10">
                <a:solidFill>
                  <a:srgbClr val="111726"/>
                </a:solidFill>
                <a:latin typeface="Source Han Sans JP"/>
                <a:cs typeface="Source Han Sans JP"/>
              </a:rPr>
              <a:t>Solr.</a:t>
            </a:r>
            <a:endParaRPr sz="1000">
              <a:latin typeface="Source Han Sans JP"/>
              <a:cs typeface="Source Han Sans JP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61782" y="3274256"/>
            <a:ext cx="4155440" cy="121412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import</a:t>
            </a:r>
            <a:r>
              <a:rPr dirty="0" sz="800" spc="3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 spc="-20">
                <a:solidFill>
                  <a:srgbClr val="E4E7EB"/>
                </a:solidFill>
                <a:latin typeface="Courier New"/>
                <a:cs typeface="Courier New"/>
              </a:rPr>
              <a:t>uuid</a:t>
            </a:r>
            <a:endParaRPr sz="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endParaRPr sz="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from</a:t>
            </a:r>
            <a:r>
              <a:rPr dirty="0" sz="800" spc="7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langchain_community.document_loaders</a:t>
            </a:r>
            <a:r>
              <a:rPr dirty="0" sz="800" spc="7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import</a:t>
            </a:r>
            <a:r>
              <a:rPr dirty="0" sz="800" spc="7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 spc="-10">
                <a:solidFill>
                  <a:srgbClr val="E4E7EB"/>
                </a:solidFill>
                <a:latin typeface="Courier New"/>
                <a:cs typeface="Courier New"/>
              </a:rPr>
              <a:t>PyPDFLoader</a:t>
            </a:r>
            <a:endParaRPr sz="800">
              <a:latin typeface="Courier New"/>
              <a:cs typeface="Courier New"/>
            </a:endParaRPr>
          </a:p>
          <a:p>
            <a:pPr marL="12700" marR="5080">
              <a:lnSpc>
                <a:spcPts val="1430"/>
              </a:lnSpc>
              <a:spcBef>
                <a:spcPts val="75"/>
              </a:spcBef>
            </a:pP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from</a:t>
            </a:r>
            <a:r>
              <a:rPr dirty="0" sz="800" spc="5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langchain_text_splitters</a:t>
            </a:r>
            <a:r>
              <a:rPr dirty="0" sz="800" spc="5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import</a:t>
            </a:r>
            <a:r>
              <a:rPr dirty="0" sz="800" spc="5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 spc="-10">
                <a:solidFill>
                  <a:srgbClr val="E4E7EB"/>
                </a:solidFill>
                <a:latin typeface="Courier New"/>
                <a:cs typeface="Courier New"/>
              </a:rPr>
              <a:t>RecursiveCharacterTextSplitter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from</a:t>
            </a:r>
            <a:r>
              <a:rPr dirty="0" sz="800" spc="5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sentence_transformers</a:t>
            </a:r>
            <a:r>
              <a:rPr dirty="0" sz="800" spc="5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import</a:t>
            </a:r>
            <a:r>
              <a:rPr dirty="0" sz="800" spc="5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 spc="-10">
                <a:solidFill>
                  <a:srgbClr val="E4E7EB"/>
                </a:solidFill>
                <a:latin typeface="Courier New"/>
                <a:cs typeface="Courier New"/>
              </a:rPr>
              <a:t>SentenceTransformer</a:t>
            </a:r>
            <a:endParaRPr sz="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775"/>
              </a:spcBef>
            </a:pPr>
            <a:endParaRPr sz="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from</a:t>
            </a:r>
            <a:r>
              <a:rPr dirty="0" sz="800" spc="3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solr_client</a:t>
            </a:r>
            <a:r>
              <a:rPr dirty="0" sz="800" spc="3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import</a:t>
            </a:r>
            <a:r>
              <a:rPr dirty="0" sz="800" spc="3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 spc="-10">
                <a:solidFill>
                  <a:srgbClr val="E4E7EB"/>
                </a:solidFill>
                <a:latin typeface="Courier New"/>
                <a:cs typeface="Courier New"/>
              </a:rPr>
              <a:t>add_documents</a:t>
            </a:r>
            <a:endParaRPr sz="800">
              <a:latin typeface="Courier New"/>
              <a:cs typeface="Courier New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754257" y="5081535"/>
            <a:ext cx="708025" cy="141605"/>
          </a:xfrm>
          <a:custGeom>
            <a:avLst/>
            <a:gdLst/>
            <a:ahLst/>
            <a:cxnLst/>
            <a:rect l="l" t="t" r="r" b="b"/>
            <a:pathLst>
              <a:path w="708025" h="141604">
                <a:moveTo>
                  <a:pt x="684460" y="141556"/>
                </a:moveTo>
                <a:lnTo>
                  <a:pt x="23389" y="141556"/>
                </a:lnTo>
                <a:lnTo>
                  <a:pt x="19950" y="140862"/>
                </a:lnTo>
                <a:lnTo>
                  <a:pt x="0" y="118170"/>
                </a:lnTo>
                <a:lnTo>
                  <a:pt x="0" y="114604"/>
                </a:lnTo>
                <a:lnTo>
                  <a:pt x="0" y="23372"/>
                </a:lnTo>
                <a:lnTo>
                  <a:pt x="23389" y="0"/>
                </a:lnTo>
                <a:lnTo>
                  <a:pt x="684460" y="0"/>
                </a:lnTo>
                <a:lnTo>
                  <a:pt x="707850" y="23372"/>
                </a:lnTo>
                <a:lnTo>
                  <a:pt x="707850" y="118170"/>
                </a:lnTo>
                <a:lnTo>
                  <a:pt x="687900" y="140862"/>
                </a:lnTo>
                <a:lnTo>
                  <a:pt x="684460" y="141556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754253" y="5708458"/>
            <a:ext cx="2865120" cy="316865"/>
          </a:xfrm>
          <a:custGeom>
            <a:avLst/>
            <a:gdLst/>
            <a:ahLst/>
            <a:cxnLst/>
            <a:rect l="l" t="t" r="r" b="b"/>
            <a:pathLst>
              <a:path w="2865120" h="316864">
                <a:moveTo>
                  <a:pt x="680885" y="198653"/>
                </a:moveTo>
                <a:lnTo>
                  <a:pt x="657491" y="175272"/>
                </a:lnTo>
                <a:lnTo>
                  <a:pt x="0" y="175272"/>
                </a:lnTo>
                <a:lnTo>
                  <a:pt x="0" y="316839"/>
                </a:lnTo>
                <a:lnTo>
                  <a:pt x="657491" y="316839"/>
                </a:lnTo>
                <a:lnTo>
                  <a:pt x="680885" y="293458"/>
                </a:lnTo>
                <a:lnTo>
                  <a:pt x="680885" y="198653"/>
                </a:lnTo>
                <a:close/>
              </a:path>
              <a:path w="2865120" h="316864">
                <a:moveTo>
                  <a:pt x="2865107" y="0"/>
                </a:moveTo>
                <a:lnTo>
                  <a:pt x="23393" y="0"/>
                </a:lnTo>
                <a:lnTo>
                  <a:pt x="19951" y="685"/>
                </a:lnTo>
                <a:lnTo>
                  <a:pt x="0" y="23380"/>
                </a:lnTo>
                <a:lnTo>
                  <a:pt x="0" y="118160"/>
                </a:lnTo>
                <a:lnTo>
                  <a:pt x="23393" y="141554"/>
                </a:lnTo>
                <a:lnTo>
                  <a:pt x="2865107" y="141554"/>
                </a:lnTo>
                <a:lnTo>
                  <a:pt x="2865107" y="0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754253" y="6173609"/>
            <a:ext cx="2157730" cy="316865"/>
          </a:xfrm>
          <a:custGeom>
            <a:avLst/>
            <a:gdLst/>
            <a:ahLst/>
            <a:cxnLst/>
            <a:rect l="l" t="t" r="r" b="b"/>
            <a:pathLst>
              <a:path w="2157730" h="316864">
                <a:moveTo>
                  <a:pt x="1799958" y="198666"/>
                </a:moveTo>
                <a:lnTo>
                  <a:pt x="1776577" y="175285"/>
                </a:lnTo>
                <a:lnTo>
                  <a:pt x="0" y="175285"/>
                </a:lnTo>
                <a:lnTo>
                  <a:pt x="0" y="316852"/>
                </a:lnTo>
                <a:lnTo>
                  <a:pt x="1776577" y="316852"/>
                </a:lnTo>
                <a:lnTo>
                  <a:pt x="1799958" y="293458"/>
                </a:lnTo>
                <a:lnTo>
                  <a:pt x="1799958" y="198666"/>
                </a:lnTo>
                <a:close/>
              </a:path>
              <a:path w="2157730" h="316864">
                <a:moveTo>
                  <a:pt x="2157260" y="0"/>
                </a:moveTo>
                <a:lnTo>
                  <a:pt x="23393" y="0"/>
                </a:lnTo>
                <a:lnTo>
                  <a:pt x="19951" y="698"/>
                </a:lnTo>
                <a:lnTo>
                  <a:pt x="0" y="23393"/>
                </a:lnTo>
                <a:lnTo>
                  <a:pt x="0" y="118186"/>
                </a:lnTo>
                <a:lnTo>
                  <a:pt x="23393" y="141566"/>
                </a:lnTo>
                <a:lnTo>
                  <a:pt x="2157260" y="141566"/>
                </a:lnTo>
                <a:lnTo>
                  <a:pt x="2157260" y="0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754253" y="6638784"/>
            <a:ext cx="1982470" cy="323850"/>
          </a:xfrm>
          <a:custGeom>
            <a:avLst/>
            <a:gdLst/>
            <a:ahLst/>
            <a:cxnLst/>
            <a:rect l="l" t="t" r="r" b="b"/>
            <a:pathLst>
              <a:path w="1982470" h="323850">
                <a:moveTo>
                  <a:pt x="1152779" y="205397"/>
                </a:moveTo>
                <a:lnTo>
                  <a:pt x="1129398" y="182003"/>
                </a:lnTo>
                <a:lnTo>
                  <a:pt x="0" y="182003"/>
                </a:lnTo>
                <a:lnTo>
                  <a:pt x="0" y="323583"/>
                </a:lnTo>
                <a:lnTo>
                  <a:pt x="1129398" y="323583"/>
                </a:lnTo>
                <a:lnTo>
                  <a:pt x="1152779" y="300189"/>
                </a:lnTo>
                <a:lnTo>
                  <a:pt x="1152779" y="205397"/>
                </a:lnTo>
                <a:close/>
              </a:path>
              <a:path w="1982470" h="323850">
                <a:moveTo>
                  <a:pt x="1981974" y="0"/>
                </a:moveTo>
                <a:lnTo>
                  <a:pt x="23393" y="0"/>
                </a:lnTo>
                <a:lnTo>
                  <a:pt x="19951" y="673"/>
                </a:lnTo>
                <a:lnTo>
                  <a:pt x="0" y="23368"/>
                </a:lnTo>
                <a:lnTo>
                  <a:pt x="0" y="118173"/>
                </a:lnTo>
                <a:lnTo>
                  <a:pt x="23393" y="141566"/>
                </a:lnTo>
                <a:lnTo>
                  <a:pt x="1981974" y="141566"/>
                </a:lnTo>
                <a:lnTo>
                  <a:pt x="1981974" y="0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754257" y="7110707"/>
            <a:ext cx="2245360" cy="141605"/>
          </a:xfrm>
          <a:custGeom>
            <a:avLst/>
            <a:gdLst/>
            <a:ahLst/>
            <a:cxnLst/>
            <a:rect l="l" t="t" r="r" b="b"/>
            <a:pathLst>
              <a:path w="2245360" h="141604">
                <a:moveTo>
                  <a:pt x="2221507" y="141556"/>
                </a:moveTo>
                <a:lnTo>
                  <a:pt x="23389" y="141556"/>
                </a:lnTo>
                <a:lnTo>
                  <a:pt x="19950" y="140869"/>
                </a:lnTo>
                <a:lnTo>
                  <a:pt x="0" y="118170"/>
                </a:lnTo>
                <a:lnTo>
                  <a:pt x="0" y="114604"/>
                </a:lnTo>
                <a:lnTo>
                  <a:pt x="0" y="23372"/>
                </a:lnTo>
                <a:lnTo>
                  <a:pt x="23389" y="0"/>
                </a:lnTo>
                <a:lnTo>
                  <a:pt x="2221507" y="0"/>
                </a:lnTo>
                <a:lnTo>
                  <a:pt x="2244897" y="23372"/>
                </a:lnTo>
                <a:lnTo>
                  <a:pt x="2244897" y="118170"/>
                </a:lnTo>
                <a:lnTo>
                  <a:pt x="2224947" y="140869"/>
                </a:lnTo>
                <a:lnTo>
                  <a:pt x="2221507" y="141556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3801385" y="7279242"/>
            <a:ext cx="883285" cy="141605"/>
          </a:xfrm>
          <a:custGeom>
            <a:avLst/>
            <a:gdLst/>
            <a:ahLst/>
            <a:cxnLst/>
            <a:rect l="l" t="t" r="r" b="b"/>
            <a:pathLst>
              <a:path w="883285" h="141604">
                <a:moveTo>
                  <a:pt x="859738" y="141556"/>
                </a:moveTo>
                <a:lnTo>
                  <a:pt x="23389" y="141556"/>
                </a:lnTo>
                <a:lnTo>
                  <a:pt x="19950" y="140862"/>
                </a:lnTo>
                <a:lnTo>
                  <a:pt x="0" y="118157"/>
                </a:lnTo>
                <a:lnTo>
                  <a:pt x="0" y="114604"/>
                </a:lnTo>
                <a:lnTo>
                  <a:pt x="0" y="23372"/>
                </a:lnTo>
                <a:lnTo>
                  <a:pt x="23389" y="0"/>
                </a:lnTo>
                <a:lnTo>
                  <a:pt x="859738" y="0"/>
                </a:lnTo>
                <a:lnTo>
                  <a:pt x="883128" y="23372"/>
                </a:lnTo>
                <a:lnTo>
                  <a:pt x="883128" y="118157"/>
                </a:lnTo>
                <a:lnTo>
                  <a:pt x="863177" y="140862"/>
                </a:lnTo>
                <a:lnTo>
                  <a:pt x="859738" y="141556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graphicFrame>
        <p:nvGraphicFramePr>
          <p:cNvPr id="24" name="object 24"/>
          <p:cNvGraphicFramePr>
            <a:graphicFrameLocks noGrp="1"/>
          </p:cNvGraphicFramePr>
          <p:nvPr/>
        </p:nvGraphicFramePr>
        <p:xfrm>
          <a:off x="680102" y="4717497"/>
          <a:ext cx="6278880" cy="27686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047365"/>
                <a:gridCol w="3148330"/>
              </a:tblGrid>
              <a:tr h="282575">
                <a:tc>
                  <a:txBody>
                    <a:bodyPr/>
                    <a:lstStyle/>
                    <a:p>
                      <a:pPr marL="70485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950" spc="-20" b="1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Line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64769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950" spc="-10" b="1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Explanation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64769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  <a:solidFill>
                      <a:srgbClr val="F7FAFB"/>
                    </a:solidFill>
                  </a:tcPr>
                </a:tc>
              </a:tr>
              <a:tr h="626745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import</a:t>
                      </a:r>
                      <a:r>
                        <a:rPr dirty="0" sz="750" spc="7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 spc="-2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uuid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90170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 marR="153670">
                        <a:lnSpc>
                          <a:spcPct val="118700"/>
                        </a:lnSpc>
                        <a:spcBef>
                          <a:spcPts val="295"/>
                        </a:spcBef>
                      </a:pP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Imports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Python's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UUID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module,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used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to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generate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9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a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unique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2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ID</a:t>
                      </a:r>
                      <a:r>
                        <a:rPr dirty="0" sz="950" spc="50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for</a:t>
                      </a:r>
                      <a:r>
                        <a:rPr dirty="0" sz="950" spc="-2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each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6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Solr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9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document</a:t>
                      </a:r>
                      <a:r>
                        <a:rPr dirty="0" sz="950" spc="-2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6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(Solr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requires</a:t>
                      </a:r>
                      <a:r>
                        <a:rPr dirty="0" sz="950" spc="-2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9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a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unique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key</a:t>
                      </a:r>
                      <a:r>
                        <a:rPr dirty="0" sz="950" spc="-2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2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per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document).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37465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</a:tr>
              <a:tr h="464820">
                <a:tc>
                  <a:txBody>
                    <a:bodyPr/>
                    <a:lstStyle/>
                    <a:p>
                      <a:pPr marL="70485" marR="101600" indent="26670">
                        <a:lnSpc>
                          <a:spcPct val="153300"/>
                        </a:lnSpc>
                        <a:spcBef>
                          <a:spcPts val="229"/>
                        </a:spcBef>
                      </a:pP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from</a:t>
                      </a:r>
                      <a:r>
                        <a:rPr dirty="0" sz="750" spc="18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langchain_community.document_loaders</a:t>
                      </a:r>
                      <a:r>
                        <a:rPr dirty="0" sz="750" spc="19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 spc="-1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import PyPDFLoader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29209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950" spc="-9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Same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PDF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loader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used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in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the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9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PostgreSQL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project.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64769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</a:tr>
              <a:tr h="464820">
                <a:tc>
                  <a:txBody>
                    <a:bodyPr/>
                    <a:lstStyle/>
                    <a:p>
                      <a:pPr marL="70485" marR="811530" indent="26670">
                        <a:lnSpc>
                          <a:spcPct val="153300"/>
                        </a:lnSpc>
                        <a:spcBef>
                          <a:spcPts val="229"/>
                        </a:spcBef>
                      </a:pP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from</a:t>
                      </a:r>
                      <a:r>
                        <a:rPr dirty="0" sz="750" spc="135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langchain_text_splitters</a:t>
                      </a:r>
                      <a:r>
                        <a:rPr dirty="0" sz="750" spc="14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 spc="-1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import RecursiveCharacterTextSplitter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29209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950" spc="-9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Same</a:t>
                      </a:r>
                      <a:r>
                        <a:rPr dirty="0" sz="950" spc="-2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chunking</a:t>
                      </a:r>
                      <a:r>
                        <a:rPr dirty="0" sz="950" spc="-2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utility.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64769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</a:tr>
              <a:tr h="471805">
                <a:tc>
                  <a:txBody>
                    <a:bodyPr/>
                    <a:lstStyle/>
                    <a:p>
                      <a:pPr marL="70485" marR="988694" indent="26670">
                        <a:lnSpc>
                          <a:spcPct val="159200"/>
                        </a:lnSpc>
                        <a:spcBef>
                          <a:spcPts val="175"/>
                        </a:spcBef>
                      </a:pP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from</a:t>
                      </a:r>
                      <a:r>
                        <a:rPr dirty="0" sz="750" spc="125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sentence_transformers</a:t>
                      </a:r>
                      <a:r>
                        <a:rPr dirty="0" sz="750" spc="125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 spc="-1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import SentenceTransformer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22225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950" spc="-9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Same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9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embedding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model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class.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64769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</a:tr>
              <a:tr h="457834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from</a:t>
                      </a:r>
                      <a:r>
                        <a:rPr dirty="0" sz="750" spc="75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solr_client</a:t>
                      </a:r>
                      <a:r>
                        <a:rPr dirty="0" sz="750" spc="8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import</a:t>
                      </a:r>
                      <a:r>
                        <a:rPr dirty="0" sz="750" spc="8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 spc="-1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add_documents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90170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Imports</a:t>
                      </a:r>
                      <a:r>
                        <a:rPr dirty="0" sz="950" spc="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the</a:t>
                      </a:r>
                      <a:r>
                        <a:rPr dirty="0" sz="950" spc="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9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batch-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indexing</a:t>
                      </a:r>
                      <a:r>
                        <a:rPr dirty="0" sz="950" spc="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function</a:t>
                      </a:r>
                      <a:r>
                        <a:rPr dirty="0" sz="950" spc="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6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de</a:t>
                      </a:r>
                      <a:r>
                        <a:rPr dirty="0" sz="900" spc="-65">
                          <a:solidFill>
                            <a:srgbClr val="111726"/>
                          </a:solidFill>
                          <a:latin typeface="Arial"/>
                          <a:cs typeface="Arial"/>
                        </a:rPr>
                        <a:t>ﬁ</a:t>
                      </a:r>
                      <a:r>
                        <a:rPr dirty="0" sz="950" spc="-6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ned</a:t>
                      </a:r>
                      <a:r>
                        <a:rPr dirty="0" sz="950" spc="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2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in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  <a:p>
                      <a:pPr marL="95250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solr_client.py</a:t>
                      </a:r>
                      <a:r>
                        <a:rPr dirty="0" sz="750" spc="-12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950" spc="-5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.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64769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5" name="object 25"/>
          <p:cNvSpPr txBox="1"/>
          <p:nvPr/>
        </p:nvSpPr>
        <p:spPr>
          <a:xfrm>
            <a:off x="761782" y="7657806"/>
            <a:ext cx="2121535" cy="37655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43800"/>
              </a:lnSpc>
              <a:spcBef>
                <a:spcPts val="95"/>
              </a:spcBef>
            </a:pP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loader</a:t>
            </a:r>
            <a:r>
              <a:rPr dirty="0" sz="800" spc="2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=</a:t>
            </a:r>
            <a:r>
              <a:rPr dirty="0" sz="800" spc="2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 spc="-10">
                <a:solidFill>
                  <a:srgbClr val="E4E7EB"/>
                </a:solidFill>
                <a:latin typeface="Courier New"/>
                <a:cs typeface="Courier New"/>
              </a:rPr>
              <a:t>PyPDFLoader("sample.pdf")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pages</a:t>
            </a:r>
            <a:r>
              <a:rPr dirty="0" sz="800" spc="1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=</a:t>
            </a:r>
            <a:r>
              <a:rPr dirty="0" sz="800" spc="2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 spc="-10">
                <a:solidFill>
                  <a:srgbClr val="E4E7EB"/>
                </a:solidFill>
                <a:latin typeface="Courier New"/>
                <a:cs typeface="Courier New"/>
              </a:rPr>
              <a:t>loader.load()</a:t>
            </a:r>
            <a:endParaRPr sz="800">
              <a:latin typeface="Courier New"/>
              <a:cs typeface="Courier New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754253" y="8627490"/>
            <a:ext cx="1503680" cy="316865"/>
          </a:xfrm>
          <a:custGeom>
            <a:avLst/>
            <a:gdLst/>
            <a:ahLst/>
            <a:cxnLst/>
            <a:rect l="l" t="t" r="r" b="b"/>
            <a:pathLst>
              <a:path w="1503680" h="316865">
                <a:moveTo>
                  <a:pt x="498868" y="0"/>
                </a:moveTo>
                <a:lnTo>
                  <a:pt x="23393" y="0"/>
                </a:lnTo>
                <a:lnTo>
                  <a:pt x="19951" y="698"/>
                </a:lnTo>
                <a:lnTo>
                  <a:pt x="0" y="23393"/>
                </a:lnTo>
                <a:lnTo>
                  <a:pt x="0" y="118186"/>
                </a:lnTo>
                <a:lnTo>
                  <a:pt x="23393" y="141579"/>
                </a:lnTo>
                <a:lnTo>
                  <a:pt x="498868" y="141579"/>
                </a:lnTo>
                <a:lnTo>
                  <a:pt x="498868" y="0"/>
                </a:lnTo>
                <a:close/>
              </a:path>
              <a:path w="1503680" h="316865">
                <a:moveTo>
                  <a:pt x="1503337" y="198666"/>
                </a:moveTo>
                <a:lnTo>
                  <a:pt x="1479943" y="175272"/>
                </a:lnTo>
                <a:lnTo>
                  <a:pt x="0" y="175272"/>
                </a:lnTo>
                <a:lnTo>
                  <a:pt x="0" y="316839"/>
                </a:lnTo>
                <a:lnTo>
                  <a:pt x="1479943" y="316839"/>
                </a:lnTo>
                <a:lnTo>
                  <a:pt x="1503337" y="293446"/>
                </a:lnTo>
                <a:lnTo>
                  <a:pt x="1503337" y="198666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4037330" y="8627528"/>
            <a:ext cx="647700" cy="316865"/>
          </a:xfrm>
          <a:custGeom>
            <a:avLst/>
            <a:gdLst/>
            <a:ahLst/>
            <a:cxnLst/>
            <a:rect l="l" t="t" r="r" b="b"/>
            <a:pathLst>
              <a:path w="647700" h="316865">
                <a:moveTo>
                  <a:pt x="633691" y="198640"/>
                </a:moveTo>
                <a:lnTo>
                  <a:pt x="610298" y="175272"/>
                </a:lnTo>
                <a:lnTo>
                  <a:pt x="70573" y="175272"/>
                </a:lnTo>
                <a:lnTo>
                  <a:pt x="47193" y="198640"/>
                </a:lnTo>
                <a:lnTo>
                  <a:pt x="47193" y="289877"/>
                </a:lnTo>
                <a:lnTo>
                  <a:pt x="47193" y="293433"/>
                </a:lnTo>
                <a:lnTo>
                  <a:pt x="70573" y="316826"/>
                </a:lnTo>
                <a:lnTo>
                  <a:pt x="610298" y="316826"/>
                </a:lnTo>
                <a:lnTo>
                  <a:pt x="633691" y="293433"/>
                </a:lnTo>
                <a:lnTo>
                  <a:pt x="633691" y="198640"/>
                </a:lnTo>
                <a:close/>
              </a:path>
              <a:path w="647700" h="316865">
                <a:moveTo>
                  <a:pt x="647179" y="23368"/>
                </a:moveTo>
                <a:lnTo>
                  <a:pt x="623785" y="0"/>
                </a:lnTo>
                <a:lnTo>
                  <a:pt x="23393" y="0"/>
                </a:lnTo>
                <a:lnTo>
                  <a:pt x="0" y="23368"/>
                </a:lnTo>
                <a:lnTo>
                  <a:pt x="0" y="114604"/>
                </a:lnTo>
                <a:lnTo>
                  <a:pt x="0" y="118160"/>
                </a:lnTo>
                <a:lnTo>
                  <a:pt x="23393" y="141541"/>
                </a:lnTo>
                <a:lnTo>
                  <a:pt x="623785" y="141541"/>
                </a:lnTo>
                <a:lnTo>
                  <a:pt x="647179" y="118160"/>
                </a:lnTo>
                <a:lnTo>
                  <a:pt x="647179" y="23368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3282295" y="8802806"/>
            <a:ext cx="526415" cy="141605"/>
          </a:xfrm>
          <a:custGeom>
            <a:avLst/>
            <a:gdLst/>
            <a:ahLst/>
            <a:cxnLst/>
            <a:rect l="l" t="t" r="r" b="b"/>
            <a:pathLst>
              <a:path w="526414" h="141604">
                <a:moveTo>
                  <a:pt x="502441" y="141556"/>
                </a:moveTo>
                <a:lnTo>
                  <a:pt x="23389" y="141556"/>
                </a:lnTo>
                <a:lnTo>
                  <a:pt x="19950" y="140862"/>
                </a:lnTo>
                <a:lnTo>
                  <a:pt x="0" y="118157"/>
                </a:lnTo>
                <a:lnTo>
                  <a:pt x="0" y="114604"/>
                </a:lnTo>
                <a:lnTo>
                  <a:pt x="0" y="23372"/>
                </a:lnTo>
                <a:lnTo>
                  <a:pt x="23389" y="0"/>
                </a:lnTo>
                <a:lnTo>
                  <a:pt x="502441" y="0"/>
                </a:lnTo>
                <a:lnTo>
                  <a:pt x="525831" y="23372"/>
                </a:lnTo>
                <a:lnTo>
                  <a:pt x="525831" y="118157"/>
                </a:lnTo>
                <a:lnTo>
                  <a:pt x="505881" y="140862"/>
                </a:lnTo>
                <a:lnTo>
                  <a:pt x="502441" y="141556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754257" y="9092688"/>
            <a:ext cx="1294765" cy="141605"/>
          </a:xfrm>
          <a:custGeom>
            <a:avLst/>
            <a:gdLst/>
            <a:ahLst/>
            <a:cxnLst/>
            <a:rect l="l" t="t" r="r" b="b"/>
            <a:pathLst>
              <a:path w="1294764" h="141604">
                <a:moveTo>
                  <a:pt x="1270965" y="141556"/>
                </a:moveTo>
                <a:lnTo>
                  <a:pt x="23389" y="141556"/>
                </a:lnTo>
                <a:lnTo>
                  <a:pt x="19950" y="140862"/>
                </a:lnTo>
                <a:lnTo>
                  <a:pt x="0" y="118157"/>
                </a:lnTo>
                <a:lnTo>
                  <a:pt x="0" y="114604"/>
                </a:lnTo>
                <a:lnTo>
                  <a:pt x="0" y="23372"/>
                </a:lnTo>
                <a:lnTo>
                  <a:pt x="23389" y="0"/>
                </a:lnTo>
                <a:lnTo>
                  <a:pt x="1270965" y="0"/>
                </a:lnTo>
                <a:lnTo>
                  <a:pt x="1294355" y="23372"/>
                </a:lnTo>
                <a:lnTo>
                  <a:pt x="1294355" y="118157"/>
                </a:lnTo>
                <a:lnTo>
                  <a:pt x="1274405" y="140862"/>
                </a:lnTo>
                <a:lnTo>
                  <a:pt x="1270965" y="141556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4340700" y="9092688"/>
            <a:ext cx="526415" cy="141605"/>
          </a:xfrm>
          <a:custGeom>
            <a:avLst/>
            <a:gdLst/>
            <a:ahLst/>
            <a:cxnLst/>
            <a:rect l="l" t="t" r="r" b="b"/>
            <a:pathLst>
              <a:path w="526414" h="141604">
                <a:moveTo>
                  <a:pt x="502441" y="141556"/>
                </a:moveTo>
                <a:lnTo>
                  <a:pt x="23389" y="141556"/>
                </a:lnTo>
                <a:lnTo>
                  <a:pt x="19949" y="140862"/>
                </a:lnTo>
                <a:lnTo>
                  <a:pt x="0" y="118157"/>
                </a:lnTo>
                <a:lnTo>
                  <a:pt x="0" y="114604"/>
                </a:lnTo>
                <a:lnTo>
                  <a:pt x="0" y="23372"/>
                </a:lnTo>
                <a:lnTo>
                  <a:pt x="23389" y="0"/>
                </a:lnTo>
                <a:lnTo>
                  <a:pt x="502441" y="0"/>
                </a:lnTo>
                <a:lnTo>
                  <a:pt x="525831" y="23372"/>
                </a:lnTo>
                <a:lnTo>
                  <a:pt x="525831" y="118157"/>
                </a:lnTo>
                <a:lnTo>
                  <a:pt x="505881" y="140862"/>
                </a:lnTo>
                <a:lnTo>
                  <a:pt x="502441" y="141556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graphicFrame>
        <p:nvGraphicFramePr>
          <p:cNvPr id="31" name="object 31"/>
          <p:cNvGraphicFramePr>
            <a:graphicFrameLocks noGrp="1"/>
          </p:cNvGraphicFramePr>
          <p:nvPr/>
        </p:nvGraphicFramePr>
        <p:xfrm>
          <a:off x="680102" y="8263491"/>
          <a:ext cx="6278880" cy="10369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22475"/>
                <a:gridCol w="4173220"/>
              </a:tblGrid>
              <a:tr h="282575">
                <a:tc>
                  <a:txBody>
                    <a:bodyPr/>
                    <a:lstStyle/>
                    <a:p>
                      <a:pPr marL="70485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950" spc="-20" b="1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Line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64769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marL="71120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950" spc="-10" b="1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Explanation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64769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  <a:solidFill>
                      <a:srgbClr val="F7FAFB"/>
                    </a:solidFill>
                  </a:tcPr>
                </a:tc>
              </a:tr>
              <a:tr h="464820">
                <a:tc>
                  <a:txBody>
                    <a:bodyPr/>
                    <a:lstStyle/>
                    <a:p>
                      <a:pPr marL="70485" marR="464184" indent="26670">
                        <a:lnSpc>
                          <a:spcPct val="153300"/>
                        </a:lnSpc>
                        <a:spcBef>
                          <a:spcPts val="229"/>
                        </a:spcBef>
                      </a:pP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loader</a:t>
                      </a:r>
                      <a:r>
                        <a:rPr dirty="0" sz="750" spc="7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 spc="-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= </a:t>
                      </a:r>
                      <a:r>
                        <a:rPr dirty="0" sz="750" spc="-1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PyPDFLoader("sample.pdf")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29209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120" marR="385445">
                        <a:lnSpc>
                          <a:spcPct val="121100"/>
                        </a:lnSpc>
                        <a:spcBef>
                          <a:spcPts val="270"/>
                        </a:spcBef>
                      </a:pP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Instantiates</a:t>
                      </a:r>
                      <a:r>
                        <a:rPr dirty="0" sz="950" spc="-2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the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loader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3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for</a:t>
                      </a:r>
                      <a:r>
                        <a:rPr dirty="0" sz="950" spc="2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sample.pdf</a:t>
                      </a:r>
                      <a:r>
                        <a:rPr dirty="0" sz="750" spc="-1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(path</a:t>
                      </a:r>
                      <a:r>
                        <a:rPr dirty="0" sz="950" spc="-2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9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hardcoded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directly,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rather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2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than</a:t>
                      </a:r>
                      <a:r>
                        <a:rPr dirty="0" sz="950" spc="50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6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importing</a:t>
                      </a:r>
                      <a:r>
                        <a:rPr dirty="0" sz="950" spc="16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PDF_PATH</a:t>
                      </a:r>
                      <a:r>
                        <a:rPr dirty="0" sz="750" spc="-6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950" spc="-5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from</a:t>
                      </a:r>
                      <a:r>
                        <a:rPr dirty="0" sz="950" spc="17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config.py</a:t>
                      </a:r>
                      <a:r>
                        <a:rPr dirty="0" sz="750" spc="-24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950" spc="-2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).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34290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pages</a:t>
                      </a:r>
                      <a:r>
                        <a:rPr dirty="0" sz="750" spc="45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=</a:t>
                      </a:r>
                      <a:r>
                        <a:rPr dirty="0" sz="750" spc="45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 spc="-1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loader.load()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90170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120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Extracts</a:t>
                      </a:r>
                      <a:r>
                        <a:rPr dirty="0" sz="950" spc="-3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5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all</a:t>
                      </a:r>
                      <a:r>
                        <a:rPr dirty="0" sz="950" spc="-3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PDF</a:t>
                      </a:r>
                      <a:r>
                        <a:rPr dirty="0" sz="950" spc="-3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pages</a:t>
                      </a:r>
                      <a:r>
                        <a:rPr dirty="0" sz="950" spc="-3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as</a:t>
                      </a:r>
                      <a:r>
                        <a:rPr dirty="0" sz="950" spc="-3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9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a</a:t>
                      </a:r>
                      <a:r>
                        <a:rPr dirty="0" sz="950" spc="-3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6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list</a:t>
                      </a:r>
                      <a:r>
                        <a:rPr dirty="0" sz="950" spc="-3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of</a:t>
                      </a:r>
                      <a:r>
                        <a:rPr dirty="0" sz="950" spc="1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Document</a:t>
                      </a:r>
                      <a:r>
                        <a:rPr dirty="0" sz="750" spc="-55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objects.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64769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80102" y="571526"/>
            <a:ext cx="6202680" cy="1254125"/>
          </a:xfrm>
          <a:custGeom>
            <a:avLst/>
            <a:gdLst/>
            <a:ahLst/>
            <a:cxnLst/>
            <a:rect l="l" t="t" r="r" b="b"/>
            <a:pathLst>
              <a:path w="6202680" h="1254125">
                <a:moveTo>
                  <a:pt x="6151728" y="1253893"/>
                </a:moveTo>
                <a:lnTo>
                  <a:pt x="50390" y="1253893"/>
                </a:lnTo>
                <a:lnTo>
                  <a:pt x="46883" y="1253535"/>
                </a:lnTo>
                <a:lnTo>
                  <a:pt x="11056" y="1232853"/>
                </a:lnTo>
                <a:lnTo>
                  <a:pt x="0" y="1203514"/>
                </a:lnTo>
                <a:lnTo>
                  <a:pt x="0" y="1199975"/>
                </a:lnTo>
                <a:lnTo>
                  <a:pt x="0" y="50392"/>
                </a:lnTo>
                <a:lnTo>
                  <a:pt x="18300" y="13260"/>
                </a:lnTo>
                <a:lnTo>
                  <a:pt x="50390" y="0"/>
                </a:lnTo>
                <a:lnTo>
                  <a:pt x="6151728" y="0"/>
                </a:lnTo>
                <a:lnTo>
                  <a:pt x="6188826" y="18276"/>
                </a:lnTo>
                <a:lnTo>
                  <a:pt x="6202118" y="50392"/>
                </a:lnTo>
                <a:lnTo>
                  <a:pt x="6202118" y="1203514"/>
                </a:lnTo>
                <a:lnTo>
                  <a:pt x="6183818" y="1240592"/>
                </a:lnTo>
                <a:lnTo>
                  <a:pt x="6155235" y="1253535"/>
                </a:lnTo>
                <a:lnTo>
                  <a:pt x="6151728" y="1253893"/>
                </a:lnTo>
                <a:close/>
              </a:path>
            </a:pathLst>
          </a:custGeom>
          <a:solidFill>
            <a:srgbClr val="0E172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680102" y="4488299"/>
            <a:ext cx="6202680" cy="721360"/>
          </a:xfrm>
          <a:custGeom>
            <a:avLst/>
            <a:gdLst/>
            <a:ahLst/>
            <a:cxnLst/>
            <a:rect l="l" t="t" r="r" b="b"/>
            <a:pathLst>
              <a:path w="6202680" h="721360">
                <a:moveTo>
                  <a:pt x="6151728" y="721333"/>
                </a:moveTo>
                <a:lnTo>
                  <a:pt x="50390" y="721333"/>
                </a:lnTo>
                <a:lnTo>
                  <a:pt x="46883" y="720989"/>
                </a:lnTo>
                <a:lnTo>
                  <a:pt x="11056" y="700279"/>
                </a:lnTo>
                <a:lnTo>
                  <a:pt x="0" y="670927"/>
                </a:lnTo>
                <a:lnTo>
                  <a:pt x="0" y="667401"/>
                </a:lnTo>
                <a:lnTo>
                  <a:pt x="0" y="50378"/>
                </a:lnTo>
                <a:lnTo>
                  <a:pt x="18300" y="13260"/>
                </a:lnTo>
                <a:lnTo>
                  <a:pt x="50390" y="0"/>
                </a:lnTo>
                <a:lnTo>
                  <a:pt x="6151728" y="0"/>
                </a:lnTo>
                <a:lnTo>
                  <a:pt x="6188826" y="18276"/>
                </a:lnTo>
                <a:lnTo>
                  <a:pt x="6202118" y="50378"/>
                </a:lnTo>
                <a:lnTo>
                  <a:pt x="6202118" y="670927"/>
                </a:lnTo>
                <a:lnTo>
                  <a:pt x="6183818" y="708032"/>
                </a:lnTo>
                <a:lnTo>
                  <a:pt x="6155235" y="720989"/>
                </a:lnTo>
                <a:lnTo>
                  <a:pt x="6151728" y="721333"/>
                </a:lnTo>
                <a:close/>
              </a:path>
            </a:pathLst>
          </a:custGeom>
          <a:solidFill>
            <a:srgbClr val="0E172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680102" y="6591626"/>
            <a:ext cx="6202680" cy="2150745"/>
          </a:xfrm>
          <a:custGeom>
            <a:avLst/>
            <a:gdLst/>
            <a:ahLst/>
            <a:cxnLst/>
            <a:rect l="l" t="t" r="r" b="b"/>
            <a:pathLst>
              <a:path w="6202680" h="2150745">
                <a:moveTo>
                  <a:pt x="6151728" y="2150503"/>
                </a:moveTo>
                <a:lnTo>
                  <a:pt x="50390" y="2150503"/>
                </a:lnTo>
                <a:lnTo>
                  <a:pt x="46883" y="2150160"/>
                </a:lnTo>
                <a:lnTo>
                  <a:pt x="11056" y="2129490"/>
                </a:lnTo>
                <a:lnTo>
                  <a:pt x="0" y="2100125"/>
                </a:lnTo>
                <a:lnTo>
                  <a:pt x="0" y="2096585"/>
                </a:lnTo>
                <a:lnTo>
                  <a:pt x="0" y="50378"/>
                </a:lnTo>
                <a:lnTo>
                  <a:pt x="18300" y="13273"/>
                </a:lnTo>
                <a:lnTo>
                  <a:pt x="50390" y="0"/>
                </a:lnTo>
                <a:lnTo>
                  <a:pt x="6151728" y="0"/>
                </a:lnTo>
                <a:lnTo>
                  <a:pt x="6188826" y="18262"/>
                </a:lnTo>
                <a:lnTo>
                  <a:pt x="6202118" y="50378"/>
                </a:lnTo>
                <a:lnTo>
                  <a:pt x="6202118" y="2100125"/>
                </a:lnTo>
                <a:lnTo>
                  <a:pt x="6183818" y="2137203"/>
                </a:lnTo>
                <a:lnTo>
                  <a:pt x="6155235" y="2150160"/>
                </a:lnTo>
                <a:lnTo>
                  <a:pt x="6151728" y="2150503"/>
                </a:lnTo>
                <a:close/>
              </a:path>
            </a:pathLst>
          </a:custGeom>
          <a:solidFill>
            <a:srgbClr val="0E172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761782" y="619759"/>
            <a:ext cx="2602230" cy="109093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59079" indent="-247015">
              <a:lnSpc>
                <a:spcPct val="143800"/>
              </a:lnSpc>
              <a:spcBef>
                <a:spcPts val="95"/>
              </a:spcBef>
            </a:pP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splitter</a:t>
            </a:r>
            <a:r>
              <a:rPr dirty="0" sz="800" spc="2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=</a:t>
            </a:r>
            <a:r>
              <a:rPr dirty="0" sz="800" spc="2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 spc="-10">
                <a:solidFill>
                  <a:srgbClr val="E4E7EB"/>
                </a:solidFill>
                <a:latin typeface="Courier New"/>
                <a:cs typeface="Courier New"/>
              </a:rPr>
              <a:t>RecursiveCharacterTextSplitter( chunk_size=500,</a:t>
            </a:r>
            <a:endParaRPr sz="800">
              <a:latin typeface="Courier New"/>
              <a:cs typeface="Courier New"/>
            </a:endParaRPr>
          </a:p>
          <a:p>
            <a:pPr marL="259079">
              <a:lnSpc>
                <a:spcPct val="100000"/>
              </a:lnSpc>
              <a:spcBef>
                <a:spcPts val="475"/>
              </a:spcBef>
            </a:pPr>
            <a:r>
              <a:rPr dirty="0" sz="800" spc="-10">
                <a:solidFill>
                  <a:srgbClr val="E4E7EB"/>
                </a:solidFill>
                <a:latin typeface="Courier New"/>
                <a:cs typeface="Courier New"/>
              </a:rPr>
              <a:t>chunk_overlap=50</a:t>
            </a:r>
            <a:endParaRPr sz="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420"/>
              </a:spcBef>
            </a:pPr>
            <a:r>
              <a:rPr dirty="0" sz="800" spc="-50">
                <a:solidFill>
                  <a:srgbClr val="E4E7EB"/>
                </a:solidFill>
                <a:latin typeface="Courier New"/>
                <a:cs typeface="Courier New"/>
              </a:rPr>
              <a:t>)</a:t>
            </a:r>
            <a:endParaRPr sz="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endParaRPr sz="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chunks</a:t>
            </a:r>
            <a:r>
              <a:rPr dirty="0" sz="800" spc="2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=</a:t>
            </a:r>
            <a:r>
              <a:rPr dirty="0" sz="800" spc="2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 spc="-10">
                <a:solidFill>
                  <a:srgbClr val="E4E7EB"/>
                </a:solidFill>
                <a:latin typeface="Courier New"/>
                <a:cs typeface="Courier New"/>
              </a:rPr>
              <a:t>splitter.split_documents(pages)</a:t>
            </a:r>
            <a:endParaRPr sz="800">
              <a:latin typeface="Courier New"/>
              <a:cs typeface="Courier New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754253" y="2304058"/>
            <a:ext cx="1861185" cy="316865"/>
          </a:xfrm>
          <a:custGeom>
            <a:avLst/>
            <a:gdLst/>
            <a:ahLst/>
            <a:cxnLst/>
            <a:rect l="l" t="t" r="r" b="b"/>
            <a:pathLst>
              <a:path w="1861185" h="316864">
                <a:moveTo>
                  <a:pt x="620204" y="0"/>
                </a:moveTo>
                <a:lnTo>
                  <a:pt x="23393" y="0"/>
                </a:lnTo>
                <a:lnTo>
                  <a:pt x="19951" y="685"/>
                </a:lnTo>
                <a:lnTo>
                  <a:pt x="0" y="23368"/>
                </a:lnTo>
                <a:lnTo>
                  <a:pt x="0" y="118173"/>
                </a:lnTo>
                <a:lnTo>
                  <a:pt x="23393" y="141566"/>
                </a:lnTo>
                <a:lnTo>
                  <a:pt x="620204" y="141566"/>
                </a:lnTo>
                <a:lnTo>
                  <a:pt x="620204" y="0"/>
                </a:lnTo>
                <a:close/>
              </a:path>
              <a:path w="1861185" h="316864">
                <a:moveTo>
                  <a:pt x="1860638" y="198653"/>
                </a:moveTo>
                <a:lnTo>
                  <a:pt x="1837245" y="175260"/>
                </a:lnTo>
                <a:lnTo>
                  <a:pt x="0" y="175260"/>
                </a:lnTo>
                <a:lnTo>
                  <a:pt x="0" y="316826"/>
                </a:lnTo>
                <a:lnTo>
                  <a:pt x="1837245" y="316826"/>
                </a:lnTo>
                <a:lnTo>
                  <a:pt x="1860638" y="293446"/>
                </a:lnTo>
                <a:lnTo>
                  <a:pt x="1860638" y="198653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754257" y="2769233"/>
            <a:ext cx="944244" cy="141605"/>
          </a:xfrm>
          <a:custGeom>
            <a:avLst/>
            <a:gdLst/>
            <a:ahLst/>
            <a:cxnLst/>
            <a:rect l="l" t="t" r="r" b="b"/>
            <a:pathLst>
              <a:path w="944244" h="141605">
                <a:moveTo>
                  <a:pt x="920410" y="141556"/>
                </a:moveTo>
                <a:lnTo>
                  <a:pt x="23389" y="141556"/>
                </a:lnTo>
                <a:lnTo>
                  <a:pt x="19950" y="140869"/>
                </a:lnTo>
                <a:lnTo>
                  <a:pt x="0" y="118170"/>
                </a:lnTo>
                <a:lnTo>
                  <a:pt x="0" y="114604"/>
                </a:lnTo>
                <a:lnTo>
                  <a:pt x="0" y="23372"/>
                </a:lnTo>
                <a:lnTo>
                  <a:pt x="23389" y="0"/>
                </a:lnTo>
                <a:lnTo>
                  <a:pt x="920410" y="0"/>
                </a:lnTo>
                <a:lnTo>
                  <a:pt x="943800" y="23372"/>
                </a:lnTo>
                <a:lnTo>
                  <a:pt x="943800" y="118170"/>
                </a:lnTo>
                <a:lnTo>
                  <a:pt x="923850" y="140869"/>
                </a:lnTo>
                <a:lnTo>
                  <a:pt x="920410" y="141556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5324949" y="2769233"/>
            <a:ext cx="647700" cy="141605"/>
          </a:xfrm>
          <a:custGeom>
            <a:avLst/>
            <a:gdLst/>
            <a:ahLst/>
            <a:cxnLst/>
            <a:rect l="l" t="t" r="r" b="b"/>
            <a:pathLst>
              <a:path w="647700" h="141605">
                <a:moveTo>
                  <a:pt x="623787" y="141556"/>
                </a:moveTo>
                <a:lnTo>
                  <a:pt x="23389" y="141556"/>
                </a:lnTo>
                <a:lnTo>
                  <a:pt x="19949" y="140869"/>
                </a:lnTo>
                <a:lnTo>
                  <a:pt x="0" y="118170"/>
                </a:lnTo>
                <a:lnTo>
                  <a:pt x="0" y="114604"/>
                </a:lnTo>
                <a:lnTo>
                  <a:pt x="0" y="23372"/>
                </a:lnTo>
                <a:lnTo>
                  <a:pt x="23389" y="0"/>
                </a:lnTo>
                <a:lnTo>
                  <a:pt x="623787" y="0"/>
                </a:lnTo>
                <a:lnTo>
                  <a:pt x="647177" y="23372"/>
                </a:lnTo>
                <a:lnTo>
                  <a:pt x="647177" y="118170"/>
                </a:lnTo>
                <a:lnTo>
                  <a:pt x="627227" y="140869"/>
                </a:lnTo>
                <a:lnTo>
                  <a:pt x="623787" y="141556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6113697" y="2769233"/>
            <a:ext cx="586740" cy="141605"/>
          </a:xfrm>
          <a:custGeom>
            <a:avLst/>
            <a:gdLst/>
            <a:ahLst/>
            <a:cxnLst/>
            <a:rect l="l" t="t" r="r" b="b"/>
            <a:pathLst>
              <a:path w="586740" h="141605">
                <a:moveTo>
                  <a:pt x="563114" y="141556"/>
                </a:moveTo>
                <a:lnTo>
                  <a:pt x="23390" y="141556"/>
                </a:lnTo>
                <a:lnTo>
                  <a:pt x="19949" y="140869"/>
                </a:lnTo>
                <a:lnTo>
                  <a:pt x="0" y="118170"/>
                </a:lnTo>
                <a:lnTo>
                  <a:pt x="0" y="114604"/>
                </a:lnTo>
                <a:lnTo>
                  <a:pt x="0" y="23372"/>
                </a:lnTo>
                <a:lnTo>
                  <a:pt x="23390" y="0"/>
                </a:lnTo>
                <a:lnTo>
                  <a:pt x="563114" y="0"/>
                </a:lnTo>
                <a:lnTo>
                  <a:pt x="586504" y="23372"/>
                </a:lnTo>
                <a:lnTo>
                  <a:pt x="586504" y="118170"/>
                </a:lnTo>
                <a:lnTo>
                  <a:pt x="566554" y="140869"/>
                </a:lnTo>
                <a:lnTo>
                  <a:pt x="563114" y="141556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754257" y="3227651"/>
            <a:ext cx="998219" cy="141605"/>
          </a:xfrm>
          <a:custGeom>
            <a:avLst/>
            <a:gdLst/>
            <a:ahLst/>
            <a:cxnLst/>
            <a:rect l="l" t="t" r="r" b="b"/>
            <a:pathLst>
              <a:path w="998219" h="141604">
                <a:moveTo>
                  <a:pt x="974342" y="141556"/>
                </a:moveTo>
                <a:lnTo>
                  <a:pt x="23389" y="141556"/>
                </a:lnTo>
                <a:lnTo>
                  <a:pt x="19950" y="140869"/>
                </a:lnTo>
                <a:lnTo>
                  <a:pt x="0" y="118170"/>
                </a:lnTo>
                <a:lnTo>
                  <a:pt x="0" y="114604"/>
                </a:lnTo>
                <a:lnTo>
                  <a:pt x="0" y="23372"/>
                </a:lnTo>
                <a:lnTo>
                  <a:pt x="23389" y="0"/>
                </a:lnTo>
                <a:lnTo>
                  <a:pt x="974342" y="0"/>
                </a:lnTo>
                <a:lnTo>
                  <a:pt x="997732" y="23372"/>
                </a:lnTo>
                <a:lnTo>
                  <a:pt x="997732" y="118170"/>
                </a:lnTo>
                <a:lnTo>
                  <a:pt x="977782" y="140869"/>
                </a:lnTo>
                <a:lnTo>
                  <a:pt x="974342" y="141556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3140725" y="3402928"/>
            <a:ext cx="822960" cy="141605"/>
          </a:xfrm>
          <a:custGeom>
            <a:avLst/>
            <a:gdLst/>
            <a:ahLst/>
            <a:cxnLst/>
            <a:rect l="l" t="t" r="r" b="b"/>
            <a:pathLst>
              <a:path w="822960" h="141604">
                <a:moveTo>
                  <a:pt x="799065" y="141556"/>
                </a:moveTo>
                <a:lnTo>
                  <a:pt x="23390" y="141556"/>
                </a:lnTo>
                <a:lnTo>
                  <a:pt x="19950" y="140862"/>
                </a:lnTo>
                <a:lnTo>
                  <a:pt x="0" y="118170"/>
                </a:lnTo>
                <a:lnTo>
                  <a:pt x="0" y="114604"/>
                </a:lnTo>
                <a:lnTo>
                  <a:pt x="0" y="23372"/>
                </a:lnTo>
                <a:lnTo>
                  <a:pt x="23390" y="0"/>
                </a:lnTo>
                <a:lnTo>
                  <a:pt x="799065" y="0"/>
                </a:lnTo>
                <a:lnTo>
                  <a:pt x="822454" y="23372"/>
                </a:lnTo>
                <a:lnTo>
                  <a:pt x="822454" y="118170"/>
                </a:lnTo>
                <a:lnTo>
                  <a:pt x="802504" y="140862"/>
                </a:lnTo>
                <a:lnTo>
                  <a:pt x="799065" y="141556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4104750" y="3402928"/>
            <a:ext cx="586740" cy="141605"/>
          </a:xfrm>
          <a:custGeom>
            <a:avLst/>
            <a:gdLst/>
            <a:ahLst/>
            <a:cxnLst/>
            <a:rect l="l" t="t" r="r" b="b"/>
            <a:pathLst>
              <a:path w="586739" h="141604">
                <a:moveTo>
                  <a:pt x="563115" y="141556"/>
                </a:moveTo>
                <a:lnTo>
                  <a:pt x="23389" y="141556"/>
                </a:lnTo>
                <a:lnTo>
                  <a:pt x="19949" y="140862"/>
                </a:lnTo>
                <a:lnTo>
                  <a:pt x="0" y="118170"/>
                </a:lnTo>
                <a:lnTo>
                  <a:pt x="0" y="114604"/>
                </a:lnTo>
                <a:lnTo>
                  <a:pt x="0" y="23372"/>
                </a:lnTo>
                <a:lnTo>
                  <a:pt x="23389" y="0"/>
                </a:lnTo>
                <a:lnTo>
                  <a:pt x="563115" y="0"/>
                </a:lnTo>
                <a:lnTo>
                  <a:pt x="586504" y="23372"/>
                </a:lnTo>
                <a:lnTo>
                  <a:pt x="586504" y="118170"/>
                </a:lnTo>
                <a:lnTo>
                  <a:pt x="566554" y="140862"/>
                </a:lnTo>
                <a:lnTo>
                  <a:pt x="563115" y="141556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54257" y="3692810"/>
            <a:ext cx="114604" cy="141556"/>
          </a:xfrm>
          <a:prstGeom prst="rect">
            <a:avLst/>
          </a:prstGeom>
        </p:spPr>
      </p:pic>
      <p:sp>
        <p:nvSpPr>
          <p:cNvPr id="14" name="object 14"/>
          <p:cNvSpPr/>
          <p:nvPr/>
        </p:nvSpPr>
        <p:spPr>
          <a:xfrm>
            <a:off x="754253" y="3982668"/>
            <a:ext cx="1861185" cy="316865"/>
          </a:xfrm>
          <a:custGeom>
            <a:avLst/>
            <a:gdLst/>
            <a:ahLst/>
            <a:cxnLst/>
            <a:rect l="l" t="t" r="r" b="b"/>
            <a:pathLst>
              <a:path w="1861185" h="316864">
                <a:moveTo>
                  <a:pt x="498868" y="0"/>
                </a:moveTo>
                <a:lnTo>
                  <a:pt x="23393" y="0"/>
                </a:lnTo>
                <a:lnTo>
                  <a:pt x="19951" y="698"/>
                </a:lnTo>
                <a:lnTo>
                  <a:pt x="0" y="23380"/>
                </a:lnTo>
                <a:lnTo>
                  <a:pt x="0" y="118173"/>
                </a:lnTo>
                <a:lnTo>
                  <a:pt x="23393" y="141566"/>
                </a:lnTo>
                <a:lnTo>
                  <a:pt x="498868" y="141566"/>
                </a:lnTo>
                <a:lnTo>
                  <a:pt x="498868" y="0"/>
                </a:lnTo>
                <a:close/>
              </a:path>
              <a:path w="1861185" h="316864">
                <a:moveTo>
                  <a:pt x="1860638" y="198653"/>
                </a:moveTo>
                <a:lnTo>
                  <a:pt x="1837245" y="175260"/>
                </a:lnTo>
                <a:lnTo>
                  <a:pt x="0" y="175260"/>
                </a:lnTo>
                <a:lnTo>
                  <a:pt x="0" y="316852"/>
                </a:lnTo>
                <a:lnTo>
                  <a:pt x="1837245" y="316852"/>
                </a:lnTo>
                <a:lnTo>
                  <a:pt x="1860638" y="293446"/>
                </a:lnTo>
                <a:lnTo>
                  <a:pt x="1860638" y="198653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4900239" y="3982691"/>
            <a:ext cx="526415" cy="141605"/>
          </a:xfrm>
          <a:custGeom>
            <a:avLst/>
            <a:gdLst/>
            <a:ahLst/>
            <a:cxnLst/>
            <a:rect l="l" t="t" r="r" b="b"/>
            <a:pathLst>
              <a:path w="526414" h="141604">
                <a:moveTo>
                  <a:pt x="502442" y="141556"/>
                </a:moveTo>
                <a:lnTo>
                  <a:pt x="23390" y="141556"/>
                </a:lnTo>
                <a:lnTo>
                  <a:pt x="19949" y="140862"/>
                </a:lnTo>
                <a:lnTo>
                  <a:pt x="0" y="118170"/>
                </a:lnTo>
                <a:lnTo>
                  <a:pt x="0" y="114604"/>
                </a:lnTo>
                <a:lnTo>
                  <a:pt x="0" y="23372"/>
                </a:lnTo>
                <a:lnTo>
                  <a:pt x="23390" y="0"/>
                </a:lnTo>
                <a:lnTo>
                  <a:pt x="502442" y="0"/>
                </a:lnTo>
                <a:lnTo>
                  <a:pt x="525832" y="23372"/>
                </a:lnTo>
                <a:lnTo>
                  <a:pt x="525832" y="118170"/>
                </a:lnTo>
                <a:lnTo>
                  <a:pt x="505881" y="140862"/>
                </a:lnTo>
                <a:lnTo>
                  <a:pt x="502442" y="141556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graphicFrame>
        <p:nvGraphicFramePr>
          <p:cNvPr id="16" name="object 16"/>
          <p:cNvGraphicFramePr>
            <a:graphicFrameLocks noGrp="1"/>
          </p:cNvGraphicFramePr>
          <p:nvPr/>
        </p:nvGraphicFramePr>
        <p:xfrm>
          <a:off x="680102" y="1933295"/>
          <a:ext cx="6278880" cy="24314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86330"/>
                <a:gridCol w="3808729"/>
              </a:tblGrid>
              <a:tr h="289560">
                <a:tc>
                  <a:txBody>
                    <a:bodyPr/>
                    <a:lstStyle/>
                    <a:p>
                      <a:pPr marL="70485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950" spc="-20" b="1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Line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64769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marL="70485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950" spc="-10" b="1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Explanation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64769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  <a:solidFill>
                      <a:srgbClr val="F7FAFB"/>
                    </a:solidFill>
                  </a:tcPr>
                </a:tc>
              </a:tr>
              <a:tr h="464820">
                <a:tc>
                  <a:txBody>
                    <a:bodyPr/>
                    <a:lstStyle/>
                    <a:p>
                      <a:pPr marL="70485" marR="473709" indent="26670">
                        <a:lnSpc>
                          <a:spcPct val="153300"/>
                        </a:lnSpc>
                        <a:spcBef>
                          <a:spcPts val="229"/>
                        </a:spcBef>
                      </a:pP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splitter</a:t>
                      </a:r>
                      <a:r>
                        <a:rPr dirty="0" sz="750" spc="85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 spc="-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= </a:t>
                      </a:r>
                      <a:r>
                        <a:rPr dirty="0" sz="750" spc="-1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RecursiveCharacterTextSplitter(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29209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0485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Creates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the</a:t>
                      </a:r>
                      <a:r>
                        <a:rPr dirty="0" sz="95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chunking</a:t>
                      </a:r>
                      <a:r>
                        <a:rPr dirty="0" sz="95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splitter.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64769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</a:tr>
              <a:tr h="457834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dirty="0" sz="750" spc="-1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chunk_size=500,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90170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0485" marR="144145">
                        <a:lnSpc>
                          <a:spcPct val="121100"/>
                        </a:lnSpc>
                        <a:spcBef>
                          <a:spcPts val="270"/>
                        </a:spcBef>
                      </a:pP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Each</a:t>
                      </a:r>
                      <a:r>
                        <a:rPr dirty="0" sz="950" spc="-3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chunk</a:t>
                      </a:r>
                      <a:r>
                        <a:rPr dirty="0" sz="950" spc="-2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targets</a:t>
                      </a:r>
                      <a:r>
                        <a:rPr dirty="0" sz="950" spc="-3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5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~</a:t>
                      </a:r>
                      <a:r>
                        <a:rPr dirty="0" sz="850" spc="-50">
                          <a:solidFill>
                            <a:srgbClr val="111726"/>
                          </a:solidFill>
                          <a:latin typeface="Arial"/>
                          <a:cs typeface="Arial"/>
                        </a:rPr>
                        <a:t>500</a:t>
                      </a:r>
                      <a:r>
                        <a:rPr dirty="0" sz="850" spc="-45">
                          <a:solidFill>
                            <a:srgbClr val="111726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characters</a:t>
                      </a:r>
                      <a:r>
                        <a:rPr dirty="0" sz="950" spc="-3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(matches</a:t>
                      </a:r>
                      <a:r>
                        <a:rPr dirty="0" sz="950" spc="19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CHUNK_SIZE</a:t>
                      </a:r>
                      <a:r>
                        <a:rPr dirty="0" sz="750" spc="-4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95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in</a:t>
                      </a:r>
                      <a:r>
                        <a:rPr dirty="0" sz="950" spc="19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config.py</a:t>
                      </a:r>
                      <a:r>
                        <a:rPr dirty="0" sz="750" spc="-229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950" spc="-5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,</a:t>
                      </a:r>
                      <a:r>
                        <a:rPr dirty="0" sz="950" spc="50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though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9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hardcoded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here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rather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than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imported).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34290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</a:tr>
              <a:tr h="464820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dirty="0" sz="750" spc="-1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chunk_overlap=50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90170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0485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850" spc="-40">
                          <a:solidFill>
                            <a:srgbClr val="111726"/>
                          </a:solidFill>
                          <a:latin typeface="Arial"/>
                          <a:cs typeface="Arial"/>
                        </a:rPr>
                        <a:t>50</a:t>
                      </a:r>
                      <a:r>
                        <a:rPr dirty="0" sz="950" spc="-4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-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character</a:t>
                      </a:r>
                      <a:r>
                        <a:rPr dirty="0" sz="95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overlap</a:t>
                      </a:r>
                      <a:r>
                        <a:rPr dirty="0" sz="950" spc="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between</a:t>
                      </a:r>
                      <a:r>
                        <a:rPr dirty="0" sz="95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consecutive</a:t>
                      </a:r>
                      <a:r>
                        <a:rPr dirty="0" sz="950" spc="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chunks</a:t>
                      </a:r>
                      <a:r>
                        <a:rPr dirty="0" sz="95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(matches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  <a:p>
                      <a:pPr marL="9779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CHUNK_OVERLAP</a:t>
                      </a:r>
                      <a:r>
                        <a:rPr dirty="0" sz="750" spc="-3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95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in</a:t>
                      </a:r>
                      <a:r>
                        <a:rPr dirty="0" sz="950" spc="20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config.py</a:t>
                      </a:r>
                      <a:r>
                        <a:rPr dirty="0" sz="750" spc="-225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950" spc="-2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).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64769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dirty="0" sz="750" spc="-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)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90170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0485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Closes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the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constructor.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64769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</a:tr>
              <a:tr h="464820">
                <a:tc>
                  <a:txBody>
                    <a:bodyPr/>
                    <a:lstStyle/>
                    <a:p>
                      <a:pPr marL="70485" marR="473709" indent="26670">
                        <a:lnSpc>
                          <a:spcPct val="153300"/>
                        </a:lnSpc>
                        <a:spcBef>
                          <a:spcPts val="229"/>
                        </a:spcBef>
                      </a:pP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chunks</a:t>
                      </a:r>
                      <a:r>
                        <a:rPr dirty="0" sz="750" spc="7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 spc="-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= </a:t>
                      </a:r>
                      <a:r>
                        <a:rPr dirty="0" sz="750" spc="-1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splitter.split_documents(pages)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29209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0485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950" spc="-7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Splits</a:t>
                      </a:r>
                      <a:r>
                        <a:rPr dirty="0" sz="950" spc="-2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every</a:t>
                      </a:r>
                      <a:r>
                        <a:rPr dirty="0" sz="950" spc="-2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9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page</a:t>
                      </a:r>
                      <a:r>
                        <a:rPr dirty="0" sz="950" spc="-2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into</a:t>
                      </a:r>
                      <a:r>
                        <a:rPr dirty="0" sz="950" spc="-2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smaller</a:t>
                      </a:r>
                      <a:r>
                        <a:rPr dirty="0" sz="950" spc="-2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6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chunk</a:t>
                      </a:r>
                      <a:r>
                        <a:rPr dirty="0" sz="950" spc="204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Document</a:t>
                      </a:r>
                      <a:r>
                        <a:rPr dirty="0" sz="750" spc="-35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objects.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64769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7" name="object 17"/>
          <p:cNvSpPr txBox="1"/>
          <p:nvPr/>
        </p:nvSpPr>
        <p:spPr>
          <a:xfrm>
            <a:off x="774482" y="4536532"/>
            <a:ext cx="2712720" cy="558165"/>
          </a:xfrm>
          <a:prstGeom prst="rect">
            <a:avLst/>
          </a:prstGeom>
        </p:spPr>
        <p:txBody>
          <a:bodyPr wrap="square" lIns="0" tIns="6540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515"/>
              </a:spcBef>
            </a:pP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model</a:t>
            </a:r>
            <a:r>
              <a:rPr dirty="0" sz="800" spc="1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=</a:t>
            </a:r>
            <a:r>
              <a:rPr dirty="0" sz="800" spc="2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 spc="-10">
                <a:solidFill>
                  <a:srgbClr val="E4E7EB"/>
                </a:solidFill>
                <a:latin typeface="Courier New"/>
                <a:cs typeface="Courier New"/>
              </a:rPr>
              <a:t>SentenceTransformer(</a:t>
            </a:r>
            <a:endParaRPr sz="800">
              <a:latin typeface="Courier New"/>
              <a:cs typeface="Courier New"/>
            </a:endParaRPr>
          </a:p>
          <a:p>
            <a:pPr marL="246379">
              <a:lnSpc>
                <a:spcPct val="100000"/>
              </a:lnSpc>
              <a:spcBef>
                <a:spcPts val="420"/>
              </a:spcBef>
            </a:pP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"sentence-transformers/all-MiniLM-L6-</a:t>
            </a:r>
            <a:r>
              <a:rPr dirty="0" sz="800" spc="-25">
                <a:solidFill>
                  <a:srgbClr val="E4E7EB"/>
                </a:solidFill>
                <a:latin typeface="Courier New"/>
                <a:cs typeface="Courier New"/>
              </a:rPr>
              <a:t>v2"</a:t>
            </a:r>
            <a:endParaRPr sz="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475"/>
              </a:spcBef>
            </a:pPr>
            <a:r>
              <a:rPr dirty="0" sz="800" spc="-50">
                <a:solidFill>
                  <a:srgbClr val="E4E7EB"/>
                </a:solidFill>
                <a:latin typeface="Courier New"/>
                <a:cs typeface="Courier New"/>
              </a:rPr>
              <a:t>)</a:t>
            </a:r>
            <a:endParaRPr sz="800">
              <a:latin typeface="Courier New"/>
              <a:cs typeface="Courier New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754257" y="5681533"/>
            <a:ext cx="1712595" cy="141605"/>
          </a:xfrm>
          <a:custGeom>
            <a:avLst/>
            <a:gdLst/>
            <a:ahLst/>
            <a:cxnLst/>
            <a:rect l="l" t="t" r="r" b="b"/>
            <a:pathLst>
              <a:path w="1712595" h="141604">
                <a:moveTo>
                  <a:pt x="1688934" y="141556"/>
                </a:moveTo>
                <a:lnTo>
                  <a:pt x="23389" y="141556"/>
                </a:lnTo>
                <a:lnTo>
                  <a:pt x="19950" y="140869"/>
                </a:lnTo>
                <a:lnTo>
                  <a:pt x="0" y="118157"/>
                </a:lnTo>
                <a:lnTo>
                  <a:pt x="0" y="114604"/>
                </a:lnTo>
                <a:lnTo>
                  <a:pt x="0" y="23372"/>
                </a:lnTo>
                <a:lnTo>
                  <a:pt x="23389" y="0"/>
                </a:lnTo>
                <a:lnTo>
                  <a:pt x="1688934" y="0"/>
                </a:lnTo>
                <a:lnTo>
                  <a:pt x="1712324" y="23372"/>
                </a:lnTo>
                <a:lnTo>
                  <a:pt x="1712324" y="118157"/>
                </a:lnTo>
                <a:lnTo>
                  <a:pt x="1692373" y="140869"/>
                </a:lnTo>
                <a:lnTo>
                  <a:pt x="1688934" y="141556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754257" y="5971414"/>
            <a:ext cx="2420620" cy="141605"/>
          </a:xfrm>
          <a:custGeom>
            <a:avLst/>
            <a:gdLst/>
            <a:ahLst/>
            <a:cxnLst/>
            <a:rect l="l" t="t" r="r" b="b"/>
            <a:pathLst>
              <a:path w="2420620" h="141604">
                <a:moveTo>
                  <a:pt x="2396784" y="141556"/>
                </a:moveTo>
                <a:lnTo>
                  <a:pt x="23389" y="141556"/>
                </a:lnTo>
                <a:lnTo>
                  <a:pt x="19950" y="140869"/>
                </a:lnTo>
                <a:lnTo>
                  <a:pt x="0" y="118170"/>
                </a:lnTo>
                <a:lnTo>
                  <a:pt x="0" y="114604"/>
                </a:lnTo>
                <a:lnTo>
                  <a:pt x="0" y="23372"/>
                </a:lnTo>
                <a:lnTo>
                  <a:pt x="23389" y="0"/>
                </a:lnTo>
                <a:lnTo>
                  <a:pt x="2396784" y="0"/>
                </a:lnTo>
                <a:lnTo>
                  <a:pt x="2420174" y="23372"/>
                </a:lnTo>
                <a:lnTo>
                  <a:pt x="2420174" y="118170"/>
                </a:lnTo>
                <a:lnTo>
                  <a:pt x="2400224" y="140869"/>
                </a:lnTo>
                <a:lnTo>
                  <a:pt x="2396784" y="141556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graphicFrame>
        <p:nvGraphicFramePr>
          <p:cNvPr id="20" name="object 20"/>
          <p:cNvGraphicFramePr>
            <a:graphicFrameLocks noGrp="1"/>
          </p:cNvGraphicFramePr>
          <p:nvPr/>
        </p:nvGraphicFramePr>
        <p:xfrm>
          <a:off x="680102" y="5317495"/>
          <a:ext cx="6278880" cy="115823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682875"/>
                <a:gridCol w="3512185"/>
              </a:tblGrid>
              <a:tr h="282575">
                <a:tc>
                  <a:txBody>
                    <a:bodyPr/>
                    <a:lstStyle/>
                    <a:p>
                      <a:pPr marL="70485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950" spc="-20" b="1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Line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64769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marL="73660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950" spc="-10" b="1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Explanation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64769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  <a:solidFill>
                      <a:srgbClr val="F7FAFB"/>
                    </a:solidFill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model</a:t>
                      </a:r>
                      <a:r>
                        <a:rPr dirty="0" sz="750" spc="45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=</a:t>
                      </a:r>
                      <a:r>
                        <a:rPr dirty="0" sz="750" spc="45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 spc="-1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SentenceTransformer(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90170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3660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950" spc="-9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Loads</a:t>
                      </a:r>
                      <a:r>
                        <a:rPr dirty="0" sz="95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the</a:t>
                      </a:r>
                      <a:r>
                        <a:rPr dirty="0" sz="95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9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same</a:t>
                      </a:r>
                      <a:r>
                        <a:rPr dirty="0" sz="95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850" spc="-40">
                          <a:solidFill>
                            <a:srgbClr val="111726"/>
                          </a:solidFill>
                          <a:latin typeface="Arial"/>
                          <a:cs typeface="Arial"/>
                        </a:rPr>
                        <a:t>384</a:t>
                      </a:r>
                      <a:r>
                        <a:rPr dirty="0" sz="950" spc="-4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-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dimension</a:t>
                      </a:r>
                      <a:r>
                        <a:rPr dirty="0" sz="95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9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embedding</a:t>
                      </a:r>
                      <a:r>
                        <a:rPr dirty="0" sz="95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model</a:t>
                      </a:r>
                      <a:r>
                        <a:rPr dirty="0" sz="95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used</a:t>
                      </a:r>
                      <a:r>
                        <a:rPr dirty="0" sz="95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elsewhere.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64769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"sentence-transformers/all-MiniLM-L6-</a:t>
                      </a:r>
                      <a:r>
                        <a:rPr dirty="0" sz="750" spc="-25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v2"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90170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3660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Model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identi</a:t>
                      </a:r>
                      <a:r>
                        <a:rPr dirty="0" sz="900" spc="-10">
                          <a:solidFill>
                            <a:srgbClr val="111726"/>
                          </a:solidFill>
                          <a:latin typeface="Arial"/>
                          <a:cs typeface="Arial"/>
                        </a:rPr>
                        <a:t>ﬁ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er.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64769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</a:tr>
              <a:tr h="296545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dirty="0" sz="750" spc="-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)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90170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3660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Closes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the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constructor.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64769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pic>
        <p:nvPicPr>
          <p:cNvPr id="21" name="object 2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54257" y="6261296"/>
            <a:ext cx="114604" cy="141556"/>
          </a:xfrm>
          <a:prstGeom prst="rect">
            <a:avLst/>
          </a:prstGeom>
        </p:spPr>
      </p:pic>
      <p:sp>
        <p:nvSpPr>
          <p:cNvPr id="22" name="object 22"/>
          <p:cNvSpPr txBox="1"/>
          <p:nvPr/>
        </p:nvSpPr>
        <p:spPr>
          <a:xfrm>
            <a:off x="761782" y="6692172"/>
            <a:ext cx="2984500" cy="19284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documents</a:t>
            </a:r>
            <a:r>
              <a:rPr dirty="0" sz="800" spc="2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=</a:t>
            </a:r>
            <a:r>
              <a:rPr dirty="0" sz="800" spc="3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 spc="-25">
                <a:solidFill>
                  <a:srgbClr val="E4E7EB"/>
                </a:solidFill>
                <a:latin typeface="Courier New"/>
                <a:cs typeface="Courier New"/>
              </a:rPr>
              <a:t>[]</a:t>
            </a:r>
            <a:endParaRPr sz="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endParaRPr sz="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for</a:t>
            </a:r>
            <a:r>
              <a:rPr dirty="0" sz="800" spc="1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chunk</a:t>
            </a:r>
            <a:r>
              <a:rPr dirty="0" sz="800" spc="2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in</a:t>
            </a:r>
            <a:r>
              <a:rPr dirty="0" sz="800" spc="2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 spc="-10">
                <a:solidFill>
                  <a:srgbClr val="E4E7EB"/>
                </a:solidFill>
                <a:latin typeface="Courier New"/>
                <a:cs typeface="Courier New"/>
              </a:rPr>
              <a:t>chunks:</a:t>
            </a:r>
            <a:endParaRPr sz="800">
              <a:latin typeface="Courier New"/>
              <a:cs typeface="Courier New"/>
            </a:endParaRPr>
          </a:p>
          <a:p>
            <a:pPr marL="259079" marR="5080">
              <a:lnSpc>
                <a:spcPct val="293100"/>
              </a:lnSpc>
            </a:pP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embedding</a:t>
            </a:r>
            <a:r>
              <a:rPr dirty="0" sz="800" spc="2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=</a:t>
            </a:r>
            <a:r>
              <a:rPr dirty="0" sz="800" spc="3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 spc="-10">
                <a:solidFill>
                  <a:srgbClr val="E4E7EB"/>
                </a:solidFill>
                <a:latin typeface="Courier New"/>
                <a:cs typeface="Courier New"/>
              </a:rPr>
              <a:t>model.encode(chunk.page_content) documents.append({</a:t>
            </a:r>
            <a:endParaRPr sz="800">
              <a:latin typeface="Courier New"/>
              <a:cs typeface="Courier New"/>
            </a:endParaRPr>
          </a:p>
          <a:p>
            <a:pPr marL="505459">
              <a:lnSpc>
                <a:spcPct val="100000"/>
              </a:lnSpc>
              <a:spcBef>
                <a:spcPts val="420"/>
              </a:spcBef>
            </a:pP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"id":</a:t>
            </a:r>
            <a:r>
              <a:rPr dirty="0" sz="800" spc="2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 spc="-10">
                <a:solidFill>
                  <a:srgbClr val="E4E7EB"/>
                </a:solidFill>
                <a:latin typeface="Courier New"/>
                <a:cs typeface="Courier New"/>
              </a:rPr>
              <a:t>str(uuid.uuid4()),</a:t>
            </a:r>
            <a:endParaRPr sz="800">
              <a:latin typeface="Courier New"/>
              <a:cs typeface="Courier New"/>
            </a:endParaRPr>
          </a:p>
          <a:p>
            <a:pPr marL="505459" marR="559435">
              <a:lnSpc>
                <a:spcPct val="143800"/>
              </a:lnSpc>
              <a:spcBef>
                <a:spcPts val="55"/>
              </a:spcBef>
            </a:pP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"content":</a:t>
            </a:r>
            <a:r>
              <a:rPr dirty="0" sz="800" spc="5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 spc="-10">
                <a:solidFill>
                  <a:srgbClr val="E4E7EB"/>
                </a:solidFill>
                <a:latin typeface="Courier New"/>
                <a:cs typeface="Courier New"/>
              </a:rPr>
              <a:t>chunk.page_content,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"embedding":</a:t>
            </a:r>
            <a:r>
              <a:rPr dirty="0" sz="800" spc="5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 spc="-10">
                <a:solidFill>
                  <a:srgbClr val="E4E7EB"/>
                </a:solidFill>
                <a:latin typeface="Courier New"/>
                <a:cs typeface="Courier New"/>
              </a:rPr>
              <a:t>embedding.tolist()</a:t>
            </a:r>
            <a:endParaRPr sz="800">
              <a:latin typeface="Courier New"/>
              <a:cs typeface="Courier New"/>
            </a:endParaRPr>
          </a:p>
          <a:p>
            <a:pPr marL="259079">
              <a:lnSpc>
                <a:spcPct val="100000"/>
              </a:lnSpc>
              <a:spcBef>
                <a:spcPts val="420"/>
              </a:spcBef>
            </a:pPr>
            <a:r>
              <a:rPr dirty="0" sz="800" spc="-25">
                <a:solidFill>
                  <a:srgbClr val="E4E7EB"/>
                </a:solidFill>
                <a:latin typeface="Courier New"/>
                <a:cs typeface="Courier New"/>
              </a:rPr>
              <a:t>})</a:t>
            </a:r>
            <a:endParaRPr sz="800">
              <a:latin typeface="Courier New"/>
              <a:cs typeface="Courier New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754257" y="9214044"/>
            <a:ext cx="883285" cy="141605"/>
          </a:xfrm>
          <a:custGeom>
            <a:avLst/>
            <a:gdLst/>
            <a:ahLst/>
            <a:cxnLst/>
            <a:rect l="l" t="t" r="r" b="b"/>
            <a:pathLst>
              <a:path w="883285" h="141604">
                <a:moveTo>
                  <a:pt x="859737" y="141556"/>
                </a:moveTo>
                <a:lnTo>
                  <a:pt x="23389" y="141556"/>
                </a:lnTo>
                <a:lnTo>
                  <a:pt x="19950" y="140862"/>
                </a:lnTo>
                <a:lnTo>
                  <a:pt x="0" y="118157"/>
                </a:lnTo>
                <a:lnTo>
                  <a:pt x="0" y="114604"/>
                </a:lnTo>
                <a:lnTo>
                  <a:pt x="0" y="23372"/>
                </a:lnTo>
                <a:lnTo>
                  <a:pt x="23389" y="0"/>
                </a:lnTo>
                <a:lnTo>
                  <a:pt x="859737" y="0"/>
                </a:lnTo>
                <a:lnTo>
                  <a:pt x="883127" y="23372"/>
                </a:lnTo>
                <a:lnTo>
                  <a:pt x="883127" y="118157"/>
                </a:lnTo>
                <a:lnTo>
                  <a:pt x="863177" y="140862"/>
                </a:lnTo>
                <a:lnTo>
                  <a:pt x="859737" y="141556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754257" y="9503926"/>
            <a:ext cx="1240790" cy="141605"/>
          </a:xfrm>
          <a:custGeom>
            <a:avLst/>
            <a:gdLst/>
            <a:ahLst/>
            <a:cxnLst/>
            <a:rect l="l" t="t" r="r" b="b"/>
            <a:pathLst>
              <a:path w="1240789" h="141604">
                <a:moveTo>
                  <a:pt x="1217033" y="141556"/>
                </a:moveTo>
                <a:lnTo>
                  <a:pt x="23389" y="141556"/>
                </a:lnTo>
                <a:lnTo>
                  <a:pt x="19950" y="140862"/>
                </a:lnTo>
                <a:lnTo>
                  <a:pt x="0" y="118157"/>
                </a:lnTo>
                <a:lnTo>
                  <a:pt x="0" y="114604"/>
                </a:lnTo>
                <a:lnTo>
                  <a:pt x="0" y="23372"/>
                </a:lnTo>
                <a:lnTo>
                  <a:pt x="23389" y="0"/>
                </a:lnTo>
                <a:lnTo>
                  <a:pt x="1217033" y="0"/>
                </a:lnTo>
                <a:lnTo>
                  <a:pt x="1240423" y="23372"/>
                </a:lnTo>
                <a:lnTo>
                  <a:pt x="1240423" y="118157"/>
                </a:lnTo>
                <a:lnTo>
                  <a:pt x="1220473" y="140862"/>
                </a:lnTo>
                <a:lnTo>
                  <a:pt x="1217033" y="141556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graphicFrame>
        <p:nvGraphicFramePr>
          <p:cNvPr id="25" name="object 25"/>
          <p:cNvGraphicFramePr>
            <a:graphicFrameLocks noGrp="1"/>
          </p:cNvGraphicFramePr>
          <p:nvPr/>
        </p:nvGraphicFramePr>
        <p:xfrm>
          <a:off x="680102" y="8850007"/>
          <a:ext cx="6278880" cy="86169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568575"/>
                <a:gridCol w="3627120"/>
              </a:tblGrid>
              <a:tr h="282575">
                <a:tc>
                  <a:txBody>
                    <a:bodyPr/>
                    <a:lstStyle/>
                    <a:p>
                      <a:pPr marL="70485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950" spc="-20" b="1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Line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64769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950" spc="-10" b="1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Explanation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64769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  <a:solidFill>
                      <a:srgbClr val="F7FAFB"/>
                    </a:solidFill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documents</a:t>
                      </a:r>
                      <a:r>
                        <a:rPr dirty="0" sz="750" spc="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=</a:t>
                      </a:r>
                      <a:r>
                        <a:rPr dirty="0" sz="750" spc="65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 spc="-25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[]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90170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950" spc="-6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Initializes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9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an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9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empty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6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list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that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6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will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hold</a:t>
                      </a:r>
                      <a:r>
                        <a:rPr dirty="0" sz="95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Solr-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ready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9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document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dictionaries.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64769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for</a:t>
                      </a:r>
                      <a:r>
                        <a:rPr dirty="0" sz="750" spc="45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chunk</a:t>
                      </a:r>
                      <a:r>
                        <a:rPr dirty="0" sz="750" spc="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in</a:t>
                      </a:r>
                      <a:r>
                        <a:rPr dirty="0" sz="750" spc="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 spc="-1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chunks: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90170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Iterates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over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every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text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chunk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9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produced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by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the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splitter.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64769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80102" y="3106294"/>
            <a:ext cx="6202680" cy="721360"/>
          </a:xfrm>
          <a:custGeom>
            <a:avLst/>
            <a:gdLst/>
            <a:ahLst/>
            <a:cxnLst/>
            <a:rect l="l" t="t" r="r" b="b"/>
            <a:pathLst>
              <a:path w="6202680" h="721360">
                <a:moveTo>
                  <a:pt x="6151728" y="721306"/>
                </a:moveTo>
                <a:lnTo>
                  <a:pt x="50390" y="721306"/>
                </a:lnTo>
                <a:lnTo>
                  <a:pt x="46883" y="720962"/>
                </a:lnTo>
                <a:lnTo>
                  <a:pt x="11056" y="700293"/>
                </a:lnTo>
                <a:lnTo>
                  <a:pt x="0" y="670954"/>
                </a:lnTo>
                <a:lnTo>
                  <a:pt x="0" y="667401"/>
                </a:lnTo>
                <a:lnTo>
                  <a:pt x="0" y="50378"/>
                </a:lnTo>
                <a:lnTo>
                  <a:pt x="18300" y="13273"/>
                </a:lnTo>
                <a:lnTo>
                  <a:pt x="50390" y="0"/>
                </a:lnTo>
                <a:lnTo>
                  <a:pt x="6151728" y="0"/>
                </a:lnTo>
                <a:lnTo>
                  <a:pt x="6188826" y="18276"/>
                </a:lnTo>
                <a:lnTo>
                  <a:pt x="6202118" y="50378"/>
                </a:lnTo>
                <a:lnTo>
                  <a:pt x="6202118" y="670954"/>
                </a:lnTo>
                <a:lnTo>
                  <a:pt x="6183818" y="708032"/>
                </a:lnTo>
                <a:lnTo>
                  <a:pt x="6155235" y="720962"/>
                </a:lnTo>
                <a:lnTo>
                  <a:pt x="6151728" y="721306"/>
                </a:lnTo>
                <a:close/>
              </a:path>
            </a:pathLst>
          </a:custGeom>
          <a:solidFill>
            <a:srgbClr val="0E172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680102" y="5492761"/>
            <a:ext cx="6202680" cy="6985"/>
          </a:xfrm>
          <a:custGeom>
            <a:avLst/>
            <a:gdLst/>
            <a:ahLst/>
            <a:cxnLst/>
            <a:rect l="l" t="t" r="r" b="b"/>
            <a:pathLst>
              <a:path w="6202680" h="6985">
                <a:moveTo>
                  <a:pt x="6202119" y="6741"/>
                </a:moveTo>
                <a:lnTo>
                  <a:pt x="0" y="6741"/>
                </a:lnTo>
                <a:lnTo>
                  <a:pt x="0" y="0"/>
                </a:lnTo>
                <a:lnTo>
                  <a:pt x="6202119" y="0"/>
                </a:lnTo>
                <a:lnTo>
                  <a:pt x="6202119" y="6741"/>
                </a:lnTo>
                <a:close/>
              </a:path>
            </a:pathLst>
          </a:custGeom>
          <a:solidFill>
            <a:srgbClr val="E4E7E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680102" y="6450045"/>
            <a:ext cx="6202680" cy="2326005"/>
          </a:xfrm>
          <a:custGeom>
            <a:avLst/>
            <a:gdLst/>
            <a:ahLst/>
            <a:cxnLst/>
            <a:rect l="l" t="t" r="r" b="b"/>
            <a:pathLst>
              <a:path w="6202680" h="2326004">
                <a:moveTo>
                  <a:pt x="6151728" y="2325767"/>
                </a:moveTo>
                <a:lnTo>
                  <a:pt x="50390" y="2325767"/>
                </a:lnTo>
                <a:lnTo>
                  <a:pt x="46883" y="2325423"/>
                </a:lnTo>
                <a:lnTo>
                  <a:pt x="11056" y="2304727"/>
                </a:lnTo>
                <a:lnTo>
                  <a:pt x="0" y="2275388"/>
                </a:lnTo>
                <a:lnTo>
                  <a:pt x="0" y="2271863"/>
                </a:lnTo>
                <a:lnTo>
                  <a:pt x="0" y="50378"/>
                </a:lnTo>
                <a:lnTo>
                  <a:pt x="18300" y="13273"/>
                </a:lnTo>
                <a:lnTo>
                  <a:pt x="50390" y="0"/>
                </a:lnTo>
                <a:lnTo>
                  <a:pt x="6151728" y="0"/>
                </a:lnTo>
                <a:lnTo>
                  <a:pt x="6188826" y="18276"/>
                </a:lnTo>
                <a:lnTo>
                  <a:pt x="6202118" y="50378"/>
                </a:lnTo>
                <a:lnTo>
                  <a:pt x="6202118" y="2275388"/>
                </a:lnTo>
                <a:lnTo>
                  <a:pt x="6183818" y="2312466"/>
                </a:lnTo>
                <a:lnTo>
                  <a:pt x="6155235" y="2325423"/>
                </a:lnTo>
                <a:lnTo>
                  <a:pt x="6151728" y="2325767"/>
                </a:lnTo>
                <a:close/>
              </a:path>
            </a:pathLst>
          </a:custGeom>
          <a:solidFill>
            <a:srgbClr val="0E1729"/>
          </a:solidFill>
        </p:spPr>
        <p:txBody>
          <a:bodyPr wrap="square" lIns="0" tIns="0" rIns="0" bIns="0" rtlCol="0"/>
          <a:lstStyle/>
          <a:p/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680102" y="9153360"/>
          <a:ext cx="6278880" cy="2825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52525"/>
                <a:gridCol w="5042535"/>
              </a:tblGrid>
              <a:tr h="282575">
                <a:tc>
                  <a:txBody>
                    <a:bodyPr/>
                    <a:lstStyle/>
                    <a:p>
                      <a:pPr marL="70485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950" spc="-10" b="1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Observation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64769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950" spc="-10" b="1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Detail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64769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  <a:solidFill>
                      <a:srgbClr val="F7FAFB"/>
                    </a:solidFill>
                  </a:tcPr>
                </a:tc>
              </a:tr>
            </a:tbl>
          </a:graphicData>
        </a:graphic>
      </p:graphicFrame>
      <p:sp>
        <p:nvSpPr>
          <p:cNvPr id="6" name="object 6"/>
          <p:cNvSpPr/>
          <p:nvPr/>
        </p:nvSpPr>
        <p:spPr>
          <a:xfrm>
            <a:off x="754253" y="652385"/>
            <a:ext cx="1921510" cy="316865"/>
          </a:xfrm>
          <a:custGeom>
            <a:avLst/>
            <a:gdLst/>
            <a:ahLst/>
            <a:cxnLst/>
            <a:rect l="l" t="t" r="r" b="b"/>
            <a:pathLst>
              <a:path w="1921510" h="316865">
                <a:moveTo>
                  <a:pt x="680885" y="0"/>
                </a:moveTo>
                <a:lnTo>
                  <a:pt x="23393" y="0"/>
                </a:lnTo>
                <a:lnTo>
                  <a:pt x="19951" y="698"/>
                </a:lnTo>
                <a:lnTo>
                  <a:pt x="0" y="23393"/>
                </a:lnTo>
                <a:lnTo>
                  <a:pt x="0" y="118186"/>
                </a:lnTo>
                <a:lnTo>
                  <a:pt x="23393" y="141566"/>
                </a:lnTo>
                <a:lnTo>
                  <a:pt x="680885" y="141566"/>
                </a:lnTo>
                <a:lnTo>
                  <a:pt x="680885" y="0"/>
                </a:lnTo>
                <a:close/>
              </a:path>
              <a:path w="1921510" h="316865">
                <a:moveTo>
                  <a:pt x="1921306" y="198666"/>
                </a:moveTo>
                <a:lnTo>
                  <a:pt x="1897913" y="175285"/>
                </a:lnTo>
                <a:lnTo>
                  <a:pt x="0" y="175285"/>
                </a:lnTo>
                <a:lnTo>
                  <a:pt x="0" y="316839"/>
                </a:lnTo>
                <a:lnTo>
                  <a:pt x="1897913" y="316839"/>
                </a:lnTo>
                <a:lnTo>
                  <a:pt x="1921306" y="293446"/>
                </a:lnTo>
                <a:lnTo>
                  <a:pt x="1921306" y="198666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754257" y="1117571"/>
            <a:ext cx="1119505" cy="141605"/>
          </a:xfrm>
          <a:custGeom>
            <a:avLst/>
            <a:gdLst/>
            <a:ahLst/>
            <a:cxnLst/>
            <a:rect l="l" t="t" r="r" b="b"/>
            <a:pathLst>
              <a:path w="1119505" h="141605">
                <a:moveTo>
                  <a:pt x="1095688" y="141556"/>
                </a:moveTo>
                <a:lnTo>
                  <a:pt x="23389" y="141556"/>
                </a:lnTo>
                <a:lnTo>
                  <a:pt x="19950" y="140862"/>
                </a:lnTo>
                <a:lnTo>
                  <a:pt x="0" y="118170"/>
                </a:lnTo>
                <a:lnTo>
                  <a:pt x="0" y="114604"/>
                </a:lnTo>
                <a:lnTo>
                  <a:pt x="0" y="23372"/>
                </a:lnTo>
                <a:lnTo>
                  <a:pt x="23389" y="0"/>
                </a:lnTo>
                <a:lnTo>
                  <a:pt x="1095688" y="0"/>
                </a:lnTo>
                <a:lnTo>
                  <a:pt x="1119077" y="23372"/>
                </a:lnTo>
                <a:lnTo>
                  <a:pt x="1119077" y="118170"/>
                </a:lnTo>
                <a:lnTo>
                  <a:pt x="1099127" y="140862"/>
                </a:lnTo>
                <a:lnTo>
                  <a:pt x="1095688" y="141556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754257" y="1407452"/>
            <a:ext cx="1476375" cy="141605"/>
          </a:xfrm>
          <a:custGeom>
            <a:avLst/>
            <a:gdLst/>
            <a:ahLst/>
            <a:cxnLst/>
            <a:rect l="l" t="t" r="r" b="b"/>
            <a:pathLst>
              <a:path w="1476375" h="141605">
                <a:moveTo>
                  <a:pt x="1452984" y="141570"/>
                </a:moveTo>
                <a:lnTo>
                  <a:pt x="23389" y="141570"/>
                </a:lnTo>
                <a:lnTo>
                  <a:pt x="19950" y="140882"/>
                </a:lnTo>
                <a:lnTo>
                  <a:pt x="0" y="118170"/>
                </a:lnTo>
                <a:lnTo>
                  <a:pt x="0" y="114604"/>
                </a:lnTo>
                <a:lnTo>
                  <a:pt x="0" y="23372"/>
                </a:lnTo>
                <a:lnTo>
                  <a:pt x="23389" y="0"/>
                </a:lnTo>
                <a:lnTo>
                  <a:pt x="1452984" y="0"/>
                </a:lnTo>
                <a:lnTo>
                  <a:pt x="1476373" y="23372"/>
                </a:lnTo>
                <a:lnTo>
                  <a:pt x="1476373" y="118170"/>
                </a:lnTo>
                <a:lnTo>
                  <a:pt x="1456423" y="140882"/>
                </a:lnTo>
                <a:lnTo>
                  <a:pt x="1452984" y="141570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754257" y="1859128"/>
            <a:ext cx="1827530" cy="141605"/>
          </a:xfrm>
          <a:custGeom>
            <a:avLst/>
            <a:gdLst/>
            <a:ahLst/>
            <a:cxnLst/>
            <a:rect l="l" t="t" r="r" b="b"/>
            <a:pathLst>
              <a:path w="1827530" h="141605">
                <a:moveTo>
                  <a:pt x="1803538" y="141570"/>
                </a:moveTo>
                <a:lnTo>
                  <a:pt x="23389" y="141570"/>
                </a:lnTo>
                <a:lnTo>
                  <a:pt x="19950" y="140882"/>
                </a:lnTo>
                <a:lnTo>
                  <a:pt x="0" y="118157"/>
                </a:lnTo>
                <a:lnTo>
                  <a:pt x="0" y="114604"/>
                </a:lnTo>
                <a:lnTo>
                  <a:pt x="0" y="23372"/>
                </a:lnTo>
                <a:lnTo>
                  <a:pt x="23389" y="0"/>
                </a:lnTo>
                <a:lnTo>
                  <a:pt x="1803538" y="0"/>
                </a:lnTo>
                <a:lnTo>
                  <a:pt x="1826928" y="23372"/>
                </a:lnTo>
                <a:lnTo>
                  <a:pt x="1826928" y="118157"/>
                </a:lnTo>
                <a:lnTo>
                  <a:pt x="1806978" y="140882"/>
                </a:lnTo>
                <a:lnTo>
                  <a:pt x="1803538" y="141570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754257" y="2317546"/>
            <a:ext cx="1887855" cy="141605"/>
          </a:xfrm>
          <a:custGeom>
            <a:avLst/>
            <a:gdLst/>
            <a:ahLst/>
            <a:cxnLst/>
            <a:rect l="l" t="t" r="r" b="b"/>
            <a:pathLst>
              <a:path w="1887855" h="141605">
                <a:moveTo>
                  <a:pt x="1864211" y="141543"/>
                </a:moveTo>
                <a:lnTo>
                  <a:pt x="23389" y="141543"/>
                </a:lnTo>
                <a:lnTo>
                  <a:pt x="19950" y="140862"/>
                </a:lnTo>
                <a:lnTo>
                  <a:pt x="0" y="118157"/>
                </a:lnTo>
                <a:lnTo>
                  <a:pt x="0" y="114604"/>
                </a:lnTo>
                <a:lnTo>
                  <a:pt x="0" y="23359"/>
                </a:lnTo>
                <a:lnTo>
                  <a:pt x="23389" y="0"/>
                </a:lnTo>
                <a:lnTo>
                  <a:pt x="1864211" y="0"/>
                </a:lnTo>
                <a:lnTo>
                  <a:pt x="1887601" y="23359"/>
                </a:lnTo>
                <a:lnTo>
                  <a:pt x="1887601" y="118157"/>
                </a:lnTo>
                <a:lnTo>
                  <a:pt x="1867651" y="140862"/>
                </a:lnTo>
                <a:lnTo>
                  <a:pt x="1864211" y="141543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1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54257" y="2775963"/>
            <a:ext cx="175277" cy="141543"/>
          </a:xfrm>
          <a:prstGeom prst="rect">
            <a:avLst/>
          </a:prstGeom>
        </p:spPr>
      </p:pic>
      <p:sp>
        <p:nvSpPr>
          <p:cNvPr id="12" name="object 12"/>
          <p:cNvSpPr/>
          <p:nvPr/>
        </p:nvSpPr>
        <p:spPr>
          <a:xfrm>
            <a:off x="4745186" y="2775963"/>
            <a:ext cx="762000" cy="141605"/>
          </a:xfrm>
          <a:custGeom>
            <a:avLst/>
            <a:gdLst/>
            <a:ahLst/>
            <a:cxnLst/>
            <a:rect l="l" t="t" r="r" b="b"/>
            <a:pathLst>
              <a:path w="762000" h="141605">
                <a:moveTo>
                  <a:pt x="738391" y="141543"/>
                </a:moveTo>
                <a:lnTo>
                  <a:pt x="23389" y="141543"/>
                </a:lnTo>
                <a:lnTo>
                  <a:pt x="19949" y="140862"/>
                </a:lnTo>
                <a:lnTo>
                  <a:pt x="0" y="118157"/>
                </a:lnTo>
                <a:lnTo>
                  <a:pt x="0" y="114604"/>
                </a:lnTo>
                <a:lnTo>
                  <a:pt x="0" y="23359"/>
                </a:lnTo>
                <a:lnTo>
                  <a:pt x="23389" y="0"/>
                </a:lnTo>
                <a:lnTo>
                  <a:pt x="738391" y="0"/>
                </a:lnTo>
                <a:lnTo>
                  <a:pt x="761782" y="23359"/>
                </a:lnTo>
                <a:lnTo>
                  <a:pt x="761782" y="118157"/>
                </a:lnTo>
                <a:lnTo>
                  <a:pt x="741831" y="140862"/>
                </a:lnTo>
                <a:lnTo>
                  <a:pt x="738391" y="141543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graphicFrame>
        <p:nvGraphicFramePr>
          <p:cNvPr id="13" name="object 13"/>
          <p:cNvGraphicFramePr>
            <a:graphicFrameLocks noGrp="1"/>
          </p:cNvGraphicFramePr>
          <p:nvPr/>
        </p:nvGraphicFramePr>
        <p:xfrm>
          <a:off x="680102" y="571515"/>
          <a:ext cx="6278880" cy="24110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568575"/>
                <a:gridCol w="3627120"/>
              </a:tblGrid>
              <a:tr h="464820">
                <a:tc>
                  <a:txBody>
                    <a:bodyPr/>
                    <a:lstStyle/>
                    <a:p>
                      <a:pPr marL="70485" marR="596265" indent="26670">
                        <a:lnSpc>
                          <a:spcPct val="153300"/>
                        </a:lnSpc>
                        <a:spcBef>
                          <a:spcPts val="229"/>
                        </a:spcBef>
                      </a:pP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embedding</a:t>
                      </a:r>
                      <a:r>
                        <a:rPr dirty="0" sz="750" spc="95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 spc="-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= </a:t>
                      </a:r>
                      <a:r>
                        <a:rPr dirty="0" sz="750" spc="-1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model.encode(chunk.page_content)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29209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950" spc="-9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Computes</a:t>
                      </a:r>
                      <a:r>
                        <a:rPr dirty="0" sz="950" spc="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the</a:t>
                      </a:r>
                      <a:r>
                        <a:rPr dirty="0" sz="95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850" spc="-40">
                          <a:solidFill>
                            <a:srgbClr val="111726"/>
                          </a:solidFill>
                          <a:latin typeface="Arial"/>
                          <a:cs typeface="Arial"/>
                        </a:rPr>
                        <a:t>384</a:t>
                      </a:r>
                      <a:r>
                        <a:rPr dirty="0" sz="950" spc="-4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-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dimensional</a:t>
                      </a:r>
                      <a:r>
                        <a:rPr dirty="0" sz="950" spc="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9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embedding</a:t>
                      </a:r>
                      <a:r>
                        <a:rPr dirty="0" sz="950" spc="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vector</a:t>
                      </a:r>
                      <a:r>
                        <a:rPr dirty="0" sz="950" spc="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for</a:t>
                      </a:r>
                      <a:r>
                        <a:rPr dirty="0" sz="950" spc="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6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this</a:t>
                      </a:r>
                      <a:r>
                        <a:rPr dirty="0" sz="950" spc="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chunk's</a:t>
                      </a:r>
                      <a:r>
                        <a:rPr dirty="0" sz="950" spc="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text.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64769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dirty="0" sz="750" spc="-1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documents.append({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90170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950" spc="-9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Appends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9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a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9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new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dictionary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representing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one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6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Solr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document.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64769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</a:tr>
              <a:tr h="451484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"id":</a:t>
                      </a:r>
                      <a:r>
                        <a:rPr dirty="0" sz="750" spc="6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 spc="-1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str(uuid.uuid4()),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90170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310" marR="462280">
                        <a:lnSpc>
                          <a:spcPct val="116399"/>
                        </a:lnSpc>
                        <a:spcBef>
                          <a:spcPts val="320"/>
                        </a:spcBef>
                      </a:pP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Generates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9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a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9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random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UUID</a:t>
                      </a:r>
                      <a:r>
                        <a:rPr dirty="0" sz="850" spc="-80">
                          <a:solidFill>
                            <a:srgbClr val="111726"/>
                          </a:solidFill>
                          <a:latin typeface="Arial"/>
                          <a:cs typeface="Arial"/>
                        </a:rPr>
                        <a:t>4</a:t>
                      </a:r>
                      <a:r>
                        <a:rPr dirty="0" sz="850" spc="-25">
                          <a:solidFill>
                            <a:srgbClr val="111726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50" spc="-7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string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as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the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document's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unique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4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key,</a:t>
                      </a:r>
                      <a:r>
                        <a:rPr dirty="0" sz="950" spc="50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required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by</a:t>
                      </a:r>
                      <a:r>
                        <a:rPr dirty="0" sz="95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Solr's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default</a:t>
                      </a:r>
                      <a:r>
                        <a:rPr dirty="0" sz="95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schema.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40640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</a:tr>
              <a:tr h="457834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"content":</a:t>
                      </a:r>
                      <a:r>
                        <a:rPr dirty="0" sz="750" spc="95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 spc="-1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chunk.page_content,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90170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310" marR="128905">
                        <a:lnSpc>
                          <a:spcPct val="121100"/>
                        </a:lnSpc>
                        <a:spcBef>
                          <a:spcPts val="270"/>
                        </a:spcBef>
                      </a:pP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Stores</a:t>
                      </a:r>
                      <a:r>
                        <a:rPr dirty="0" sz="950" spc="-2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the</a:t>
                      </a:r>
                      <a:r>
                        <a:rPr dirty="0" sz="950" spc="-2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9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raw</a:t>
                      </a:r>
                      <a:r>
                        <a:rPr dirty="0" sz="950" spc="-2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chunk</a:t>
                      </a:r>
                      <a:r>
                        <a:rPr dirty="0" sz="950" spc="-2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text</a:t>
                      </a:r>
                      <a:r>
                        <a:rPr dirty="0" sz="950" spc="-2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so</a:t>
                      </a:r>
                      <a:r>
                        <a:rPr dirty="0" sz="950" spc="-2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5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it</a:t>
                      </a:r>
                      <a:r>
                        <a:rPr dirty="0" sz="950" spc="-2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can</a:t>
                      </a:r>
                      <a:r>
                        <a:rPr dirty="0" sz="950" spc="-2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9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be</a:t>
                      </a:r>
                      <a:r>
                        <a:rPr dirty="0" sz="950" spc="-2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returned</a:t>
                      </a:r>
                      <a:r>
                        <a:rPr dirty="0" sz="950" spc="-2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and</a:t>
                      </a:r>
                      <a:r>
                        <a:rPr dirty="0" sz="950" spc="-2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used</a:t>
                      </a:r>
                      <a:r>
                        <a:rPr dirty="0" sz="950" spc="-2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as</a:t>
                      </a:r>
                      <a:r>
                        <a:rPr dirty="0" sz="950" spc="-2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9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LLM</a:t>
                      </a:r>
                      <a:r>
                        <a:rPr dirty="0" sz="950" spc="-2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5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context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later.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34290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</a:tr>
              <a:tr h="457834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"embedding":</a:t>
                      </a:r>
                      <a:r>
                        <a:rPr dirty="0" sz="750" spc="12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 spc="-1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embedding.tolist()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90170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310" marR="367665">
                        <a:lnSpc>
                          <a:spcPct val="116399"/>
                        </a:lnSpc>
                        <a:spcBef>
                          <a:spcPts val="320"/>
                        </a:spcBef>
                      </a:pP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Converts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the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9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NumPy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vector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to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9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a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plain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Python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6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list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of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00" spc="-60">
                          <a:solidFill>
                            <a:srgbClr val="111726"/>
                          </a:solidFill>
                          <a:latin typeface="Arial"/>
                          <a:cs typeface="Arial"/>
                        </a:rPr>
                        <a:t>ﬂ</a:t>
                      </a:r>
                      <a:r>
                        <a:rPr dirty="0" sz="950" spc="-6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oats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for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6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JSON</a:t>
                      </a:r>
                      <a:r>
                        <a:rPr dirty="0" sz="950" spc="50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serialization</a:t>
                      </a:r>
                      <a:r>
                        <a:rPr dirty="0" sz="95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to</a:t>
                      </a:r>
                      <a:r>
                        <a:rPr dirty="0" sz="95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2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Solr.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40640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dirty="0" sz="750" spc="-25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})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90170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Closes</a:t>
                      </a:r>
                      <a:r>
                        <a:rPr dirty="0" sz="950" spc="-2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the</a:t>
                      </a:r>
                      <a:r>
                        <a:rPr dirty="0" sz="950" spc="-2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dictionary</a:t>
                      </a:r>
                      <a:r>
                        <a:rPr dirty="0" sz="950" spc="-2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and</a:t>
                      </a:r>
                      <a:r>
                        <a:rPr dirty="0" sz="950" spc="-2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the</a:t>
                      </a:r>
                      <a:r>
                        <a:rPr dirty="0" sz="950" spc="204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.append(...)</a:t>
                      </a:r>
                      <a:r>
                        <a:rPr dirty="0" sz="750" spc="-35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950" spc="-2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call.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64769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4" name="object 14"/>
          <p:cNvSpPr txBox="1"/>
          <p:nvPr/>
        </p:nvSpPr>
        <p:spPr>
          <a:xfrm>
            <a:off x="761782" y="3206840"/>
            <a:ext cx="2491105" cy="49910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800" spc="-10">
                <a:solidFill>
                  <a:srgbClr val="E4E7EB"/>
                </a:solidFill>
                <a:latin typeface="Courier New"/>
                <a:cs typeface="Courier New"/>
              </a:rPr>
              <a:t>add_documents(documents)</a:t>
            </a:r>
            <a:endParaRPr sz="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894"/>
              </a:spcBef>
            </a:pPr>
            <a:endParaRPr sz="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print("Documents</a:t>
            </a:r>
            <a:r>
              <a:rPr dirty="0" sz="800" spc="5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indexed</a:t>
            </a:r>
            <a:r>
              <a:rPr dirty="0" sz="800" spc="5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 spc="-10">
                <a:solidFill>
                  <a:srgbClr val="E4E7EB"/>
                </a:solidFill>
                <a:latin typeface="Courier New"/>
                <a:cs typeface="Courier New"/>
              </a:rPr>
              <a:t>successfully.")</a:t>
            </a:r>
            <a:endParaRPr sz="800">
              <a:latin typeface="Courier New"/>
              <a:cs typeface="Courier New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754257" y="4299527"/>
            <a:ext cx="1476375" cy="141605"/>
          </a:xfrm>
          <a:custGeom>
            <a:avLst/>
            <a:gdLst/>
            <a:ahLst/>
            <a:cxnLst/>
            <a:rect l="l" t="t" r="r" b="b"/>
            <a:pathLst>
              <a:path w="1476375" h="141604">
                <a:moveTo>
                  <a:pt x="1452984" y="141543"/>
                </a:moveTo>
                <a:lnTo>
                  <a:pt x="23389" y="141543"/>
                </a:lnTo>
                <a:lnTo>
                  <a:pt x="19950" y="140862"/>
                </a:lnTo>
                <a:lnTo>
                  <a:pt x="0" y="118157"/>
                </a:lnTo>
                <a:lnTo>
                  <a:pt x="0" y="114604"/>
                </a:lnTo>
                <a:lnTo>
                  <a:pt x="0" y="23386"/>
                </a:lnTo>
                <a:lnTo>
                  <a:pt x="23389" y="0"/>
                </a:lnTo>
                <a:lnTo>
                  <a:pt x="1452984" y="0"/>
                </a:lnTo>
                <a:lnTo>
                  <a:pt x="1476373" y="23386"/>
                </a:lnTo>
                <a:lnTo>
                  <a:pt x="1476373" y="118157"/>
                </a:lnTo>
                <a:lnTo>
                  <a:pt x="1456423" y="140862"/>
                </a:lnTo>
                <a:lnTo>
                  <a:pt x="1452984" y="141543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4448563" y="4299527"/>
            <a:ext cx="883285" cy="141605"/>
          </a:xfrm>
          <a:custGeom>
            <a:avLst/>
            <a:gdLst/>
            <a:ahLst/>
            <a:cxnLst/>
            <a:rect l="l" t="t" r="r" b="b"/>
            <a:pathLst>
              <a:path w="883285" h="141604">
                <a:moveTo>
                  <a:pt x="859738" y="141543"/>
                </a:moveTo>
                <a:lnTo>
                  <a:pt x="23390" y="141543"/>
                </a:lnTo>
                <a:lnTo>
                  <a:pt x="19950" y="140862"/>
                </a:lnTo>
                <a:lnTo>
                  <a:pt x="0" y="118157"/>
                </a:lnTo>
                <a:lnTo>
                  <a:pt x="0" y="114604"/>
                </a:lnTo>
                <a:lnTo>
                  <a:pt x="0" y="23386"/>
                </a:lnTo>
                <a:lnTo>
                  <a:pt x="23390" y="0"/>
                </a:lnTo>
                <a:lnTo>
                  <a:pt x="859738" y="0"/>
                </a:lnTo>
                <a:lnTo>
                  <a:pt x="883127" y="23386"/>
                </a:lnTo>
                <a:lnTo>
                  <a:pt x="883127" y="118157"/>
                </a:lnTo>
                <a:lnTo>
                  <a:pt x="863177" y="140862"/>
                </a:lnTo>
                <a:lnTo>
                  <a:pt x="859738" y="141543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754253" y="4764658"/>
            <a:ext cx="1449705" cy="316865"/>
          </a:xfrm>
          <a:custGeom>
            <a:avLst/>
            <a:gdLst/>
            <a:ahLst/>
            <a:cxnLst/>
            <a:rect l="l" t="t" r="r" b="b"/>
            <a:pathLst>
              <a:path w="1449705" h="316864">
                <a:moveTo>
                  <a:pt x="916838" y="198653"/>
                </a:moveTo>
                <a:lnTo>
                  <a:pt x="893445" y="175285"/>
                </a:lnTo>
                <a:lnTo>
                  <a:pt x="0" y="175285"/>
                </a:lnTo>
                <a:lnTo>
                  <a:pt x="0" y="316852"/>
                </a:lnTo>
                <a:lnTo>
                  <a:pt x="893445" y="316852"/>
                </a:lnTo>
                <a:lnTo>
                  <a:pt x="916838" y="293446"/>
                </a:lnTo>
                <a:lnTo>
                  <a:pt x="916838" y="198653"/>
                </a:lnTo>
                <a:close/>
              </a:path>
              <a:path w="1449705" h="316864">
                <a:moveTo>
                  <a:pt x="1449412" y="0"/>
                </a:moveTo>
                <a:lnTo>
                  <a:pt x="23393" y="0"/>
                </a:lnTo>
                <a:lnTo>
                  <a:pt x="19951" y="711"/>
                </a:lnTo>
                <a:lnTo>
                  <a:pt x="13335" y="3416"/>
                </a:lnTo>
                <a:lnTo>
                  <a:pt x="10426" y="5359"/>
                </a:lnTo>
                <a:lnTo>
                  <a:pt x="7899" y="7924"/>
                </a:lnTo>
                <a:lnTo>
                  <a:pt x="5372" y="10414"/>
                </a:lnTo>
                <a:lnTo>
                  <a:pt x="3416" y="13347"/>
                </a:lnTo>
                <a:lnTo>
                  <a:pt x="685" y="19951"/>
                </a:lnTo>
                <a:lnTo>
                  <a:pt x="0" y="23406"/>
                </a:lnTo>
                <a:lnTo>
                  <a:pt x="0" y="118173"/>
                </a:lnTo>
                <a:lnTo>
                  <a:pt x="23393" y="141566"/>
                </a:lnTo>
                <a:lnTo>
                  <a:pt x="1449412" y="141566"/>
                </a:lnTo>
                <a:lnTo>
                  <a:pt x="1449412" y="0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5682234" y="4764658"/>
            <a:ext cx="1119505" cy="316865"/>
          </a:xfrm>
          <a:custGeom>
            <a:avLst/>
            <a:gdLst/>
            <a:ahLst/>
            <a:cxnLst/>
            <a:rect l="l" t="t" r="r" b="b"/>
            <a:pathLst>
              <a:path w="1119504" h="316864">
                <a:moveTo>
                  <a:pt x="1092123" y="175285"/>
                </a:moveTo>
                <a:lnTo>
                  <a:pt x="23393" y="175285"/>
                </a:lnTo>
                <a:lnTo>
                  <a:pt x="19951" y="175983"/>
                </a:lnTo>
                <a:lnTo>
                  <a:pt x="0" y="198653"/>
                </a:lnTo>
                <a:lnTo>
                  <a:pt x="0" y="293446"/>
                </a:lnTo>
                <a:lnTo>
                  <a:pt x="23393" y="316852"/>
                </a:lnTo>
                <a:lnTo>
                  <a:pt x="1092123" y="316852"/>
                </a:lnTo>
                <a:lnTo>
                  <a:pt x="1092123" y="175285"/>
                </a:lnTo>
                <a:close/>
              </a:path>
              <a:path w="1119504" h="316864">
                <a:moveTo>
                  <a:pt x="1119085" y="0"/>
                </a:moveTo>
                <a:lnTo>
                  <a:pt x="582930" y="0"/>
                </a:lnTo>
                <a:lnTo>
                  <a:pt x="579488" y="711"/>
                </a:lnTo>
                <a:lnTo>
                  <a:pt x="572884" y="3416"/>
                </a:lnTo>
                <a:lnTo>
                  <a:pt x="569976" y="5359"/>
                </a:lnTo>
                <a:lnTo>
                  <a:pt x="567436" y="7924"/>
                </a:lnTo>
                <a:lnTo>
                  <a:pt x="564908" y="10414"/>
                </a:lnTo>
                <a:lnTo>
                  <a:pt x="562965" y="13347"/>
                </a:lnTo>
                <a:lnTo>
                  <a:pt x="560222" y="19951"/>
                </a:lnTo>
                <a:lnTo>
                  <a:pt x="559549" y="23406"/>
                </a:lnTo>
                <a:lnTo>
                  <a:pt x="559549" y="118173"/>
                </a:lnTo>
                <a:lnTo>
                  <a:pt x="582930" y="141566"/>
                </a:lnTo>
                <a:lnTo>
                  <a:pt x="1119085" y="141566"/>
                </a:lnTo>
                <a:lnTo>
                  <a:pt x="1119085" y="0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2736227" y="4939943"/>
            <a:ext cx="1267460" cy="316865"/>
          </a:xfrm>
          <a:custGeom>
            <a:avLst/>
            <a:gdLst/>
            <a:ahLst/>
            <a:cxnLst/>
            <a:rect l="l" t="t" r="r" b="b"/>
            <a:pathLst>
              <a:path w="1267460" h="316864">
                <a:moveTo>
                  <a:pt x="438200" y="198640"/>
                </a:moveTo>
                <a:lnTo>
                  <a:pt x="414807" y="175285"/>
                </a:lnTo>
                <a:lnTo>
                  <a:pt x="0" y="175285"/>
                </a:lnTo>
                <a:lnTo>
                  <a:pt x="0" y="316839"/>
                </a:lnTo>
                <a:lnTo>
                  <a:pt x="414807" y="316839"/>
                </a:lnTo>
                <a:lnTo>
                  <a:pt x="438200" y="293446"/>
                </a:lnTo>
                <a:lnTo>
                  <a:pt x="438200" y="198640"/>
                </a:lnTo>
                <a:close/>
              </a:path>
              <a:path w="1267460" h="316864">
                <a:moveTo>
                  <a:pt x="1267396" y="23368"/>
                </a:moveTo>
                <a:lnTo>
                  <a:pt x="1244003" y="0"/>
                </a:lnTo>
                <a:lnTo>
                  <a:pt x="0" y="0"/>
                </a:lnTo>
                <a:lnTo>
                  <a:pt x="0" y="141566"/>
                </a:lnTo>
                <a:lnTo>
                  <a:pt x="1244003" y="141566"/>
                </a:lnTo>
                <a:lnTo>
                  <a:pt x="1267396" y="118160"/>
                </a:lnTo>
                <a:lnTo>
                  <a:pt x="1267396" y="23368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4529460" y="4939964"/>
            <a:ext cx="822960" cy="141605"/>
          </a:xfrm>
          <a:custGeom>
            <a:avLst/>
            <a:gdLst/>
            <a:ahLst/>
            <a:cxnLst/>
            <a:rect l="l" t="t" r="r" b="b"/>
            <a:pathLst>
              <a:path w="822960" h="141604">
                <a:moveTo>
                  <a:pt x="799064" y="141543"/>
                </a:moveTo>
                <a:lnTo>
                  <a:pt x="23390" y="141543"/>
                </a:lnTo>
                <a:lnTo>
                  <a:pt x="19950" y="140862"/>
                </a:lnTo>
                <a:lnTo>
                  <a:pt x="0" y="118157"/>
                </a:lnTo>
                <a:lnTo>
                  <a:pt x="0" y="114604"/>
                </a:lnTo>
                <a:lnTo>
                  <a:pt x="0" y="23359"/>
                </a:lnTo>
                <a:lnTo>
                  <a:pt x="23390" y="0"/>
                </a:lnTo>
                <a:lnTo>
                  <a:pt x="799064" y="0"/>
                </a:lnTo>
                <a:lnTo>
                  <a:pt x="822454" y="23359"/>
                </a:lnTo>
                <a:lnTo>
                  <a:pt x="822454" y="118157"/>
                </a:lnTo>
                <a:lnTo>
                  <a:pt x="802504" y="140862"/>
                </a:lnTo>
                <a:lnTo>
                  <a:pt x="799064" y="141543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graphicFrame>
        <p:nvGraphicFramePr>
          <p:cNvPr id="21" name="object 21"/>
          <p:cNvGraphicFramePr>
            <a:graphicFrameLocks noGrp="1"/>
          </p:cNvGraphicFramePr>
          <p:nvPr/>
        </p:nvGraphicFramePr>
        <p:xfrm>
          <a:off x="680102" y="3935490"/>
          <a:ext cx="6278880" cy="13874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81835"/>
                <a:gridCol w="4213225"/>
              </a:tblGrid>
              <a:tr h="282575">
                <a:tc>
                  <a:txBody>
                    <a:bodyPr/>
                    <a:lstStyle/>
                    <a:p>
                      <a:pPr marL="70485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950" spc="-20" b="1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Line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64769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950" spc="-10" b="1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Explanation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64769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  <a:solidFill>
                      <a:srgbClr val="F7FAFB"/>
                    </a:solidFill>
                  </a:tcPr>
                </a:tc>
              </a:tr>
              <a:tr h="464820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dirty="0" sz="750" spc="-1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add_documents(documents)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90170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 marR="73660">
                        <a:lnSpc>
                          <a:spcPct val="121100"/>
                        </a:lnSpc>
                        <a:spcBef>
                          <a:spcPts val="270"/>
                        </a:spcBef>
                      </a:pPr>
                      <a:r>
                        <a:rPr dirty="0" sz="950" spc="-6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Calls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the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9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batch-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index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function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5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from</a:t>
                      </a:r>
                      <a:r>
                        <a:rPr dirty="0" sz="950" spc="22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solr_client.py</a:t>
                      </a:r>
                      <a:r>
                        <a:rPr dirty="0" sz="750" spc="-215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950" spc="-5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,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sending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5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all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chunk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5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documents</a:t>
                      </a:r>
                      <a:r>
                        <a:rPr dirty="0" sz="950" spc="50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to</a:t>
                      </a:r>
                      <a:r>
                        <a:rPr dirty="0" sz="950" spc="-2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6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Solr</a:t>
                      </a:r>
                      <a:r>
                        <a:rPr dirty="0" sz="950" spc="-2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in</a:t>
                      </a:r>
                      <a:r>
                        <a:rPr dirty="0" sz="950" spc="-2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one</a:t>
                      </a:r>
                      <a:r>
                        <a:rPr dirty="0" sz="950" spc="-2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request.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34290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marL="70485" marR="455930" indent="26670">
                        <a:lnSpc>
                          <a:spcPct val="153300"/>
                        </a:lnSpc>
                        <a:spcBef>
                          <a:spcPts val="229"/>
                        </a:spcBef>
                      </a:pP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print("Documents</a:t>
                      </a:r>
                      <a:r>
                        <a:rPr dirty="0" sz="750" spc="155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 spc="-1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indexed successfully.")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29209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just" marL="67945" marR="70485">
                        <a:lnSpc>
                          <a:spcPct val="121100"/>
                        </a:lnSpc>
                        <a:spcBef>
                          <a:spcPts val="270"/>
                        </a:spcBef>
                      </a:pP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Con</a:t>
                      </a:r>
                      <a:r>
                        <a:rPr dirty="0" sz="900" spc="-80">
                          <a:solidFill>
                            <a:srgbClr val="111726"/>
                          </a:solidFill>
                          <a:latin typeface="Arial"/>
                          <a:cs typeface="Arial"/>
                        </a:rPr>
                        <a:t>ﬁ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rms</a:t>
                      </a:r>
                      <a:r>
                        <a:rPr dirty="0" sz="950" spc="2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9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completion.</a:t>
                      </a:r>
                      <a:r>
                        <a:rPr dirty="0" sz="950" spc="3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90" b="1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Output:</a:t>
                      </a:r>
                      <a:r>
                        <a:rPr dirty="0" sz="950" spc="40" b="1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con</a:t>
                      </a:r>
                      <a:r>
                        <a:rPr dirty="0" sz="900" spc="-85">
                          <a:solidFill>
                            <a:srgbClr val="111726"/>
                          </a:solidFill>
                          <a:latin typeface="Arial"/>
                          <a:cs typeface="Arial"/>
                        </a:rPr>
                        <a:t>ﬁ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rmed</a:t>
                      </a:r>
                      <a:r>
                        <a:rPr dirty="0" sz="950" spc="3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16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by</a:t>
                      </a:r>
                      <a:r>
                        <a:rPr dirty="0" sz="950" spc="10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15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an</a:t>
                      </a:r>
                      <a:r>
                        <a:rPr dirty="0" sz="950" spc="10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actual</a:t>
                      </a:r>
                      <a:r>
                        <a:rPr dirty="0" sz="950" spc="3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1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run</a:t>
                      </a:r>
                      <a:r>
                        <a:rPr dirty="0" sz="950" spc="6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10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below</a:t>
                      </a:r>
                      <a:r>
                        <a:rPr dirty="0" sz="950" spc="4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14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to</a:t>
                      </a:r>
                      <a:r>
                        <a:rPr dirty="0" sz="950" spc="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2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print</a:t>
                      </a:r>
                      <a:r>
                        <a:rPr dirty="0" sz="950" spc="23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750" spc="-1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Documents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indexed</a:t>
                      </a:r>
                      <a:r>
                        <a:rPr dirty="0" sz="750" spc="-114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successfully.</a:t>
                      </a:r>
                      <a:r>
                        <a:rPr dirty="0" sz="750" spc="-9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right</a:t>
                      </a:r>
                      <a:r>
                        <a:rPr dirty="0" sz="950" spc="2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2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after</a:t>
                      </a:r>
                      <a:r>
                        <a:rPr dirty="0" sz="950" spc="2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750" spc="-1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add_documents</a:t>
                      </a:r>
                      <a:r>
                        <a:rPr dirty="0" sz="750" spc="-10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950" spc="-114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's</a:t>
                      </a:r>
                      <a:r>
                        <a:rPr dirty="0" sz="950" spc="6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3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own</a:t>
                      </a:r>
                      <a:r>
                        <a:rPr dirty="0" sz="950" spc="2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Indexed</a:t>
                      </a:r>
                      <a:r>
                        <a:rPr dirty="0" sz="750" spc="55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N</a:t>
                      </a:r>
                      <a:r>
                        <a:rPr dirty="0" sz="750" spc="6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 spc="-1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document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chunks. 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message.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34290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2" name="object 22"/>
          <p:cNvSpPr/>
          <p:nvPr/>
        </p:nvSpPr>
        <p:spPr>
          <a:xfrm>
            <a:off x="3605884" y="5674780"/>
            <a:ext cx="829310" cy="195580"/>
          </a:xfrm>
          <a:custGeom>
            <a:avLst/>
            <a:gdLst/>
            <a:ahLst/>
            <a:cxnLst/>
            <a:rect l="l" t="t" r="r" b="b"/>
            <a:pathLst>
              <a:path w="829310" h="195579">
                <a:moveTo>
                  <a:pt x="805806" y="195474"/>
                </a:moveTo>
                <a:lnTo>
                  <a:pt x="23389" y="195474"/>
                </a:lnTo>
                <a:lnTo>
                  <a:pt x="19950" y="194793"/>
                </a:lnTo>
                <a:lnTo>
                  <a:pt x="0" y="172088"/>
                </a:lnTo>
                <a:lnTo>
                  <a:pt x="0" y="168535"/>
                </a:lnTo>
                <a:lnTo>
                  <a:pt x="0" y="23386"/>
                </a:lnTo>
                <a:lnTo>
                  <a:pt x="23389" y="0"/>
                </a:lnTo>
                <a:lnTo>
                  <a:pt x="805806" y="0"/>
                </a:lnTo>
                <a:lnTo>
                  <a:pt x="829196" y="23386"/>
                </a:lnTo>
                <a:lnTo>
                  <a:pt x="829196" y="172088"/>
                </a:lnTo>
                <a:lnTo>
                  <a:pt x="809246" y="194793"/>
                </a:lnTo>
                <a:lnTo>
                  <a:pt x="805806" y="195474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2291295" y="5991618"/>
            <a:ext cx="1470025" cy="337185"/>
          </a:xfrm>
          <a:custGeom>
            <a:avLst/>
            <a:gdLst/>
            <a:ahLst/>
            <a:cxnLst/>
            <a:rect l="l" t="t" r="r" b="b"/>
            <a:pathLst>
              <a:path w="1470025" h="337185">
                <a:moveTo>
                  <a:pt x="546061" y="212128"/>
                </a:moveTo>
                <a:lnTo>
                  <a:pt x="522668" y="188760"/>
                </a:lnTo>
                <a:lnTo>
                  <a:pt x="23393" y="188760"/>
                </a:lnTo>
                <a:lnTo>
                  <a:pt x="0" y="212128"/>
                </a:lnTo>
                <a:lnTo>
                  <a:pt x="0" y="310108"/>
                </a:lnTo>
                <a:lnTo>
                  <a:pt x="0" y="313664"/>
                </a:lnTo>
                <a:lnTo>
                  <a:pt x="23393" y="337045"/>
                </a:lnTo>
                <a:lnTo>
                  <a:pt x="522668" y="337045"/>
                </a:lnTo>
                <a:lnTo>
                  <a:pt x="546061" y="313664"/>
                </a:lnTo>
                <a:lnTo>
                  <a:pt x="546061" y="212128"/>
                </a:lnTo>
                <a:close/>
              </a:path>
              <a:path w="1470025" h="337185">
                <a:moveTo>
                  <a:pt x="1469631" y="23368"/>
                </a:moveTo>
                <a:lnTo>
                  <a:pt x="1446250" y="0"/>
                </a:lnTo>
                <a:lnTo>
                  <a:pt x="454837" y="0"/>
                </a:lnTo>
                <a:lnTo>
                  <a:pt x="431457" y="23368"/>
                </a:lnTo>
                <a:lnTo>
                  <a:pt x="431457" y="121348"/>
                </a:lnTo>
                <a:lnTo>
                  <a:pt x="431457" y="124904"/>
                </a:lnTo>
                <a:lnTo>
                  <a:pt x="454837" y="148285"/>
                </a:lnTo>
                <a:lnTo>
                  <a:pt x="1446250" y="148285"/>
                </a:lnTo>
                <a:lnTo>
                  <a:pt x="1469631" y="124904"/>
                </a:lnTo>
                <a:lnTo>
                  <a:pt x="1469631" y="23368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5810332" y="5991627"/>
            <a:ext cx="668020" cy="148590"/>
          </a:xfrm>
          <a:custGeom>
            <a:avLst/>
            <a:gdLst/>
            <a:ahLst/>
            <a:cxnLst/>
            <a:rect l="l" t="t" r="r" b="b"/>
            <a:pathLst>
              <a:path w="668020" h="148589">
                <a:moveTo>
                  <a:pt x="644011" y="148284"/>
                </a:moveTo>
                <a:lnTo>
                  <a:pt x="23390" y="148284"/>
                </a:lnTo>
                <a:lnTo>
                  <a:pt x="19949" y="147603"/>
                </a:lnTo>
                <a:lnTo>
                  <a:pt x="0" y="124898"/>
                </a:lnTo>
                <a:lnTo>
                  <a:pt x="0" y="121345"/>
                </a:lnTo>
                <a:lnTo>
                  <a:pt x="0" y="23359"/>
                </a:lnTo>
                <a:lnTo>
                  <a:pt x="23390" y="0"/>
                </a:lnTo>
                <a:lnTo>
                  <a:pt x="644011" y="0"/>
                </a:lnTo>
                <a:lnTo>
                  <a:pt x="667401" y="23359"/>
                </a:lnTo>
                <a:lnTo>
                  <a:pt x="667401" y="124898"/>
                </a:lnTo>
                <a:lnTo>
                  <a:pt x="647451" y="147603"/>
                </a:lnTo>
                <a:lnTo>
                  <a:pt x="644011" y="148284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 txBox="1"/>
          <p:nvPr/>
        </p:nvSpPr>
        <p:spPr>
          <a:xfrm>
            <a:off x="667402" y="5627344"/>
            <a:ext cx="6187440" cy="699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300" spc="-85" b="1">
                <a:solidFill>
                  <a:srgbClr val="111726"/>
                </a:solidFill>
                <a:latin typeface="Trebuchet MS"/>
                <a:cs typeface="Trebuchet MS"/>
              </a:rPr>
              <a:t>2</a:t>
            </a:r>
            <a:r>
              <a:rPr dirty="0" sz="1450" spc="-85" b="1">
                <a:solidFill>
                  <a:srgbClr val="111726"/>
                </a:solidFill>
                <a:latin typeface="Source Han Sans JP"/>
                <a:cs typeface="Source Han Sans JP"/>
              </a:rPr>
              <a:t>.</a:t>
            </a:r>
            <a:r>
              <a:rPr dirty="0" sz="1300" spc="-85" b="1">
                <a:solidFill>
                  <a:srgbClr val="111726"/>
                </a:solidFill>
                <a:latin typeface="Trebuchet MS"/>
                <a:cs typeface="Trebuchet MS"/>
              </a:rPr>
              <a:t>5</a:t>
            </a:r>
            <a:r>
              <a:rPr dirty="0" sz="1300" spc="-110" b="1">
                <a:solidFill>
                  <a:srgbClr val="111726"/>
                </a:solidFill>
                <a:latin typeface="Trebuchet MS"/>
                <a:cs typeface="Trebuchet MS"/>
              </a:rPr>
              <a:t> </a:t>
            </a:r>
            <a:r>
              <a:rPr dirty="0" sz="1450" spc="-150" b="1">
                <a:solidFill>
                  <a:srgbClr val="111726"/>
                </a:solidFill>
                <a:latin typeface="Source Han Sans JP"/>
                <a:cs typeface="Source Han Sans JP"/>
              </a:rPr>
              <a:t>Actual</a:t>
            </a:r>
            <a:r>
              <a:rPr dirty="0" sz="1450" spc="-45" b="1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450" spc="-165" b="1">
                <a:solidFill>
                  <a:srgbClr val="111726"/>
                </a:solidFill>
                <a:latin typeface="Source Han Sans JP"/>
                <a:cs typeface="Source Han Sans JP"/>
              </a:rPr>
              <a:t>Captured</a:t>
            </a:r>
            <a:r>
              <a:rPr dirty="0" sz="1450" spc="-45" b="1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450" spc="-170" b="1">
                <a:solidFill>
                  <a:srgbClr val="111726"/>
                </a:solidFill>
                <a:latin typeface="Source Han Sans JP"/>
                <a:cs typeface="Source Han Sans JP"/>
              </a:rPr>
              <a:t>Terminal</a:t>
            </a:r>
            <a:r>
              <a:rPr dirty="0" sz="1450" spc="-40" b="1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450" spc="-170" b="1">
                <a:solidFill>
                  <a:srgbClr val="111726"/>
                </a:solidFill>
                <a:latin typeface="Source Han Sans JP"/>
                <a:cs typeface="Source Han Sans JP"/>
              </a:rPr>
              <a:t>Output</a:t>
            </a:r>
            <a:r>
              <a:rPr dirty="0" sz="1450" spc="-45" b="1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350" spc="-285" b="1">
                <a:solidFill>
                  <a:srgbClr val="111726"/>
                </a:solidFill>
                <a:latin typeface="Arial"/>
                <a:cs typeface="Arial"/>
              </a:rPr>
              <a:t>—</a:t>
            </a:r>
            <a:r>
              <a:rPr dirty="0" sz="1350" spc="135" b="1">
                <a:solidFill>
                  <a:srgbClr val="111726"/>
                </a:solidFill>
                <a:latin typeface="Arial"/>
                <a:cs typeface="Arial"/>
              </a:rPr>
              <a:t> </a:t>
            </a:r>
            <a:r>
              <a:rPr dirty="0" sz="1100" spc="-10" b="1">
                <a:solidFill>
                  <a:srgbClr val="111726"/>
                </a:solidFill>
                <a:latin typeface="Courier New"/>
                <a:cs typeface="Courier New"/>
              </a:rPr>
              <a:t>ingest.py</a:t>
            </a:r>
            <a:endParaRPr sz="1100">
              <a:latin typeface="Courier New"/>
              <a:cs typeface="Courier New"/>
            </a:endParaRPr>
          </a:p>
          <a:p>
            <a:pPr marL="12700" marR="5080">
              <a:lnSpc>
                <a:spcPct val="123900"/>
              </a:lnSpc>
              <a:spcBef>
                <a:spcPts val="600"/>
              </a:spcBef>
            </a:pPr>
            <a:r>
              <a:rPr dirty="0" sz="1000" spc="-100">
                <a:solidFill>
                  <a:srgbClr val="111726"/>
                </a:solidFill>
                <a:latin typeface="Source Han Sans JP"/>
                <a:cs typeface="Source Han Sans JP"/>
              </a:rPr>
              <a:t>The</a:t>
            </a:r>
            <a:r>
              <a:rPr dirty="0" sz="1000" spc="-30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90">
                <a:solidFill>
                  <a:srgbClr val="111726"/>
                </a:solidFill>
                <a:latin typeface="Source Han Sans JP"/>
                <a:cs typeface="Source Han Sans JP"/>
              </a:rPr>
              <a:t>person</a:t>
            </a:r>
            <a:r>
              <a:rPr dirty="0" sz="1000" spc="-2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80">
                <a:solidFill>
                  <a:srgbClr val="111726"/>
                </a:solidFill>
                <a:latin typeface="Source Han Sans JP"/>
                <a:cs typeface="Source Han Sans JP"/>
              </a:rPr>
              <a:t>building</a:t>
            </a:r>
            <a:r>
              <a:rPr dirty="0" sz="1000" spc="-30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70">
                <a:solidFill>
                  <a:srgbClr val="111726"/>
                </a:solidFill>
                <a:latin typeface="Source Han Sans JP"/>
                <a:cs typeface="Source Han Sans JP"/>
              </a:rPr>
              <a:t>this</a:t>
            </a:r>
            <a:r>
              <a:rPr dirty="0" sz="1000" spc="-2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80">
                <a:solidFill>
                  <a:srgbClr val="111726"/>
                </a:solidFill>
                <a:latin typeface="Source Han Sans JP"/>
                <a:cs typeface="Source Han Sans JP"/>
              </a:rPr>
              <a:t>project</a:t>
            </a:r>
            <a:r>
              <a:rPr dirty="0" sz="1000" spc="-30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75">
                <a:solidFill>
                  <a:srgbClr val="111726"/>
                </a:solidFill>
                <a:latin typeface="Source Han Sans JP"/>
                <a:cs typeface="Source Han Sans JP"/>
              </a:rPr>
              <a:t>also</a:t>
            </a:r>
            <a:r>
              <a:rPr dirty="0" sz="1000" spc="-2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50">
                <a:solidFill>
                  <a:srgbClr val="111726"/>
                </a:solidFill>
                <a:latin typeface="Source Han Sans JP"/>
                <a:cs typeface="Source Han Sans JP"/>
              </a:rPr>
              <a:t>ran</a:t>
            </a:r>
            <a:r>
              <a:rPr dirty="0" sz="1000" spc="190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800">
                <a:solidFill>
                  <a:srgbClr val="111726"/>
                </a:solidFill>
                <a:latin typeface="Courier New"/>
                <a:cs typeface="Courier New"/>
              </a:rPr>
              <a:t>python</a:t>
            </a:r>
            <a:r>
              <a:rPr dirty="0" sz="800" spc="20">
                <a:solidFill>
                  <a:srgbClr val="111726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111726"/>
                </a:solidFill>
                <a:latin typeface="Courier New"/>
                <a:cs typeface="Courier New"/>
              </a:rPr>
              <a:t>ingest.py</a:t>
            </a:r>
            <a:r>
              <a:rPr dirty="0" sz="800" spc="-60">
                <a:solidFill>
                  <a:srgbClr val="111726"/>
                </a:solidFill>
                <a:latin typeface="Courier New"/>
                <a:cs typeface="Courier New"/>
              </a:rPr>
              <a:t> </a:t>
            </a:r>
            <a:r>
              <a:rPr dirty="0" sz="1000" spc="-70">
                <a:solidFill>
                  <a:srgbClr val="111726"/>
                </a:solidFill>
                <a:latin typeface="Source Han Sans JP"/>
                <a:cs typeface="Source Han Sans JP"/>
              </a:rPr>
              <a:t>for</a:t>
            </a:r>
            <a:r>
              <a:rPr dirty="0" sz="1000" spc="-30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70">
                <a:solidFill>
                  <a:srgbClr val="111726"/>
                </a:solidFill>
                <a:latin typeface="Source Han Sans JP"/>
                <a:cs typeface="Source Han Sans JP"/>
              </a:rPr>
              <a:t>real,</a:t>
            </a:r>
            <a:r>
              <a:rPr dirty="0" sz="1000" spc="-2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85">
                <a:solidFill>
                  <a:srgbClr val="111726"/>
                </a:solidFill>
                <a:latin typeface="Source Han Sans JP"/>
                <a:cs typeface="Source Han Sans JP"/>
              </a:rPr>
              <a:t>in</a:t>
            </a:r>
            <a:r>
              <a:rPr dirty="0" sz="1000" spc="-30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85">
                <a:solidFill>
                  <a:srgbClr val="111726"/>
                </a:solidFill>
                <a:latin typeface="Source Han Sans JP"/>
                <a:cs typeface="Source Han Sans JP"/>
              </a:rPr>
              <a:t>PowerShell,</a:t>
            </a:r>
            <a:r>
              <a:rPr dirty="0" sz="1000" spc="-2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90">
                <a:solidFill>
                  <a:srgbClr val="111726"/>
                </a:solidFill>
                <a:latin typeface="Source Han Sans JP"/>
                <a:cs typeface="Source Han Sans JP"/>
              </a:rPr>
              <a:t>against</a:t>
            </a:r>
            <a:r>
              <a:rPr dirty="0" sz="1000" spc="-2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90">
                <a:solidFill>
                  <a:srgbClr val="111726"/>
                </a:solidFill>
                <a:latin typeface="Source Han Sans JP"/>
                <a:cs typeface="Source Han Sans JP"/>
              </a:rPr>
              <a:t>the</a:t>
            </a:r>
            <a:r>
              <a:rPr dirty="0" sz="1000" spc="-30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70">
                <a:solidFill>
                  <a:srgbClr val="111726"/>
                </a:solidFill>
                <a:latin typeface="Source Han Sans JP"/>
                <a:cs typeface="Source Han Sans JP"/>
              </a:rPr>
              <a:t>same</a:t>
            </a:r>
            <a:r>
              <a:rPr dirty="0" sz="1000" spc="19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800">
                <a:solidFill>
                  <a:srgbClr val="111726"/>
                </a:solidFill>
                <a:latin typeface="Courier New"/>
                <a:cs typeface="Courier New"/>
              </a:rPr>
              <a:t>sample.pdf</a:t>
            </a:r>
            <a:r>
              <a:rPr dirty="0" sz="800" spc="-260">
                <a:solidFill>
                  <a:srgbClr val="111726"/>
                </a:solidFill>
                <a:latin typeface="Courier New"/>
                <a:cs typeface="Courier New"/>
              </a:rPr>
              <a:t> </a:t>
            </a:r>
            <a:r>
              <a:rPr dirty="0" sz="1000" spc="-50">
                <a:solidFill>
                  <a:srgbClr val="111726"/>
                </a:solidFill>
                <a:latin typeface="Source Han Sans JP"/>
                <a:cs typeface="Source Han Sans JP"/>
              </a:rPr>
              <a:t>,</a:t>
            </a:r>
            <a:r>
              <a:rPr dirty="0" sz="1000" spc="-2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85">
                <a:solidFill>
                  <a:srgbClr val="111726"/>
                </a:solidFill>
                <a:latin typeface="Source Han Sans JP"/>
                <a:cs typeface="Source Han Sans JP"/>
              </a:rPr>
              <a:t>with</a:t>
            </a:r>
            <a:r>
              <a:rPr dirty="0" sz="1000" spc="-30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50">
                <a:solidFill>
                  <a:srgbClr val="111726"/>
                </a:solidFill>
                <a:latin typeface="Source Han Sans JP"/>
                <a:cs typeface="Source Han Sans JP"/>
              </a:rPr>
              <a:t>a</a:t>
            </a:r>
            <a:r>
              <a:rPr dirty="0" sz="1000" spc="500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65">
                <a:solidFill>
                  <a:srgbClr val="111726"/>
                </a:solidFill>
                <a:latin typeface="Source Han Sans JP"/>
                <a:cs typeface="Source Han Sans JP"/>
              </a:rPr>
              <a:t>live</a:t>
            </a:r>
            <a:r>
              <a:rPr dirty="0" sz="1000" spc="-30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75">
                <a:solidFill>
                  <a:srgbClr val="111726"/>
                </a:solidFill>
                <a:latin typeface="Source Han Sans JP"/>
                <a:cs typeface="Source Han Sans JP"/>
              </a:rPr>
              <a:t>Solr</a:t>
            </a:r>
            <a:r>
              <a:rPr dirty="0" sz="1000" spc="-30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90">
                <a:solidFill>
                  <a:srgbClr val="111726"/>
                </a:solidFill>
                <a:latin typeface="Source Han Sans JP"/>
                <a:cs typeface="Source Han Sans JP"/>
              </a:rPr>
              <a:t>core</a:t>
            </a:r>
            <a:r>
              <a:rPr dirty="0" sz="1000" spc="-30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85">
                <a:solidFill>
                  <a:srgbClr val="111726"/>
                </a:solidFill>
                <a:latin typeface="Source Han Sans JP"/>
                <a:cs typeface="Source Han Sans JP"/>
              </a:rPr>
              <a:t>already</a:t>
            </a:r>
            <a:r>
              <a:rPr dirty="0" sz="1000" spc="-30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90">
                <a:solidFill>
                  <a:srgbClr val="111726"/>
                </a:solidFill>
                <a:latin typeface="Source Han Sans JP"/>
                <a:cs typeface="Source Han Sans JP"/>
              </a:rPr>
              <a:t>running</a:t>
            </a:r>
            <a:r>
              <a:rPr dirty="0" sz="1000" spc="-2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20">
                <a:solidFill>
                  <a:srgbClr val="111726"/>
                </a:solidFill>
                <a:latin typeface="Source Han Sans JP"/>
                <a:cs typeface="Source Han Sans JP"/>
              </a:rPr>
              <a:t>at</a:t>
            </a:r>
            <a:r>
              <a:rPr dirty="0" sz="1000" spc="190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800">
                <a:solidFill>
                  <a:srgbClr val="111726"/>
                </a:solidFill>
                <a:latin typeface="Courier New"/>
                <a:cs typeface="Courier New"/>
              </a:rPr>
              <a:t>rag_core</a:t>
            </a:r>
            <a:r>
              <a:rPr dirty="0" sz="800" spc="-260">
                <a:solidFill>
                  <a:srgbClr val="111726"/>
                </a:solidFill>
                <a:latin typeface="Courier New"/>
                <a:cs typeface="Courier New"/>
              </a:rPr>
              <a:t> </a:t>
            </a:r>
            <a:r>
              <a:rPr dirty="0" sz="1000" spc="-50">
                <a:solidFill>
                  <a:srgbClr val="111726"/>
                </a:solidFill>
                <a:latin typeface="Source Han Sans JP"/>
                <a:cs typeface="Source Han Sans JP"/>
              </a:rPr>
              <a:t>.</a:t>
            </a:r>
            <a:r>
              <a:rPr dirty="0" sz="1000" spc="-30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100">
                <a:solidFill>
                  <a:srgbClr val="111726"/>
                </a:solidFill>
                <a:latin typeface="Source Han Sans JP"/>
                <a:cs typeface="Source Han Sans JP"/>
              </a:rPr>
              <a:t>The</a:t>
            </a:r>
            <a:r>
              <a:rPr dirty="0" sz="1000" spc="-30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75">
                <a:solidFill>
                  <a:srgbClr val="111726"/>
                </a:solidFill>
                <a:latin typeface="Source Han Sans JP"/>
                <a:cs typeface="Source Han Sans JP"/>
              </a:rPr>
              <a:t>real</a:t>
            </a:r>
            <a:r>
              <a:rPr dirty="0" sz="1000" spc="-30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10">
                <a:solidFill>
                  <a:srgbClr val="111726"/>
                </a:solidFill>
                <a:latin typeface="Source Han Sans JP"/>
                <a:cs typeface="Source Han Sans JP"/>
              </a:rPr>
              <a:t>transcript:</a:t>
            </a:r>
            <a:endParaRPr sz="1000">
              <a:latin typeface="Source Han Sans JP"/>
              <a:cs typeface="Source Han Sans JP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761782" y="6491536"/>
            <a:ext cx="6005195" cy="216281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621030">
              <a:lnSpc>
                <a:spcPct val="149300"/>
              </a:lnSpc>
              <a:spcBef>
                <a:spcPts val="95"/>
              </a:spcBef>
            </a:pP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PS</a:t>
            </a:r>
            <a:r>
              <a:rPr dirty="0" sz="800" spc="9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C:\Users\EileneAnnaKuriakose\Desktop\AI-TASKS\Solr_RAG&gt;</a:t>
            </a:r>
            <a:r>
              <a:rPr dirty="0" sz="800" spc="10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python</a:t>
            </a:r>
            <a:r>
              <a:rPr dirty="0" sz="800" spc="10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 spc="-10">
                <a:solidFill>
                  <a:srgbClr val="E4E7EB"/>
                </a:solidFill>
                <a:latin typeface="Courier New"/>
                <a:cs typeface="Courier New"/>
              </a:rPr>
              <a:t>ingest.py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C:\Users\EileneAnnaKuriakose\Desktop\AI-TASKS\Solr_RAG\ingest.py:3:</a:t>
            </a:r>
            <a:r>
              <a:rPr dirty="0" sz="800" spc="30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 spc="-10">
                <a:solidFill>
                  <a:srgbClr val="E4E7EB"/>
                </a:solidFill>
                <a:latin typeface="Courier New"/>
                <a:cs typeface="Courier New"/>
              </a:rPr>
              <a:t>DeprecationWarning:</a:t>
            </a:r>
            <a:endParaRPr sz="800">
              <a:latin typeface="Courier New"/>
              <a:cs typeface="Courier New"/>
            </a:endParaRPr>
          </a:p>
          <a:p>
            <a:pPr marL="12700" marR="5080">
              <a:lnSpc>
                <a:spcPct val="143800"/>
              </a:lnSpc>
            </a:pP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`langchain-community`</a:t>
            </a:r>
            <a:r>
              <a:rPr dirty="0" sz="800" spc="3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is</a:t>
            </a:r>
            <a:r>
              <a:rPr dirty="0" sz="800" spc="3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being</a:t>
            </a:r>
            <a:r>
              <a:rPr dirty="0" sz="800" spc="3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sunset</a:t>
            </a:r>
            <a:r>
              <a:rPr dirty="0" sz="800" spc="3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and</a:t>
            </a:r>
            <a:r>
              <a:rPr dirty="0" sz="800" spc="3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is</a:t>
            </a:r>
            <a:r>
              <a:rPr dirty="0" sz="800" spc="3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no</a:t>
            </a:r>
            <a:r>
              <a:rPr dirty="0" sz="800" spc="3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longer</a:t>
            </a:r>
            <a:r>
              <a:rPr dirty="0" sz="800" spc="3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actively</a:t>
            </a:r>
            <a:r>
              <a:rPr dirty="0" sz="800" spc="3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maintained.</a:t>
            </a:r>
            <a:r>
              <a:rPr dirty="0" sz="800" spc="3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 spc="-25">
                <a:solidFill>
                  <a:srgbClr val="E4E7EB"/>
                </a:solidFill>
                <a:latin typeface="Courier New"/>
                <a:cs typeface="Courier New"/>
              </a:rPr>
              <a:t>See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  <a:hlinkClick r:id="rId3"/>
              </a:rPr>
              <a:t>https://github.com/langchain-ai/langchain-community/issues/674</a:t>
            </a:r>
            <a:r>
              <a:rPr dirty="0" sz="800" spc="8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for</a:t>
            </a:r>
            <a:r>
              <a:rPr dirty="0" sz="800" spc="8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details</a:t>
            </a:r>
            <a:r>
              <a:rPr dirty="0" sz="800" spc="8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and</a:t>
            </a:r>
            <a:r>
              <a:rPr dirty="0" sz="800" spc="8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migration</a:t>
            </a:r>
            <a:r>
              <a:rPr dirty="0" sz="800" spc="8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 spc="-10">
                <a:solidFill>
                  <a:srgbClr val="E4E7EB"/>
                </a:solidFill>
                <a:latin typeface="Courier New"/>
                <a:cs typeface="Courier New"/>
              </a:rPr>
              <a:t>guidance</a:t>
            </a:r>
            <a:endParaRPr sz="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475"/>
              </a:spcBef>
            </a:pP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toward</a:t>
            </a:r>
            <a:r>
              <a:rPr dirty="0" sz="800" spc="4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standalone</a:t>
            </a:r>
            <a:r>
              <a:rPr dirty="0" sz="800" spc="4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integration</a:t>
            </a:r>
            <a:r>
              <a:rPr dirty="0" sz="800" spc="4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 spc="-10">
                <a:solidFill>
                  <a:srgbClr val="E4E7EB"/>
                </a:solidFill>
                <a:latin typeface="Courier New"/>
                <a:cs typeface="Courier New"/>
              </a:rPr>
              <a:t>packages.</a:t>
            </a:r>
            <a:endParaRPr sz="800">
              <a:latin typeface="Courier New"/>
              <a:cs typeface="Courier New"/>
            </a:endParaRPr>
          </a:p>
          <a:p>
            <a:pPr marL="135890">
              <a:lnSpc>
                <a:spcPct val="100000"/>
              </a:lnSpc>
              <a:spcBef>
                <a:spcPts val="420"/>
              </a:spcBef>
            </a:pP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from</a:t>
            </a:r>
            <a:r>
              <a:rPr dirty="0" sz="800" spc="7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langchain_community.document_loaders</a:t>
            </a:r>
            <a:r>
              <a:rPr dirty="0" sz="800" spc="7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import</a:t>
            </a:r>
            <a:r>
              <a:rPr dirty="0" sz="800" spc="7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 spc="-10">
                <a:solidFill>
                  <a:srgbClr val="E4E7EB"/>
                </a:solidFill>
                <a:latin typeface="Courier New"/>
                <a:cs typeface="Courier New"/>
              </a:rPr>
              <a:t>PyPDFLoader</a:t>
            </a:r>
            <a:endParaRPr sz="800">
              <a:latin typeface="Courier New"/>
              <a:cs typeface="Courier New"/>
            </a:endParaRPr>
          </a:p>
          <a:p>
            <a:pPr marL="12700" marR="66675">
              <a:lnSpc>
                <a:spcPts val="1430"/>
              </a:lnSpc>
              <a:spcBef>
                <a:spcPts val="75"/>
              </a:spcBef>
            </a:pP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Warning:</a:t>
            </a:r>
            <a:r>
              <a:rPr dirty="0" sz="800" spc="2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You</a:t>
            </a:r>
            <a:r>
              <a:rPr dirty="0" sz="800" spc="3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are</a:t>
            </a:r>
            <a:r>
              <a:rPr dirty="0" sz="800" spc="2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sending</a:t>
            </a:r>
            <a:r>
              <a:rPr dirty="0" sz="800" spc="3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unauthenticated</a:t>
            </a:r>
            <a:r>
              <a:rPr dirty="0" sz="800" spc="2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requests</a:t>
            </a:r>
            <a:r>
              <a:rPr dirty="0" sz="800" spc="3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to</a:t>
            </a:r>
            <a:r>
              <a:rPr dirty="0" sz="800" spc="2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the</a:t>
            </a:r>
            <a:r>
              <a:rPr dirty="0" sz="800" spc="3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HF</a:t>
            </a:r>
            <a:r>
              <a:rPr dirty="0" sz="800" spc="2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Hub.</a:t>
            </a:r>
            <a:r>
              <a:rPr dirty="0" sz="800" spc="3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Please</a:t>
            </a:r>
            <a:r>
              <a:rPr dirty="0" sz="800" spc="2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set</a:t>
            </a:r>
            <a:r>
              <a:rPr dirty="0" sz="800" spc="3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a</a:t>
            </a:r>
            <a:r>
              <a:rPr dirty="0" sz="800" spc="2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HF_TOKEN</a:t>
            </a:r>
            <a:r>
              <a:rPr dirty="0" sz="800" spc="3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to</a:t>
            </a:r>
            <a:r>
              <a:rPr dirty="0" sz="800" spc="2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 spc="-10">
                <a:solidFill>
                  <a:srgbClr val="E4E7EB"/>
                </a:solidFill>
                <a:latin typeface="Courier New"/>
                <a:cs typeface="Courier New"/>
              </a:rPr>
              <a:t>enable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higher</a:t>
            </a:r>
            <a:r>
              <a:rPr dirty="0" sz="800" spc="2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rate</a:t>
            </a:r>
            <a:r>
              <a:rPr dirty="0" sz="800" spc="3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limits</a:t>
            </a:r>
            <a:r>
              <a:rPr dirty="0" sz="800" spc="2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and</a:t>
            </a:r>
            <a:r>
              <a:rPr dirty="0" sz="800" spc="3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faster</a:t>
            </a:r>
            <a:r>
              <a:rPr dirty="0" sz="800" spc="2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 spc="-10">
                <a:solidFill>
                  <a:srgbClr val="E4E7EB"/>
                </a:solidFill>
                <a:latin typeface="Courier New"/>
                <a:cs typeface="Courier New"/>
              </a:rPr>
              <a:t>downloads.</a:t>
            </a:r>
            <a:endParaRPr sz="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300"/>
              </a:spcBef>
            </a:pP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Loading</a:t>
            </a:r>
            <a:r>
              <a:rPr dirty="0" sz="800" spc="5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weights:</a:t>
            </a:r>
            <a:r>
              <a:rPr dirty="0" sz="800" spc="5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100%|██████████|</a:t>
            </a:r>
            <a:r>
              <a:rPr dirty="0" sz="800" spc="5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103/103</a:t>
            </a:r>
            <a:r>
              <a:rPr dirty="0" sz="800" spc="5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[00:00&lt;00:00,</a:t>
            </a:r>
            <a:r>
              <a:rPr dirty="0" sz="800" spc="5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 spc="-10">
                <a:solidFill>
                  <a:srgbClr val="E4E7EB"/>
                </a:solidFill>
                <a:latin typeface="Courier New"/>
                <a:cs typeface="Courier New"/>
              </a:rPr>
              <a:t>10214.77it/s]</a:t>
            </a:r>
            <a:endParaRPr sz="800">
              <a:latin typeface="Courier New"/>
              <a:cs typeface="Courier New"/>
            </a:endParaRPr>
          </a:p>
          <a:p>
            <a:pPr marL="12700" marR="4072890">
              <a:lnSpc>
                <a:spcPct val="143800"/>
              </a:lnSpc>
              <a:spcBef>
                <a:spcPts val="50"/>
              </a:spcBef>
            </a:pP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Indexed</a:t>
            </a:r>
            <a:r>
              <a:rPr dirty="0" sz="800" spc="3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20</a:t>
            </a:r>
            <a:r>
              <a:rPr dirty="0" sz="800" spc="3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document</a:t>
            </a:r>
            <a:r>
              <a:rPr dirty="0" sz="800" spc="3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 spc="-10">
                <a:solidFill>
                  <a:srgbClr val="E4E7EB"/>
                </a:solidFill>
                <a:latin typeface="Courier New"/>
                <a:cs typeface="Courier New"/>
              </a:rPr>
              <a:t>chunks.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Documents</a:t>
            </a:r>
            <a:r>
              <a:rPr dirty="0" sz="800" spc="4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indexed</a:t>
            </a:r>
            <a:r>
              <a:rPr dirty="0" sz="800" spc="4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 spc="-10">
                <a:solidFill>
                  <a:srgbClr val="E4E7EB"/>
                </a:solidFill>
                <a:latin typeface="Courier New"/>
                <a:cs typeface="Courier New"/>
              </a:rPr>
              <a:t>successfully.</a:t>
            </a:r>
            <a:endParaRPr sz="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420"/>
              </a:spcBef>
            </a:pP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PS</a:t>
            </a:r>
            <a:r>
              <a:rPr dirty="0" sz="800" spc="19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C:\Users\EileneAnnaKuriakose\Desktop\AI-</a:t>
            </a:r>
            <a:r>
              <a:rPr dirty="0" sz="800" spc="-10">
                <a:solidFill>
                  <a:srgbClr val="E4E7EB"/>
                </a:solidFill>
                <a:latin typeface="Courier New"/>
                <a:cs typeface="Courier New"/>
              </a:rPr>
              <a:t>TASKS\Solr_RAG&gt;</a:t>
            </a:r>
            <a:endParaRPr sz="800">
              <a:latin typeface="Courier New"/>
              <a:cs typeface="Courier New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667402" y="8875080"/>
            <a:ext cx="1052830" cy="18288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000" spc="-105" b="1">
                <a:solidFill>
                  <a:srgbClr val="111726"/>
                </a:solidFill>
                <a:latin typeface="Source Han Sans JP"/>
                <a:cs typeface="Source Han Sans JP"/>
              </a:rPr>
              <a:t>What</a:t>
            </a:r>
            <a:r>
              <a:rPr dirty="0" sz="1000" spc="-30" b="1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80" b="1">
                <a:solidFill>
                  <a:srgbClr val="111726"/>
                </a:solidFill>
                <a:latin typeface="Source Han Sans JP"/>
                <a:cs typeface="Source Han Sans JP"/>
              </a:rPr>
              <a:t>this</a:t>
            </a:r>
            <a:r>
              <a:rPr dirty="0" sz="1000" spc="-25" b="1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75" b="1">
                <a:solidFill>
                  <a:srgbClr val="111726"/>
                </a:solidFill>
                <a:latin typeface="Source Han Sans JP"/>
                <a:cs typeface="Source Han Sans JP"/>
              </a:rPr>
              <a:t>con</a:t>
            </a:r>
            <a:r>
              <a:rPr dirty="0" sz="950" spc="-75" b="1">
                <a:solidFill>
                  <a:srgbClr val="111726"/>
                </a:solidFill>
                <a:latin typeface="Arial"/>
                <a:cs typeface="Arial"/>
              </a:rPr>
              <a:t>ﬁ</a:t>
            </a:r>
            <a:r>
              <a:rPr dirty="0" sz="1000" spc="-75" b="1">
                <a:solidFill>
                  <a:srgbClr val="111726"/>
                </a:solidFill>
                <a:latin typeface="Source Han Sans JP"/>
                <a:cs typeface="Source Han Sans JP"/>
              </a:rPr>
              <a:t>rms:</a:t>
            </a:r>
            <a:endParaRPr sz="1000">
              <a:latin typeface="Source Han Sans JP"/>
              <a:cs typeface="Source Han Sans JP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80102" y="3915276"/>
            <a:ext cx="6202680" cy="6985"/>
          </a:xfrm>
          <a:custGeom>
            <a:avLst/>
            <a:gdLst/>
            <a:ahLst/>
            <a:cxnLst/>
            <a:rect l="l" t="t" r="r" b="b"/>
            <a:pathLst>
              <a:path w="6202680" h="6985">
                <a:moveTo>
                  <a:pt x="6202119" y="6741"/>
                </a:moveTo>
                <a:lnTo>
                  <a:pt x="0" y="6741"/>
                </a:lnTo>
                <a:lnTo>
                  <a:pt x="0" y="0"/>
                </a:lnTo>
                <a:lnTo>
                  <a:pt x="6202119" y="0"/>
                </a:lnTo>
                <a:lnTo>
                  <a:pt x="6202119" y="6741"/>
                </a:lnTo>
                <a:close/>
              </a:path>
            </a:pathLst>
          </a:custGeom>
          <a:solidFill>
            <a:srgbClr val="E4E7E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680102" y="4852362"/>
            <a:ext cx="6202680" cy="1078865"/>
          </a:xfrm>
          <a:custGeom>
            <a:avLst/>
            <a:gdLst/>
            <a:ahLst/>
            <a:cxnLst/>
            <a:rect l="l" t="t" r="r" b="b"/>
            <a:pathLst>
              <a:path w="6202680" h="1078864">
                <a:moveTo>
                  <a:pt x="6151728" y="1078602"/>
                </a:moveTo>
                <a:lnTo>
                  <a:pt x="50390" y="1078602"/>
                </a:lnTo>
                <a:lnTo>
                  <a:pt x="46883" y="1078258"/>
                </a:lnTo>
                <a:lnTo>
                  <a:pt x="11056" y="1057562"/>
                </a:lnTo>
                <a:lnTo>
                  <a:pt x="0" y="1028196"/>
                </a:lnTo>
                <a:lnTo>
                  <a:pt x="0" y="1024670"/>
                </a:lnTo>
                <a:lnTo>
                  <a:pt x="0" y="50351"/>
                </a:lnTo>
                <a:lnTo>
                  <a:pt x="18300" y="13246"/>
                </a:lnTo>
                <a:lnTo>
                  <a:pt x="50390" y="0"/>
                </a:lnTo>
                <a:lnTo>
                  <a:pt x="6151728" y="0"/>
                </a:lnTo>
                <a:lnTo>
                  <a:pt x="6188826" y="18249"/>
                </a:lnTo>
                <a:lnTo>
                  <a:pt x="6202118" y="50351"/>
                </a:lnTo>
                <a:lnTo>
                  <a:pt x="6202118" y="1028196"/>
                </a:lnTo>
                <a:lnTo>
                  <a:pt x="6183818" y="1065301"/>
                </a:lnTo>
                <a:lnTo>
                  <a:pt x="6155235" y="1078258"/>
                </a:lnTo>
                <a:lnTo>
                  <a:pt x="6151728" y="1078602"/>
                </a:lnTo>
                <a:close/>
              </a:path>
            </a:pathLst>
          </a:custGeom>
          <a:solidFill>
            <a:srgbClr val="0E172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680102" y="7656772"/>
            <a:ext cx="6202680" cy="721360"/>
          </a:xfrm>
          <a:custGeom>
            <a:avLst/>
            <a:gdLst/>
            <a:ahLst/>
            <a:cxnLst/>
            <a:rect l="l" t="t" r="r" b="b"/>
            <a:pathLst>
              <a:path w="6202680" h="721359">
                <a:moveTo>
                  <a:pt x="6151728" y="721306"/>
                </a:moveTo>
                <a:lnTo>
                  <a:pt x="50390" y="721306"/>
                </a:lnTo>
                <a:lnTo>
                  <a:pt x="46883" y="720962"/>
                </a:lnTo>
                <a:lnTo>
                  <a:pt x="11056" y="700293"/>
                </a:lnTo>
                <a:lnTo>
                  <a:pt x="0" y="670927"/>
                </a:lnTo>
                <a:lnTo>
                  <a:pt x="0" y="667401"/>
                </a:lnTo>
                <a:lnTo>
                  <a:pt x="0" y="50378"/>
                </a:lnTo>
                <a:lnTo>
                  <a:pt x="18300" y="13273"/>
                </a:lnTo>
                <a:lnTo>
                  <a:pt x="50390" y="0"/>
                </a:lnTo>
                <a:lnTo>
                  <a:pt x="6151728" y="0"/>
                </a:lnTo>
                <a:lnTo>
                  <a:pt x="6188826" y="18276"/>
                </a:lnTo>
                <a:lnTo>
                  <a:pt x="6202118" y="50378"/>
                </a:lnTo>
                <a:lnTo>
                  <a:pt x="6202118" y="670927"/>
                </a:lnTo>
                <a:lnTo>
                  <a:pt x="6183818" y="708032"/>
                </a:lnTo>
                <a:lnTo>
                  <a:pt x="6155235" y="720962"/>
                </a:lnTo>
                <a:lnTo>
                  <a:pt x="6151728" y="721306"/>
                </a:lnTo>
                <a:close/>
              </a:path>
            </a:pathLst>
          </a:custGeom>
          <a:solidFill>
            <a:srgbClr val="0E172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680102" y="9362354"/>
            <a:ext cx="6202680" cy="721360"/>
          </a:xfrm>
          <a:custGeom>
            <a:avLst/>
            <a:gdLst/>
            <a:ahLst/>
            <a:cxnLst/>
            <a:rect l="l" t="t" r="r" b="b"/>
            <a:pathLst>
              <a:path w="6202680" h="721359">
                <a:moveTo>
                  <a:pt x="6151728" y="721306"/>
                </a:moveTo>
                <a:lnTo>
                  <a:pt x="50390" y="721306"/>
                </a:lnTo>
                <a:lnTo>
                  <a:pt x="46883" y="720962"/>
                </a:lnTo>
                <a:lnTo>
                  <a:pt x="11056" y="700293"/>
                </a:lnTo>
                <a:lnTo>
                  <a:pt x="0" y="670954"/>
                </a:lnTo>
                <a:lnTo>
                  <a:pt x="0" y="667401"/>
                </a:lnTo>
                <a:lnTo>
                  <a:pt x="0" y="50378"/>
                </a:lnTo>
                <a:lnTo>
                  <a:pt x="18300" y="13273"/>
                </a:lnTo>
                <a:lnTo>
                  <a:pt x="50390" y="0"/>
                </a:lnTo>
                <a:lnTo>
                  <a:pt x="6151728" y="0"/>
                </a:lnTo>
                <a:lnTo>
                  <a:pt x="6188826" y="18276"/>
                </a:lnTo>
                <a:lnTo>
                  <a:pt x="6202118" y="50378"/>
                </a:lnTo>
                <a:lnTo>
                  <a:pt x="6202118" y="670954"/>
                </a:lnTo>
                <a:lnTo>
                  <a:pt x="6183818" y="708032"/>
                </a:lnTo>
                <a:lnTo>
                  <a:pt x="6155235" y="720962"/>
                </a:lnTo>
                <a:lnTo>
                  <a:pt x="6151728" y="721306"/>
                </a:lnTo>
                <a:close/>
              </a:path>
            </a:pathLst>
          </a:custGeom>
          <a:solidFill>
            <a:srgbClr val="0E172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3605872" y="652411"/>
            <a:ext cx="1011555" cy="316865"/>
          </a:xfrm>
          <a:custGeom>
            <a:avLst/>
            <a:gdLst/>
            <a:ahLst/>
            <a:cxnLst/>
            <a:rect l="l" t="t" r="r" b="b"/>
            <a:pathLst>
              <a:path w="1011554" h="316865">
                <a:moveTo>
                  <a:pt x="586511" y="23368"/>
                </a:moveTo>
                <a:lnTo>
                  <a:pt x="563118" y="0"/>
                </a:lnTo>
                <a:lnTo>
                  <a:pt x="23393" y="0"/>
                </a:lnTo>
                <a:lnTo>
                  <a:pt x="0" y="23368"/>
                </a:lnTo>
                <a:lnTo>
                  <a:pt x="0" y="114604"/>
                </a:lnTo>
                <a:lnTo>
                  <a:pt x="0" y="118160"/>
                </a:lnTo>
                <a:lnTo>
                  <a:pt x="23393" y="141554"/>
                </a:lnTo>
                <a:lnTo>
                  <a:pt x="563118" y="141554"/>
                </a:lnTo>
                <a:lnTo>
                  <a:pt x="586511" y="118160"/>
                </a:lnTo>
                <a:lnTo>
                  <a:pt x="586511" y="23368"/>
                </a:lnTo>
                <a:close/>
              </a:path>
              <a:path w="1011554" h="316865">
                <a:moveTo>
                  <a:pt x="1011224" y="198640"/>
                </a:moveTo>
                <a:lnTo>
                  <a:pt x="987831" y="175285"/>
                </a:lnTo>
                <a:lnTo>
                  <a:pt x="387426" y="175285"/>
                </a:lnTo>
                <a:lnTo>
                  <a:pt x="364045" y="198640"/>
                </a:lnTo>
                <a:lnTo>
                  <a:pt x="364045" y="289890"/>
                </a:lnTo>
                <a:lnTo>
                  <a:pt x="364045" y="293433"/>
                </a:lnTo>
                <a:lnTo>
                  <a:pt x="387426" y="316826"/>
                </a:lnTo>
                <a:lnTo>
                  <a:pt x="987831" y="316826"/>
                </a:lnTo>
                <a:lnTo>
                  <a:pt x="1011224" y="293433"/>
                </a:lnTo>
                <a:lnTo>
                  <a:pt x="1011224" y="198640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5082258" y="652415"/>
            <a:ext cx="916940" cy="141605"/>
          </a:xfrm>
          <a:custGeom>
            <a:avLst/>
            <a:gdLst/>
            <a:ahLst/>
            <a:cxnLst/>
            <a:rect l="l" t="t" r="r" b="b"/>
            <a:pathLst>
              <a:path w="916939" h="141604">
                <a:moveTo>
                  <a:pt x="916835" y="141565"/>
                </a:moveTo>
                <a:lnTo>
                  <a:pt x="23390" y="141565"/>
                </a:lnTo>
                <a:lnTo>
                  <a:pt x="19949" y="140869"/>
                </a:lnTo>
                <a:lnTo>
                  <a:pt x="0" y="118164"/>
                </a:lnTo>
                <a:lnTo>
                  <a:pt x="0" y="23366"/>
                </a:lnTo>
                <a:lnTo>
                  <a:pt x="684" y="19915"/>
                </a:lnTo>
                <a:lnTo>
                  <a:pt x="3420" y="13308"/>
                </a:lnTo>
                <a:lnTo>
                  <a:pt x="5369" y="10382"/>
                </a:lnTo>
                <a:lnTo>
                  <a:pt x="7897" y="7881"/>
                </a:lnTo>
                <a:lnTo>
                  <a:pt x="10426" y="5326"/>
                </a:lnTo>
                <a:lnTo>
                  <a:pt x="13342" y="3378"/>
                </a:lnTo>
                <a:lnTo>
                  <a:pt x="19949" y="695"/>
                </a:lnTo>
                <a:lnTo>
                  <a:pt x="23390" y="0"/>
                </a:lnTo>
                <a:lnTo>
                  <a:pt x="916835" y="0"/>
                </a:lnTo>
                <a:lnTo>
                  <a:pt x="916835" y="141565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1907032" y="827670"/>
            <a:ext cx="1058545" cy="316865"/>
          </a:xfrm>
          <a:custGeom>
            <a:avLst/>
            <a:gdLst/>
            <a:ahLst/>
            <a:cxnLst/>
            <a:rect l="l" t="t" r="r" b="b"/>
            <a:pathLst>
              <a:path w="1058545" h="316865">
                <a:moveTo>
                  <a:pt x="970775" y="23380"/>
                </a:moveTo>
                <a:lnTo>
                  <a:pt x="947381" y="0"/>
                </a:lnTo>
                <a:lnTo>
                  <a:pt x="0" y="0"/>
                </a:lnTo>
                <a:lnTo>
                  <a:pt x="0" y="141592"/>
                </a:lnTo>
                <a:lnTo>
                  <a:pt x="947381" y="141592"/>
                </a:lnTo>
                <a:lnTo>
                  <a:pt x="950823" y="140881"/>
                </a:lnTo>
                <a:lnTo>
                  <a:pt x="954125" y="139484"/>
                </a:lnTo>
                <a:lnTo>
                  <a:pt x="957427" y="138137"/>
                </a:lnTo>
                <a:lnTo>
                  <a:pt x="970775" y="118186"/>
                </a:lnTo>
                <a:lnTo>
                  <a:pt x="970775" y="23380"/>
                </a:lnTo>
                <a:close/>
              </a:path>
              <a:path w="1058545" h="316865">
                <a:moveTo>
                  <a:pt x="1058405" y="198653"/>
                </a:moveTo>
                <a:lnTo>
                  <a:pt x="1035024" y="175298"/>
                </a:lnTo>
                <a:lnTo>
                  <a:pt x="23393" y="175298"/>
                </a:lnTo>
                <a:lnTo>
                  <a:pt x="0" y="198653"/>
                </a:lnTo>
                <a:lnTo>
                  <a:pt x="0" y="289902"/>
                </a:lnTo>
                <a:lnTo>
                  <a:pt x="0" y="293458"/>
                </a:lnTo>
                <a:lnTo>
                  <a:pt x="23393" y="316865"/>
                </a:lnTo>
                <a:lnTo>
                  <a:pt x="1035024" y="316865"/>
                </a:lnTo>
                <a:lnTo>
                  <a:pt x="1058405" y="293458"/>
                </a:lnTo>
                <a:lnTo>
                  <a:pt x="1058405" y="198653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754253" y="1461362"/>
            <a:ext cx="970915" cy="316865"/>
          </a:xfrm>
          <a:custGeom>
            <a:avLst/>
            <a:gdLst/>
            <a:ahLst/>
            <a:cxnLst/>
            <a:rect l="l" t="t" r="r" b="b"/>
            <a:pathLst>
              <a:path w="970914" h="316864">
                <a:moveTo>
                  <a:pt x="262915" y="198666"/>
                </a:moveTo>
                <a:lnTo>
                  <a:pt x="239522" y="175285"/>
                </a:lnTo>
                <a:lnTo>
                  <a:pt x="0" y="175285"/>
                </a:lnTo>
                <a:lnTo>
                  <a:pt x="0" y="316852"/>
                </a:lnTo>
                <a:lnTo>
                  <a:pt x="239522" y="316852"/>
                </a:lnTo>
                <a:lnTo>
                  <a:pt x="262915" y="293458"/>
                </a:lnTo>
                <a:lnTo>
                  <a:pt x="262915" y="198666"/>
                </a:lnTo>
                <a:close/>
              </a:path>
              <a:path w="970914" h="316864">
                <a:moveTo>
                  <a:pt x="970762" y="0"/>
                </a:moveTo>
                <a:lnTo>
                  <a:pt x="23393" y="0"/>
                </a:lnTo>
                <a:lnTo>
                  <a:pt x="19951" y="711"/>
                </a:lnTo>
                <a:lnTo>
                  <a:pt x="0" y="23406"/>
                </a:lnTo>
                <a:lnTo>
                  <a:pt x="0" y="118186"/>
                </a:lnTo>
                <a:lnTo>
                  <a:pt x="23393" y="141592"/>
                </a:lnTo>
                <a:lnTo>
                  <a:pt x="970762" y="141592"/>
                </a:lnTo>
                <a:lnTo>
                  <a:pt x="970762" y="0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2230631" y="1461394"/>
            <a:ext cx="1294765" cy="141605"/>
          </a:xfrm>
          <a:custGeom>
            <a:avLst/>
            <a:gdLst/>
            <a:ahLst/>
            <a:cxnLst/>
            <a:rect l="l" t="t" r="r" b="b"/>
            <a:pathLst>
              <a:path w="1294764" h="141605">
                <a:moveTo>
                  <a:pt x="1270965" y="141543"/>
                </a:moveTo>
                <a:lnTo>
                  <a:pt x="23389" y="141543"/>
                </a:lnTo>
                <a:lnTo>
                  <a:pt x="19949" y="140835"/>
                </a:lnTo>
                <a:lnTo>
                  <a:pt x="0" y="118157"/>
                </a:lnTo>
                <a:lnTo>
                  <a:pt x="0" y="114604"/>
                </a:lnTo>
                <a:lnTo>
                  <a:pt x="0" y="23386"/>
                </a:lnTo>
                <a:lnTo>
                  <a:pt x="23389" y="0"/>
                </a:lnTo>
                <a:lnTo>
                  <a:pt x="1270965" y="0"/>
                </a:lnTo>
                <a:lnTo>
                  <a:pt x="1294355" y="23386"/>
                </a:lnTo>
                <a:lnTo>
                  <a:pt x="1294355" y="118157"/>
                </a:lnTo>
                <a:lnTo>
                  <a:pt x="1274404" y="140835"/>
                </a:lnTo>
                <a:lnTo>
                  <a:pt x="1270965" y="141543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4118233" y="1461394"/>
            <a:ext cx="998219" cy="141605"/>
          </a:xfrm>
          <a:custGeom>
            <a:avLst/>
            <a:gdLst/>
            <a:ahLst/>
            <a:cxnLst/>
            <a:rect l="l" t="t" r="r" b="b"/>
            <a:pathLst>
              <a:path w="998220" h="141605">
                <a:moveTo>
                  <a:pt x="974342" y="141543"/>
                </a:moveTo>
                <a:lnTo>
                  <a:pt x="23389" y="141543"/>
                </a:lnTo>
                <a:lnTo>
                  <a:pt x="19949" y="140835"/>
                </a:lnTo>
                <a:lnTo>
                  <a:pt x="0" y="118157"/>
                </a:lnTo>
                <a:lnTo>
                  <a:pt x="0" y="114604"/>
                </a:lnTo>
                <a:lnTo>
                  <a:pt x="0" y="23386"/>
                </a:lnTo>
                <a:lnTo>
                  <a:pt x="23389" y="0"/>
                </a:lnTo>
                <a:lnTo>
                  <a:pt x="974342" y="0"/>
                </a:lnTo>
                <a:lnTo>
                  <a:pt x="997731" y="23386"/>
                </a:lnTo>
                <a:lnTo>
                  <a:pt x="997731" y="118157"/>
                </a:lnTo>
                <a:lnTo>
                  <a:pt x="977781" y="140835"/>
                </a:lnTo>
                <a:lnTo>
                  <a:pt x="974342" y="141543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1907032" y="2095080"/>
            <a:ext cx="1887855" cy="316865"/>
          </a:xfrm>
          <a:custGeom>
            <a:avLst/>
            <a:gdLst/>
            <a:ahLst/>
            <a:cxnLst/>
            <a:rect l="l" t="t" r="r" b="b"/>
            <a:pathLst>
              <a:path w="1887854" h="316864">
                <a:moveTo>
                  <a:pt x="1651660" y="23393"/>
                </a:moveTo>
                <a:lnTo>
                  <a:pt x="1628267" y="0"/>
                </a:lnTo>
                <a:lnTo>
                  <a:pt x="23393" y="0"/>
                </a:lnTo>
                <a:lnTo>
                  <a:pt x="0" y="23393"/>
                </a:lnTo>
                <a:lnTo>
                  <a:pt x="0" y="114604"/>
                </a:lnTo>
                <a:lnTo>
                  <a:pt x="0" y="118160"/>
                </a:lnTo>
                <a:lnTo>
                  <a:pt x="23393" y="141541"/>
                </a:lnTo>
                <a:lnTo>
                  <a:pt x="1628267" y="141541"/>
                </a:lnTo>
                <a:lnTo>
                  <a:pt x="1651660" y="118160"/>
                </a:lnTo>
                <a:lnTo>
                  <a:pt x="1651660" y="23393"/>
                </a:lnTo>
                <a:close/>
              </a:path>
              <a:path w="1887854" h="316864">
                <a:moveTo>
                  <a:pt x="1887601" y="198640"/>
                </a:moveTo>
                <a:lnTo>
                  <a:pt x="1864220" y="175285"/>
                </a:lnTo>
                <a:lnTo>
                  <a:pt x="23393" y="175285"/>
                </a:lnTo>
                <a:lnTo>
                  <a:pt x="0" y="198640"/>
                </a:lnTo>
                <a:lnTo>
                  <a:pt x="0" y="289890"/>
                </a:lnTo>
                <a:lnTo>
                  <a:pt x="0" y="293433"/>
                </a:lnTo>
                <a:lnTo>
                  <a:pt x="23393" y="316852"/>
                </a:lnTo>
                <a:lnTo>
                  <a:pt x="1864220" y="316852"/>
                </a:lnTo>
                <a:lnTo>
                  <a:pt x="1887601" y="293433"/>
                </a:lnTo>
                <a:lnTo>
                  <a:pt x="1887601" y="198640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4367666" y="2095089"/>
            <a:ext cx="944244" cy="141605"/>
          </a:xfrm>
          <a:custGeom>
            <a:avLst/>
            <a:gdLst/>
            <a:ahLst/>
            <a:cxnLst/>
            <a:rect l="l" t="t" r="r" b="b"/>
            <a:pathLst>
              <a:path w="944245" h="141605">
                <a:moveTo>
                  <a:pt x="920411" y="141543"/>
                </a:moveTo>
                <a:lnTo>
                  <a:pt x="23390" y="141543"/>
                </a:lnTo>
                <a:lnTo>
                  <a:pt x="19950" y="140862"/>
                </a:lnTo>
                <a:lnTo>
                  <a:pt x="0" y="118157"/>
                </a:lnTo>
                <a:lnTo>
                  <a:pt x="0" y="114604"/>
                </a:lnTo>
                <a:lnTo>
                  <a:pt x="0" y="23386"/>
                </a:lnTo>
                <a:lnTo>
                  <a:pt x="23390" y="0"/>
                </a:lnTo>
                <a:lnTo>
                  <a:pt x="920411" y="0"/>
                </a:lnTo>
                <a:lnTo>
                  <a:pt x="943800" y="23386"/>
                </a:lnTo>
                <a:lnTo>
                  <a:pt x="943800" y="118157"/>
                </a:lnTo>
                <a:lnTo>
                  <a:pt x="923850" y="140862"/>
                </a:lnTo>
                <a:lnTo>
                  <a:pt x="920411" y="141543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5506961" y="2095080"/>
            <a:ext cx="998219" cy="316865"/>
          </a:xfrm>
          <a:custGeom>
            <a:avLst/>
            <a:gdLst/>
            <a:ahLst/>
            <a:cxnLst/>
            <a:rect l="l" t="t" r="r" b="b"/>
            <a:pathLst>
              <a:path w="998220" h="316864">
                <a:moveTo>
                  <a:pt x="586511" y="198640"/>
                </a:moveTo>
                <a:lnTo>
                  <a:pt x="563118" y="175285"/>
                </a:lnTo>
                <a:lnTo>
                  <a:pt x="23393" y="175285"/>
                </a:lnTo>
                <a:lnTo>
                  <a:pt x="0" y="198640"/>
                </a:lnTo>
                <a:lnTo>
                  <a:pt x="0" y="289890"/>
                </a:lnTo>
                <a:lnTo>
                  <a:pt x="0" y="293433"/>
                </a:lnTo>
                <a:lnTo>
                  <a:pt x="23393" y="316852"/>
                </a:lnTo>
                <a:lnTo>
                  <a:pt x="563118" y="316852"/>
                </a:lnTo>
                <a:lnTo>
                  <a:pt x="586511" y="293433"/>
                </a:lnTo>
                <a:lnTo>
                  <a:pt x="586511" y="198640"/>
                </a:lnTo>
                <a:close/>
              </a:path>
              <a:path w="998220" h="316864">
                <a:moveTo>
                  <a:pt x="997737" y="23393"/>
                </a:moveTo>
                <a:lnTo>
                  <a:pt x="974344" y="0"/>
                </a:lnTo>
                <a:lnTo>
                  <a:pt x="137998" y="0"/>
                </a:lnTo>
                <a:lnTo>
                  <a:pt x="114604" y="23393"/>
                </a:lnTo>
                <a:lnTo>
                  <a:pt x="114604" y="114604"/>
                </a:lnTo>
                <a:lnTo>
                  <a:pt x="114604" y="118160"/>
                </a:lnTo>
                <a:lnTo>
                  <a:pt x="137998" y="141541"/>
                </a:lnTo>
                <a:lnTo>
                  <a:pt x="974344" y="141541"/>
                </a:lnTo>
                <a:lnTo>
                  <a:pt x="997737" y="118160"/>
                </a:lnTo>
                <a:lnTo>
                  <a:pt x="997737" y="23393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1907032" y="2728772"/>
            <a:ext cx="1267460" cy="492125"/>
          </a:xfrm>
          <a:custGeom>
            <a:avLst/>
            <a:gdLst/>
            <a:ahLst/>
            <a:cxnLst/>
            <a:rect l="l" t="t" r="r" b="b"/>
            <a:pathLst>
              <a:path w="1267460" h="492125">
                <a:moveTo>
                  <a:pt x="525830" y="373913"/>
                </a:moveTo>
                <a:lnTo>
                  <a:pt x="502450" y="350558"/>
                </a:lnTo>
                <a:lnTo>
                  <a:pt x="23393" y="350558"/>
                </a:lnTo>
                <a:lnTo>
                  <a:pt x="0" y="373913"/>
                </a:lnTo>
                <a:lnTo>
                  <a:pt x="0" y="465162"/>
                </a:lnTo>
                <a:lnTo>
                  <a:pt x="0" y="468744"/>
                </a:lnTo>
                <a:lnTo>
                  <a:pt x="23393" y="492099"/>
                </a:lnTo>
                <a:lnTo>
                  <a:pt x="502450" y="492099"/>
                </a:lnTo>
                <a:lnTo>
                  <a:pt x="525830" y="468744"/>
                </a:lnTo>
                <a:lnTo>
                  <a:pt x="525830" y="373913"/>
                </a:lnTo>
                <a:close/>
              </a:path>
              <a:path w="1267460" h="492125">
                <a:moveTo>
                  <a:pt x="586511" y="198640"/>
                </a:moveTo>
                <a:lnTo>
                  <a:pt x="563118" y="175285"/>
                </a:lnTo>
                <a:lnTo>
                  <a:pt x="23393" y="175285"/>
                </a:lnTo>
                <a:lnTo>
                  <a:pt x="0" y="198640"/>
                </a:lnTo>
                <a:lnTo>
                  <a:pt x="0" y="289890"/>
                </a:lnTo>
                <a:lnTo>
                  <a:pt x="0" y="293433"/>
                </a:lnTo>
                <a:lnTo>
                  <a:pt x="23393" y="316826"/>
                </a:lnTo>
                <a:lnTo>
                  <a:pt x="563118" y="316826"/>
                </a:lnTo>
                <a:lnTo>
                  <a:pt x="586511" y="293433"/>
                </a:lnTo>
                <a:lnTo>
                  <a:pt x="586511" y="198640"/>
                </a:lnTo>
                <a:close/>
              </a:path>
              <a:path w="1267460" h="492125">
                <a:moveTo>
                  <a:pt x="1267396" y="23368"/>
                </a:moveTo>
                <a:lnTo>
                  <a:pt x="1244003" y="0"/>
                </a:lnTo>
                <a:lnTo>
                  <a:pt x="353720" y="0"/>
                </a:lnTo>
                <a:lnTo>
                  <a:pt x="330339" y="23368"/>
                </a:lnTo>
                <a:lnTo>
                  <a:pt x="330339" y="114604"/>
                </a:lnTo>
                <a:lnTo>
                  <a:pt x="330339" y="118160"/>
                </a:lnTo>
                <a:lnTo>
                  <a:pt x="353720" y="141554"/>
                </a:lnTo>
                <a:lnTo>
                  <a:pt x="1244003" y="141554"/>
                </a:lnTo>
                <a:lnTo>
                  <a:pt x="1267396" y="118160"/>
                </a:lnTo>
                <a:lnTo>
                  <a:pt x="1267396" y="23368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graphicFrame>
        <p:nvGraphicFramePr>
          <p:cNvPr id="16" name="object 16"/>
          <p:cNvGraphicFramePr>
            <a:graphicFrameLocks noGrp="1"/>
          </p:cNvGraphicFramePr>
          <p:nvPr/>
        </p:nvGraphicFramePr>
        <p:xfrm>
          <a:off x="680102" y="571525"/>
          <a:ext cx="6278880" cy="31730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52525"/>
                <a:gridCol w="5042535"/>
              </a:tblGrid>
              <a:tr h="808355">
                <a:tc>
                  <a:txBody>
                    <a:bodyPr/>
                    <a:lstStyle/>
                    <a:p>
                      <a:pPr marL="70485" marR="159385">
                        <a:lnSpc>
                          <a:spcPct val="116399"/>
                        </a:lnSpc>
                        <a:spcBef>
                          <a:spcPts val="320"/>
                        </a:spcBef>
                      </a:pPr>
                      <a:r>
                        <a:rPr dirty="0" sz="950" spc="-9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Same</a:t>
                      </a:r>
                      <a:r>
                        <a:rPr dirty="0" sz="950" spc="-3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chunk</a:t>
                      </a:r>
                      <a:r>
                        <a:rPr dirty="0" sz="950" spc="-2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5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count</a:t>
                      </a:r>
                      <a:r>
                        <a:rPr dirty="0" sz="950" spc="50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as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the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Postgres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run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40640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310" marR="577215">
                        <a:lnSpc>
                          <a:spcPct val="121100"/>
                        </a:lnSpc>
                        <a:spcBef>
                          <a:spcPts val="270"/>
                        </a:spcBef>
                      </a:pPr>
                      <a:r>
                        <a:rPr dirty="0" sz="900" spc="-60" b="1">
                          <a:solidFill>
                            <a:srgbClr val="111726"/>
                          </a:solidFill>
                          <a:latin typeface="Trebuchet MS"/>
                          <a:cs typeface="Trebuchet MS"/>
                        </a:rPr>
                        <a:t>20</a:t>
                      </a:r>
                      <a:r>
                        <a:rPr dirty="0" sz="900" spc="-85" b="1">
                          <a:solidFill>
                            <a:srgbClr val="111726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950" spc="-90" b="1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chunks</a:t>
                      </a:r>
                      <a:r>
                        <a:rPr dirty="0" sz="950" spc="-30" b="1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again</a:t>
                      </a:r>
                      <a:r>
                        <a:rPr dirty="0" sz="950" spc="-3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00" spc="-180">
                          <a:solidFill>
                            <a:srgbClr val="111726"/>
                          </a:solidFill>
                          <a:latin typeface="Arial"/>
                          <a:cs typeface="Arial"/>
                        </a:rPr>
                        <a:t>—</a:t>
                      </a:r>
                      <a:r>
                        <a:rPr dirty="0" sz="900" spc="-65">
                          <a:solidFill>
                            <a:srgbClr val="111726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expected,</a:t>
                      </a:r>
                      <a:r>
                        <a:rPr dirty="0" sz="950" spc="-3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5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since</a:t>
                      </a:r>
                      <a:r>
                        <a:rPr dirty="0" sz="950" spc="1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ingest.py</a:t>
                      </a:r>
                      <a:r>
                        <a:rPr dirty="0" sz="750" spc="-4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uses</a:t>
                      </a:r>
                      <a:r>
                        <a:rPr dirty="0" sz="950" spc="-3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the</a:t>
                      </a:r>
                      <a:r>
                        <a:rPr dirty="0" sz="950" spc="-3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6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identical</a:t>
                      </a:r>
                      <a:r>
                        <a:rPr dirty="0" sz="950" spc="19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750" spc="-1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chunk_size=500,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chunk_overlap=50</a:t>
                      </a:r>
                      <a:r>
                        <a:rPr dirty="0" sz="750" spc="-5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950" spc="-6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split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against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the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6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same</a:t>
                      </a:r>
                      <a:r>
                        <a:rPr dirty="0" sz="950" spc="22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sample.pdf </a:t>
                      </a:r>
                      <a:r>
                        <a:rPr dirty="0" sz="950" spc="-7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(the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Postgres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pipeline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2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uses</a:t>
                      </a:r>
                      <a:r>
                        <a:rPr dirty="0" sz="95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chunk_overlap=100</a:t>
                      </a:r>
                      <a:r>
                        <a:rPr dirty="0" sz="750" spc="-204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950" spc="-5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,</a:t>
                      </a:r>
                      <a:r>
                        <a:rPr dirty="0" sz="95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which</a:t>
                      </a:r>
                      <a:r>
                        <a:rPr dirty="0" sz="95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9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happened</a:t>
                      </a:r>
                      <a:r>
                        <a:rPr dirty="0" sz="95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not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to</a:t>
                      </a:r>
                      <a:r>
                        <a:rPr dirty="0" sz="95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change</a:t>
                      </a:r>
                      <a:r>
                        <a:rPr dirty="0" sz="95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the</a:t>
                      </a:r>
                      <a:r>
                        <a:rPr dirty="0" sz="95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resulting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count</a:t>
                      </a:r>
                      <a:r>
                        <a:rPr dirty="0" sz="95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for</a:t>
                      </a:r>
                      <a:r>
                        <a:rPr dirty="0" sz="95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6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this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2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particular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document).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34290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</a:tr>
              <a:tr h="633095">
                <a:tc>
                  <a:txBody>
                    <a:bodyPr/>
                    <a:lstStyle/>
                    <a:p>
                      <a:pPr marL="70485" marR="100330" indent="26670">
                        <a:lnSpc>
                          <a:spcPct val="131100"/>
                        </a:lnSpc>
                        <a:spcBef>
                          <a:spcPts val="430"/>
                        </a:spcBef>
                      </a:pP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Loading</a:t>
                      </a:r>
                      <a:r>
                        <a:rPr dirty="0" sz="750" spc="75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 spc="-1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weights: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100%</a:t>
                      </a:r>
                      <a:r>
                        <a:rPr dirty="0" sz="750" spc="-25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950" spc="-2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bar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54610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310" marR="79375">
                        <a:lnSpc>
                          <a:spcPct val="118700"/>
                        </a:lnSpc>
                        <a:spcBef>
                          <a:spcPts val="295"/>
                        </a:spcBef>
                      </a:pP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This</a:t>
                      </a:r>
                      <a:r>
                        <a:rPr dirty="0" sz="950" spc="-2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is</a:t>
                      </a:r>
                      <a:r>
                        <a:rPr dirty="0" sz="950" spc="2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sentence-transformers</a:t>
                      </a:r>
                      <a:r>
                        <a:rPr dirty="0" sz="750" spc="-25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loading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2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the</a:t>
                      </a:r>
                      <a:r>
                        <a:rPr dirty="0" sz="950" spc="2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all-MiniLM-L6-v2</a:t>
                      </a:r>
                      <a:r>
                        <a:rPr dirty="0" sz="750" spc="-2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model's</a:t>
                      </a:r>
                      <a:r>
                        <a:rPr dirty="0" sz="950" spc="-2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weights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4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(</a:t>
                      </a:r>
                      <a:r>
                        <a:rPr dirty="0" sz="850" spc="-40">
                          <a:solidFill>
                            <a:srgbClr val="111726"/>
                          </a:solidFill>
                          <a:latin typeface="Arial"/>
                          <a:cs typeface="Arial"/>
                        </a:rPr>
                        <a:t>103 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tensor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shards)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00" spc="-180">
                          <a:solidFill>
                            <a:srgbClr val="111726"/>
                          </a:solidFill>
                          <a:latin typeface="Arial"/>
                          <a:cs typeface="Arial"/>
                        </a:rPr>
                        <a:t>—</a:t>
                      </a:r>
                      <a:r>
                        <a:rPr dirty="0" sz="900" spc="-50">
                          <a:solidFill>
                            <a:srgbClr val="111726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the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9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same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step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seen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in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the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Postgres</a:t>
                      </a:r>
                      <a:r>
                        <a:rPr dirty="0" sz="950" spc="-2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run,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just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faster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here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4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(</a:t>
                      </a:r>
                      <a:r>
                        <a:rPr dirty="0" sz="850" spc="-40">
                          <a:solidFill>
                            <a:srgbClr val="111726"/>
                          </a:solidFill>
                          <a:latin typeface="Arial"/>
                          <a:cs typeface="Arial"/>
                        </a:rPr>
                        <a:t>10</a:t>
                      </a:r>
                      <a:r>
                        <a:rPr dirty="0" sz="950" spc="-4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,</a:t>
                      </a:r>
                      <a:r>
                        <a:rPr dirty="0" sz="850" spc="-40">
                          <a:solidFill>
                            <a:srgbClr val="111726"/>
                          </a:solidFill>
                          <a:latin typeface="Arial"/>
                          <a:cs typeface="Arial"/>
                        </a:rPr>
                        <a:t>214</a:t>
                      </a:r>
                      <a:r>
                        <a:rPr dirty="0" sz="850" spc="-30">
                          <a:solidFill>
                            <a:srgbClr val="111726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50" spc="-5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it/s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6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vs.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850" spc="-40">
                          <a:solidFill>
                            <a:srgbClr val="111726"/>
                          </a:solidFill>
                          <a:latin typeface="Arial"/>
                          <a:cs typeface="Arial"/>
                        </a:rPr>
                        <a:t>9</a:t>
                      </a:r>
                      <a:r>
                        <a:rPr dirty="0" sz="950" spc="-4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,</a:t>
                      </a:r>
                      <a:r>
                        <a:rPr dirty="0" sz="850" spc="-40">
                          <a:solidFill>
                            <a:srgbClr val="111726"/>
                          </a:solidFill>
                          <a:latin typeface="Arial"/>
                          <a:cs typeface="Arial"/>
                        </a:rPr>
                        <a:t>018</a:t>
                      </a:r>
                      <a:r>
                        <a:rPr dirty="0" sz="850" spc="-35">
                          <a:solidFill>
                            <a:srgbClr val="111726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50" spc="-5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it/s),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simply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2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due</a:t>
                      </a:r>
                      <a:r>
                        <a:rPr dirty="0" sz="950" spc="50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to</a:t>
                      </a:r>
                      <a:r>
                        <a:rPr dirty="0" sz="95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normal</a:t>
                      </a:r>
                      <a:r>
                        <a:rPr dirty="0" sz="95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run-</a:t>
                      </a:r>
                      <a:r>
                        <a:rPr dirty="0" sz="950" spc="-7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to-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run</a:t>
                      </a:r>
                      <a:r>
                        <a:rPr dirty="0" sz="95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variance/caching,</a:t>
                      </a:r>
                      <a:r>
                        <a:rPr dirty="0" sz="95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not</a:t>
                      </a:r>
                      <a:r>
                        <a:rPr dirty="0" sz="95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9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a</a:t>
                      </a:r>
                      <a:r>
                        <a:rPr dirty="0" sz="950" spc="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9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code</a:t>
                      </a:r>
                      <a:r>
                        <a:rPr dirty="0" sz="95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di</a:t>
                      </a:r>
                      <a:r>
                        <a:rPr dirty="0" sz="900" spc="-10">
                          <a:solidFill>
                            <a:srgbClr val="111726"/>
                          </a:solidFill>
                          <a:latin typeface="Arial"/>
                          <a:cs typeface="Arial"/>
                        </a:rPr>
                        <a:t>ﬀ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erence.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37465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</a:tr>
              <a:tr h="633095">
                <a:tc>
                  <a:txBody>
                    <a:bodyPr/>
                    <a:lstStyle/>
                    <a:p>
                      <a:pPr marL="70485" marR="184150">
                        <a:lnSpc>
                          <a:spcPct val="116399"/>
                        </a:lnSpc>
                        <a:spcBef>
                          <a:spcPts val="320"/>
                        </a:spcBef>
                      </a:pPr>
                      <a:r>
                        <a:rPr dirty="0" sz="950" spc="-10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Two</a:t>
                      </a:r>
                      <a:r>
                        <a:rPr dirty="0" sz="950" spc="-3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success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messages</a:t>
                      </a:r>
                      <a:r>
                        <a:rPr dirty="0" sz="950" spc="-3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10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back-</a:t>
                      </a:r>
                      <a:r>
                        <a:rPr dirty="0" sz="950" spc="-7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to-</a:t>
                      </a:r>
                      <a:r>
                        <a:rPr dirty="0" sz="950" spc="-2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back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40640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310" marR="91440" indent="26670">
                        <a:lnSpc>
                          <a:spcPct val="117100"/>
                        </a:lnSpc>
                        <a:spcBef>
                          <a:spcPts val="254"/>
                        </a:spcBef>
                      </a:pP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Indexed</a:t>
                      </a:r>
                      <a:r>
                        <a:rPr dirty="0" sz="750" spc="55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20</a:t>
                      </a:r>
                      <a:r>
                        <a:rPr dirty="0" sz="750" spc="6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document</a:t>
                      </a:r>
                      <a:r>
                        <a:rPr dirty="0" sz="750" spc="55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chunks.</a:t>
                      </a:r>
                      <a:r>
                        <a:rPr dirty="0" sz="750" spc="-2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950" spc="-6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is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printed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1000" spc="-40" i="1">
                          <a:solidFill>
                            <a:srgbClr val="111726"/>
                          </a:solidFill>
                          <a:latin typeface="Arial"/>
                          <a:cs typeface="Arial"/>
                        </a:rPr>
                        <a:t>inside</a:t>
                      </a:r>
                      <a:r>
                        <a:rPr dirty="0" sz="1000" spc="150" i="1">
                          <a:solidFill>
                            <a:srgbClr val="111726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add_documents()</a:t>
                      </a:r>
                      <a:r>
                        <a:rPr dirty="0" sz="750" spc="-25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950" spc="-5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(from</a:t>
                      </a:r>
                      <a:r>
                        <a:rPr dirty="0" sz="950" spc="2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solr_client.py</a:t>
                      </a:r>
                      <a:r>
                        <a:rPr dirty="0" sz="750" spc="-225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950" spc="-5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),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2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and</a:t>
                      </a:r>
                      <a:r>
                        <a:rPr dirty="0" sz="95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Documents</a:t>
                      </a:r>
                      <a:r>
                        <a:rPr dirty="0" sz="750" spc="7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indexed</a:t>
                      </a:r>
                      <a:r>
                        <a:rPr dirty="0" sz="750" spc="7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successfully.</a:t>
                      </a:r>
                      <a:r>
                        <a:rPr dirty="0" sz="750" spc="-5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950" spc="-6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is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printed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immediately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after,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1000" spc="-40" i="1">
                          <a:solidFill>
                            <a:srgbClr val="111726"/>
                          </a:solidFill>
                          <a:latin typeface="Arial"/>
                          <a:cs typeface="Arial"/>
                        </a:rPr>
                        <a:t>inside</a:t>
                      </a:r>
                      <a:r>
                        <a:rPr dirty="0" sz="1000" spc="165" i="1">
                          <a:solidFill>
                            <a:srgbClr val="111726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ingest.py</a:t>
                      </a:r>
                      <a:r>
                        <a:rPr dirty="0" sz="750" spc="-5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900" spc="-180">
                          <a:solidFill>
                            <a:srgbClr val="111726"/>
                          </a:solidFill>
                          <a:latin typeface="Arial"/>
                          <a:cs typeface="Arial"/>
                        </a:rPr>
                        <a:t>—</a:t>
                      </a:r>
                      <a:r>
                        <a:rPr dirty="0" sz="900" spc="-50">
                          <a:solidFill>
                            <a:srgbClr val="111726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exactly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2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as</a:t>
                      </a:r>
                      <a:r>
                        <a:rPr dirty="0" sz="950" spc="50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predicted</a:t>
                      </a:r>
                      <a:r>
                        <a:rPr dirty="0" sz="95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in</a:t>
                      </a:r>
                      <a:r>
                        <a:rPr dirty="0" sz="950" spc="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the</a:t>
                      </a:r>
                      <a:r>
                        <a:rPr dirty="0" sz="950" spc="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6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line-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by-</a:t>
                      </a:r>
                      <a:r>
                        <a:rPr dirty="0" sz="950" spc="-6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line</a:t>
                      </a:r>
                      <a:r>
                        <a:rPr dirty="0" sz="95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walkthrough</a:t>
                      </a:r>
                      <a:r>
                        <a:rPr dirty="0" sz="950" spc="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of</a:t>
                      </a:r>
                      <a:r>
                        <a:rPr dirty="0" sz="950" spc="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both</a:t>
                      </a:r>
                      <a:r>
                        <a:rPr dirty="0" sz="95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00" spc="-20">
                          <a:solidFill>
                            <a:srgbClr val="111726"/>
                          </a:solidFill>
                          <a:latin typeface="Arial"/>
                          <a:cs typeface="Arial"/>
                        </a:rPr>
                        <a:t>ﬁ</a:t>
                      </a:r>
                      <a:r>
                        <a:rPr dirty="0" sz="950" spc="-2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les.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32384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</a:tr>
              <a:tr h="647065">
                <a:tc>
                  <a:txBody>
                    <a:bodyPr/>
                    <a:lstStyle/>
                    <a:p>
                      <a:pPr marL="70485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950" spc="-10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No</a:t>
                      </a:r>
                      <a:r>
                        <a:rPr dirty="0" sz="950" spc="-2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9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LLM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loaded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2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here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64769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3980" marR="121920" indent="-27305">
                        <a:lnSpc>
                          <a:spcPct val="120100"/>
                        </a:lnSpc>
                        <a:spcBef>
                          <a:spcPts val="215"/>
                        </a:spcBef>
                      </a:pPr>
                      <a:r>
                        <a:rPr dirty="0" sz="950" spc="-5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Unlike</a:t>
                      </a:r>
                      <a:r>
                        <a:rPr dirty="0" sz="950" spc="2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rag_pipeline.py</a:t>
                      </a:r>
                      <a:r>
                        <a:rPr dirty="0" sz="750" spc="-2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(which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loads</a:t>
                      </a:r>
                      <a:r>
                        <a:rPr dirty="0" sz="950" spc="-2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both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the</a:t>
                      </a:r>
                      <a:r>
                        <a:rPr dirty="0" sz="950" spc="-2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9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embedding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model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1000" spc="-80" i="1">
                          <a:solidFill>
                            <a:srgbClr val="111726"/>
                          </a:solidFill>
                          <a:latin typeface="Arial"/>
                          <a:cs typeface="Arial"/>
                        </a:rPr>
                        <a:t>and </a:t>
                      </a:r>
                      <a:r>
                        <a:rPr dirty="0" sz="950" spc="-9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Qwen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in</a:t>
                      </a:r>
                      <a:r>
                        <a:rPr dirty="0" sz="950" spc="-2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one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script),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ingest.py</a:t>
                      </a:r>
                      <a:r>
                        <a:rPr dirty="0" sz="750" spc="5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only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loads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the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9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embedding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model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00" spc="-180">
                          <a:solidFill>
                            <a:srgbClr val="111726"/>
                          </a:solidFill>
                          <a:latin typeface="Arial"/>
                          <a:cs typeface="Arial"/>
                        </a:rPr>
                        <a:t>—</a:t>
                      </a:r>
                      <a:r>
                        <a:rPr dirty="0" sz="900" spc="-40">
                          <a:solidFill>
                            <a:srgbClr val="111726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the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9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LLM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6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(via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Ollama)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6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is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loaded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separately,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only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3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when</a:t>
                      </a:r>
                      <a:r>
                        <a:rPr dirty="0" sz="95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query.py</a:t>
                      </a:r>
                      <a:r>
                        <a:rPr dirty="0" sz="750" spc="-2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950" spc="-6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is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run.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That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step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9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was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not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captured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in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9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a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screenshot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for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6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this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project.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27305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</a:tr>
              <a:tr h="451484">
                <a:tc>
                  <a:txBody>
                    <a:bodyPr/>
                    <a:lstStyle/>
                    <a:p>
                      <a:pPr marL="70485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Clean</a:t>
                      </a:r>
                      <a:r>
                        <a:rPr dirty="0" sz="950" spc="-2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exit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64769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310" marR="573405">
                        <a:lnSpc>
                          <a:spcPct val="116399"/>
                        </a:lnSpc>
                        <a:spcBef>
                          <a:spcPts val="320"/>
                        </a:spcBef>
                      </a:pPr>
                      <a:r>
                        <a:rPr dirty="0" sz="950" spc="-9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The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script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returns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to</a:t>
                      </a:r>
                      <a:r>
                        <a:rPr dirty="0" sz="95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the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PowerShell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9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prompt</a:t>
                      </a:r>
                      <a:r>
                        <a:rPr dirty="0" sz="95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with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9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no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errors,</a:t>
                      </a:r>
                      <a:r>
                        <a:rPr dirty="0" sz="95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con</a:t>
                      </a:r>
                      <a:r>
                        <a:rPr dirty="0" sz="900" spc="-75">
                          <a:solidFill>
                            <a:srgbClr val="111726"/>
                          </a:solidFill>
                          <a:latin typeface="Arial"/>
                          <a:cs typeface="Arial"/>
                        </a:rPr>
                        <a:t>ﬁ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rming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the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9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documents</a:t>
                      </a:r>
                      <a:r>
                        <a:rPr dirty="0" sz="95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2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were</a:t>
                      </a:r>
                      <a:r>
                        <a:rPr dirty="0" sz="950" spc="50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successfully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written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to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the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running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6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Solr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2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core.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40640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7" name="object 17"/>
          <p:cNvSpPr/>
          <p:nvPr/>
        </p:nvSpPr>
        <p:spPr>
          <a:xfrm>
            <a:off x="943018" y="4097295"/>
            <a:ext cx="741680" cy="195580"/>
          </a:xfrm>
          <a:custGeom>
            <a:avLst/>
            <a:gdLst/>
            <a:ahLst/>
            <a:cxnLst/>
            <a:rect l="l" t="t" r="r" b="b"/>
            <a:pathLst>
              <a:path w="741680" h="195579">
                <a:moveTo>
                  <a:pt x="718167" y="195501"/>
                </a:moveTo>
                <a:lnTo>
                  <a:pt x="23389" y="195501"/>
                </a:lnTo>
                <a:lnTo>
                  <a:pt x="19950" y="194813"/>
                </a:lnTo>
                <a:lnTo>
                  <a:pt x="0" y="172088"/>
                </a:lnTo>
                <a:lnTo>
                  <a:pt x="0" y="168535"/>
                </a:lnTo>
                <a:lnTo>
                  <a:pt x="0" y="23386"/>
                </a:lnTo>
                <a:lnTo>
                  <a:pt x="23389" y="0"/>
                </a:lnTo>
                <a:lnTo>
                  <a:pt x="718167" y="0"/>
                </a:lnTo>
                <a:lnTo>
                  <a:pt x="741557" y="23386"/>
                </a:lnTo>
                <a:lnTo>
                  <a:pt x="741557" y="172088"/>
                </a:lnTo>
                <a:lnTo>
                  <a:pt x="721607" y="194813"/>
                </a:lnTo>
                <a:lnTo>
                  <a:pt x="718167" y="195501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667402" y="4049859"/>
            <a:ext cx="6130290" cy="69342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300" spc="-30" b="1">
                <a:solidFill>
                  <a:srgbClr val="111726"/>
                </a:solidFill>
                <a:latin typeface="Trebuchet MS"/>
                <a:cs typeface="Trebuchet MS"/>
              </a:rPr>
              <a:t>2</a:t>
            </a:r>
            <a:r>
              <a:rPr dirty="0" sz="1450" spc="-30" b="1">
                <a:solidFill>
                  <a:srgbClr val="111726"/>
                </a:solidFill>
                <a:latin typeface="Source Han Sans JP"/>
                <a:cs typeface="Source Han Sans JP"/>
              </a:rPr>
              <a:t>.</a:t>
            </a:r>
            <a:r>
              <a:rPr dirty="0" sz="1300" spc="-30" b="1">
                <a:solidFill>
                  <a:srgbClr val="111726"/>
                </a:solidFill>
                <a:latin typeface="Trebuchet MS"/>
                <a:cs typeface="Trebuchet MS"/>
              </a:rPr>
              <a:t>6</a:t>
            </a:r>
            <a:r>
              <a:rPr dirty="0" sz="1300" spc="-60" b="1">
                <a:solidFill>
                  <a:srgbClr val="111726"/>
                </a:solidFill>
                <a:latin typeface="Trebuchet MS"/>
                <a:cs typeface="Trebuchet MS"/>
              </a:rPr>
              <a:t> </a:t>
            </a:r>
            <a:r>
              <a:rPr dirty="0" sz="1100" spc="-10" b="1">
                <a:solidFill>
                  <a:srgbClr val="111726"/>
                </a:solidFill>
                <a:latin typeface="Courier New"/>
                <a:cs typeface="Courier New"/>
              </a:rPr>
              <a:t>query.py</a:t>
            </a:r>
            <a:endParaRPr sz="1100">
              <a:latin typeface="Courier New"/>
              <a:cs typeface="Courier New"/>
            </a:endParaRPr>
          </a:p>
          <a:p>
            <a:pPr marL="12700" marR="5080">
              <a:lnSpc>
                <a:spcPct val="119400"/>
              </a:lnSpc>
              <a:spcBef>
                <a:spcPts val="655"/>
              </a:spcBef>
            </a:pPr>
            <a:r>
              <a:rPr dirty="0" sz="1000" spc="-95">
                <a:solidFill>
                  <a:srgbClr val="111726"/>
                </a:solidFill>
                <a:latin typeface="Source Han Sans JP"/>
                <a:cs typeface="Source Han Sans JP"/>
              </a:rPr>
              <a:t>Runs</a:t>
            </a:r>
            <a:r>
              <a:rPr dirty="0" sz="1000" spc="-10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100">
                <a:solidFill>
                  <a:srgbClr val="111726"/>
                </a:solidFill>
                <a:latin typeface="Source Han Sans JP"/>
                <a:cs typeface="Source Han Sans JP"/>
              </a:rPr>
              <a:t>an</a:t>
            </a:r>
            <a:r>
              <a:rPr dirty="0" sz="1000" spc="-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85">
                <a:solidFill>
                  <a:srgbClr val="111726"/>
                </a:solidFill>
                <a:latin typeface="Source Han Sans JP"/>
                <a:cs typeface="Source Han Sans JP"/>
              </a:rPr>
              <a:t>interactive</a:t>
            </a:r>
            <a:r>
              <a:rPr dirty="0" sz="1000" spc="-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90">
                <a:solidFill>
                  <a:srgbClr val="111726"/>
                </a:solidFill>
                <a:latin typeface="Source Han Sans JP"/>
                <a:cs typeface="Source Han Sans JP"/>
              </a:rPr>
              <a:t>one-</a:t>
            </a:r>
            <a:r>
              <a:rPr dirty="0" sz="1000" spc="-85">
                <a:solidFill>
                  <a:srgbClr val="111726"/>
                </a:solidFill>
                <a:latin typeface="Source Han Sans JP"/>
                <a:cs typeface="Source Han Sans JP"/>
              </a:rPr>
              <a:t>shot</a:t>
            </a:r>
            <a:r>
              <a:rPr dirty="0" sz="1000" spc="-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75">
                <a:solidFill>
                  <a:srgbClr val="111726"/>
                </a:solidFill>
                <a:latin typeface="Source Han Sans JP"/>
                <a:cs typeface="Source Han Sans JP"/>
              </a:rPr>
              <a:t>query:</a:t>
            </a:r>
            <a:r>
              <a:rPr dirty="0" sz="1000" spc="-10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95">
                <a:solidFill>
                  <a:srgbClr val="111726"/>
                </a:solidFill>
                <a:latin typeface="Source Han Sans JP"/>
                <a:cs typeface="Source Han Sans JP"/>
              </a:rPr>
              <a:t>takes</a:t>
            </a:r>
            <a:r>
              <a:rPr dirty="0" sz="1000" spc="-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90">
                <a:solidFill>
                  <a:srgbClr val="111726"/>
                </a:solidFill>
                <a:latin typeface="Source Han Sans JP"/>
                <a:cs typeface="Source Han Sans JP"/>
              </a:rPr>
              <a:t>a</a:t>
            </a:r>
            <a:r>
              <a:rPr dirty="0" sz="1000" spc="-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85">
                <a:solidFill>
                  <a:srgbClr val="111726"/>
                </a:solidFill>
                <a:latin typeface="Source Han Sans JP"/>
                <a:cs typeface="Source Han Sans JP"/>
              </a:rPr>
              <a:t>question,</a:t>
            </a:r>
            <a:r>
              <a:rPr dirty="0" sz="1000" spc="-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80">
                <a:solidFill>
                  <a:srgbClr val="111726"/>
                </a:solidFill>
                <a:latin typeface="Source Han Sans JP"/>
                <a:cs typeface="Source Han Sans JP"/>
              </a:rPr>
              <a:t>retrieves</a:t>
            </a:r>
            <a:r>
              <a:rPr dirty="0" sz="1000" spc="-10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85">
                <a:solidFill>
                  <a:srgbClr val="111726"/>
                </a:solidFill>
                <a:latin typeface="Source Han Sans JP"/>
                <a:cs typeface="Source Han Sans JP"/>
              </a:rPr>
              <a:t>relevant</a:t>
            </a:r>
            <a:r>
              <a:rPr dirty="0" sz="1000" spc="-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95">
                <a:solidFill>
                  <a:srgbClr val="111726"/>
                </a:solidFill>
                <a:latin typeface="Source Han Sans JP"/>
                <a:cs typeface="Source Han Sans JP"/>
              </a:rPr>
              <a:t>chunks</a:t>
            </a:r>
            <a:r>
              <a:rPr dirty="0" sz="1000" spc="-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90">
                <a:solidFill>
                  <a:srgbClr val="111726"/>
                </a:solidFill>
                <a:latin typeface="Source Han Sans JP"/>
                <a:cs typeface="Source Han Sans JP"/>
              </a:rPr>
              <a:t>from</a:t>
            </a:r>
            <a:r>
              <a:rPr dirty="0" sz="1000" spc="-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80">
                <a:solidFill>
                  <a:srgbClr val="111726"/>
                </a:solidFill>
                <a:latin typeface="Source Han Sans JP"/>
                <a:cs typeface="Source Han Sans JP"/>
              </a:rPr>
              <a:t>Solr,</a:t>
            </a:r>
            <a:r>
              <a:rPr dirty="0" sz="1000" spc="-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95">
                <a:solidFill>
                  <a:srgbClr val="111726"/>
                </a:solidFill>
                <a:latin typeface="Source Han Sans JP"/>
                <a:cs typeface="Source Han Sans JP"/>
              </a:rPr>
              <a:t>and</a:t>
            </a:r>
            <a:r>
              <a:rPr dirty="0" sz="1000" spc="-10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95">
                <a:solidFill>
                  <a:srgbClr val="111726"/>
                </a:solidFill>
                <a:latin typeface="Source Han Sans JP"/>
                <a:cs typeface="Source Han Sans JP"/>
              </a:rPr>
              <a:t>generates</a:t>
            </a:r>
            <a:r>
              <a:rPr dirty="0" sz="1000" spc="-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100">
                <a:solidFill>
                  <a:srgbClr val="111726"/>
                </a:solidFill>
                <a:latin typeface="Source Han Sans JP"/>
                <a:cs typeface="Source Han Sans JP"/>
              </a:rPr>
              <a:t>an</a:t>
            </a:r>
            <a:r>
              <a:rPr dirty="0" sz="1000" spc="-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95">
                <a:solidFill>
                  <a:srgbClr val="111726"/>
                </a:solidFill>
                <a:latin typeface="Source Han Sans JP"/>
                <a:cs typeface="Source Han Sans JP"/>
              </a:rPr>
              <a:t>answer</a:t>
            </a:r>
            <a:r>
              <a:rPr dirty="0" sz="1000" spc="-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85">
                <a:solidFill>
                  <a:srgbClr val="111726"/>
                </a:solidFill>
                <a:latin typeface="Source Han Sans JP"/>
                <a:cs typeface="Source Han Sans JP"/>
              </a:rPr>
              <a:t>using</a:t>
            </a:r>
            <a:r>
              <a:rPr dirty="0" sz="1000" spc="-10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50">
                <a:solidFill>
                  <a:srgbClr val="111726"/>
                </a:solidFill>
                <a:latin typeface="Source Han Sans JP"/>
                <a:cs typeface="Source Han Sans JP"/>
              </a:rPr>
              <a:t>a</a:t>
            </a:r>
            <a:r>
              <a:rPr dirty="0" sz="1000" spc="500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75" b="1">
                <a:solidFill>
                  <a:srgbClr val="111726"/>
                </a:solidFill>
                <a:latin typeface="Source Han Sans JP"/>
                <a:cs typeface="Source Han Sans JP"/>
              </a:rPr>
              <a:t>locally</a:t>
            </a:r>
            <a:r>
              <a:rPr dirty="0" sz="1000" spc="-10" b="1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95" b="1">
                <a:solidFill>
                  <a:srgbClr val="111726"/>
                </a:solidFill>
                <a:latin typeface="Source Han Sans JP"/>
                <a:cs typeface="Source Han Sans JP"/>
              </a:rPr>
              <a:t>running</a:t>
            </a:r>
            <a:r>
              <a:rPr dirty="0" sz="1000" spc="-5" b="1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95" b="1">
                <a:solidFill>
                  <a:srgbClr val="111726"/>
                </a:solidFill>
                <a:latin typeface="Source Han Sans JP"/>
                <a:cs typeface="Source Han Sans JP"/>
              </a:rPr>
              <a:t>Ollama</a:t>
            </a:r>
            <a:r>
              <a:rPr dirty="0" sz="1000" spc="-10" b="1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75">
                <a:solidFill>
                  <a:srgbClr val="111726"/>
                </a:solidFill>
                <a:latin typeface="Source Han Sans JP"/>
                <a:cs typeface="Source Han Sans JP"/>
              </a:rPr>
              <a:t>server</a:t>
            </a:r>
            <a:r>
              <a:rPr dirty="0" sz="1000" spc="-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85">
                <a:solidFill>
                  <a:srgbClr val="111726"/>
                </a:solidFill>
                <a:latin typeface="Source Han Sans JP"/>
                <a:cs typeface="Source Han Sans JP"/>
              </a:rPr>
              <a:t>hosting</a:t>
            </a:r>
            <a:r>
              <a:rPr dirty="0" sz="1000" spc="-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20">
                <a:solidFill>
                  <a:srgbClr val="111726"/>
                </a:solidFill>
                <a:latin typeface="Source Han Sans JP"/>
                <a:cs typeface="Source Han Sans JP"/>
              </a:rPr>
              <a:t>Qwen.</a:t>
            </a:r>
            <a:endParaRPr sz="1000">
              <a:latin typeface="Source Han Sans JP"/>
              <a:cs typeface="Source Han Sans JP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61782" y="4952881"/>
            <a:ext cx="3292475" cy="86296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import</a:t>
            </a:r>
            <a:r>
              <a:rPr dirty="0" sz="800" spc="3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 spc="-10">
                <a:solidFill>
                  <a:srgbClr val="E4E7EB"/>
                </a:solidFill>
                <a:latin typeface="Courier New"/>
                <a:cs typeface="Courier New"/>
              </a:rPr>
              <a:t>ollama</a:t>
            </a:r>
            <a:endParaRPr sz="800">
              <a:latin typeface="Courier New"/>
              <a:cs typeface="Courier New"/>
            </a:endParaRPr>
          </a:p>
          <a:p>
            <a:pPr marL="12700" marR="5080">
              <a:lnSpc>
                <a:spcPct val="293100"/>
              </a:lnSpc>
            </a:pP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from</a:t>
            </a:r>
            <a:r>
              <a:rPr dirty="0" sz="800" spc="5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sentence_transformers</a:t>
            </a:r>
            <a:r>
              <a:rPr dirty="0" sz="800" spc="5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import</a:t>
            </a:r>
            <a:r>
              <a:rPr dirty="0" sz="800" spc="5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 spc="-10">
                <a:solidFill>
                  <a:srgbClr val="E4E7EB"/>
                </a:solidFill>
                <a:latin typeface="Courier New"/>
                <a:cs typeface="Courier New"/>
              </a:rPr>
              <a:t>SentenceTransformer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from</a:t>
            </a:r>
            <a:r>
              <a:rPr dirty="0" sz="800" spc="3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solr_client</a:t>
            </a:r>
            <a:r>
              <a:rPr dirty="0" sz="800" spc="3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import</a:t>
            </a:r>
            <a:r>
              <a:rPr dirty="0" sz="800" spc="3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 spc="-10">
                <a:solidFill>
                  <a:srgbClr val="E4E7EB"/>
                </a:solidFill>
                <a:latin typeface="Courier New"/>
                <a:cs typeface="Courier New"/>
              </a:rPr>
              <a:t>search</a:t>
            </a:r>
            <a:endParaRPr sz="800">
              <a:latin typeface="Courier New"/>
              <a:cs typeface="Courier New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754257" y="6402865"/>
            <a:ext cx="822960" cy="141605"/>
          </a:xfrm>
          <a:custGeom>
            <a:avLst/>
            <a:gdLst/>
            <a:ahLst/>
            <a:cxnLst/>
            <a:rect l="l" t="t" r="r" b="b"/>
            <a:pathLst>
              <a:path w="822960" h="141604">
                <a:moveTo>
                  <a:pt x="799065" y="141543"/>
                </a:moveTo>
                <a:lnTo>
                  <a:pt x="23389" y="141543"/>
                </a:lnTo>
                <a:lnTo>
                  <a:pt x="19950" y="140862"/>
                </a:lnTo>
                <a:lnTo>
                  <a:pt x="0" y="118157"/>
                </a:lnTo>
                <a:lnTo>
                  <a:pt x="0" y="114604"/>
                </a:lnTo>
                <a:lnTo>
                  <a:pt x="0" y="23359"/>
                </a:lnTo>
                <a:lnTo>
                  <a:pt x="23389" y="0"/>
                </a:lnTo>
                <a:lnTo>
                  <a:pt x="799065" y="0"/>
                </a:lnTo>
                <a:lnTo>
                  <a:pt x="822454" y="23359"/>
                </a:lnTo>
                <a:lnTo>
                  <a:pt x="822454" y="118157"/>
                </a:lnTo>
                <a:lnTo>
                  <a:pt x="802504" y="140862"/>
                </a:lnTo>
                <a:lnTo>
                  <a:pt x="799065" y="141543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754253" y="6861250"/>
            <a:ext cx="1982470" cy="316865"/>
          </a:xfrm>
          <a:custGeom>
            <a:avLst/>
            <a:gdLst/>
            <a:ahLst/>
            <a:cxnLst/>
            <a:rect l="l" t="t" r="r" b="b"/>
            <a:pathLst>
              <a:path w="1982470" h="316865">
                <a:moveTo>
                  <a:pt x="1152779" y="198666"/>
                </a:moveTo>
                <a:lnTo>
                  <a:pt x="1152093" y="195211"/>
                </a:lnTo>
                <a:lnTo>
                  <a:pt x="1149362" y="188607"/>
                </a:lnTo>
                <a:lnTo>
                  <a:pt x="1147419" y="185674"/>
                </a:lnTo>
                <a:lnTo>
                  <a:pt x="1144879" y="183172"/>
                </a:lnTo>
                <a:lnTo>
                  <a:pt x="1142352" y="180619"/>
                </a:lnTo>
                <a:lnTo>
                  <a:pt x="1139444" y="178701"/>
                </a:lnTo>
                <a:lnTo>
                  <a:pt x="1132827" y="175996"/>
                </a:lnTo>
                <a:lnTo>
                  <a:pt x="1129398" y="175285"/>
                </a:lnTo>
                <a:lnTo>
                  <a:pt x="0" y="175285"/>
                </a:lnTo>
                <a:lnTo>
                  <a:pt x="0" y="316852"/>
                </a:lnTo>
                <a:lnTo>
                  <a:pt x="1129398" y="316852"/>
                </a:lnTo>
                <a:lnTo>
                  <a:pt x="1152779" y="293458"/>
                </a:lnTo>
                <a:lnTo>
                  <a:pt x="1152779" y="198666"/>
                </a:lnTo>
                <a:close/>
              </a:path>
              <a:path w="1982470" h="316865">
                <a:moveTo>
                  <a:pt x="1981974" y="0"/>
                </a:moveTo>
                <a:lnTo>
                  <a:pt x="23393" y="0"/>
                </a:lnTo>
                <a:lnTo>
                  <a:pt x="19951" y="711"/>
                </a:lnTo>
                <a:lnTo>
                  <a:pt x="0" y="23380"/>
                </a:lnTo>
                <a:lnTo>
                  <a:pt x="0" y="118186"/>
                </a:lnTo>
                <a:lnTo>
                  <a:pt x="23393" y="141566"/>
                </a:lnTo>
                <a:lnTo>
                  <a:pt x="1981974" y="141566"/>
                </a:lnTo>
                <a:lnTo>
                  <a:pt x="1981974" y="0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754257" y="7326441"/>
            <a:ext cx="1827530" cy="141605"/>
          </a:xfrm>
          <a:custGeom>
            <a:avLst/>
            <a:gdLst/>
            <a:ahLst/>
            <a:cxnLst/>
            <a:rect l="l" t="t" r="r" b="b"/>
            <a:pathLst>
              <a:path w="1827530" h="141604">
                <a:moveTo>
                  <a:pt x="1803538" y="141543"/>
                </a:moveTo>
                <a:lnTo>
                  <a:pt x="23389" y="141543"/>
                </a:lnTo>
                <a:lnTo>
                  <a:pt x="19950" y="140862"/>
                </a:lnTo>
                <a:lnTo>
                  <a:pt x="0" y="118157"/>
                </a:lnTo>
                <a:lnTo>
                  <a:pt x="0" y="114604"/>
                </a:lnTo>
                <a:lnTo>
                  <a:pt x="0" y="23386"/>
                </a:lnTo>
                <a:lnTo>
                  <a:pt x="23389" y="0"/>
                </a:lnTo>
                <a:lnTo>
                  <a:pt x="1803538" y="0"/>
                </a:lnTo>
                <a:lnTo>
                  <a:pt x="1826928" y="23386"/>
                </a:lnTo>
                <a:lnTo>
                  <a:pt x="1826928" y="118157"/>
                </a:lnTo>
                <a:lnTo>
                  <a:pt x="1806978" y="140862"/>
                </a:lnTo>
                <a:lnTo>
                  <a:pt x="1803538" y="141543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5122706" y="7326441"/>
            <a:ext cx="876935" cy="141605"/>
          </a:xfrm>
          <a:custGeom>
            <a:avLst/>
            <a:gdLst/>
            <a:ahLst/>
            <a:cxnLst/>
            <a:rect l="l" t="t" r="r" b="b"/>
            <a:pathLst>
              <a:path w="876935" h="141604">
                <a:moveTo>
                  <a:pt x="852996" y="141543"/>
                </a:moveTo>
                <a:lnTo>
                  <a:pt x="23390" y="141543"/>
                </a:lnTo>
                <a:lnTo>
                  <a:pt x="19949" y="140862"/>
                </a:lnTo>
                <a:lnTo>
                  <a:pt x="0" y="118157"/>
                </a:lnTo>
                <a:lnTo>
                  <a:pt x="0" y="114604"/>
                </a:lnTo>
                <a:lnTo>
                  <a:pt x="0" y="23386"/>
                </a:lnTo>
                <a:lnTo>
                  <a:pt x="23390" y="0"/>
                </a:lnTo>
                <a:lnTo>
                  <a:pt x="852996" y="0"/>
                </a:lnTo>
                <a:lnTo>
                  <a:pt x="876386" y="23386"/>
                </a:lnTo>
                <a:lnTo>
                  <a:pt x="876386" y="118157"/>
                </a:lnTo>
                <a:lnTo>
                  <a:pt x="856436" y="140862"/>
                </a:lnTo>
                <a:lnTo>
                  <a:pt x="852996" y="141543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graphicFrame>
        <p:nvGraphicFramePr>
          <p:cNvPr id="24" name="object 24"/>
          <p:cNvGraphicFramePr>
            <a:graphicFrameLocks noGrp="1"/>
          </p:cNvGraphicFramePr>
          <p:nvPr/>
        </p:nvGraphicFramePr>
        <p:xfrm>
          <a:off x="680102" y="6038828"/>
          <a:ext cx="6278880" cy="14947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527935"/>
                <a:gridCol w="3667125"/>
              </a:tblGrid>
              <a:tr h="282575">
                <a:tc>
                  <a:txBody>
                    <a:bodyPr/>
                    <a:lstStyle/>
                    <a:p>
                      <a:pPr marL="70485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950" spc="-20" b="1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Line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64769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marL="69850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950" spc="-10" b="1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Explanation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64769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  <a:solidFill>
                      <a:srgbClr val="F7FAFB"/>
                    </a:solidFill>
                  </a:tcPr>
                </a:tc>
              </a:tr>
              <a:tr h="457834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import</a:t>
                      </a:r>
                      <a:r>
                        <a:rPr dirty="0" sz="750" spc="7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 spc="-1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ollama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90170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0" marR="73660">
                        <a:lnSpc>
                          <a:spcPct val="121100"/>
                        </a:lnSpc>
                        <a:spcBef>
                          <a:spcPts val="270"/>
                        </a:spcBef>
                      </a:pP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Imports</a:t>
                      </a:r>
                      <a:r>
                        <a:rPr dirty="0" sz="950" spc="-2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the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5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o</a:t>
                      </a:r>
                      <a:r>
                        <a:rPr dirty="0" sz="900" spc="-50">
                          <a:solidFill>
                            <a:srgbClr val="111726"/>
                          </a:solidFill>
                          <a:latin typeface="Arial"/>
                          <a:cs typeface="Arial"/>
                        </a:rPr>
                        <a:t>ﬃ</a:t>
                      </a:r>
                      <a:r>
                        <a:rPr dirty="0" sz="950" spc="-5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cial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Python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6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client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for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 b="1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Ollama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,</a:t>
                      </a:r>
                      <a:r>
                        <a:rPr dirty="0" sz="950" spc="-2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9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a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tool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that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runs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LLMs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5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locally</a:t>
                      </a:r>
                      <a:r>
                        <a:rPr dirty="0" sz="950" spc="50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and</a:t>
                      </a:r>
                      <a:r>
                        <a:rPr dirty="0" sz="950" spc="-2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exposes</a:t>
                      </a:r>
                      <a:r>
                        <a:rPr dirty="0" sz="950" spc="-2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them</a:t>
                      </a:r>
                      <a:r>
                        <a:rPr dirty="0" sz="950" spc="-2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via</a:t>
                      </a:r>
                      <a:r>
                        <a:rPr dirty="0" sz="950" spc="-2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9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a</a:t>
                      </a:r>
                      <a:r>
                        <a:rPr dirty="0" sz="950" spc="-2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simple</a:t>
                      </a:r>
                      <a:r>
                        <a:rPr dirty="0" sz="950" spc="-2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API/CLI.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34290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</a:tr>
              <a:tr h="464820">
                <a:tc>
                  <a:txBody>
                    <a:bodyPr/>
                    <a:lstStyle/>
                    <a:p>
                      <a:pPr marL="70485" marR="469900" indent="26670">
                        <a:lnSpc>
                          <a:spcPct val="153300"/>
                        </a:lnSpc>
                        <a:spcBef>
                          <a:spcPts val="229"/>
                        </a:spcBef>
                      </a:pP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from</a:t>
                      </a:r>
                      <a:r>
                        <a:rPr dirty="0" sz="750" spc="125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sentence_transformers</a:t>
                      </a:r>
                      <a:r>
                        <a:rPr dirty="0" sz="750" spc="125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 spc="-1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import SentenceTransformer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29209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0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950" spc="-9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Same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9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embedding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model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class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used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for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encoding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the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query.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64769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from</a:t>
                      </a:r>
                      <a:r>
                        <a:rPr dirty="0" sz="750" spc="75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solr_client</a:t>
                      </a:r>
                      <a:r>
                        <a:rPr dirty="0" sz="750" spc="8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import</a:t>
                      </a:r>
                      <a:r>
                        <a:rPr dirty="0" sz="750" spc="8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 spc="-1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search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90170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0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Imports</a:t>
                      </a:r>
                      <a:r>
                        <a:rPr dirty="0" sz="950" spc="-2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the</a:t>
                      </a:r>
                      <a:r>
                        <a:rPr dirty="0" sz="950" spc="-2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9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kNN</a:t>
                      </a:r>
                      <a:r>
                        <a:rPr dirty="0" sz="950" spc="-2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search</a:t>
                      </a:r>
                      <a:r>
                        <a:rPr dirty="0" sz="950" spc="-2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function</a:t>
                      </a:r>
                      <a:r>
                        <a:rPr dirty="0" sz="950" spc="-2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5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from</a:t>
                      </a:r>
                      <a:r>
                        <a:rPr dirty="0" sz="950" spc="2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solr_client.py</a:t>
                      </a:r>
                      <a:r>
                        <a:rPr dirty="0" sz="750" spc="-22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950" spc="-5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.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64769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5" name="object 25"/>
          <p:cNvSpPr txBox="1"/>
          <p:nvPr/>
        </p:nvSpPr>
        <p:spPr>
          <a:xfrm>
            <a:off x="774482" y="7698262"/>
            <a:ext cx="2712720" cy="565150"/>
          </a:xfrm>
          <a:prstGeom prst="rect">
            <a:avLst/>
          </a:prstGeom>
        </p:spPr>
        <p:txBody>
          <a:bodyPr wrap="square" lIns="0" tIns="7239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570"/>
              </a:spcBef>
            </a:pP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model</a:t>
            </a:r>
            <a:r>
              <a:rPr dirty="0" sz="800" spc="1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=</a:t>
            </a:r>
            <a:r>
              <a:rPr dirty="0" sz="800" spc="2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 spc="-10">
                <a:solidFill>
                  <a:srgbClr val="E4E7EB"/>
                </a:solidFill>
                <a:latin typeface="Courier New"/>
                <a:cs typeface="Courier New"/>
              </a:rPr>
              <a:t>SentenceTransformer(</a:t>
            </a:r>
            <a:endParaRPr sz="800">
              <a:latin typeface="Courier New"/>
              <a:cs typeface="Courier New"/>
            </a:endParaRPr>
          </a:p>
          <a:p>
            <a:pPr marL="246379">
              <a:lnSpc>
                <a:spcPct val="100000"/>
              </a:lnSpc>
              <a:spcBef>
                <a:spcPts val="475"/>
              </a:spcBef>
            </a:pP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"sentence-transformers/all-MiniLM-L6-</a:t>
            </a:r>
            <a:r>
              <a:rPr dirty="0" sz="800" spc="-25">
                <a:solidFill>
                  <a:srgbClr val="E4E7EB"/>
                </a:solidFill>
                <a:latin typeface="Courier New"/>
                <a:cs typeface="Courier New"/>
              </a:rPr>
              <a:t>v2"</a:t>
            </a:r>
            <a:endParaRPr sz="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420"/>
              </a:spcBef>
            </a:pPr>
            <a:r>
              <a:rPr dirty="0" sz="800" spc="-50">
                <a:solidFill>
                  <a:srgbClr val="E4E7EB"/>
                </a:solidFill>
                <a:latin typeface="Courier New"/>
                <a:cs typeface="Courier New"/>
              </a:rPr>
              <a:t>)</a:t>
            </a:r>
            <a:endParaRPr sz="800">
              <a:latin typeface="Courier New"/>
              <a:cs typeface="Courier New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754253" y="8856726"/>
            <a:ext cx="1449705" cy="316865"/>
          </a:xfrm>
          <a:custGeom>
            <a:avLst/>
            <a:gdLst/>
            <a:ahLst/>
            <a:cxnLst/>
            <a:rect l="l" t="t" r="r" b="b"/>
            <a:pathLst>
              <a:path w="1449705" h="316865">
                <a:moveTo>
                  <a:pt x="438188" y="0"/>
                </a:moveTo>
                <a:lnTo>
                  <a:pt x="23393" y="0"/>
                </a:lnTo>
                <a:lnTo>
                  <a:pt x="19951" y="698"/>
                </a:lnTo>
                <a:lnTo>
                  <a:pt x="13335" y="3390"/>
                </a:lnTo>
                <a:lnTo>
                  <a:pt x="10426" y="5334"/>
                </a:lnTo>
                <a:lnTo>
                  <a:pt x="7899" y="7886"/>
                </a:lnTo>
                <a:lnTo>
                  <a:pt x="5372" y="10388"/>
                </a:lnTo>
                <a:lnTo>
                  <a:pt x="3416" y="13322"/>
                </a:lnTo>
                <a:lnTo>
                  <a:pt x="685" y="19926"/>
                </a:lnTo>
                <a:lnTo>
                  <a:pt x="0" y="23380"/>
                </a:lnTo>
                <a:lnTo>
                  <a:pt x="0" y="118173"/>
                </a:lnTo>
                <a:lnTo>
                  <a:pt x="23393" y="141579"/>
                </a:lnTo>
                <a:lnTo>
                  <a:pt x="438188" y="141579"/>
                </a:lnTo>
                <a:lnTo>
                  <a:pt x="438188" y="0"/>
                </a:lnTo>
                <a:close/>
              </a:path>
              <a:path w="1449705" h="316865">
                <a:moveTo>
                  <a:pt x="1449412" y="198653"/>
                </a:moveTo>
                <a:lnTo>
                  <a:pt x="1426019" y="175272"/>
                </a:lnTo>
                <a:lnTo>
                  <a:pt x="0" y="175272"/>
                </a:lnTo>
                <a:lnTo>
                  <a:pt x="0" y="316839"/>
                </a:lnTo>
                <a:lnTo>
                  <a:pt x="1426019" y="316839"/>
                </a:lnTo>
                <a:lnTo>
                  <a:pt x="1449412" y="293446"/>
                </a:lnTo>
                <a:lnTo>
                  <a:pt x="1449412" y="198653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graphicFrame>
        <p:nvGraphicFramePr>
          <p:cNvPr id="27" name="object 27"/>
          <p:cNvGraphicFramePr>
            <a:graphicFrameLocks noGrp="1"/>
          </p:cNvGraphicFramePr>
          <p:nvPr/>
        </p:nvGraphicFramePr>
        <p:xfrm>
          <a:off x="680102" y="8485968"/>
          <a:ext cx="6278880" cy="7543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68500"/>
                <a:gridCol w="4227195"/>
              </a:tblGrid>
              <a:tr h="289560">
                <a:tc>
                  <a:txBody>
                    <a:bodyPr/>
                    <a:lstStyle/>
                    <a:p>
                      <a:pPr marL="70485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950" spc="-20" b="1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Line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64769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marL="69215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950" spc="-10" b="1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Explanation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64769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  <a:solidFill>
                      <a:srgbClr val="F7FAFB"/>
                    </a:solidFill>
                  </a:tcPr>
                </a:tc>
              </a:tr>
              <a:tr h="464820">
                <a:tc>
                  <a:txBody>
                    <a:bodyPr/>
                    <a:lstStyle/>
                    <a:p>
                      <a:pPr marL="70485" marR="469900" indent="26670">
                        <a:lnSpc>
                          <a:spcPct val="153300"/>
                        </a:lnSpc>
                        <a:spcBef>
                          <a:spcPts val="229"/>
                        </a:spcBef>
                      </a:pP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model</a:t>
                      </a:r>
                      <a:r>
                        <a:rPr dirty="0" sz="750" spc="6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 spc="-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= </a:t>
                      </a:r>
                      <a:r>
                        <a:rPr dirty="0" sz="750" spc="-1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SentenceTransformer(...)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29209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215" marR="78105">
                        <a:lnSpc>
                          <a:spcPct val="116399"/>
                        </a:lnSpc>
                        <a:spcBef>
                          <a:spcPts val="320"/>
                        </a:spcBef>
                      </a:pPr>
                      <a:r>
                        <a:rPr dirty="0" sz="950" spc="-9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Loads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the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9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same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9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embedding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model,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so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the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query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vector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6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lives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in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the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9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same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9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space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as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2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the</a:t>
                      </a:r>
                      <a:r>
                        <a:rPr dirty="0" sz="950" spc="50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indexed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chunk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vectors.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40640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8" name="object 28"/>
          <p:cNvSpPr txBox="1"/>
          <p:nvPr/>
        </p:nvSpPr>
        <p:spPr>
          <a:xfrm>
            <a:off x="761782" y="9462900"/>
            <a:ext cx="2491105" cy="49910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question</a:t>
            </a:r>
            <a:r>
              <a:rPr dirty="0" sz="800" spc="3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=</a:t>
            </a:r>
            <a:r>
              <a:rPr dirty="0" sz="800" spc="3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input("Ask</a:t>
            </a:r>
            <a:r>
              <a:rPr dirty="0" sz="800" spc="3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a</a:t>
            </a:r>
            <a:r>
              <a:rPr dirty="0" sz="800" spc="3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question:</a:t>
            </a:r>
            <a:r>
              <a:rPr dirty="0" sz="800" spc="3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 spc="-25">
                <a:solidFill>
                  <a:srgbClr val="E4E7EB"/>
                </a:solidFill>
                <a:latin typeface="Courier New"/>
                <a:cs typeface="Courier New"/>
              </a:rPr>
              <a:t>")</a:t>
            </a:r>
            <a:endParaRPr sz="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894"/>
              </a:spcBef>
            </a:pPr>
            <a:endParaRPr sz="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query_embedding</a:t>
            </a:r>
            <a:r>
              <a:rPr dirty="0" sz="800" spc="4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=</a:t>
            </a:r>
            <a:r>
              <a:rPr dirty="0" sz="800" spc="4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 spc="-10">
                <a:solidFill>
                  <a:srgbClr val="E4E7EB"/>
                </a:solidFill>
                <a:latin typeface="Courier New"/>
                <a:cs typeface="Courier New"/>
              </a:rPr>
              <a:t>model.encode(question)</a:t>
            </a:r>
            <a:endParaRPr sz="8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80102" y="1555787"/>
            <a:ext cx="6202680" cy="1436370"/>
          </a:xfrm>
          <a:custGeom>
            <a:avLst/>
            <a:gdLst/>
            <a:ahLst/>
            <a:cxnLst/>
            <a:rect l="l" t="t" r="r" b="b"/>
            <a:pathLst>
              <a:path w="6202680" h="1436370">
                <a:moveTo>
                  <a:pt x="6151728" y="1435871"/>
                </a:moveTo>
                <a:lnTo>
                  <a:pt x="50390" y="1435871"/>
                </a:lnTo>
                <a:lnTo>
                  <a:pt x="46883" y="1435500"/>
                </a:lnTo>
                <a:lnTo>
                  <a:pt x="11056" y="1414831"/>
                </a:lnTo>
                <a:lnTo>
                  <a:pt x="0" y="1385492"/>
                </a:lnTo>
                <a:lnTo>
                  <a:pt x="0" y="1381966"/>
                </a:lnTo>
                <a:lnTo>
                  <a:pt x="0" y="50351"/>
                </a:lnTo>
                <a:lnTo>
                  <a:pt x="18300" y="13246"/>
                </a:lnTo>
                <a:lnTo>
                  <a:pt x="50390" y="0"/>
                </a:lnTo>
                <a:lnTo>
                  <a:pt x="6151728" y="0"/>
                </a:lnTo>
                <a:lnTo>
                  <a:pt x="6188826" y="18249"/>
                </a:lnTo>
                <a:lnTo>
                  <a:pt x="6202118" y="50351"/>
                </a:lnTo>
                <a:lnTo>
                  <a:pt x="6202118" y="1385492"/>
                </a:lnTo>
                <a:lnTo>
                  <a:pt x="6183818" y="1422570"/>
                </a:lnTo>
                <a:lnTo>
                  <a:pt x="6155235" y="1435500"/>
                </a:lnTo>
                <a:lnTo>
                  <a:pt x="6151728" y="1435871"/>
                </a:lnTo>
                <a:close/>
              </a:path>
            </a:pathLst>
          </a:custGeom>
          <a:solidFill>
            <a:srgbClr val="0E172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680102" y="5196134"/>
            <a:ext cx="6202680" cy="2143760"/>
          </a:xfrm>
          <a:custGeom>
            <a:avLst/>
            <a:gdLst/>
            <a:ahLst/>
            <a:cxnLst/>
            <a:rect l="l" t="t" r="r" b="b"/>
            <a:pathLst>
              <a:path w="6202680" h="2143759">
                <a:moveTo>
                  <a:pt x="6151728" y="2143748"/>
                </a:moveTo>
                <a:lnTo>
                  <a:pt x="50390" y="2143748"/>
                </a:lnTo>
                <a:lnTo>
                  <a:pt x="46883" y="2143405"/>
                </a:lnTo>
                <a:lnTo>
                  <a:pt x="11056" y="2122735"/>
                </a:lnTo>
                <a:lnTo>
                  <a:pt x="0" y="2093370"/>
                </a:lnTo>
                <a:lnTo>
                  <a:pt x="0" y="2089844"/>
                </a:lnTo>
                <a:lnTo>
                  <a:pt x="0" y="50405"/>
                </a:lnTo>
                <a:lnTo>
                  <a:pt x="18300" y="13246"/>
                </a:lnTo>
                <a:lnTo>
                  <a:pt x="50390" y="0"/>
                </a:lnTo>
                <a:lnTo>
                  <a:pt x="6151728" y="0"/>
                </a:lnTo>
                <a:lnTo>
                  <a:pt x="6188826" y="18276"/>
                </a:lnTo>
                <a:lnTo>
                  <a:pt x="6202118" y="50405"/>
                </a:lnTo>
                <a:lnTo>
                  <a:pt x="6202118" y="2093370"/>
                </a:lnTo>
                <a:lnTo>
                  <a:pt x="6183818" y="2130475"/>
                </a:lnTo>
                <a:lnTo>
                  <a:pt x="6155235" y="2143405"/>
                </a:lnTo>
                <a:lnTo>
                  <a:pt x="6151728" y="2143748"/>
                </a:lnTo>
                <a:close/>
              </a:path>
            </a:pathLst>
          </a:custGeom>
          <a:solidFill>
            <a:srgbClr val="0E172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754257" y="935548"/>
            <a:ext cx="2184400" cy="141605"/>
          </a:xfrm>
          <a:custGeom>
            <a:avLst/>
            <a:gdLst/>
            <a:ahLst/>
            <a:cxnLst/>
            <a:rect l="l" t="t" r="r" b="b"/>
            <a:pathLst>
              <a:path w="2184400" h="141605">
                <a:moveTo>
                  <a:pt x="2160834" y="141543"/>
                </a:moveTo>
                <a:lnTo>
                  <a:pt x="23389" y="141543"/>
                </a:lnTo>
                <a:lnTo>
                  <a:pt x="19950" y="140862"/>
                </a:lnTo>
                <a:lnTo>
                  <a:pt x="0" y="118157"/>
                </a:lnTo>
                <a:lnTo>
                  <a:pt x="0" y="114604"/>
                </a:lnTo>
                <a:lnTo>
                  <a:pt x="0" y="23386"/>
                </a:lnTo>
                <a:lnTo>
                  <a:pt x="23389" y="0"/>
                </a:lnTo>
                <a:lnTo>
                  <a:pt x="2160834" y="0"/>
                </a:lnTo>
                <a:lnTo>
                  <a:pt x="2184224" y="23386"/>
                </a:lnTo>
                <a:lnTo>
                  <a:pt x="2184224" y="118157"/>
                </a:lnTo>
                <a:lnTo>
                  <a:pt x="2164274" y="140862"/>
                </a:lnTo>
                <a:lnTo>
                  <a:pt x="2160834" y="141543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754257" y="1225430"/>
            <a:ext cx="2420620" cy="141605"/>
          </a:xfrm>
          <a:custGeom>
            <a:avLst/>
            <a:gdLst/>
            <a:ahLst/>
            <a:cxnLst/>
            <a:rect l="l" t="t" r="r" b="b"/>
            <a:pathLst>
              <a:path w="2420620" h="141605">
                <a:moveTo>
                  <a:pt x="2396784" y="141543"/>
                </a:moveTo>
                <a:lnTo>
                  <a:pt x="23389" y="141543"/>
                </a:lnTo>
                <a:lnTo>
                  <a:pt x="19950" y="140862"/>
                </a:lnTo>
                <a:lnTo>
                  <a:pt x="0" y="118157"/>
                </a:lnTo>
                <a:lnTo>
                  <a:pt x="0" y="114604"/>
                </a:lnTo>
                <a:lnTo>
                  <a:pt x="0" y="23386"/>
                </a:lnTo>
                <a:lnTo>
                  <a:pt x="23389" y="0"/>
                </a:lnTo>
                <a:lnTo>
                  <a:pt x="2396784" y="0"/>
                </a:lnTo>
                <a:lnTo>
                  <a:pt x="2420174" y="23386"/>
                </a:lnTo>
                <a:lnTo>
                  <a:pt x="2420174" y="118157"/>
                </a:lnTo>
                <a:lnTo>
                  <a:pt x="2400224" y="140862"/>
                </a:lnTo>
                <a:lnTo>
                  <a:pt x="2396784" y="141543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680102" y="571511"/>
          <a:ext cx="6278880" cy="86169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770505"/>
                <a:gridCol w="3424554"/>
              </a:tblGrid>
              <a:tr h="282575">
                <a:tc>
                  <a:txBody>
                    <a:bodyPr/>
                    <a:lstStyle/>
                    <a:p>
                      <a:pPr marL="70485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950" spc="-20" b="1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Line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64769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950" spc="-10" b="1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Explanation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64769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  <a:solidFill>
                      <a:srgbClr val="F7FAFB"/>
                    </a:solidFill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question</a:t>
                      </a:r>
                      <a:r>
                        <a:rPr dirty="0" sz="750" spc="65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=</a:t>
                      </a:r>
                      <a:r>
                        <a:rPr dirty="0" sz="750" spc="7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input("Ask</a:t>
                      </a:r>
                      <a:r>
                        <a:rPr dirty="0" sz="750" spc="7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a</a:t>
                      </a:r>
                      <a:r>
                        <a:rPr dirty="0" sz="750" spc="7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question:</a:t>
                      </a:r>
                      <a:r>
                        <a:rPr dirty="0" sz="750" spc="7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 spc="-25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")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90170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Blocks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and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waits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for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the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user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to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type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9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a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question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at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the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terminal.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64769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query_embedding</a:t>
                      </a:r>
                      <a:r>
                        <a:rPr dirty="0" sz="750" spc="85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=</a:t>
                      </a:r>
                      <a:r>
                        <a:rPr dirty="0" sz="750" spc="9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 spc="-1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model.encode(question)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90170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950" spc="-9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Embeds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the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question</a:t>
                      </a:r>
                      <a:r>
                        <a:rPr dirty="0" sz="95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text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into</a:t>
                      </a:r>
                      <a:r>
                        <a:rPr dirty="0" sz="95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9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a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850" spc="-40">
                          <a:solidFill>
                            <a:srgbClr val="111726"/>
                          </a:solidFill>
                          <a:latin typeface="Arial"/>
                          <a:cs typeface="Arial"/>
                        </a:rPr>
                        <a:t>384</a:t>
                      </a:r>
                      <a:r>
                        <a:rPr dirty="0" sz="950" spc="-4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-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dimensional</a:t>
                      </a:r>
                      <a:r>
                        <a:rPr dirty="0" sz="95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vector.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64769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7" name="object 7"/>
          <p:cNvSpPr txBox="1"/>
          <p:nvPr/>
        </p:nvSpPr>
        <p:spPr>
          <a:xfrm>
            <a:off x="761782" y="1656305"/>
            <a:ext cx="2367915" cy="1220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results</a:t>
            </a:r>
            <a:r>
              <a:rPr dirty="0" sz="800" spc="2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=</a:t>
            </a:r>
            <a:r>
              <a:rPr dirty="0" sz="800" spc="2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 spc="-10">
                <a:solidFill>
                  <a:srgbClr val="E4E7EB"/>
                </a:solidFill>
                <a:latin typeface="Courier New"/>
                <a:cs typeface="Courier New"/>
              </a:rPr>
              <a:t>search(query_embedding)</a:t>
            </a:r>
            <a:endParaRPr sz="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endParaRPr sz="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context</a:t>
            </a:r>
            <a:r>
              <a:rPr dirty="0" sz="800" spc="2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=</a:t>
            </a:r>
            <a:r>
              <a:rPr dirty="0" sz="800" spc="2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 spc="-25">
                <a:solidFill>
                  <a:srgbClr val="E4E7EB"/>
                </a:solidFill>
                <a:latin typeface="Courier New"/>
                <a:cs typeface="Courier New"/>
              </a:rPr>
              <a:t>""</a:t>
            </a:r>
            <a:endParaRPr sz="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endParaRPr sz="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for</a:t>
            </a:r>
            <a:r>
              <a:rPr dirty="0" sz="800" spc="1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doc</a:t>
            </a:r>
            <a:r>
              <a:rPr dirty="0" sz="800" spc="1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in</a:t>
            </a:r>
            <a:r>
              <a:rPr dirty="0" sz="800" spc="2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 spc="-10">
                <a:solidFill>
                  <a:srgbClr val="E4E7EB"/>
                </a:solidFill>
                <a:latin typeface="Courier New"/>
                <a:cs typeface="Courier New"/>
              </a:rPr>
              <a:t>results:</a:t>
            </a:r>
            <a:endParaRPr sz="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endParaRPr sz="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800">
              <a:latin typeface="Courier New"/>
              <a:cs typeface="Courier New"/>
            </a:endParaRPr>
          </a:p>
          <a:p>
            <a:pPr marL="259079">
              <a:lnSpc>
                <a:spcPct val="100000"/>
              </a:lnSpc>
              <a:spcBef>
                <a:spcPts val="5"/>
              </a:spcBef>
            </a:pP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context</a:t>
            </a:r>
            <a:r>
              <a:rPr dirty="0" sz="800" spc="3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+=</a:t>
            </a:r>
            <a:r>
              <a:rPr dirty="0" sz="800" spc="3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doc["content"]</a:t>
            </a:r>
            <a:r>
              <a:rPr dirty="0" sz="800" spc="3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+</a:t>
            </a:r>
            <a:r>
              <a:rPr dirty="0" sz="800" spc="3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 spc="-10">
                <a:solidFill>
                  <a:srgbClr val="E4E7EB"/>
                </a:solidFill>
                <a:latin typeface="Courier New"/>
                <a:cs typeface="Courier New"/>
              </a:rPr>
              <a:t>"\n\n"</a:t>
            </a:r>
            <a:endParaRPr sz="800">
              <a:latin typeface="Courier New"/>
              <a:cs typeface="Courier New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754253" y="3463556"/>
            <a:ext cx="1388745" cy="323850"/>
          </a:xfrm>
          <a:custGeom>
            <a:avLst/>
            <a:gdLst/>
            <a:ahLst/>
            <a:cxnLst/>
            <a:rect l="l" t="t" r="r" b="b"/>
            <a:pathLst>
              <a:path w="1388745" h="323850">
                <a:moveTo>
                  <a:pt x="559536" y="0"/>
                </a:moveTo>
                <a:lnTo>
                  <a:pt x="23393" y="0"/>
                </a:lnTo>
                <a:lnTo>
                  <a:pt x="19951" y="685"/>
                </a:lnTo>
                <a:lnTo>
                  <a:pt x="0" y="23368"/>
                </a:lnTo>
                <a:lnTo>
                  <a:pt x="0" y="118160"/>
                </a:lnTo>
                <a:lnTo>
                  <a:pt x="23393" y="141554"/>
                </a:lnTo>
                <a:lnTo>
                  <a:pt x="559536" y="141554"/>
                </a:lnTo>
                <a:lnTo>
                  <a:pt x="559536" y="0"/>
                </a:lnTo>
                <a:close/>
              </a:path>
              <a:path w="1388745" h="323850">
                <a:moveTo>
                  <a:pt x="1388732" y="205384"/>
                </a:moveTo>
                <a:lnTo>
                  <a:pt x="1365338" y="182016"/>
                </a:lnTo>
                <a:lnTo>
                  <a:pt x="0" y="182016"/>
                </a:lnTo>
                <a:lnTo>
                  <a:pt x="0" y="323583"/>
                </a:lnTo>
                <a:lnTo>
                  <a:pt x="1365338" y="323583"/>
                </a:lnTo>
                <a:lnTo>
                  <a:pt x="1388732" y="300177"/>
                </a:lnTo>
                <a:lnTo>
                  <a:pt x="1388732" y="205384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3012638" y="3463586"/>
            <a:ext cx="1119505" cy="141605"/>
          </a:xfrm>
          <a:custGeom>
            <a:avLst/>
            <a:gdLst/>
            <a:ahLst/>
            <a:cxnLst/>
            <a:rect l="l" t="t" r="r" b="b"/>
            <a:pathLst>
              <a:path w="1119504" h="141604">
                <a:moveTo>
                  <a:pt x="1095688" y="141543"/>
                </a:moveTo>
                <a:lnTo>
                  <a:pt x="23389" y="141543"/>
                </a:lnTo>
                <a:lnTo>
                  <a:pt x="19950" y="140862"/>
                </a:lnTo>
                <a:lnTo>
                  <a:pt x="0" y="118157"/>
                </a:lnTo>
                <a:lnTo>
                  <a:pt x="0" y="114604"/>
                </a:lnTo>
                <a:lnTo>
                  <a:pt x="0" y="23359"/>
                </a:lnTo>
                <a:lnTo>
                  <a:pt x="23389" y="0"/>
                </a:lnTo>
                <a:lnTo>
                  <a:pt x="1095688" y="0"/>
                </a:lnTo>
                <a:lnTo>
                  <a:pt x="1119078" y="23359"/>
                </a:lnTo>
                <a:lnTo>
                  <a:pt x="1119078" y="118157"/>
                </a:lnTo>
                <a:lnTo>
                  <a:pt x="1099127" y="140862"/>
                </a:lnTo>
                <a:lnTo>
                  <a:pt x="1095688" y="141543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5520451" y="3463586"/>
            <a:ext cx="465455" cy="141605"/>
          </a:xfrm>
          <a:custGeom>
            <a:avLst/>
            <a:gdLst/>
            <a:ahLst/>
            <a:cxnLst/>
            <a:rect l="l" t="t" r="r" b="b"/>
            <a:pathLst>
              <a:path w="465454" h="141604">
                <a:moveTo>
                  <a:pt x="441768" y="141543"/>
                </a:moveTo>
                <a:lnTo>
                  <a:pt x="23390" y="141543"/>
                </a:lnTo>
                <a:lnTo>
                  <a:pt x="19949" y="140862"/>
                </a:lnTo>
                <a:lnTo>
                  <a:pt x="0" y="118157"/>
                </a:lnTo>
                <a:lnTo>
                  <a:pt x="0" y="114604"/>
                </a:lnTo>
                <a:lnTo>
                  <a:pt x="0" y="23359"/>
                </a:lnTo>
                <a:lnTo>
                  <a:pt x="23390" y="0"/>
                </a:lnTo>
                <a:lnTo>
                  <a:pt x="441768" y="0"/>
                </a:lnTo>
                <a:lnTo>
                  <a:pt x="465158" y="23359"/>
                </a:lnTo>
                <a:lnTo>
                  <a:pt x="465158" y="118157"/>
                </a:lnTo>
                <a:lnTo>
                  <a:pt x="445208" y="140862"/>
                </a:lnTo>
                <a:lnTo>
                  <a:pt x="441768" y="141543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754257" y="3935486"/>
            <a:ext cx="762000" cy="141605"/>
          </a:xfrm>
          <a:custGeom>
            <a:avLst/>
            <a:gdLst/>
            <a:ahLst/>
            <a:cxnLst/>
            <a:rect l="l" t="t" r="r" b="b"/>
            <a:pathLst>
              <a:path w="762000" h="141604">
                <a:moveTo>
                  <a:pt x="738392" y="141543"/>
                </a:moveTo>
                <a:lnTo>
                  <a:pt x="23389" y="141543"/>
                </a:lnTo>
                <a:lnTo>
                  <a:pt x="19950" y="140862"/>
                </a:lnTo>
                <a:lnTo>
                  <a:pt x="0" y="118157"/>
                </a:lnTo>
                <a:lnTo>
                  <a:pt x="0" y="114604"/>
                </a:lnTo>
                <a:lnTo>
                  <a:pt x="0" y="23359"/>
                </a:lnTo>
                <a:lnTo>
                  <a:pt x="23389" y="0"/>
                </a:lnTo>
                <a:lnTo>
                  <a:pt x="738392" y="0"/>
                </a:lnTo>
                <a:lnTo>
                  <a:pt x="761781" y="23359"/>
                </a:lnTo>
                <a:lnTo>
                  <a:pt x="761781" y="118157"/>
                </a:lnTo>
                <a:lnTo>
                  <a:pt x="741831" y="140862"/>
                </a:lnTo>
                <a:lnTo>
                  <a:pt x="738392" y="141543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754257" y="4225368"/>
            <a:ext cx="1179830" cy="141605"/>
          </a:xfrm>
          <a:custGeom>
            <a:avLst/>
            <a:gdLst/>
            <a:ahLst/>
            <a:cxnLst/>
            <a:rect l="l" t="t" r="r" b="b"/>
            <a:pathLst>
              <a:path w="1179830" h="141604">
                <a:moveTo>
                  <a:pt x="1156360" y="141543"/>
                </a:moveTo>
                <a:lnTo>
                  <a:pt x="23389" y="141543"/>
                </a:lnTo>
                <a:lnTo>
                  <a:pt x="19950" y="140862"/>
                </a:lnTo>
                <a:lnTo>
                  <a:pt x="0" y="118157"/>
                </a:lnTo>
                <a:lnTo>
                  <a:pt x="0" y="114604"/>
                </a:lnTo>
                <a:lnTo>
                  <a:pt x="0" y="23359"/>
                </a:lnTo>
                <a:lnTo>
                  <a:pt x="23389" y="0"/>
                </a:lnTo>
                <a:lnTo>
                  <a:pt x="1156360" y="0"/>
                </a:lnTo>
                <a:lnTo>
                  <a:pt x="1179750" y="23359"/>
                </a:lnTo>
                <a:lnTo>
                  <a:pt x="1179750" y="118157"/>
                </a:lnTo>
                <a:lnTo>
                  <a:pt x="1159800" y="140862"/>
                </a:lnTo>
                <a:lnTo>
                  <a:pt x="1156360" y="141543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63142" y="4225368"/>
            <a:ext cx="175276" cy="141543"/>
          </a:xfrm>
          <a:prstGeom prst="rect">
            <a:avLst/>
          </a:prstGeom>
        </p:spPr>
      </p:pic>
      <p:sp>
        <p:nvSpPr>
          <p:cNvPr id="14" name="object 14"/>
          <p:cNvSpPr/>
          <p:nvPr/>
        </p:nvSpPr>
        <p:spPr>
          <a:xfrm>
            <a:off x="5992351" y="4225368"/>
            <a:ext cx="465455" cy="141605"/>
          </a:xfrm>
          <a:custGeom>
            <a:avLst/>
            <a:gdLst/>
            <a:ahLst/>
            <a:cxnLst/>
            <a:rect l="l" t="t" r="r" b="b"/>
            <a:pathLst>
              <a:path w="465454" h="141604">
                <a:moveTo>
                  <a:pt x="441769" y="141543"/>
                </a:moveTo>
                <a:lnTo>
                  <a:pt x="23390" y="141543"/>
                </a:lnTo>
                <a:lnTo>
                  <a:pt x="19950" y="140862"/>
                </a:lnTo>
                <a:lnTo>
                  <a:pt x="0" y="118157"/>
                </a:lnTo>
                <a:lnTo>
                  <a:pt x="0" y="114604"/>
                </a:lnTo>
                <a:lnTo>
                  <a:pt x="0" y="23359"/>
                </a:lnTo>
                <a:lnTo>
                  <a:pt x="23390" y="0"/>
                </a:lnTo>
                <a:lnTo>
                  <a:pt x="441769" y="0"/>
                </a:lnTo>
                <a:lnTo>
                  <a:pt x="465158" y="23359"/>
                </a:lnTo>
                <a:lnTo>
                  <a:pt x="465158" y="118157"/>
                </a:lnTo>
                <a:lnTo>
                  <a:pt x="445208" y="140862"/>
                </a:lnTo>
                <a:lnTo>
                  <a:pt x="441769" y="141543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2756463" y="4400645"/>
            <a:ext cx="351155" cy="141605"/>
          </a:xfrm>
          <a:custGeom>
            <a:avLst/>
            <a:gdLst/>
            <a:ahLst/>
            <a:cxnLst/>
            <a:rect l="l" t="t" r="r" b="b"/>
            <a:pathLst>
              <a:path w="351155" h="141604">
                <a:moveTo>
                  <a:pt x="327164" y="141543"/>
                </a:moveTo>
                <a:lnTo>
                  <a:pt x="23389" y="141543"/>
                </a:lnTo>
                <a:lnTo>
                  <a:pt x="19950" y="140862"/>
                </a:lnTo>
                <a:lnTo>
                  <a:pt x="0" y="118157"/>
                </a:lnTo>
                <a:lnTo>
                  <a:pt x="0" y="114604"/>
                </a:lnTo>
                <a:lnTo>
                  <a:pt x="0" y="23386"/>
                </a:lnTo>
                <a:lnTo>
                  <a:pt x="23389" y="0"/>
                </a:lnTo>
                <a:lnTo>
                  <a:pt x="327164" y="0"/>
                </a:lnTo>
                <a:lnTo>
                  <a:pt x="350554" y="23386"/>
                </a:lnTo>
                <a:lnTo>
                  <a:pt x="350554" y="118157"/>
                </a:lnTo>
                <a:lnTo>
                  <a:pt x="330604" y="140862"/>
                </a:lnTo>
                <a:lnTo>
                  <a:pt x="327164" y="141543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754253" y="4690490"/>
            <a:ext cx="1624965" cy="316865"/>
          </a:xfrm>
          <a:custGeom>
            <a:avLst/>
            <a:gdLst/>
            <a:ahLst/>
            <a:cxnLst/>
            <a:rect l="l" t="t" r="r" b="b"/>
            <a:pathLst>
              <a:path w="1624964" h="316864">
                <a:moveTo>
                  <a:pt x="384263" y="198653"/>
                </a:moveTo>
                <a:lnTo>
                  <a:pt x="360870" y="175285"/>
                </a:lnTo>
                <a:lnTo>
                  <a:pt x="0" y="175285"/>
                </a:lnTo>
                <a:lnTo>
                  <a:pt x="0" y="316852"/>
                </a:lnTo>
                <a:lnTo>
                  <a:pt x="360870" y="316852"/>
                </a:lnTo>
                <a:lnTo>
                  <a:pt x="384263" y="293446"/>
                </a:lnTo>
                <a:lnTo>
                  <a:pt x="384263" y="198653"/>
                </a:lnTo>
                <a:close/>
              </a:path>
              <a:path w="1624964" h="316864">
                <a:moveTo>
                  <a:pt x="1624685" y="0"/>
                </a:moveTo>
                <a:lnTo>
                  <a:pt x="23393" y="0"/>
                </a:lnTo>
                <a:lnTo>
                  <a:pt x="19951" y="698"/>
                </a:lnTo>
                <a:lnTo>
                  <a:pt x="0" y="23368"/>
                </a:lnTo>
                <a:lnTo>
                  <a:pt x="0" y="118173"/>
                </a:lnTo>
                <a:lnTo>
                  <a:pt x="23393" y="141566"/>
                </a:lnTo>
                <a:lnTo>
                  <a:pt x="1624685" y="141566"/>
                </a:lnTo>
                <a:lnTo>
                  <a:pt x="1624685" y="0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graphicFrame>
        <p:nvGraphicFramePr>
          <p:cNvPr id="17" name="object 17"/>
          <p:cNvGraphicFramePr>
            <a:graphicFrameLocks noGrp="1"/>
          </p:cNvGraphicFramePr>
          <p:nvPr/>
        </p:nvGraphicFramePr>
        <p:xfrm>
          <a:off x="680102" y="3099548"/>
          <a:ext cx="6278880" cy="19735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02155"/>
                <a:gridCol w="4192904"/>
              </a:tblGrid>
              <a:tr h="282575">
                <a:tc>
                  <a:txBody>
                    <a:bodyPr/>
                    <a:lstStyle/>
                    <a:p>
                      <a:pPr marL="70485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950" spc="-20" b="1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Line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64769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950" spc="-10" b="1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Explanation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64769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  <a:solidFill>
                      <a:srgbClr val="F7FAFB"/>
                    </a:solidFill>
                  </a:tcPr>
                </a:tc>
              </a:tr>
              <a:tr h="471805">
                <a:tc>
                  <a:txBody>
                    <a:bodyPr/>
                    <a:lstStyle/>
                    <a:p>
                      <a:pPr marL="70485" marR="562610" indent="26670">
                        <a:lnSpc>
                          <a:spcPct val="159200"/>
                        </a:lnSpc>
                        <a:spcBef>
                          <a:spcPts val="175"/>
                        </a:spcBef>
                      </a:pP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results</a:t>
                      </a:r>
                      <a:r>
                        <a:rPr dirty="0" sz="750" spc="75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 spc="-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= </a:t>
                      </a:r>
                      <a:r>
                        <a:rPr dirty="0" sz="750" spc="-1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search(query_embedding)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22225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 marR="119380">
                        <a:lnSpc>
                          <a:spcPct val="125699"/>
                        </a:lnSpc>
                        <a:spcBef>
                          <a:spcPts val="215"/>
                        </a:spcBef>
                      </a:pPr>
                      <a:r>
                        <a:rPr dirty="0" sz="950" spc="-4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Calls</a:t>
                      </a:r>
                      <a:r>
                        <a:rPr dirty="0" sz="950" spc="2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solr_client.search</a:t>
                      </a:r>
                      <a:r>
                        <a:rPr dirty="0" sz="750" spc="-22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950" spc="-5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,</a:t>
                      </a:r>
                      <a:r>
                        <a:rPr dirty="0" sz="950" spc="-2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which</a:t>
                      </a:r>
                      <a:r>
                        <a:rPr dirty="0" sz="950" spc="-2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internally</a:t>
                      </a:r>
                      <a:r>
                        <a:rPr dirty="0" sz="950" spc="-2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defaults</a:t>
                      </a:r>
                      <a:r>
                        <a:rPr dirty="0" sz="950" spc="-2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to</a:t>
                      </a:r>
                      <a:r>
                        <a:rPr dirty="0" sz="950" spc="2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top_k=3</a:t>
                      </a:r>
                      <a:r>
                        <a:rPr dirty="0" sz="750" spc="-22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950" spc="-5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,</a:t>
                      </a:r>
                      <a:r>
                        <a:rPr dirty="0" sz="950" spc="-2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returning</a:t>
                      </a:r>
                      <a:r>
                        <a:rPr dirty="0" sz="950" spc="-2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the</a:t>
                      </a:r>
                      <a:r>
                        <a:rPr dirty="0" sz="950" spc="-2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850" spc="-50">
                          <a:solidFill>
                            <a:srgbClr val="111726"/>
                          </a:solidFill>
                          <a:latin typeface="Arial"/>
                          <a:cs typeface="Arial"/>
                        </a:rPr>
                        <a:t>3</a:t>
                      </a:r>
                      <a:r>
                        <a:rPr dirty="0" sz="850" spc="500">
                          <a:solidFill>
                            <a:srgbClr val="111726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nearest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chunk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documents.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27305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context</a:t>
                      </a:r>
                      <a:r>
                        <a:rPr dirty="0" sz="750" spc="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=</a:t>
                      </a:r>
                      <a:r>
                        <a:rPr dirty="0" sz="750" spc="55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 spc="-25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""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90170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950" spc="-6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Initializes</a:t>
                      </a:r>
                      <a:r>
                        <a:rPr dirty="0" sz="950" spc="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the</a:t>
                      </a:r>
                      <a:r>
                        <a:rPr dirty="0" sz="950" spc="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context</a:t>
                      </a:r>
                      <a:r>
                        <a:rPr dirty="0" sz="950" spc="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accumulator</a:t>
                      </a:r>
                      <a:r>
                        <a:rPr dirty="0" sz="950" spc="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string.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64769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</a:tr>
              <a:tr h="464820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for</a:t>
                      </a:r>
                      <a:r>
                        <a:rPr dirty="0" sz="750" spc="4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doc</a:t>
                      </a:r>
                      <a:r>
                        <a:rPr dirty="0" sz="750" spc="45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in</a:t>
                      </a:r>
                      <a:r>
                        <a:rPr dirty="0" sz="750" spc="4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 spc="-1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results: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90170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Iterates</a:t>
                      </a:r>
                      <a:r>
                        <a:rPr dirty="0" sz="950" spc="-2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over</a:t>
                      </a:r>
                      <a:r>
                        <a:rPr dirty="0" sz="950" spc="-2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each</a:t>
                      </a:r>
                      <a:r>
                        <a:rPr dirty="0" sz="950" spc="-2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returned</a:t>
                      </a:r>
                      <a:r>
                        <a:rPr dirty="0" sz="950" spc="-2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6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Solr</a:t>
                      </a:r>
                      <a:r>
                        <a:rPr dirty="0" sz="950" spc="-2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9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document</a:t>
                      </a:r>
                      <a:r>
                        <a:rPr dirty="0" sz="950" spc="-2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(dict-</a:t>
                      </a:r>
                      <a:r>
                        <a:rPr dirty="0" sz="950" spc="-6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like,</a:t>
                      </a:r>
                      <a:r>
                        <a:rPr dirty="0" sz="950" spc="-2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with</a:t>
                      </a:r>
                      <a:r>
                        <a:rPr dirty="0" sz="950" spc="-2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5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keys</a:t>
                      </a:r>
                      <a:r>
                        <a:rPr dirty="0" sz="950" spc="204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id</a:t>
                      </a:r>
                      <a:r>
                        <a:rPr dirty="0" sz="750" spc="-229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95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,</a:t>
                      </a:r>
                      <a:r>
                        <a:rPr dirty="0" sz="950" spc="20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content</a:t>
                      </a:r>
                      <a:r>
                        <a:rPr dirty="0" sz="750" spc="-225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950" spc="-5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,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  <a:p>
                      <a:pPr marL="9906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score</a:t>
                      </a:r>
                      <a:r>
                        <a:rPr dirty="0" sz="750" spc="-195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950" spc="-2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).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64769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</a:tr>
              <a:tr h="464820">
                <a:tc>
                  <a:txBody>
                    <a:bodyPr/>
                    <a:lstStyle/>
                    <a:p>
                      <a:pPr marL="70485" marR="299085" indent="26670">
                        <a:lnSpc>
                          <a:spcPct val="153300"/>
                        </a:lnSpc>
                        <a:spcBef>
                          <a:spcPts val="229"/>
                        </a:spcBef>
                      </a:pP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context</a:t>
                      </a:r>
                      <a:r>
                        <a:rPr dirty="0" sz="750" spc="85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+=</a:t>
                      </a:r>
                      <a:r>
                        <a:rPr dirty="0" sz="750" spc="85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doc["content"]</a:t>
                      </a:r>
                      <a:r>
                        <a:rPr dirty="0" sz="750" spc="85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 spc="-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+ </a:t>
                      </a:r>
                      <a:r>
                        <a:rPr dirty="0" sz="750" spc="-1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"\n\n"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29209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950" spc="-9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Appends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each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chunk's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text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to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the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growing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context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string,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separated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by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9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a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blank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line.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64769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8" name="object 18"/>
          <p:cNvSpPr txBox="1"/>
          <p:nvPr/>
        </p:nvSpPr>
        <p:spPr>
          <a:xfrm>
            <a:off x="761782" y="5244366"/>
            <a:ext cx="1875155" cy="1980564"/>
          </a:xfrm>
          <a:prstGeom prst="rect">
            <a:avLst/>
          </a:prstGeom>
        </p:spPr>
        <p:txBody>
          <a:bodyPr wrap="square" lIns="0" tIns="654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15"/>
              </a:spcBef>
            </a:pP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prompt</a:t>
            </a:r>
            <a:r>
              <a:rPr dirty="0" sz="800" spc="2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=</a:t>
            </a:r>
            <a:r>
              <a:rPr dirty="0" sz="800" spc="2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 spc="-20">
                <a:solidFill>
                  <a:srgbClr val="E4E7EB"/>
                </a:solidFill>
                <a:latin typeface="Courier New"/>
                <a:cs typeface="Courier New"/>
              </a:rPr>
              <a:t>f"""</a:t>
            </a:r>
            <a:endParaRPr sz="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420"/>
              </a:spcBef>
            </a:pP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Answer</a:t>
            </a:r>
            <a:r>
              <a:rPr dirty="0" sz="800" spc="2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only</a:t>
            </a:r>
            <a:r>
              <a:rPr dirty="0" sz="800" spc="2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using</a:t>
            </a:r>
            <a:r>
              <a:rPr dirty="0" sz="800" spc="2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the</a:t>
            </a:r>
            <a:r>
              <a:rPr dirty="0" sz="800" spc="2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 spc="-10">
                <a:solidFill>
                  <a:srgbClr val="E4E7EB"/>
                </a:solidFill>
                <a:latin typeface="Courier New"/>
                <a:cs typeface="Courier New"/>
              </a:rPr>
              <a:t>context.</a:t>
            </a:r>
            <a:endParaRPr sz="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endParaRPr sz="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800" spc="-10">
                <a:solidFill>
                  <a:srgbClr val="E4E7EB"/>
                </a:solidFill>
                <a:latin typeface="Courier New"/>
                <a:cs typeface="Courier New"/>
              </a:rPr>
              <a:t>Context:</a:t>
            </a:r>
            <a:endParaRPr sz="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420"/>
              </a:spcBef>
            </a:pPr>
            <a:r>
              <a:rPr dirty="0" sz="800" spc="-10">
                <a:solidFill>
                  <a:srgbClr val="E4E7EB"/>
                </a:solidFill>
                <a:latin typeface="Courier New"/>
                <a:cs typeface="Courier New"/>
              </a:rPr>
              <a:t>{context}</a:t>
            </a:r>
            <a:endParaRPr sz="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endParaRPr sz="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dirty="0" sz="800" spc="-10">
                <a:solidFill>
                  <a:srgbClr val="E4E7EB"/>
                </a:solidFill>
                <a:latin typeface="Courier New"/>
                <a:cs typeface="Courier New"/>
              </a:rPr>
              <a:t>Question:</a:t>
            </a:r>
            <a:endParaRPr sz="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470"/>
              </a:spcBef>
            </a:pPr>
            <a:r>
              <a:rPr dirty="0" sz="800" spc="-10">
                <a:solidFill>
                  <a:srgbClr val="E4E7EB"/>
                </a:solidFill>
                <a:latin typeface="Courier New"/>
                <a:cs typeface="Courier New"/>
              </a:rPr>
              <a:t>{question}</a:t>
            </a:r>
            <a:endParaRPr sz="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420"/>
              </a:spcBef>
            </a:pPr>
            <a:endParaRPr sz="800">
              <a:latin typeface="Courier New"/>
              <a:cs typeface="Courier New"/>
            </a:endParaRPr>
          </a:p>
          <a:p>
            <a:pPr marL="12700" marR="1422400">
              <a:lnSpc>
                <a:spcPct val="149300"/>
              </a:lnSpc>
              <a:spcBef>
                <a:spcPts val="5"/>
              </a:spcBef>
            </a:pPr>
            <a:r>
              <a:rPr dirty="0" sz="800" spc="-10">
                <a:solidFill>
                  <a:srgbClr val="E4E7EB"/>
                </a:solidFill>
                <a:latin typeface="Courier New"/>
                <a:cs typeface="Courier New"/>
              </a:rPr>
              <a:t>Answer: </a:t>
            </a:r>
            <a:r>
              <a:rPr dirty="0" sz="800" spc="-25">
                <a:solidFill>
                  <a:srgbClr val="E4E7EB"/>
                </a:solidFill>
                <a:latin typeface="Courier New"/>
                <a:cs typeface="Courier New"/>
              </a:rPr>
              <a:t>"""</a:t>
            </a:r>
            <a:endParaRPr sz="800">
              <a:latin typeface="Courier New"/>
              <a:cs typeface="Courier New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754257" y="7818552"/>
            <a:ext cx="1179830" cy="141605"/>
          </a:xfrm>
          <a:custGeom>
            <a:avLst/>
            <a:gdLst/>
            <a:ahLst/>
            <a:cxnLst/>
            <a:rect l="l" t="t" r="r" b="b"/>
            <a:pathLst>
              <a:path w="1179830" h="141604">
                <a:moveTo>
                  <a:pt x="1156360" y="141543"/>
                </a:moveTo>
                <a:lnTo>
                  <a:pt x="23389" y="141543"/>
                </a:lnTo>
                <a:lnTo>
                  <a:pt x="19950" y="140862"/>
                </a:lnTo>
                <a:lnTo>
                  <a:pt x="0" y="118157"/>
                </a:lnTo>
                <a:lnTo>
                  <a:pt x="0" y="114604"/>
                </a:lnTo>
                <a:lnTo>
                  <a:pt x="0" y="23386"/>
                </a:lnTo>
                <a:lnTo>
                  <a:pt x="23389" y="0"/>
                </a:lnTo>
                <a:lnTo>
                  <a:pt x="1156360" y="0"/>
                </a:lnTo>
                <a:lnTo>
                  <a:pt x="1179750" y="23386"/>
                </a:lnTo>
                <a:lnTo>
                  <a:pt x="1179750" y="118157"/>
                </a:lnTo>
                <a:lnTo>
                  <a:pt x="1159800" y="140862"/>
                </a:lnTo>
                <a:lnTo>
                  <a:pt x="1156360" y="141543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2567703" y="7987088"/>
            <a:ext cx="465455" cy="141605"/>
          </a:xfrm>
          <a:custGeom>
            <a:avLst/>
            <a:gdLst/>
            <a:ahLst/>
            <a:cxnLst/>
            <a:rect l="l" t="t" r="r" b="b"/>
            <a:pathLst>
              <a:path w="465455" h="141604">
                <a:moveTo>
                  <a:pt x="441769" y="141543"/>
                </a:moveTo>
                <a:lnTo>
                  <a:pt x="23389" y="141543"/>
                </a:lnTo>
                <a:lnTo>
                  <a:pt x="19950" y="140862"/>
                </a:lnTo>
                <a:lnTo>
                  <a:pt x="0" y="118157"/>
                </a:lnTo>
                <a:lnTo>
                  <a:pt x="0" y="114604"/>
                </a:lnTo>
                <a:lnTo>
                  <a:pt x="0" y="23359"/>
                </a:lnTo>
                <a:lnTo>
                  <a:pt x="23389" y="0"/>
                </a:lnTo>
                <a:lnTo>
                  <a:pt x="441769" y="0"/>
                </a:lnTo>
                <a:lnTo>
                  <a:pt x="465158" y="23359"/>
                </a:lnTo>
                <a:lnTo>
                  <a:pt x="465158" y="118157"/>
                </a:lnTo>
                <a:lnTo>
                  <a:pt x="445208" y="140862"/>
                </a:lnTo>
                <a:lnTo>
                  <a:pt x="441769" y="141543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3754196" y="7987088"/>
            <a:ext cx="526415" cy="141605"/>
          </a:xfrm>
          <a:custGeom>
            <a:avLst/>
            <a:gdLst/>
            <a:ahLst/>
            <a:cxnLst/>
            <a:rect l="l" t="t" r="r" b="b"/>
            <a:pathLst>
              <a:path w="526414" h="141604">
                <a:moveTo>
                  <a:pt x="502441" y="141543"/>
                </a:moveTo>
                <a:lnTo>
                  <a:pt x="23389" y="141543"/>
                </a:lnTo>
                <a:lnTo>
                  <a:pt x="19950" y="140862"/>
                </a:lnTo>
                <a:lnTo>
                  <a:pt x="0" y="118157"/>
                </a:lnTo>
                <a:lnTo>
                  <a:pt x="0" y="114604"/>
                </a:lnTo>
                <a:lnTo>
                  <a:pt x="0" y="23359"/>
                </a:lnTo>
                <a:lnTo>
                  <a:pt x="23389" y="0"/>
                </a:lnTo>
                <a:lnTo>
                  <a:pt x="502441" y="0"/>
                </a:lnTo>
                <a:lnTo>
                  <a:pt x="525831" y="23359"/>
                </a:lnTo>
                <a:lnTo>
                  <a:pt x="525831" y="118157"/>
                </a:lnTo>
                <a:lnTo>
                  <a:pt x="505881" y="140862"/>
                </a:lnTo>
                <a:lnTo>
                  <a:pt x="502441" y="141543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754253" y="8276932"/>
            <a:ext cx="1267460" cy="316865"/>
          </a:xfrm>
          <a:custGeom>
            <a:avLst/>
            <a:gdLst/>
            <a:ahLst/>
            <a:cxnLst/>
            <a:rect l="l" t="t" r="r" b="b"/>
            <a:pathLst>
              <a:path w="1267460" h="316865">
                <a:moveTo>
                  <a:pt x="498868" y="198678"/>
                </a:moveTo>
                <a:lnTo>
                  <a:pt x="498182" y="195224"/>
                </a:lnTo>
                <a:lnTo>
                  <a:pt x="495439" y="188595"/>
                </a:lnTo>
                <a:lnTo>
                  <a:pt x="493496" y="185661"/>
                </a:lnTo>
                <a:lnTo>
                  <a:pt x="490969" y="183159"/>
                </a:lnTo>
                <a:lnTo>
                  <a:pt x="488442" y="180606"/>
                </a:lnTo>
                <a:lnTo>
                  <a:pt x="485521" y="178663"/>
                </a:lnTo>
                <a:lnTo>
                  <a:pt x="478917" y="175971"/>
                </a:lnTo>
                <a:lnTo>
                  <a:pt x="475475" y="175260"/>
                </a:lnTo>
                <a:lnTo>
                  <a:pt x="0" y="175260"/>
                </a:lnTo>
                <a:lnTo>
                  <a:pt x="0" y="316852"/>
                </a:lnTo>
                <a:lnTo>
                  <a:pt x="475475" y="316852"/>
                </a:lnTo>
                <a:lnTo>
                  <a:pt x="498868" y="293471"/>
                </a:lnTo>
                <a:lnTo>
                  <a:pt x="498868" y="198678"/>
                </a:lnTo>
                <a:close/>
              </a:path>
              <a:path w="1267460" h="316865">
                <a:moveTo>
                  <a:pt x="1267383" y="0"/>
                </a:moveTo>
                <a:lnTo>
                  <a:pt x="23393" y="0"/>
                </a:lnTo>
                <a:lnTo>
                  <a:pt x="19951" y="698"/>
                </a:lnTo>
                <a:lnTo>
                  <a:pt x="0" y="23393"/>
                </a:lnTo>
                <a:lnTo>
                  <a:pt x="0" y="118173"/>
                </a:lnTo>
                <a:lnTo>
                  <a:pt x="16649" y="139496"/>
                </a:lnTo>
                <a:lnTo>
                  <a:pt x="19951" y="140893"/>
                </a:lnTo>
                <a:lnTo>
                  <a:pt x="23393" y="141566"/>
                </a:lnTo>
                <a:lnTo>
                  <a:pt x="1267383" y="141566"/>
                </a:lnTo>
                <a:lnTo>
                  <a:pt x="1267383" y="0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754257" y="8742129"/>
            <a:ext cx="1179830" cy="141605"/>
          </a:xfrm>
          <a:custGeom>
            <a:avLst/>
            <a:gdLst/>
            <a:ahLst/>
            <a:cxnLst/>
            <a:rect l="l" t="t" r="r" b="b"/>
            <a:pathLst>
              <a:path w="1179830" h="141604">
                <a:moveTo>
                  <a:pt x="1156360" y="141543"/>
                </a:moveTo>
                <a:lnTo>
                  <a:pt x="23389" y="141543"/>
                </a:lnTo>
                <a:lnTo>
                  <a:pt x="19950" y="140862"/>
                </a:lnTo>
                <a:lnTo>
                  <a:pt x="0" y="118157"/>
                </a:lnTo>
                <a:lnTo>
                  <a:pt x="0" y="114604"/>
                </a:lnTo>
                <a:lnTo>
                  <a:pt x="0" y="23359"/>
                </a:lnTo>
                <a:lnTo>
                  <a:pt x="23389" y="0"/>
                </a:lnTo>
                <a:lnTo>
                  <a:pt x="1156360" y="0"/>
                </a:lnTo>
                <a:lnTo>
                  <a:pt x="1179750" y="23359"/>
                </a:lnTo>
                <a:lnTo>
                  <a:pt x="1179750" y="118157"/>
                </a:lnTo>
                <a:lnTo>
                  <a:pt x="1159800" y="140862"/>
                </a:lnTo>
                <a:lnTo>
                  <a:pt x="1156360" y="141543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754257" y="9032010"/>
            <a:ext cx="1294765" cy="141605"/>
          </a:xfrm>
          <a:custGeom>
            <a:avLst/>
            <a:gdLst/>
            <a:ahLst/>
            <a:cxnLst/>
            <a:rect l="l" t="t" r="r" b="b"/>
            <a:pathLst>
              <a:path w="1294764" h="141604">
                <a:moveTo>
                  <a:pt x="1270965" y="141543"/>
                </a:moveTo>
                <a:lnTo>
                  <a:pt x="23389" y="141543"/>
                </a:lnTo>
                <a:lnTo>
                  <a:pt x="19950" y="140862"/>
                </a:lnTo>
                <a:lnTo>
                  <a:pt x="0" y="118157"/>
                </a:lnTo>
                <a:lnTo>
                  <a:pt x="0" y="114604"/>
                </a:lnTo>
                <a:lnTo>
                  <a:pt x="0" y="23359"/>
                </a:lnTo>
                <a:lnTo>
                  <a:pt x="23389" y="0"/>
                </a:lnTo>
                <a:lnTo>
                  <a:pt x="1270965" y="0"/>
                </a:lnTo>
                <a:lnTo>
                  <a:pt x="1294355" y="23359"/>
                </a:lnTo>
                <a:lnTo>
                  <a:pt x="1294355" y="118157"/>
                </a:lnTo>
                <a:lnTo>
                  <a:pt x="1274405" y="140862"/>
                </a:lnTo>
                <a:lnTo>
                  <a:pt x="1270965" y="141543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754257" y="9321892"/>
            <a:ext cx="465455" cy="141605"/>
          </a:xfrm>
          <a:custGeom>
            <a:avLst/>
            <a:gdLst/>
            <a:ahLst/>
            <a:cxnLst/>
            <a:rect l="l" t="t" r="r" b="b"/>
            <a:pathLst>
              <a:path w="465455" h="141604">
                <a:moveTo>
                  <a:pt x="441769" y="141543"/>
                </a:moveTo>
                <a:lnTo>
                  <a:pt x="23389" y="141543"/>
                </a:lnTo>
                <a:lnTo>
                  <a:pt x="19950" y="140862"/>
                </a:lnTo>
                <a:lnTo>
                  <a:pt x="0" y="118157"/>
                </a:lnTo>
                <a:lnTo>
                  <a:pt x="0" y="114604"/>
                </a:lnTo>
                <a:lnTo>
                  <a:pt x="0" y="23386"/>
                </a:lnTo>
                <a:lnTo>
                  <a:pt x="23389" y="0"/>
                </a:lnTo>
                <a:lnTo>
                  <a:pt x="441769" y="0"/>
                </a:lnTo>
                <a:lnTo>
                  <a:pt x="465158" y="23386"/>
                </a:lnTo>
                <a:lnTo>
                  <a:pt x="465158" y="118157"/>
                </a:lnTo>
                <a:lnTo>
                  <a:pt x="445208" y="140862"/>
                </a:lnTo>
                <a:lnTo>
                  <a:pt x="441769" y="141543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graphicFrame>
        <p:nvGraphicFramePr>
          <p:cNvPr id="26" name="object 26"/>
          <p:cNvGraphicFramePr>
            <a:graphicFrameLocks noGrp="1"/>
          </p:cNvGraphicFramePr>
          <p:nvPr/>
        </p:nvGraphicFramePr>
        <p:xfrm>
          <a:off x="680102" y="7447773"/>
          <a:ext cx="6278880" cy="20808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13560"/>
                <a:gridCol w="4382135"/>
              </a:tblGrid>
              <a:tr h="289560">
                <a:tc>
                  <a:txBody>
                    <a:bodyPr/>
                    <a:lstStyle/>
                    <a:p>
                      <a:pPr marL="70485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950" spc="-20" b="1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Line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64769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950" spc="-10" b="1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Explanation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64769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  <a:solidFill>
                      <a:srgbClr val="F7FAFB"/>
                    </a:solidFill>
                  </a:tcPr>
                </a:tc>
              </a:tr>
              <a:tr h="457834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prompt</a:t>
                      </a:r>
                      <a:r>
                        <a:rPr dirty="0" sz="750" spc="45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=</a:t>
                      </a:r>
                      <a:r>
                        <a:rPr dirty="0" sz="750" spc="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 spc="-1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f"""..."""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90170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Builds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the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00" spc="-45">
                          <a:solidFill>
                            <a:srgbClr val="111726"/>
                          </a:solidFill>
                          <a:latin typeface="Arial"/>
                          <a:cs typeface="Arial"/>
                        </a:rPr>
                        <a:t>ﬁ</a:t>
                      </a:r>
                      <a:r>
                        <a:rPr dirty="0" sz="950" spc="-4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nal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9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prompt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string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for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the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9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LLM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using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9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an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6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f-</a:t>
                      </a:r>
                      <a:r>
                        <a:rPr dirty="0" sz="950" spc="-7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string,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9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embedding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the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retrieved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  <a:p>
                      <a:pPr marL="94615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context</a:t>
                      </a:r>
                      <a:r>
                        <a:rPr dirty="0" sz="750" spc="-4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and</a:t>
                      </a:r>
                      <a:r>
                        <a:rPr dirty="0" sz="950" spc="-2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the</a:t>
                      </a:r>
                      <a:r>
                        <a:rPr dirty="0" sz="950" spc="-2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5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user's</a:t>
                      </a:r>
                      <a:r>
                        <a:rPr dirty="0" sz="950" spc="20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question</a:t>
                      </a:r>
                      <a:r>
                        <a:rPr dirty="0" sz="750" spc="-225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950" spc="-5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.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64769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</a:tr>
              <a:tr h="464820">
                <a:tc>
                  <a:txBody>
                    <a:bodyPr/>
                    <a:lstStyle/>
                    <a:p>
                      <a:pPr marL="70485" marR="465455" indent="26670">
                        <a:lnSpc>
                          <a:spcPct val="153300"/>
                        </a:lnSpc>
                        <a:spcBef>
                          <a:spcPts val="229"/>
                        </a:spcBef>
                      </a:pP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Answer</a:t>
                      </a:r>
                      <a:r>
                        <a:rPr dirty="0" sz="750" spc="6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only</a:t>
                      </a:r>
                      <a:r>
                        <a:rPr dirty="0" sz="750" spc="65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using</a:t>
                      </a:r>
                      <a:r>
                        <a:rPr dirty="0" sz="750" spc="6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 spc="-25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the </a:t>
                      </a:r>
                      <a:r>
                        <a:rPr dirty="0" sz="750" spc="-1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context.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29209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Grounding</a:t>
                      </a:r>
                      <a:r>
                        <a:rPr dirty="0" sz="950" spc="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instruction</a:t>
                      </a:r>
                      <a:r>
                        <a:rPr dirty="0" sz="950" spc="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to</a:t>
                      </a:r>
                      <a:r>
                        <a:rPr dirty="0" sz="950" spc="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reduce</a:t>
                      </a:r>
                      <a:r>
                        <a:rPr dirty="0" sz="950" spc="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hallucination.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64769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dirty="0" sz="750" spc="-1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Context:\n{context}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90170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950" spc="-7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Injects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the</a:t>
                      </a:r>
                      <a:r>
                        <a:rPr dirty="0" sz="95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retrieved</a:t>
                      </a:r>
                      <a:r>
                        <a:rPr dirty="0" sz="95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chunk</a:t>
                      </a:r>
                      <a:r>
                        <a:rPr dirty="0" sz="95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2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text.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64769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dirty="0" sz="750" spc="-1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Question:\n{question}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90170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950" spc="-7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Injects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the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user's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question.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64769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dirty="0" sz="750" spc="-1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Answer: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90170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950" spc="-9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A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trailing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cue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that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signals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to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the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model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where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6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its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response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should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begin.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64769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80102" y="571499"/>
            <a:ext cx="6202680" cy="2143760"/>
          </a:xfrm>
          <a:custGeom>
            <a:avLst/>
            <a:gdLst/>
            <a:ahLst/>
            <a:cxnLst/>
            <a:rect l="l" t="t" r="r" b="b"/>
            <a:pathLst>
              <a:path w="6202680" h="2143760">
                <a:moveTo>
                  <a:pt x="6151728" y="2143748"/>
                </a:moveTo>
                <a:lnTo>
                  <a:pt x="50390" y="2143748"/>
                </a:lnTo>
                <a:lnTo>
                  <a:pt x="46883" y="2143405"/>
                </a:lnTo>
                <a:lnTo>
                  <a:pt x="11056" y="2122735"/>
                </a:lnTo>
                <a:lnTo>
                  <a:pt x="0" y="2093397"/>
                </a:lnTo>
                <a:lnTo>
                  <a:pt x="0" y="2089844"/>
                </a:lnTo>
                <a:lnTo>
                  <a:pt x="0" y="50378"/>
                </a:lnTo>
                <a:lnTo>
                  <a:pt x="18300" y="13273"/>
                </a:lnTo>
                <a:lnTo>
                  <a:pt x="50390" y="0"/>
                </a:lnTo>
                <a:lnTo>
                  <a:pt x="6151728" y="0"/>
                </a:lnTo>
                <a:lnTo>
                  <a:pt x="6188826" y="18276"/>
                </a:lnTo>
                <a:lnTo>
                  <a:pt x="6202118" y="50378"/>
                </a:lnTo>
                <a:lnTo>
                  <a:pt x="6202118" y="2093397"/>
                </a:lnTo>
                <a:lnTo>
                  <a:pt x="6183818" y="2130475"/>
                </a:lnTo>
                <a:lnTo>
                  <a:pt x="6155235" y="2143405"/>
                </a:lnTo>
                <a:lnTo>
                  <a:pt x="6151728" y="2143748"/>
                </a:lnTo>
                <a:close/>
              </a:path>
            </a:pathLst>
          </a:custGeom>
          <a:solidFill>
            <a:srgbClr val="0E172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680102" y="6517444"/>
            <a:ext cx="6202680" cy="6985"/>
          </a:xfrm>
          <a:custGeom>
            <a:avLst/>
            <a:gdLst/>
            <a:ahLst/>
            <a:cxnLst/>
            <a:rect l="l" t="t" r="r" b="b"/>
            <a:pathLst>
              <a:path w="6202680" h="6984">
                <a:moveTo>
                  <a:pt x="6202119" y="6741"/>
                </a:moveTo>
                <a:lnTo>
                  <a:pt x="0" y="6741"/>
                </a:lnTo>
                <a:lnTo>
                  <a:pt x="0" y="0"/>
                </a:lnTo>
                <a:lnTo>
                  <a:pt x="6202119" y="0"/>
                </a:lnTo>
                <a:lnTo>
                  <a:pt x="6202119" y="6741"/>
                </a:lnTo>
                <a:close/>
              </a:path>
            </a:pathLst>
          </a:custGeom>
          <a:solidFill>
            <a:srgbClr val="E4E7E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680102" y="7002854"/>
            <a:ext cx="6202680" cy="1254125"/>
          </a:xfrm>
          <a:custGeom>
            <a:avLst/>
            <a:gdLst/>
            <a:ahLst/>
            <a:cxnLst/>
            <a:rect l="l" t="t" r="r" b="b"/>
            <a:pathLst>
              <a:path w="6202680" h="1254125">
                <a:moveTo>
                  <a:pt x="6151728" y="1253852"/>
                </a:moveTo>
                <a:lnTo>
                  <a:pt x="50390" y="1253852"/>
                </a:lnTo>
                <a:lnTo>
                  <a:pt x="46883" y="1253508"/>
                </a:lnTo>
                <a:lnTo>
                  <a:pt x="11056" y="1232839"/>
                </a:lnTo>
                <a:lnTo>
                  <a:pt x="0" y="1203453"/>
                </a:lnTo>
                <a:lnTo>
                  <a:pt x="0" y="1199948"/>
                </a:lnTo>
                <a:lnTo>
                  <a:pt x="0" y="50351"/>
                </a:lnTo>
                <a:lnTo>
                  <a:pt x="18300" y="13246"/>
                </a:lnTo>
                <a:lnTo>
                  <a:pt x="50390" y="0"/>
                </a:lnTo>
                <a:lnTo>
                  <a:pt x="6151728" y="0"/>
                </a:lnTo>
                <a:lnTo>
                  <a:pt x="6188826" y="18249"/>
                </a:lnTo>
                <a:lnTo>
                  <a:pt x="6202118" y="50351"/>
                </a:lnTo>
                <a:lnTo>
                  <a:pt x="6202118" y="1203453"/>
                </a:lnTo>
                <a:lnTo>
                  <a:pt x="6183818" y="1240578"/>
                </a:lnTo>
                <a:lnTo>
                  <a:pt x="6155235" y="1253508"/>
                </a:lnTo>
                <a:lnTo>
                  <a:pt x="6151728" y="1253852"/>
                </a:lnTo>
                <a:close/>
              </a:path>
            </a:pathLst>
          </a:custGeom>
          <a:solidFill>
            <a:srgbClr val="0E172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761782" y="619731"/>
            <a:ext cx="2306320" cy="1980564"/>
          </a:xfrm>
          <a:prstGeom prst="rect">
            <a:avLst/>
          </a:prstGeom>
        </p:spPr>
        <p:txBody>
          <a:bodyPr wrap="square" lIns="0" tIns="8890" rIns="0" bIns="0" rtlCol="0" vert="horz">
            <a:spAutoFit/>
          </a:bodyPr>
          <a:lstStyle/>
          <a:p>
            <a:pPr marL="259079" marR="744220" indent="-247015">
              <a:lnSpc>
                <a:spcPct val="146500"/>
              </a:lnSpc>
              <a:spcBef>
                <a:spcPts val="70"/>
              </a:spcBef>
            </a:pP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response</a:t>
            </a:r>
            <a:r>
              <a:rPr dirty="0" sz="800" spc="2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=</a:t>
            </a:r>
            <a:r>
              <a:rPr dirty="0" sz="800" spc="2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 spc="-10">
                <a:solidFill>
                  <a:srgbClr val="E4E7EB"/>
                </a:solidFill>
                <a:latin typeface="Courier New"/>
                <a:cs typeface="Courier New"/>
              </a:rPr>
              <a:t>ollama.chat( model="qwen2.5:0.5b", messages=[</a:t>
            </a:r>
            <a:endParaRPr sz="800">
              <a:latin typeface="Courier New"/>
              <a:cs typeface="Courier New"/>
            </a:endParaRPr>
          </a:p>
          <a:p>
            <a:pPr marL="505459">
              <a:lnSpc>
                <a:spcPct val="100000"/>
              </a:lnSpc>
              <a:spcBef>
                <a:spcPts val="420"/>
              </a:spcBef>
            </a:pPr>
            <a:r>
              <a:rPr dirty="0" sz="800" spc="-50">
                <a:solidFill>
                  <a:srgbClr val="E4E7EB"/>
                </a:solidFill>
                <a:latin typeface="Courier New"/>
                <a:cs typeface="Courier New"/>
              </a:rPr>
              <a:t>{</a:t>
            </a:r>
            <a:endParaRPr sz="800">
              <a:latin typeface="Courier New"/>
              <a:cs typeface="Courier New"/>
            </a:endParaRPr>
          </a:p>
          <a:p>
            <a:pPr marL="751840" marR="497840">
              <a:lnSpc>
                <a:spcPct val="143800"/>
              </a:lnSpc>
              <a:spcBef>
                <a:spcPts val="55"/>
              </a:spcBef>
            </a:pP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"role":</a:t>
            </a:r>
            <a:r>
              <a:rPr dirty="0" sz="800" spc="3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 spc="-10">
                <a:solidFill>
                  <a:srgbClr val="E4E7EB"/>
                </a:solidFill>
                <a:latin typeface="Courier New"/>
                <a:cs typeface="Courier New"/>
              </a:rPr>
              <a:t>"user",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"content":</a:t>
            </a:r>
            <a:r>
              <a:rPr dirty="0" sz="800" spc="5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 spc="-10">
                <a:solidFill>
                  <a:srgbClr val="E4E7EB"/>
                </a:solidFill>
                <a:latin typeface="Courier New"/>
                <a:cs typeface="Courier New"/>
              </a:rPr>
              <a:t>prompt</a:t>
            </a:r>
            <a:endParaRPr sz="800">
              <a:latin typeface="Courier New"/>
              <a:cs typeface="Courier New"/>
            </a:endParaRPr>
          </a:p>
          <a:p>
            <a:pPr marL="505459">
              <a:lnSpc>
                <a:spcPct val="100000"/>
              </a:lnSpc>
              <a:spcBef>
                <a:spcPts val="420"/>
              </a:spcBef>
            </a:pPr>
            <a:r>
              <a:rPr dirty="0" sz="800" spc="-50">
                <a:solidFill>
                  <a:srgbClr val="E4E7EB"/>
                </a:solidFill>
                <a:latin typeface="Courier New"/>
                <a:cs typeface="Courier New"/>
              </a:rPr>
              <a:t>}</a:t>
            </a:r>
            <a:endParaRPr sz="800">
              <a:latin typeface="Courier New"/>
              <a:cs typeface="Courier New"/>
            </a:endParaRPr>
          </a:p>
          <a:p>
            <a:pPr marL="259079">
              <a:lnSpc>
                <a:spcPct val="100000"/>
              </a:lnSpc>
              <a:spcBef>
                <a:spcPts val="470"/>
              </a:spcBef>
            </a:pPr>
            <a:r>
              <a:rPr dirty="0" sz="800" spc="-50">
                <a:solidFill>
                  <a:srgbClr val="E4E7EB"/>
                </a:solidFill>
                <a:latin typeface="Courier New"/>
                <a:cs typeface="Courier New"/>
              </a:rPr>
              <a:t>]</a:t>
            </a:r>
            <a:endParaRPr sz="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420"/>
              </a:spcBef>
            </a:pPr>
            <a:r>
              <a:rPr dirty="0" sz="800" spc="-50">
                <a:solidFill>
                  <a:srgbClr val="E4E7EB"/>
                </a:solidFill>
                <a:latin typeface="Courier New"/>
                <a:cs typeface="Courier New"/>
              </a:rPr>
              <a:t>)</a:t>
            </a:r>
            <a:endParaRPr sz="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endParaRPr sz="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800" spc="-10">
                <a:solidFill>
                  <a:srgbClr val="E4E7EB"/>
                </a:solidFill>
                <a:latin typeface="Courier New"/>
                <a:cs typeface="Courier New"/>
              </a:rPr>
              <a:t>print(response["message"]["content"])</a:t>
            </a:r>
            <a:endParaRPr sz="800">
              <a:latin typeface="Courier New"/>
              <a:cs typeface="Courier New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754257" y="3193917"/>
            <a:ext cx="1416050" cy="141605"/>
          </a:xfrm>
          <a:custGeom>
            <a:avLst/>
            <a:gdLst/>
            <a:ahLst/>
            <a:cxnLst/>
            <a:rect l="l" t="t" r="r" b="b"/>
            <a:pathLst>
              <a:path w="1416050" h="141604">
                <a:moveTo>
                  <a:pt x="1392311" y="141570"/>
                </a:moveTo>
                <a:lnTo>
                  <a:pt x="23389" y="141570"/>
                </a:lnTo>
                <a:lnTo>
                  <a:pt x="19950" y="140882"/>
                </a:lnTo>
                <a:lnTo>
                  <a:pt x="0" y="118157"/>
                </a:lnTo>
                <a:lnTo>
                  <a:pt x="0" y="114604"/>
                </a:lnTo>
                <a:lnTo>
                  <a:pt x="0" y="23359"/>
                </a:lnTo>
                <a:lnTo>
                  <a:pt x="23389" y="0"/>
                </a:lnTo>
                <a:lnTo>
                  <a:pt x="1392311" y="0"/>
                </a:lnTo>
                <a:lnTo>
                  <a:pt x="1415700" y="23359"/>
                </a:lnTo>
                <a:lnTo>
                  <a:pt x="1415700" y="118157"/>
                </a:lnTo>
                <a:lnTo>
                  <a:pt x="1395750" y="140882"/>
                </a:lnTo>
                <a:lnTo>
                  <a:pt x="1392311" y="141570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2554220" y="3362453"/>
            <a:ext cx="1355090" cy="141605"/>
          </a:xfrm>
          <a:custGeom>
            <a:avLst/>
            <a:gdLst/>
            <a:ahLst/>
            <a:cxnLst/>
            <a:rect l="l" t="t" r="r" b="b"/>
            <a:pathLst>
              <a:path w="1355089" h="141604">
                <a:moveTo>
                  <a:pt x="1331638" y="141543"/>
                </a:moveTo>
                <a:lnTo>
                  <a:pt x="23389" y="141543"/>
                </a:lnTo>
                <a:lnTo>
                  <a:pt x="19950" y="140862"/>
                </a:lnTo>
                <a:lnTo>
                  <a:pt x="0" y="118157"/>
                </a:lnTo>
                <a:lnTo>
                  <a:pt x="0" y="114604"/>
                </a:lnTo>
                <a:lnTo>
                  <a:pt x="0" y="23386"/>
                </a:lnTo>
                <a:lnTo>
                  <a:pt x="23389" y="0"/>
                </a:lnTo>
                <a:lnTo>
                  <a:pt x="1331638" y="0"/>
                </a:lnTo>
                <a:lnTo>
                  <a:pt x="1355028" y="23386"/>
                </a:lnTo>
                <a:lnTo>
                  <a:pt x="1355028" y="118157"/>
                </a:lnTo>
                <a:lnTo>
                  <a:pt x="1335078" y="140862"/>
                </a:lnTo>
                <a:lnTo>
                  <a:pt x="1331638" y="141543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754257" y="3652335"/>
            <a:ext cx="1294765" cy="141605"/>
          </a:xfrm>
          <a:custGeom>
            <a:avLst/>
            <a:gdLst/>
            <a:ahLst/>
            <a:cxnLst/>
            <a:rect l="l" t="t" r="r" b="b"/>
            <a:pathLst>
              <a:path w="1294764" h="141604">
                <a:moveTo>
                  <a:pt x="1270965" y="141543"/>
                </a:moveTo>
                <a:lnTo>
                  <a:pt x="23389" y="141543"/>
                </a:lnTo>
                <a:lnTo>
                  <a:pt x="19950" y="140835"/>
                </a:lnTo>
                <a:lnTo>
                  <a:pt x="0" y="118157"/>
                </a:lnTo>
                <a:lnTo>
                  <a:pt x="0" y="114604"/>
                </a:lnTo>
                <a:lnTo>
                  <a:pt x="0" y="23359"/>
                </a:lnTo>
                <a:lnTo>
                  <a:pt x="23389" y="0"/>
                </a:lnTo>
                <a:lnTo>
                  <a:pt x="1270965" y="0"/>
                </a:lnTo>
                <a:lnTo>
                  <a:pt x="1294355" y="23359"/>
                </a:lnTo>
                <a:lnTo>
                  <a:pt x="1294355" y="118157"/>
                </a:lnTo>
                <a:lnTo>
                  <a:pt x="1274405" y="140835"/>
                </a:lnTo>
                <a:lnTo>
                  <a:pt x="1270965" y="141543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3902507" y="3820871"/>
            <a:ext cx="768985" cy="141605"/>
          </a:xfrm>
          <a:custGeom>
            <a:avLst/>
            <a:gdLst/>
            <a:ahLst/>
            <a:cxnLst/>
            <a:rect l="l" t="t" r="r" b="b"/>
            <a:pathLst>
              <a:path w="768985" h="141604">
                <a:moveTo>
                  <a:pt x="745133" y="141543"/>
                </a:moveTo>
                <a:lnTo>
                  <a:pt x="23389" y="141543"/>
                </a:lnTo>
                <a:lnTo>
                  <a:pt x="19949" y="140862"/>
                </a:lnTo>
                <a:lnTo>
                  <a:pt x="0" y="118157"/>
                </a:lnTo>
                <a:lnTo>
                  <a:pt x="0" y="114604"/>
                </a:lnTo>
                <a:lnTo>
                  <a:pt x="0" y="23359"/>
                </a:lnTo>
                <a:lnTo>
                  <a:pt x="23389" y="0"/>
                </a:lnTo>
                <a:lnTo>
                  <a:pt x="745133" y="0"/>
                </a:lnTo>
                <a:lnTo>
                  <a:pt x="768523" y="23359"/>
                </a:lnTo>
                <a:lnTo>
                  <a:pt x="768523" y="118157"/>
                </a:lnTo>
                <a:lnTo>
                  <a:pt x="748572" y="140862"/>
                </a:lnTo>
                <a:lnTo>
                  <a:pt x="745133" y="141543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754257" y="4286029"/>
            <a:ext cx="647700" cy="141605"/>
          </a:xfrm>
          <a:custGeom>
            <a:avLst/>
            <a:gdLst/>
            <a:ahLst/>
            <a:cxnLst/>
            <a:rect l="l" t="t" r="r" b="b"/>
            <a:pathLst>
              <a:path w="647700" h="141604">
                <a:moveTo>
                  <a:pt x="623787" y="141543"/>
                </a:moveTo>
                <a:lnTo>
                  <a:pt x="23389" y="141543"/>
                </a:lnTo>
                <a:lnTo>
                  <a:pt x="19950" y="140835"/>
                </a:lnTo>
                <a:lnTo>
                  <a:pt x="0" y="118157"/>
                </a:lnTo>
                <a:lnTo>
                  <a:pt x="0" y="114604"/>
                </a:lnTo>
                <a:lnTo>
                  <a:pt x="0" y="23386"/>
                </a:lnTo>
                <a:lnTo>
                  <a:pt x="23389" y="0"/>
                </a:lnTo>
                <a:lnTo>
                  <a:pt x="623787" y="0"/>
                </a:lnTo>
                <a:lnTo>
                  <a:pt x="647177" y="23386"/>
                </a:lnTo>
                <a:lnTo>
                  <a:pt x="647177" y="118157"/>
                </a:lnTo>
                <a:lnTo>
                  <a:pt x="627227" y="140835"/>
                </a:lnTo>
                <a:lnTo>
                  <a:pt x="623787" y="141543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754253" y="4575885"/>
            <a:ext cx="1624965" cy="316865"/>
          </a:xfrm>
          <a:custGeom>
            <a:avLst/>
            <a:gdLst/>
            <a:ahLst/>
            <a:cxnLst/>
            <a:rect l="l" t="t" r="r" b="b"/>
            <a:pathLst>
              <a:path w="1624964" h="316864">
                <a:moveTo>
                  <a:pt x="438188" y="198640"/>
                </a:moveTo>
                <a:lnTo>
                  <a:pt x="414807" y="175260"/>
                </a:lnTo>
                <a:lnTo>
                  <a:pt x="0" y="175260"/>
                </a:lnTo>
                <a:lnTo>
                  <a:pt x="0" y="316852"/>
                </a:lnTo>
                <a:lnTo>
                  <a:pt x="414807" y="316852"/>
                </a:lnTo>
                <a:lnTo>
                  <a:pt x="438188" y="293446"/>
                </a:lnTo>
                <a:lnTo>
                  <a:pt x="438188" y="198640"/>
                </a:lnTo>
                <a:close/>
              </a:path>
              <a:path w="1624964" h="316864">
                <a:moveTo>
                  <a:pt x="1624685" y="0"/>
                </a:moveTo>
                <a:lnTo>
                  <a:pt x="23393" y="0"/>
                </a:lnTo>
                <a:lnTo>
                  <a:pt x="19951" y="698"/>
                </a:lnTo>
                <a:lnTo>
                  <a:pt x="13335" y="3378"/>
                </a:lnTo>
                <a:lnTo>
                  <a:pt x="10426" y="5321"/>
                </a:lnTo>
                <a:lnTo>
                  <a:pt x="7899" y="7886"/>
                </a:lnTo>
                <a:lnTo>
                  <a:pt x="5372" y="10375"/>
                </a:lnTo>
                <a:lnTo>
                  <a:pt x="3416" y="13309"/>
                </a:lnTo>
                <a:lnTo>
                  <a:pt x="685" y="19939"/>
                </a:lnTo>
                <a:lnTo>
                  <a:pt x="0" y="23393"/>
                </a:lnTo>
                <a:lnTo>
                  <a:pt x="0" y="118160"/>
                </a:lnTo>
                <a:lnTo>
                  <a:pt x="23393" y="141566"/>
                </a:lnTo>
                <a:lnTo>
                  <a:pt x="1624685" y="141566"/>
                </a:lnTo>
                <a:lnTo>
                  <a:pt x="1624685" y="0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2" name="object 1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54257" y="5041070"/>
            <a:ext cx="114604" cy="141543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54257" y="5330952"/>
            <a:ext cx="114604" cy="141543"/>
          </a:xfrm>
          <a:prstGeom prst="rect">
            <a:avLst/>
          </a:prstGeom>
        </p:spPr>
      </p:pic>
      <p:sp>
        <p:nvSpPr>
          <p:cNvPr id="14" name="object 14"/>
          <p:cNvSpPr/>
          <p:nvPr/>
        </p:nvSpPr>
        <p:spPr>
          <a:xfrm>
            <a:off x="3066569" y="5330952"/>
            <a:ext cx="1004569" cy="141605"/>
          </a:xfrm>
          <a:custGeom>
            <a:avLst/>
            <a:gdLst/>
            <a:ahLst/>
            <a:cxnLst/>
            <a:rect l="l" t="t" r="r" b="b"/>
            <a:pathLst>
              <a:path w="1004570" h="141604">
                <a:moveTo>
                  <a:pt x="981083" y="141543"/>
                </a:moveTo>
                <a:lnTo>
                  <a:pt x="23389" y="141543"/>
                </a:lnTo>
                <a:lnTo>
                  <a:pt x="19950" y="140835"/>
                </a:lnTo>
                <a:lnTo>
                  <a:pt x="0" y="118157"/>
                </a:lnTo>
                <a:lnTo>
                  <a:pt x="0" y="114604"/>
                </a:lnTo>
                <a:lnTo>
                  <a:pt x="0" y="23359"/>
                </a:lnTo>
                <a:lnTo>
                  <a:pt x="23389" y="0"/>
                </a:lnTo>
                <a:lnTo>
                  <a:pt x="981083" y="0"/>
                </a:lnTo>
                <a:lnTo>
                  <a:pt x="1004473" y="23359"/>
                </a:lnTo>
                <a:lnTo>
                  <a:pt x="1004473" y="118157"/>
                </a:lnTo>
                <a:lnTo>
                  <a:pt x="984523" y="140835"/>
                </a:lnTo>
                <a:lnTo>
                  <a:pt x="981083" y="141543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754253" y="5620803"/>
            <a:ext cx="1503680" cy="316865"/>
          </a:xfrm>
          <a:custGeom>
            <a:avLst/>
            <a:gdLst/>
            <a:ahLst/>
            <a:cxnLst/>
            <a:rect l="l" t="t" r="r" b="b"/>
            <a:pathLst>
              <a:path w="1503680" h="316864">
                <a:moveTo>
                  <a:pt x="734809" y="198653"/>
                </a:moveTo>
                <a:lnTo>
                  <a:pt x="711428" y="175285"/>
                </a:lnTo>
                <a:lnTo>
                  <a:pt x="0" y="175285"/>
                </a:lnTo>
                <a:lnTo>
                  <a:pt x="0" y="316852"/>
                </a:lnTo>
                <a:lnTo>
                  <a:pt x="711428" y="316852"/>
                </a:lnTo>
                <a:lnTo>
                  <a:pt x="734809" y="293446"/>
                </a:lnTo>
                <a:lnTo>
                  <a:pt x="734809" y="198653"/>
                </a:lnTo>
                <a:close/>
              </a:path>
              <a:path w="1503680" h="316864">
                <a:moveTo>
                  <a:pt x="1503337" y="0"/>
                </a:moveTo>
                <a:lnTo>
                  <a:pt x="23393" y="0"/>
                </a:lnTo>
                <a:lnTo>
                  <a:pt x="19951" y="698"/>
                </a:lnTo>
                <a:lnTo>
                  <a:pt x="0" y="23393"/>
                </a:lnTo>
                <a:lnTo>
                  <a:pt x="0" y="118173"/>
                </a:lnTo>
                <a:lnTo>
                  <a:pt x="23393" y="141566"/>
                </a:lnTo>
                <a:lnTo>
                  <a:pt x="1503337" y="141566"/>
                </a:lnTo>
                <a:lnTo>
                  <a:pt x="1503337" y="0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2554211" y="5964605"/>
            <a:ext cx="4186554" cy="316865"/>
          </a:xfrm>
          <a:custGeom>
            <a:avLst/>
            <a:gdLst/>
            <a:ahLst/>
            <a:cxnLst/>
            <a:rect l="l" t="t" r="r" b="b"/>
            <a:pathLst>
              <a:path w="4186554" h="316864">
                <a:moveTo>
                  <a:pt x="2979712" y="198653"/>
                </a:moveTo>
                <a:lnTo>
                  <a:pt x="2956331" y="175285"/>
                </a:lnTo>
                <a:lnTo>
                  <a:pt x="0" y="175285"/>
                </a:lnTo>
                <a:lnTo>
                  <a:pt x="0" y="316852"/>
                </a:lnTo>
                <a:lnTo>
                  <a:pt x="2956331" y="316852"/>
                </a:lnTo>
                <a:lnTo>
                  <a:pt x="2979712" y="293458"/>
                </a:lnTo>
                <a:lnTo>
                  <a:pt x="2979712" y="198653"/>
                </a:lnTo>
                <a:close/>
              </a:path>
              <a:path w="4186554" h="316864">
                <a:moveTo>
                  <a:pt x="4186428" y="0"/>
                </a:moveTo>
                <a:lnTo>
                  <a:pt x="218897" y="0"/>
                </a:lnTo>
                <a:lnTo>
                  <a:pt x="215455" y="711"/>
                </a:lnTo>
                <a:lnTo>
                  <a:pt x="195503" y="23380"/>
                </a:lnTo>
                <a:lnTo>
                  <a:pt x="195503" y="118173"/>
                </a:lnTo>
                <a:lnTo>
                  <a:pt x="218897" y="141566"/>
                </a:lnTo>
                <a:lnTo>
                  <a:pt x="4186428" y="141566"/>
                </a:lnTo>
                <a:lnTo>
                  <a:pt x="4186428" y="0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graphicFrame>
        <p:nvGraphicFramePr>
          <p:cNvPr id="17" name="object 17"/>
          <p:cNvGraphicFramePr>
            <a:graphicFrameLocks noGrp="1"/>
          </p:cNvGraphicFramePr>
          <p:nvPr/>
        </p:nvGraphicFramePr>
        <p:xfrm>
          <a:off x="680102" y="2823138"/>
          <a:ext cx="6278880" cy="35223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00225"/>
                <a:gridCol w="4395470"/>
              </a:tblGrid>
              <a:tr h="289560">
                <a:tc>
                  <a:txBody>
                    <a:bodyPr/>
                    <a:lstStyle/>
                    <a:p>
                      <a:pPr marL="70485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950" spc="-20" b="1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Line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64769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950" spc="-10" b="1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Explanation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64769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  <a:solidFill>
                      <a:srgbClr val="F7FAFB"/>
                    </a:solidFill>
                  </a:tcPr>
                </a:tc>
              </a:tr>
              <a:tr h="457834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response</a:t>
                      </a:r>
                      <a:r>
                        <a:rPr dirty="0" sz="750" spc="55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=</a:t>
                      </a:r>
                      <a:r>
                        <a:rPr dirty="0" sz="750" spc="6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 spc="-1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ollama.chat(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90170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Sends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9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a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chat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completion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request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to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the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local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Ollama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server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(default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  <a:p>
                      <a:pPr marL="94615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  <a:hlinkClick r:id="rId4"/>
                        </a:rPr>
                        <a:t>http://localhost:11434</a:t>
                      </a:r>
                      <a:r>
                        <a:rPr dirty="0" sz="750" spc="-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  <a:hlinkClick r:id="rId4"/>
                        </a:rPr>
                        <a:t> </a:t>
                      </a:r>
                      <a:r>
                        <a:rPr dirty="0" sz="950" spc="-2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).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64769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</a:tr>
              <a:tr h="633095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dirty="0" sz="750" spc="-1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model="qwen2.5:0.5b",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90170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310" marR="184150">
                        <a:lnSpc>
                          <a:spcPct val="118700"/>
                        </a:lnSpc>
                        <a:spcBef>
                          <a:spcPts val="295"/>
                        </a:spcBef>
                      </a:pPr>
                      <a:r>
                        <a:rPr dirty="0" sz="950" spc="-6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Speci</a:t>
                      </a:r>
                      <a:r>
                        <a:rPr dirty="0" sz="900" spc="-65">
                          <a:solidFill>
                            <a:srgbClr val="111726"/>
                          </a:solidFill>
                          <a:latin typeface="Arial"/>
                          <a:cs typeface="Arial"/>
                        </a:rPr>
                        <a:t>ﬁ</a:t>
                      </a:r>
                      <a:r>
                        <a:rPr dirty="0" sz="950" spc="-6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es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the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Ollama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model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tag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to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use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00" spc="-180">
                          <a:solidFill>
                            <a:srgbClr val="111726"/>
                          </a:solidFill>
                          <a:latin typeface="Arial"/>
                          <a:cs typeface="Arial"/>
                        </a:rPr>
                        <a:t>—</a:t>
                      </a:r>
                      <a:r>
                        <a:rPr dirty="0" sz="900" spc="-45">
                          <a:solidFill>
                            <a:srgbClr val="111726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the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9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same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Qwen</a:t>
                      </a:r>
                      <a:r>
                        <a:rPr dirty="0" sz="850" spc="-75">
                          <a:solidFill>
                            <a:srgbClr val="111726"/>
                          </a:solidFill>
                          <a:latin typeface="Arial"/>
                          <a:cs typeface="Arial"/>
                        </a:rPr>
                        <a:t>2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.</a:t>
                      </a:r>
                      <a:r>
                        <a:rPr dirty="0" sz="850" spc="-75">
                          <a:solidFill>
                            <a:srgbClr val="111726"/>
                          </a:solidFill>
                          <a:latin typeface="Arial"/>
                          <a:cs typeface="Arial"/>
                        </a:rPr>
                        <a:t>5</a:t>
                      </a:r>
                      <a:r>
                        <a:rPr dirty="0" sz="850" spc="-30">
                          <a:solidFill>
                            <a:srgbClr val="111726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850" spc="-50">
                          <a:solidFill>
                            <a:srgbClr val="111726"/>
                          </a:solidFill>
                          <a:latin typeface="Arial"/>
                          <a:cs typeface="Arial"/>
                        </a:rPr>
                        <a:t>0</a:t>
                      </a:r>
                      <a:r>
                        <a:rPr dirty="0" sz="950" spc="-5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.</a:t>
                      </a:r>
                      <a:r>
                        <a:rPr dirty="0" sz="850" spc="-50">
                          <a:solidFill>
                            <a:srgbClr val="111726"/>
                          </a:solidFill>
                          <a:latin typeface="Arial"/>
                          <a:cs typeface="Arial"/>
                        </a:rPr>
                        <a:t>5</a:t>
                      </a:r>
                      <a:r>
                        <a:rPr dirty="0" sz="950" spc="-5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B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model,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but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served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2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via</a:t>
                      </a:r>
                      <a:r>
                        <a:rPr dirty="0" sz="950" spc="50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Ollama's</a:t>
                      </a:r>
                      <a:r>
                        <a:rPr dirty="0" sz="950" spc="-2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runtime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instead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of</a:t>
                      </a:r>
                      <a:r>
                        <a:rPr dirty="0" sz="950" spc="22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transformers</a:t>
                      </a:r>
                      <a:r>
                        <a:rPr dirty="0" sz="750" spc="-22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950" spc="-9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/PyTorch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directly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(as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in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the</a:t>
                      </a:r>
                      <a:r>
                        <a:rPr dirty="0" sz="950" spc="-2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PostgreSQL project).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37465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dirty="0" sz="750" spc="-1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messages=[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90170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Chat-</a:t>
                      </a:r>
                      <a:r>
                        <a:rPr dirty="0" sz="950" spc="-7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style</a:t>
                      </a:r>
                      <a:r>
                        <a:rPr dirty="0" sz="950" spc="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message</a:t>
                      </a:r>
                      <a:r>
                        <a:rPr dirty="0" sz="950" spc="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2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list.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64769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</a:tr>
              <a:tr h="464820">
                <a:tc>
                  <a:txBody>
                    <a:bodyPr/>
                    <a:lstStyle/>
                    <a:p>
                      <a:pPr marL="70485" marR="96520" indent="26670">
                        <a:lnSpc>
                          <a:spcPct val="153300"/>
                        </a:lnSpc>
                        <a:spcBef>
                          <a:spcPts val="229"/>
                        </a:spcBef>
                      </a:pP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{"role":</a:t>
                      </a:r>
                      <a:r>
                        <a:rPr dirty="0" sz="750" spc="8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"user",</a:t>
                      </a:r>
                      <a:r>
                        <a:rPr dirty="0" sz="750" spc="85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 spc="-1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"content": prompt}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29209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950" spc="-9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A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single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user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turn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containing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the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5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full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9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RAG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9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prompt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(context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9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+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question).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64769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dirty="0" sz="750" spc="-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]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90170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Closes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the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messages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2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list.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64769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dirty="0" sz="750" spc="-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)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90170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Closes</a:t>
                      </a:r>
                      <a:r>
                        <a:rPr dirty="0" sz="950" spc="-3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2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the</a:t>
                      </a:r>
                      <a:r>
                        <a:rPr dirty="0" sz="950" spc="1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ollama.chat(...)</a:t>
                      </a:r>
                      <a:r>
                        <a:rPr dirty="0" sz="750" spc="-4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call.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64769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</a:tr>
              <a:tr h="808355">
                <a:tc>
                  <a:txBody>
                    <a:bodyPr/>
                    <a:lstStyle/>
                    <a:p>
                      <a:pPr marL="70485" marR="215265" indent="26670">
                        <a:lnSpc>
                          <a:spcPct val="153300"/>
                        </a:lnSpc>
                        <a:spcBef>
                          <a:spcPts val="229"/>
                        </a:spcBef>
                      </a:pPr>
                      <a:r>
                        <a:rPr dirty="0" sz="750" spc="-1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print(response["message"] ["content"])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29209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310" marR="67310">
                        <a:lnSpc>
                          <a:spcPct val="116399"/>
                        </a:lnSpc>
                        <a:spcBef>
                          <a:spcPts val="320"/>
                        </a:spcBef>
                      </a:pPr>
                      <a:r>
                        <a:rPr dirty="0" sz="950" spc="-7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Prints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the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generated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answer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text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extracted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from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Ollama's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9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JSON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response.</a:t>
                      </a:r>
                      <a:r>
                        <a:rPr dirty="0" sz="95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10" b="1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Output </a:t>
                      </a:r>
                      <a:r>
                        <a:rPr dirty="0" sz="950" spc="-80" b="1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(example):</a:t>
                      </a:r>
                      <a:r>
                        <a:rPr dirty="0" sz="950" b="1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the</a:t>
                      </a:r>
                      <a:r>
                        <a:rPr dirty="0" sz="95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model's</a:t>
                      </a:r>
                      <a:r>
                        <a:rPr dirty="0" sz="950" spc="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natural-language</a:t>
                      </a:r>
                      <a:r>
                        <a:rPr dirty="0" sz="95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answer,</a:t>
                      </a:r>
                      <a:r>
                        <a:rPr dirty="0" sz="950" spc="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grounded</a:t>
                      </a:r>
                      <a:r>
                        <a:rPr dirty="0" sz="95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in</a:t>
                      </a:r>
                      <a:r>
                        <a:rPr dirty="0" sz="950" spc="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the</a:t>
                      </a:r>
                      <a:r>
                        <a:rPr dirty="0" sz="95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retrieved</a:t>
                      </a:r>
                      <a:r>
                        <a:rPr dirty="0" sz="950" spc="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6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Solr</a:t>
                      </a:r>
                      <a:r>
                        <a:rPr dirty="0" sz="95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5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chunks,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  <a:p>
                      <a:pPr marL="67310" marR="132080">
                        <a:lnSpc>
                          <a:spcPts val="1380"/>
                        </a:lnSpc>
                        <a:spcBef>
                          <a:spcPts val="85"/>
                        </a:spcBef>
                      </a:pPr>
                      <a:r>
                        <a:rPr dirty="0" sz="950" spc="-3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e.g.</a:t>
                      </a:r>
                      <a:r>
                        <a:rPr dirty="0" sz="950" spc="20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The</a:t>
                      </a:r>
                      <a:r>
                        <a:rPr dirty="0" sz="750" spc="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Tasks</a:t>
                      </a:r>
                      <a:r>
                        <a:rPr dirty="0" sz="750" spc="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module</a:t>
                      </a:r>
                      <a:r>
                        <a:rPr dirty="0" sz="750" spc="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lets</a:t>
                      </a:r>
                      <a:r>
                        <a:rPr dirty="0" sz="750" spc="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users</a:t>
                      </a:r>
                      <a:r>
                        <a:rPr dirty="0" sz="750" spc="45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create,</a:t>
                      </a:r>
                      <a:r>
                        <a:rPr dirty="0" sz="750" spc="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edit,</a:t>
                      </a:r>
                      <a:r>
                        <a:rPr dirty="0" sz="750" spc="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assign,</a:t>
                      </a:r>
                      <a:r>
                        <a:rPr dirty="0" sz="750" spc="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and</a:t>
                      </a:r>
                      <a:r>
                        <a:rPr dirty="0" sz="750" spc="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delete</a:t>
                      </a:r>
                      <a:r>
                        <a:rPr dirty="0" sz="750" spc="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 spc="-1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tasks,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with</a:t>
                      </a:r>
                      <a:r>
                        <a:rPr dirty="0" sz="750" spc="6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statuses</a:t>
                      </a:r>
                      <a:r>
                        <a:rPr dirty="0" sz="750" spc="6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of</a:t>
                      </a:r>
                      <a:r>
                        <a:rPr dirty="0" sz="750" spc="6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Todo,</a:t>
                      </a:r>
                      <a:r>
                        <a:rPr dirty="0" sz="750" spc="6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In</a:t>
                      </a:r>
                      <a:r>
                        <a:rPr dirty="0" sz="750" spc="6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Progress,</a:t>
                      </a:r>
                      <a:r>
                        <a:rPr dirty="0" sz="750" spc="6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and</a:t>
                      </a:r>
                      <a:r>
                        <a:rPr dirty="0" sz="750" spc="6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 spc="-1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Completed.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40640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8" name="object 18"/>
          <p:cNvSpPr/>
          <p:nvPr/>
        </p:nvSpPr>
        <p:spPr>
          <a:xfrm>
            <a:off x="943018" y="6699463"/>
            <a:ext cx="1436370" cy="195580"/>
          </a:xfrm>
          <a:custGeom>
            <a:avLst/>
            <a:gdLst/>
            <a:ahLst/>
            <a:cxnLst/>
            <a:rect l="l" t="t" r="r" b="b"/>
            <a:pathLst>
              <a:path w="1436370" h="195579">
                <a:moveTo>
                  <a:pt x="1412535" y="195474"/>
                </a:moveTo>
                <a:lnTo>
                  <a:pt x="23389" y="195474"/>
                </a:lnTo>
                <a:lnTo>
                  <a:pt x="19950" y="194766"/>
                </a:lnTo>
                <a:lnTo>
                  <a:pt x="0" y="172088"/>
                </a:lnTo>
                <a:lnTo>
                  <a:pt x="0" y="168535"/>
                </a:lnTo>
                <a:lnTo>
                  <a:pt x="0" y="23359"/>
                </a:lnTo>
                <a:lnTo>
                  <a:pt x="23389" y="0"/>
                </a:lnTo>
                <a:lnTo>
                  <a:pt x="1412535" y="0"/>
                </a:lnTo>
                <a:lnTo>
                  <a:pt x="1435925" y="23359"/>
                </a:lnTo>
                <a:lnTo>
                  <a:pt x="1435925" y="172088"/>
                </a:lnTo>
                <a:lnTo>
                  <a:pt x="1415975" y="194766"/>
                </a:lnTo>
                <a:lnTo>
                  <a:pt x="1412535" y="195474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/>
          <p:nvPr/>
        </p:nvSpPr>
        <p:spPr>
          <a:xfrm>
            <a:off x="667402" y="6652026"/>
            <a:ext cx="2737485" cy="24511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300" spc="-30" b="1">
                <a:solidFill>
                  <a:srgbClr val="111726"/>
                </a:solidFill>
                <a:latin typeface="Trebuchet MS"/>
                <a:cs typeface="Trebuchet MS"/>
              </a:rPr>
              <a:t>2</a:t>
            </a:r>
            <a:r>
              <a:rPr dirty="0" sz="1450" spc="-30" b="1">
                <a:solidFill>
                  <a:srgbClr val="111726"/>
                </a:solidFill>
                <a:latin typeface="Source Han Sans JP"/>
                <a:cs typeface="Source Han Sans JP"/>
              </a:rPr>
              <a:t>.</a:t>
            </a:r>
            <a:r>
              <a:rPr dirty="0" sz="1300" spc="-30" b="1">
                <a:solidFill>
                  <a:srgbClr val="111726"/>
                </a:solidFill>
                <a:latin typeface="Trebuchet MS"/>
                <a:cs typeface="Trebuchet MS"/>
              </a:rPr>
              <a:t>7</a:t>
            </a:r>
            <a:r>
              <a:rPr dirty="0" sz="1300" spc="90" b="1">
                <a:solidFill>
                  <a:srgbClr val="111726"/>
                </a:solidFill>
                <a:latin typeface="Trebuchet MS"/>
                <a:cs typeface="Trebuchet MS"/>
              </a:rPr>
              <a:t> </a:t>
            </a:r>
            <a:r>
              <a:rPr dirty="0" sz="1100" b="1">
                <a:solidFill>
                  <a:srgbClr val="111726"/>
                </a:solidFill>
                <a:latin typeface="Courier New"/>
                <a:cs typeface="Courier New"/>
              </a:rPr>
              <a:t>requirements.txt</a:t>
            </a:r>
            <a:r>
              <a:rPr dirty="0" sz="1100" spc="-180" b="1">
                <a:solidFill>
                  <a:srgbClr val="111726"/>
                </a:solidFill>
                <a:latin typeface="Courier New"/>
                <a:cs typeface="Courier New"/>
              </a:rPr>
              <a:t> </a:t>
            </a:r>
            <a:r>
              <a:rPr dirty="0" sz="1450" spc="-135" b="1">
                <a:solidFill>
                  <a:srgbClr val="111726"/>
                </a:solidFill>
                <a:latin typeface="Source Han Sans JP"/>
                <a:cs typeface="Source Han Sans JP"/>
              </a:rPr>
              <a:t>(Solr</a:t>
            </a:r>
            <a:r>
              <a:rPr dirty="0" sz="1450" spc="-60" b="1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450" spc="-110" b="1">
                <a:solidFill>
                  <a:srgbClr val="111726"/>
                </a:solidFill>
                <a:latin typeface="Source Han Sans JP"/>
                <a:cs typeface="Source Han Sans JP"/>
              </a:rPr>
              <a:t>project)</a:t>
            </a:r>
            <a:endParaRPr sz="1450">
              <a:latin typeface="Source Han Sans JP"/>
              <a:cs typeface="Source Han Sans JP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761782" y="7051058"/>
            <a:ext cx="1320165" cy="1090930"/>
          </a:xfrm>
          <a:prstGeom prst="rect">
            <a:avLst/>
          </a:prstGeom>
        </p:spPr>
        <p:txBody>
          <a:bodyPr wrap="square" lIns="0" tIns="654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15"/>
              </a:spcBef>
            </a:pPr>
            <a:r>
              <a:rPr dirty="0" sz="800" spc="-10">
                <a:solidFill>
                  <a:srgbClr val="E4E7EB"/>
                </a:solidFill>
                <a:latin typeface="Courier New"/>
                <a:cs typeface="Courier New"/>
              </a:rPr>
              <a:t>pysolr</a:t>
            </a:r>
            <a:endParaRPr sz="800">
              <a:latin typeface="Courier New"/>
              <a:cs typeface="Courier New"/>
            </a:endParaRPr>
          </a:p>
          <a:p>
            <a:pPr marL="12700" marR="5080">
              <a:lnSpc>
                <a:spcPct val="143800"/>
              </a:lnSpc>
            </a:pP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sentence-</a:t>
            </a:r>
            <a:r>
              <a:rPr dirty="0" sz="800" spc="-10">
                <a:solidFill>
                  <a:srgbClr val="E4E7EB"/>
                </a:solidFill>
                <a:latin typeface="Courier New"/>
                <a:cs typeface="Courier New"/>
              </a:rPr>
              <a:t>transformers langchain</a:t>
            </a:r>
            <a:endParaRPr sz="800">
              <a:latin typeface="Courier New"/>
              <a:cs typeface="Courier New"/>
            </a:endParaRPr>
          </a:p>
          <a:p>
            <a:pPr marL="12700" marR="128270">
              <a:lnSpc>
                <a:spcPct val="143800"/>
              </a:lnSpc>
              <a:spcBef>
                <a:spcPts val="55"/>
              </a:spcBef>
            </a:pP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langchain-</a:t>
            </a:r>
            <a:r>
              <a:rPr dirty="0" sz="800" spc="-10">
                <a:solidFill>
                  <a:srgbClr val="E4E7EB"/>
                </a:solidFill>
                <a:latin typeface="Courier New"/>
                <a:cs typeface="Courier New"/>
              </a:rPr>
              <a:t>community pypdf</a:t>
            </a:r>
            <a:endParaRPr sz="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475"/>
              </a:spcBef>
            </a:pPr>
            <a:r>
              <a:rPr dirty="0" sz="800" spc="-10">
                <a:solidFill>
                  <a:srgbClr val="E4E7EB"/>
                </a:solidFill>
                <a:latin typeface="Courier New"/>
                <a:cs typeface="Courier New"/>
              </a:rPr>
              <a:t>ollama</a:t>
            </a:r>
            <a:endParaRPr sz="800">
              <a:latin typeface="Courier New"/>
              <a:cs typeface="Courier New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754257" y="8728634"/>
            <a:ext cx="411480" cy="141605"/>
          </a:xfrm>
          <a:custGeom>
            <a:avLst/>
            <a:gdLst/>
            <a:ahLst/>
            <a:cxnLst/>
            <a:rect l="l" t="t" r="r" b="b"/>
            <a:pathLst>
              <a:path w="411480" h="141604">
                <a:moveTo>
                  <a:pt x="387837" y="141543"/>
                </a:moveTo>
                <a:lnTo>
                  <a:pt x="23389" y="141543"/>
                </a:lnTo>
                <a:lnTo>
                  <a:pt x="19950" y="140862"/>
                </a:lnTo>
                <a:lnTo>
                  <a:pt x="0" y="118157"/>
                </a:lnTo>
                <a:lnTo>
                  <a:pt x="0" y="114604"/>
                </a:lnTo>
                <a:lnTo>
                  <a:pt x="0" y="23386"/>
                </a:lnTo>
                <a:lnTo>
                  <a:pt x="23389" y="0"/>
                </a:lnTo>
                <a:lnTo>
                  <a:pt x="387837" y="0"/>
                </a:lnTo>
                <a:lnTo>
                  <a:pt x="411227" y="23386"/>
                </a:lnTo>
                <a:lnTo>
                  <a:pt x="411227" y="118157"/>
                </a:lnTo>
                <a:lnTo>
                  <a:pt x="391277" y="140862"/>
                </a:lnTo>
                <a:lnTo>
                  <a:pt x="387837" y="141543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22" name="object 22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846308" y="8728634"/>
            <a:ext cx="229209" cy="141543"/>
          </a:xfrm>
          <a:prstGeom prst="rect">
            <a:avLst/>
          </a:prstGeom>
        </p:spPr>
      </p:pic>
      <p:sp>
        <p:nvSpPr>
          <p:cNvPr id="23" name="object 23"/>
          <p:cNvSpPr/>
          <p:nvPr/>
        </p:nvSpPr>
        <p:spPr>
          <a:xfrm>
            <a:off x="5129448" y="8728634"/>
            <a:ext cx="411480" cy="141605"/>
          </a:xfrm>
          <a:custGeom>
            <a:avLst/>
            <a:gdLst/>
            <a:ahLst/>
            <a:cxnLst/>
            <a:rect l="l" t="t" r="r" b="b"/>
            <a:pathLst>
              <a:path w="411479" h="141604">
                <a:moveTo>
                  <a:pt x="387837" y="141543"/>
                </a:moveTo>
                <a:lnTo>
                  <a:pt x="23389" y="141543"/>
                </a:lnTo>
                <a:lnTo>
                  <a:pt x="19949" y="140862"/>
                </a:lnTo>
                <a:lnTo>
                  <a:pt x="0" y="118157"/>
                </a:lnTo>
                <a:lnTo>
                  <a:pt x="0" y="114604"/>
                </a:lnTo>
                <a:lnTo>
                  <a:pt x="0" y="23386"/>
                </a:lnTo>
                <a:lnTo>
                  <a:pt x="23389" y="0"/>
                </a:lnTo>
                <a:lnTo>
                  <a:pt x="387837" y="0"/>
                </a:lnTo>
                <a:lnTo>
                  <a:pt x="411227" y="23386"/>
                </a:lnTo>
                <a:lnTo>
                  <a:pt x="411227" y="118157"/>
                </a:lnTo>
                <a:lnTo>
                  <a:pt x="391277" y="140862"/>
                </a:lnTo>
                <a:lnTo>
                  <a:pt x="387837" y="141543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754257" y="9018516"/>
            <a:ext cx="1294765" cy="141605"/>
          </a:xfrm>
          <a:custGeom>
            <a:avLst/>
            <a:gdLst/>
            <a:ahLst/>
            <a:cxnLst/>
            <a:rect l="l" t="t" r="r" b="b"/>
            <a:pathLst>
              <a:path w="1294764" h="141604">
                <a:moveTo>
                  <a:pt x="1270965" y="141543"/>
                </a:moveTo>
                <a:lnTo>
                  <a:pt x="23389" y="141543"/>
                </a:lnTo>
                <a:lnTo>
                  <a:pt x="19950" y="140862"/>
                </a:lnTo>
                <a:lnTo>
                  <a:pt x="0" y="118157"/>
                </a:lnTo>
                <a:lnTo>
                  <a:pt x="0" y="114604"/>
                </a:lnTo>
                <a:lnTo>
                  <a:pt x="0" y="23359"/>
                </a:lnTo>
                <a:lnTo>
                  <a:pt x="23389" y="0"/>
                </a:lnTo>
                <a:lnTo>
                  <a:pt x="1270965" y="0"/>
                </a:lnTo>
                <a:lnTo>
                  <a:pt x="1294355" y="23359"/>
                </a:lnTo>
                <a:lnTo>
                  <a:pt x="1294355" y="118157"/>
                </a:lnTo>
                <a:lnTo>
                  <a:pt x="1274405" y="140862"/>
                </a:lnTo>
                <a:lnTo>
                  <a:pt x="1270965" y="141543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754257" y="9308398"/>
            <a:ext cx="586740" cy="141605"/>
          </a:xfrm>
          <a:custGeom>
            <a:avLst/>
            <a:gdLst/>
            <a:ahLst/>
            <a:cxnLst/>
            <a:rect l="l" t="t" r="r" b="b"/>
            <a:pathLst>
              <a:path w="586740" h="141604">
                <a:moveTo>
                  <a:pt x="563114" y="141543"/>
                </a:moveTo>
                <a:lnTo>
                  <a:pt x="23389" y="141543"/>
                </a:lnTo>
                <a:lnTo>
                  <a:pt x="19950" y="140862"/>
                </a:lnTo>
                <a:lnTo>
                  <a:pt x="0" y="118157"/>
                </a:lnTo>
                <a:lnTo>
                  <a:pt x="0" y="114604"/>
                </a:lnTo>
                <a:lnTo>
                  <a:pt x="0" y="23386"/>
                </a:lnTo>
                <a:lnTo>
                  <a:pt x="23389" y="0"/>
                </a:lnTo>
                <a:lnTo>
                  <a:pt x="563114" y="0"/>
                </a:lnTo>
                <a:lnTo>
                  <a:pt x="586504" y="23386"/>
                </a:lnTo>
                <a:lnTo>
                  <a:pt x="586504" y="118157"/>
                </a:lnTo>
                <a:lnTo>
                  <a:pt x="566554" y="140862"/>
                </a:lnTo>
                <a:lnTo>
                  <a:pt x="563114" y="141543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754257" y="9598280"/>
            <a:ext cx="1179830" cy="141605"/>
          </a:xfrm>
          <a:custGeom>
            <a:avLst/>
            <a:gdLst/>
            <a:ahLst/>
            <a:cxnLst/>
            <a:rect l="l" t="t" r="r" b="b"/>
            <a:pathLst>
              <a:path w="1179830" h="141604">
                <a:moveTo>
                  <a:pt x="1156360" y="141543"/>
                </a:moveTo>
                <a:lnTo>
                  <a:pt x="23389" y="141543"/>
                </a:lnTo>
                <a:lnTo>
                  <a:pt x="19950" y="140862"/>
                </a:lnTo>
                <a:lnTo>
                  <a:pt x="0" y="118157"/>
                </a:lnTo>
                <a:lnTo>
                  <a:pt x="0" y="114604"/>
                </a:lnTo>
                <a:lnTo>
                  <a:pt x="0" y="23359"/>
                </a:lnTo>
                <a:lnTo>
                  <a:pt x="23389" y="0"/>
                </a:lnTo>
                <a:lnTo>
                  <a:pt x="1156360" y="0"/>
                </a:lnTo>
                <a:lnTo>
                  <a:pt x="1179750" y="23359"/>
                </a:lnTo>
                <a:lnTo>
                  <a:pt x="1179750" y="118157"/>
                </a:lnTo>
                <a:lnTo>
                  <a:pt x="1159800" y="140862"/>
                </a:lnTo>
                <a:lnTo>
                  <a:pt x="1156360" y="141543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3100276" y="9598280"/>
            <a:ext cx="708025" cy="141605"/>
          </a:xfrm>
          <a:custGeom>
            <a:avLst/>
            <a:gdLst/>
            <a:ahLst/>
            <a:cxnLst/>
            <a:rect l="l" t="t" r="r" b="b"/>
            <a:pathLst>
              <a:path w="708025" h="141604">
                <a:moveTo>
                  <a:pt x="684460" y="141543"/>
                </a:moveTo>
                <a:lnTo>
                  <a:pt x="23389" y="141543"/>
                </a:lnTo>
                <a:lnTo>
                  <a:pt x="19950" y="140862"/>
                </a:lnTo>
                <a:lnTo>
                  <a:pt x="0" y="118157"/>
                </a:lnTo>
                <a:lnTo>
                  <a:pt x="0" y="114604"/>
                </a:lnTo>
                <a:lnTo>
                  <a:pt x="0" y="23359"/>
                </a:lnTo>
                <a:lnTo>
                  <a:pt x="23389" y="0"/>
                </a:lnTo>
                <a:lnTo>
                  <a:pt x="684460" y="0"/>
                </a:lnTo>
                <a:lnTo>
                  <a:pt x="707850" y="23359"/>
                </a:lnTo>
                <a:lnTo>
                  <a:pt x="707850" y="118157"/>
                </a:lnTo>
                <a:lnTo>
                  <a:pt x="687900" y="140862"/>
                </a:lnTo>
                <a:lnTo>
                  <a:pt x="684460" y="141543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754257" y="9894903"/>
            <a:ext cx="351155" cy="141605"/>
          </a:xfrm>
          <a:custGeom>
            <a:avLst/>
            <a:gdLst/>
            <a:ahLst/>
            <a:cxnLst/>
            <a:rect l="l" t="t" r="r" b="b"/>
            <a:pathLst>
              <a:path w="351155" h="141604">
                <a:moveTo>
                  <a:pt x="327164" y="141543"/>
                </a:moveTo>
                <a:lnTo>
                  <a:pt x="23389" y="141543"/>
                </a:lnTo>
                <a:lnTo>
                  <a:pt x="19950" y="140862"/>
                </a:lnTo>
                <a:lnTo>
                  <a:pt x="0" y="118157"/>
                </a:lnTo>
                <a:lnTo>
                  <a:pt x="0" y="114604"/>
                </a:lnTo>
                <a:lnTo>
                  <a:pt x="0" y="23359"/>
                </a:lnTo>
                <a:lnTo>
                  <a:pt x="23389" y="0"/>
                </a:lnTo>
                <a:lnTo>
                  <a:pt x="327164" y="0"/>
                </a:lnTo>
                <a:lnTo>
                  <a:pt x="350554" y="23359"/>
                </a:lnTo>
                <a:lnTo>
                  <a:pt x="350554" y="118157"/>
                </a:lnTo>
                <a:lnTo>
                  <a:pt x="330604" y="140862"/>
                </a:lnTo>
                <a:lnTo>
                  <a:pt x="327164" y="141543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4158681" y="9894903"/>
            <a:ext cx="701675" cy="141605"/>
          </a:xfrm>
          <a:custGeom>
            <a:avLst/>
            <a:gdLst/>
            <a:ahLst/>
            <a:cxnLst/>
            <a:rect l="l" t="t" r="r" b="b"/>
            <a:pathLst>
              <a:path w="701675" h="141604">
                <a:moveTo>
                  <a:pt x="677719" y="141543"/>
                </a:moveTo>
                <a:lnTo>
                  <a:pt x="23390" y="141543"/>
                </a:lnTo>
                <a:lnTo>
                  <a:pt x="19949" y="140862"/>
                </a:lnTo>
                <a:lnTo>
                  <a:pt x="0" y="118157"/>
                </a:lnTo>
                <a:lnTo>
                  <a:pt x="0" y="114604"/>
                </a:lnTo>
                <a:lnTo>
                  <a:pt x="0" y="23359"/>
                </a:lnTo>
                <a:lnTo>
                  <a:pt x="23390" y="0"/>
                </a:lnTo>
                <a:lnTo>
                  <a:pt x="677719" y="0"/>
                </a:lnTo>
                <a:lnTo>
                  <a:pt x="701109" y="23359"/>
                </a:lnTo>
                <a:lnTo>
                  <a:pt x="701109" y="118157"/>
                </a:lnTo>
                <a:lnTo>
                  <a:pt x="681159" y="140862"/>
                </a:lnTo>
                <a:lnTo>
                  <a:pt x="677719" y="141543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graphicFrame>
        <p:nvGraphicFramePr>
          <p:cNvPr id="30" name="object 30"/>
          <p:cNvGraphicFramePr>
            <a:graphicFrameLocks noGrp="1"/>
          </p:cNvGraphicFramePr>
          <p:nvPr/>
        </p:nvGraphicFramePr>
        <p:xfrm>
          <a:off x="680102" y="8364597"/>
          <a:ext cx="6278880" cy="17373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01189"/>
                <a:gridCol w="4294505"/>
              </a:tblGrid>
              <a:tr h="282575">
                <a:tc>
                  <a:txBody>
                    <a:bodyPr/>
                    <a:lstStyle/>
                    <a:p>
                      <a:pPr marL="70485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950" spc="-20" b="1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Line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64769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marL="72390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950" spc="-10" b="1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Purpose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64769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  <a:solidFill>
                      <a:srgbClr val="F7FAFB"/>
                    </a:solidFill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dirty="0" sz="750" spc="-1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pysolr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90170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2390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Python</a:t>
                      </a:r>
                      <a:r>
                        <a:rPr dirty="0" sz="950" spc="-2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6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client</a:t>
                      </a:r>
                      <a:r>
                        <a:rPr dirty="0" sz="950" spc="-2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for</a:t>
                      </a:r>
                      <a:r>
                        <a:rPr dirty="0" sz="950" spc="-2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talking</a:t>
                      </a:r>
                      <a:r>
                        <a:rPr dirty="0" sz="950" spc="-2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to</a:t>
                      </a:r>
                      <a:r>
                        <a:rPr dirty="0" sz="950" spc="-2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the</a:t>
                      </a:r>
                      <a:r>
                        <a:rPr dirty="0" sz="950" spc="-2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6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Solr</a:t>
                      </a:r>
                      <a:r>
                        <a:rPr dirty="0" sz="950" spc="-2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9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REST</a:t>
                      </a:r>
                      <a:r>
                        <a:rPr dirty="0" sz="950" spc="-2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API</a:t>
                      </a:r>
                      <a:r>
                        <a:rPr dirty="0" sz="950" spc="-2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6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(</a:t>
                      </a:r>
                      <a:r>
                        <a:rPr dirty="0" sz="950" spc="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add</a:t>
                      </a:r>
                      <a:r>
                        <a:rPr dirty="0" sz="750" spc="-22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95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,</a:t>
                      </a:r>
                      <a:r>
                        <a:rPr dirty="0" sz="950" spc="204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search</a:t>
                      </a:r>
                      <a:r>
                        <a:rPr dirty="0" sz="750" spc="-225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950" spc="-2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).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64769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sentence-</a:t>
                      </a:r>
                      <a:r>
                        <a:rPr dirty="0" sz="750" spc="-1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transformers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90170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2390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950" spc="-9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Embedding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model</a:t>
                      </a:r>
                      <a:r>
                        <a:rPr dirty="0" sz="95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loading/inference.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64769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dirty="0" sz="750" spc="-1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langchain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90170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2390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Core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LangChain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abstractions.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64769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</a:tr>
              <a:tr h="296545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langchain-</a:t>
                      </a:r>
                      <a:r>
                        <a:rPr dirty="0" sz="750" spc="-1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community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90170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2390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950" spc="-6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Provides</a:t>
                      </a:r>
                      <a:r>
                        <a:rPr dirty="0" sz="950" spc="19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PyPDFLoader</a:t>
                      </a:r>
                      <a:r>
                        <a:rPr dirty="0" sz="750" spc="-225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950" spc="-5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.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64769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dirty="0" sz="750" spc="-1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pypdf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90170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2390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Underlying</a:t>
                      </a:r>
                      <a:r>
                        <a:rPr dirty="0" sz="950" spc="-3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PDF</a:t>
                      </a:r>
                      <a:r>
                        <a:rPr dirty="0" sz="950" spc="-2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parser</a:t>
                      </a:r>
                      <a:r>
                        <a:rPr dirty="0" sz="950" spc="-2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used</a:t>
                      </a:r>
                      <a:r>
                        <a:rPr dirty="0" sz="950" spc="-3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2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by</a:t>
                      </a:r>
                      <a:r>
                        <a:rPr dirty="0" sz="950" spc="19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PyPDFLoader</a:t>
                      </a:r>
                      <a:r>
                        <a:rPr dirty="0" sz="750" spc="-229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950" spc="-5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.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64769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80102" y="1697353"/>
            <a:ext cx="6202680" cy="6985"/>
          </a:xfrm>
          <a:custGeom>
            <a:avLst/>
            <a:gdLst/>
            <a:ahLst/>
            <a:cxnLst/>
            <a:rect l="l" t="t" r="r" b="b"/>
            <a:pathLst>
              <a:path w="6202680" h="6985">
                <a:moveTo>
                  <a:pt x="6202119" y="6741"/>
                </a:moveTo>
                <a:lnTo>
                  <a:pt x="0" y="6741"/>
                </a:lnTo>
                <a:lnTo>
                  <a:pt x="0" y="0"/>
                </a:lnTo>
                <a:lnTo>
                  <a:pt x="6202119" y="0"/>
                </a:lnTo>
                <a:lnTo>
                  <a:pt x="6202119" y="6741"/>
                </a:lnTo>
                <a:close/>
              </a:path>
            </a:pathLst>
          </a:custGeom>
          <a:solidFill>
            <a:srgbClr val="E4E7EB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" name="object 3"/>
          <p:cNvGrpSpPr/>
          <p:nvPr/>
        </p:nvGrpSpPr>
        <p:grpSpPr>
          <a:xfrm>
            <a:off x="680102" y="2674861"/>
            <a:ext cx="6202680" cy="1112520"/>
            <a:chOff x="680102" y="2674861"/>
            <a:chExt cx="6202680" cy="1112520"/>
          </a:xfrm>
        </p:grpSpPr>
        <p:sp>
          <p:nvSpPr>
            <p:cNvPr id="4" name="object 4"/>
            <p:cNvSpPr/>
            <p:nvPr/>
          </p:nvSpPr>
          <p:spPr>
            <a:xfrm>
              <a:off x="680102" y="2674861"/>
              <a:ext cx="6202680" cy="1112520"/>
            </a:xfrm>
            <a:custGeom>
              <a:avLst/>
              <a:gdLst/>
              <a:ahLst/>
              <a:cxnLst/>
              <a:rect l="l" t="t" r="r" b="b"/>
              <a:pathLst>
                <a:path w="6202680" h="1112520">
                  <a:moveTo>
                    <a:pt x="6202119" y="1112336"/>
                  </a:moveTo>
                  <a:lnTo>
                    <a:pt x="0" y="1112336"/>
                  </a:lnTo>
                  <a:lnTo>
                    <a:pt x="0" y="0"/>
                  </a:lnTo>
                  <a:lnTo>
                    <a:pt x="6202119" y="0"/>
                  </a:lnTo>
                  <a:lnTo>
                    <a:pt x="6202119" y="1112336"/>
                  </a:lnTo>
                  <a:close/>
                </a:path>
              </a:pathLst>
            </a:custGeom>
            <a:solidFill>
              <a:srgbClr val="F1F5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680102" y="2674861"/>
              <a:ext cx="27305" cy="1112520"/>
            </a:xfrm>
            <a:custGeom>
              <a:avLst/>
              <a:gdLst/>
              <a:ahLst/>
              <a:cxnLst/>
              <a:rect l="l" t="t" r="r" b="b"/>
              <a:pathLst>
                <a:path w="27304" h="1112520">
                  <a:moveTo>
                    <a:pt x="26965" y="1112336"/>
                  </a:moveTo>
                  <a:lnTo>
                    <a:pt x="0" y="1112336"/>
                  </a:lnTo>
                  <a:lnTo>
                    <a:pt x="0" y="0"/>
                  </a:lnTo>
                  <a:lnTo>
                    <a:pt x="26965" y="0"/>
                  </a:lnTo>
                  <a:lnTo>
                    <a:pt x="26965" y="1112336"/>
                  </a:lnTo>
                  <a:close/>
                </a:path>
              </a:pathLst>
            </a:custGeom>
            <a:solidFill>
              <a:srgbClr val="2562EB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/>
          <p:nvPr/>
        </p:nvSpPr>
        <p:spPr>
          <a:xfrm>
            <a:off x="680102" y="4191684"/>
            <a:ext cx="6202680" cy="1611630"/>
          </a:xfrm>
          <a:custGeom>
            <a:avLst/>
            <a:gdLst/>
            <a:ahLst/>
            <a:cxnLst/>
            <a:rect l="l" t="t" r="r" b="b"/>
            <a:pathLst>
              <a:path w="6202680" h="1611629">
                <a:moveTo>
                  <a:pt x="6151728" y="1611175"/>
                </a:moveTo>
                <a:lnTo>
                  <a:pt x="50390" y="1611175"/>
                </a:lnTo>
                <a:lnTo>
                  <a:pt x="46883" y="1610831"/>
                </a:lnTo>
                <a:lnTo>
                  <a:pt x="11056" y="1590135"/>
                </a:lnTo>
                <a:lnTo>
                  <a:pt x="0" y="1560823"/>
                </a:lnTo>
                <a:lnTo>
                  <a:pt x="0" y="1557271"/>
                </a:lnTo>
                <a:lnTo>
                  <a:pt x="0" y="50378"/>
                </a:lnTo>
                <a:lnTo>
                  <a:pt x="18300" y="13273"/>
                </a:lnTo>
                <a:lnTo>
                  <a:pt x="50390" y="0"/>
                </a:lnTo>
                <a:lnTo>
                  <a:pt x="6151728" y="0"/>
                </a:lnTo>
                <a:lnTo>
                  <a:pt x="6188826" y="18276"/>
                </a:lnTo>
                <a:lnTo>
                  <a:pt x="6202118" y="50378"/>
                </a:lnTo>
                <a:lnTo>
                  <a:pt x="6202118" y="1560823"/>
                </a:lnTo>
                <a:lnTo>
                  <a:pt x="6183818" y="1597874"/>
                </a:lnTo>
                <a:lnTo>
                  <a:pt x="6155235" y="1610831"/>
                </a:lnTo>
                <a:lnTo>
                  <a:pt x="6151728" y="1611175"/>
                </a:lnTo>
                <a:close/>
              </a:path>
            </a:pathLst>
          </a:custGeom>
          <a:solidFill>
            <a:srgbClr val="0E172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754257" y="652431"/>
            <a:ext cx="411480" cy="141605"/>
          </a:xfrm>
          <a:custGeom>
            <a:avLst/>
            <a:gdLst/>
            <a:ahLst/>
            <a:cxnLst/>
            <a:rect l="l" t="t" r="r" b="b"/>
            <a:pathLst>
              <a:path w="411480" h="141604">
                <a:moveTo>
                  <a:pt x="387837" y="141543"/>
                </a:moveTo>
                <a:lnTo>
                  <a:pt x="23389" y="141543"/>
                </a:lnTo>
                <a:lnTo>
                  <a:pt x="19950" y="140862"/>
                </a:lnTo>
                <a:lnTo>
                  <a:pt x="0" y="118157"/>
                </a:lnTo>
                <a:lnTo>
                  <a:pt x="0" y="114604"/>
                </a:lnTo>
                <a:lnTo>
                  <a:pt x="0" y="23386"/>
                </a:lnTo>
                <a:lnTo>
                  <a:pt x="23389" y="0"/>
                </a:lnTo>
                <a:lnTo>
                  <a:pt x="387837" y="0"/>
                </a:lnTo>
                <a:lnTo>
                  <a:pt x="411227" y="23386"/>
                </a:lnTo>
                <a:lnTo>
                  <a:pt x="411227" y="118157"/>
                </a:lnTo>
                <a:lnTo>
                  <a:pt x="391277" y="140862"/>
                </a:lnTo>
                <a:lnTo>
                  <a:pt x="387837" y="141543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5203604" y="652431"/>
            <a:ext cx="526415" cy="141605"/>
          </a:xfrm>
          <a:custGeom>
            <a:avLst/>
            <a:gdLst/>
            <a:ahLst/>
            <a:cxnLst/>
            <a:rect l="l" t="t" r="r" b="b"/>
            <a:pathLst>
              <a:path w="526414" h="141604">
                <a:moveTo>
                  <a:pt x="502441" y="141543"/>
                </a:moveTo>
                <a:lnTo>
                  <a:pt x="23390" y="141543"/>
                </a:lnTo>
                <a:lnTo>
                  <a:pt x="19949" y="140862"/>
                </a:lnTo>
                <a:lnTo>
                  <a:pt x="0" y="118157"/>
                </a:lnTo>
                <a:lnTo>
                  <a:pt x="0" y="114604"/>
                </a:lnTo>
                <a:lnTo>
                  <a:pt x="0" y="23386"/>
                </a:lnTo>
                <a:lnTo>
                  <a:pt x="23390" y="0"/>
                </a:lnTo>
                <a:lnTo>
                  <a:pt x="502441" y="0"/>
                </a:lnTo>
                <a:lnTo>
                  <a:pt x="525831" y="23386"/>
                </a:lnTo>
                <a:lnTo>
                  <a:pt x="525831" y="118157"/>
                </a:lnTo>
                <a:lnTo>
                  <a:pt x="505881" y="140862"/>
                </a:lnTo>
                <a:lnTo>
                  <a:pt x="502441" y="141543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graphicFrame>
        <p:nvGraphicFramePr>
          <p:cNvPr id="9" name="object 9"/>
          <p:cNvGraphicFramePr>
            <a:graphicFrameLocks noGrp="1"/>
          </p:cNvGraphicFramePr>
          <p:nvPr/>
        </p:nvGraphicFramePr>
        <p:xfrm>
          <a:off x="680102" y="571534"/>
          <a:ext cx="6278880" cy="2895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01189"/>
                <a:gridCol w="4294505"/>
              </a:tblGrid>
              <a:tr h="289560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dirty="0" sz="750" spc="-1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ollama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90170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2390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Python</a:t>
                      </a:r>
                      <a:r>
                        <a:rPr dirty="0" sz="950" spc="-3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6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client</a:t>
                      </a:r>
                      <a:r>
                        <a:rPr dirty="0" sz="950" spc="-2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for</a:t>
                      </a:r>
                      <a:r>
                        <a:rPr dirty="0" sz="950" spc="-2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the</a:t>
                      </a:r>
                      <a:r>
                        <a:rPr dirty="0" sz="950" spc="-2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local</a:t>
                      </a:r>
                      <a:r>
                        <a:rPr dirty="0" sz="950" spc="-2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Ollama</a:t>
                      </a:r>
                      <a:r>
                        <a:rPr dirty="0" sz="950" spc="-2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9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LLM</a:t>
                      </a:r>
                      <a:r>
                        <a:rPr dirty="0" sz="950" spc="-2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server</a:t>
                      </a:r>
                      <a:r>
                        <a:rPr dirty="0" sz="950" spc="-2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used</a:t>
                      </a:r>
                      <a:r>
                        <a:rPr dirty="0" sz="950" spc="-2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in</a:t>
                      </a:r>
                      <a:r>
                        <a:rPr dirty="0" sz="950" spc="20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query.py</a:t>
                      </a:r>
                      <a:r>
                        <a:rPr dirty="0" sz="750" spc="-229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950" spc="-5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.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64769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object 10"/>
          <p:cNvSpPr/>
          <p:nvPr/>
        </p:nvSpPr>
        <p:spPr>
          <a:xfrm>
            <a:off x="1010432" y="1002986"/>
            <a:ext cx="1537335" cy="148590"/>
          </a:xfrm>
          <a:custGeom>
            <a:avLst/>
            <a:gdLst/>
            <a:ahLst/>
            <a:cxnLst/>
            <a:rect l="l" t="t" r="r" b="b"/>
            <a:pathLst>
              <a:path w="1537335" h="148590">
                <a:moveTo>
                  <a:pt x="1513657" y="148311"/>
                </a:moveTo>
                <a:lnTo>
                  <a:pt x="23389" y="148311"/>
                </a:lnTo>
                <a:lnTo>
                  <a:pt x="19950" y="147623"/>
                </a:lnTo>
                <a:lnTo>
                  <a:pt x="0" y="124898"/>
                </a:lnTo>
                <a:lnTo>
                  <a:pt x="0" y="121345"/>
                </a:lnTo>
                <a:lnTo>
                  <a:pt x="0" y="23359"/>
                </a:lnTo>
                <a:lnTo>
                  <a:pt x="23389" y="0"/>
                </a:lnTo>
                <a:lnTo>
                  <a:pt x="1513657" y="0"/>
                </a:lnTo>
                <a:lnTo>
                  <a:pt x="1537046" y="23359"/>
                </a:lnTo>
                <a:lnTo>
                  <a:pt x="1537046" y="124898"/>
                </a:lnTo>
                <a:lnTo>
                  <a:pt x="1517096" y="147623"/>
                </a:lnTo>
                <a:lnTo>
                  <a:pt x="1513657" y="148311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3086793" y="1002986"/>
            <a:ext cx="607060" cy="148590"/>
          </a:xfrm>
          <a:custGeom>
            <a:avLst/>
            <a:gdLst/>
            <a:ahLst/>
            <a:cxnLst/>
            <a:rect l="l" t="t" r="r" b="b"/>
            <a:pathLst>
              <a:path w="607060" h="148590">
                <a:moveTo>
                  <a:pt x="583339" y="148311"/>
                </a:moveTo>
                <a:lnTo>
                  <a:pt x="23389" y="148311"/>
                </a:lnTo>
                <a:lnTo>
                  <a:pt x="19950" y="147623"/>
                </a:lnTo>
                <a:lnTo>
                  <a:pt x="0" y="124898"/>
                </a:lnTo>
                <a:lnTo>
                  <a:pt x="0" y="121345"/>
                </a:lnTo>
                <a:lnTo>
                  <a:pt x="0" y="23359"/>
                </a:lnTo>
                <a:lnTo>
                  <a:pt x="23389" y="0"/>
                </a:lnTo>
                <a:lnTo>
                  <a:pt x="583339" y="0"/>
                </a:lnTo>
                <a:lnTo>
                  <a:pt x="606729" y="23359"/>
                </a:lnTo>
                <a:lnTo>
                  <a:pt x="606729" y="124898"/>
                </a:lnTo>
                <a:lnTo>
                  <a:pt x="586778" y="147623"/>
                </a:lnTo>
                <a:lnTo>
                  <a:pt x="583339" y="148311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2682303" y="1198485"/>
            <a:ext cx="1880870" cy="148590"/>
          </a:xfrm>
          <a:custGeom>
            <a:avLst/>
            <a:gdLst/>
            <a:ahLst/>
            <a:cxnLst/>
            <a:rect l="l" t="t" r="r" b="b"/>
            <a:pathLst>
              <a:path w="1880870" h="148590">
                <a:moveTo>
                  <a:pt x="613473" y="23355"/>
                </a:moveTo>
                <a:lnTo>
                  <a:pt x="590080" y="0"/>
                </a:lnTo>
                <a:lnTo>
                  <a:pt x="23393" y="0"/>
                </a:lnTo>
                <a:lnTo>
                  <a:pt x="0" y="23355"/>
                </a:lnTo>
                <a:lnTo>
                  <a:pt x="0" y="121335"/>
                </a:lnTo>
                <a:lnTo>
                  <a:pt x="0" y="124891"/>
                </a:lnTo>
                <a:lnTo>
                  <a:pt x="23393" y="148272"/>
                </a:lnTo>
                <a:lnTo>
                  <a:pt x="590080" y="148272"/>
                </a:lnTo>
                <a:lnTo>
                  <a:pt x="613473" y="124891"/>
                </a:lnTo>
                <a:lnTo>
                  <a:pt x="613473" y="23355"/>
                </a:lnTo>
                <a:close/>
              </a:path>
              <a:path w="1880870" h="148590">
                <a:moveTo>
                  <a:pt x="1880857" y="23355"/>
                </a:moveTo>
                <a:lnTo>
                  <a:pt x="1857463" y="0"/>
                </a:lnTo>
                <a:lnTo>
                  <a:pt x="677303" y="0"/>
                </a:lnTo>
                <a:lnTo>
                  <a:pt x="653923" y="23355"/>
                </a:lnTo>
                <a:lnTo>
                  <a:pt x="653923" y="121335"/>
                </a:lnTo>
                <a:lnTo>
                  <a:pt x="653923" y="124891"/>
                </a:lnTo>
                <a:lnTo>
                  <a:pt x="677303" y="148272"/>
                </a:lnTo>
                <a:lnTo>
                  <a:pt x="1857463" y="148272"/>
                </a:lnTo>
                <a:lnTo>
                  <a:pt x="1880857" y="124891"/>
                </a:lnTo>
                <a:lnTo>
                  <a:pt x="1880857" y="23355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3039603" y="1886114"/>
            <a:ext cx="2460625" cy="229235"/>
          </a:xfrm>
          <a:custGeom>
            <a:avLst/>
            <a:gdLst/>
            <a:ahLst/>
            <a:cxnLst/>
            <a:rect l="l" t="t" r="r" b="b"/>
            <a:pathLst>
              <a:path w="2460625" h="229235">
                <a:moveTo>
                  <a:pt x="2437233" y="229181"/>
                </a:moveTo>
                <a:lnTo>
                  <a:pt x="23389" y="229181"/>
                </a:lnTo>
                <a:lnTo>
                  <a:pt x="19950" y="228500"/>
                </a:lnTo>
                <a:lnTo>
                  <a:pt x="0" y="205795"/>
                </a:lnTo>
                <a:lnTo>
                  <a:pt x="0" y="202243"/>
                </a:lnTo>
                <a:lnTo>
                  <a:pt x="0" y="23359"/>
                </a:lnTo>
                <a:lnTo>
                  <a:pt x="23389" y="0"/>
                </a:lnTo>
                <a:lnTo>
                  <a:pt x="2437233" y="0"/>
                </a:lnTo>
                <a:lnTo>
                  <a:pt x="2460623" y="23359"/>
                </a:lnTo>
                <a:lnTo>
                  <a:pt x="2460623" y="205795"/>
                </a:lnTo>
                <a:lnTo>
                  <a:pt x="2440672" y="228500"/>
                </a:lnTo>
                <a:lnTo>
                  <a:pt x="2437233" y="229181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814930" y="2937777"/>
            <a:ext cx="424815" cy="148590"/>
          </a:xfrm>
          <a:custGeom>
            <a:avLst/>
            <a:gdLst/>
            <a:ahLst/>
            <a:cxnLst/>
            <a:rect l="l" t="t" r="r" b="b"/>
            <a:pathLst>
              <a:path w="424815" h="148589">
                <a:moveTo>
                  <a:pt x="401320" y="148311"/>
                </a:moveTo>
                <a:lnTo>
                  <a:pt x="23389" y="148311"/>
                </a:lnTo>
                <a:lnTo>
                  <a:pt x="19950" y="147623"/>
                </a:lnTo>
                <a:lnTo>
                  <a:pt x="0" y="124898"/>
                </a:lnTo>
                <a:lnTo>
                  <a:pt x="0" y="121345"/>
                </a:lnTo>
                <a:lnTo>
                  <a:pt x="0" y="23359"/>
                </a:lnTo>
                <a:lnTo>
                  <a:pt x="23389" y="0"/>
                </a:lnTo>
                <a:lnTo>
                  <a:pt x="401320" y="0"/>
                </a:lnTo>
                <a:lnTo>
                  <a:pt x="424710" y="23359"/>
                </a:lnTo>
                <a:lnTo>
                  <a:pt x="424710" y="124898"/>
                </a:lnTo>
                <a:lnTo>
                  <a:pt x="404760" y="147623"/>
                </a:lnTo>
                <a:lnTo>
                  <a:pt x="401320" y="148311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5" name="object 1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22694" y="3126538"/>
            <a:ext cx="235950" cy="148284"/>
          </a:xfrm>
          <a:prstGeom prst="rect">
            <a:avLst/>
          </a:prstGeom>
        </p:spPr>
      </p:pic>
      <p:sp>
        <p:nvSpPr>
          <p:cNvPr id="16" name="object 16"/>
          <p:cNvSpPr txBox="1"/>
          <p:nvPr/>
        </p:nvSpPr>
        <p:spPr>
          <a:xfrm>
            <a:off x="667402" y="929384"/>
            <a:ext cx="6215380" cy="475869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 marR="241935">
              <a:lnSpc>
                <a:spcPct val="120100"/>
              </a:lnSpc>
              <a:spcBef>
                <a:spcPts val="125"/>
              </a:spcBef>
            </a:pPr>
            <a:r>
              <a:rPr dirty="0" sz="1050" spc="-65" i="1">
                <a:solidFill>
                  <a:srgbClr val="111726"/>
                </a:solidFill>
                <a:latin typeface="Arial"/>
                <a:cs typeface="Arial"/>
              </a:rPr>
              <a:t>(Note:</a:t>
            </a:r>
            <a:r>
              <a:rPr dirty="0" sz="1050" spc="145" i="1">
                <a:solidFill>
                  <a:srgbClr val="111726"/>
                </a:solidFill>
                <a:latin typeface="Arial"/>
                <a:cs typeface="Arial"/>
              </a:rPr>
              <a:t> </a:t>
            </a:r>
            <a:r>
              <a:rPr dirty="0" sz="800" i="1">
                <a:solidFill>
                  <a:srgbClr val="111726"/>
                </a:solidFill>
                <a:latin typeface="Courier New"/>
                <a:cs typeface="Courier New"/>
              </a:rPr>
              <a:t>langchain-text-splitters</a:t>
            </a:r>
            <a:r>
              <a:rPr dirty="0" sz="800" spc="-40" i="1">
                <a:solidFill>
                  <a:srgbClr val="111726"/>
                </a:solidFill>
                <a:latin typeface="Courier New"/>
                <a:cs typeface="Courier New"/>
              </a:rPr>
              <a:t> </a:t>
            </a:r>
            <a:r>
              <a:rPr dirty="0" sz="1050" spc="-75" i="1">
                <a:solidFill>
                  <a:srgbClr val="111726"/>
                </a:solidFill>
                <a:latin typeface="Arial"/>
                <a:cs typeface="Arial"/>
              </a:rPr>
              <a:t>is</a:t>
            </a:r>
            <a:r>
              <a:rPr dirty="0" sz="1050" spc="-90" i="1">
                <a:solidFill>
                  <a:srgbClr val="111726"/>
                </a:solidFill>
                <a:latin typeface="Arial"/>
                <a:cs typeface="Arial"/>
              </a:rPr>
              <a:t> </a:t>
            </a:r>
            <a:r>
              <a:rPr dirty="0" sz="1050" spc="-105" i="1">
                <a:solidFill>
                  <a:srgbClr val="111726"/>
                </a:solidFill>
                <a:latin typeface="Arial"/>
                <a:cs typeface="Arial"/>
              </a:rPr>
              <a:t>used</a:t>
            </a:r>
            <a:r>
              <a:rPr dirty="0" sz="1050" spc="-85" i="1">
                <a:solidFill>
                  <a:srgbClr val="111726"/>
                </a:solidFill>
                <a:latin typeface="Arial"/>
                <a:cs typeface="Arial"/>
              </a:rPr>
              <a:t> </a:t>
            </a:r>
            <a:r>
              <a:rPr dirty="0" sz="1050" spc="-10" i="1">
                <a:solidFill>
                  <a:srgbClr val="111726"/>
                </a:solidFill>
                <a:latin typeface="Arial"/>
                <a:cs typeface="Arial"/>
              </a:rPr>
              <a:t>by</a:t>
            </a:r>
            <a:r>
              <a:rPr dirty="0" sz="1050" spc="145" i="1">
                <a:solidFill>
                  <a:srgbClr val="111726"/>
                </a:solidFill>
                <a:latin typeface="Arial"/>
                <a:cs typeface="Arial"/>
              </a:rPr>
              <a:t> </a:t>
            </a:r>
            <a:r>
              <a:rPr dirty="0" sz="800" i="1">
                <a:solidFill>
                  <a:srgbClr val="111726"/>
                </a:solidFill>
                <a:latin typeface="Courier New"/>
                <a:cs typeface="Courier New"/>
              </a:rPr>
              <a:t>ingest.py</a:t>
            </a:r>
            <a:r>
              <a:rPr dirty="0" sz="800" spc="-40" i="1">
                <a:solidFill>
                  <a:srgbClr val="111726"/>
                </a:solidFill>
                <a:latin typeface="Courier New"/>
                <a:cs typeface="Courier New"/>
              </a:rPr>
              <a:t> </a:t>
            </a:r>
            <a:r>
              <a:rPr dirty="0" sz="1050" spc="-45" i="1">
                <a:solidFill>
                  <a:srgbClr val="111726"/>
                </a:solidFill>
                <a:latin typeface="Arial"/>
                <a:cs typeface="Arial"/>
              </a:rPr>
              <a:t>but</a:t>
            </a:r>
            <a:r>
              <a:rPr dirty="0" sz="1050" spc="-90" i="1">
                <a:solidFill>
                  <a:srgbClr val="111726"/>
                </a:solidFill>
                <a:latin typeface="Arial"/>
                <a:cs typeface="Arial"/>
              </a:rPr>
              <a:t> </a:t>
            </a:r>
            <a:r>
              <a:rPr dirty="0" sz="1050" spc="-75" i="1">
                <a:solidFill>
                  <a:srgbClr val="111726"/>
                </a:solidFill>
                <a:latin typeface="Arial"/>
                <a:cs typeface="Arial"/>
              </a:rPr>
              <a:t>is</a:t>
            </a:r>
            <a:r>
              <a:rPr dirty="0" sz="1050" spc="-85" i="1">
                <a:solidFill>
                  <a:srgbClr val="111726"/>
                </a:solidFill>
                <a:latin typeface="Arial"/>
                <a:cs typeface="Arial"/>
              </a:rPr>
              <a:t> </a:t>
            </a:r>
            <a:r>
              <a:rPr dirty="0" sz="1050" spc="-55" i="1">
                <a:solidFill>
                  <a:srgbClr val="111726"/>
                </a:solidFill>
                <a:latin typeface="Arial"/>
                <a:cs typeface="Arial"/>
              </a:rPr>
              <a:t>not</a:t>
            </a:r>
            <a:r>
              <a:rPr dirty="0" sz="1050" spc="-90" i="1">
                <a:solidFill>
                  <a:srgbClr val="111726"/>
                </a:solidFill>
                <a:latin typeface="Arial"/>
                <a:cs typeface="Arial"/>
              </a:rPr>
              <a:t> </a:t>
            </a:r>
            <a:r>
              <a:rPr dirty="0" sz="1050" spc="-50" i="1">
                <a:solidFill>
                  <a:srgbClr val="111726"/>
                </a:solidFill>
                <a:latin typeface="Arial"/>
                <a:cs typeface="Arial"/>
              </a:rPr>
              <a:t>explicitly</a:t>
            </a:r>
            <a:r>
              <a:rPr dirty="0" sz="1050" spc="-85" i="1">
                <a:solidFill>
                  <a:srgbClr val="111726"/>
                </a:solidFill>
                <a:latin typeface="Arial"/>
                <a:cs typeface="Arial"/>
              </a:rPr>
              <a:t> </a:t>
            </a:r>
            <a:r>
              <a:rPr dirty="0" sz="1050" spc="-60" i="1">
                <a:solidFill>
                  <a:srgbClr val="111726"/>
                </a:solidFill>
                <a:latin typeface="Arial"/>
                <a:cs typeface="Arial"/>
              </a:rPr>
              <a:t>listed</a:t>
            </a:r>
            <a:r>
              <a:rPr dirty="0" sz="1050" spc="-90" i="1">
                <a:solidFill>
                  <a:srgbClr val="111726"/>
                </a:solidFill>
                <a:latin typeface="Arial"/>
                <a:cs typeface="Arial"/>
              </a:rPr>
              <a:t> </a:t>
            </a:r>
            <a:r>
              <a:rPr dirty="0" sz="1050" spc="-45" i="1">
                <a:solidFill>
                  <a:srgbClr val="111726"/>
                </a:solidFill>
                <a:latin typeface="Arial"/>
                <a:cs typeface="Arial"/>
              </a:rPr>
              <a:t>in</a:t>
            </a:r>
            <a:r>
              <a:rPr dirty="0" sz="1050" spc="-85" i="1">
                <a:solidFill>
                  <a:srgbClr val="111726"/>
                </a:solidFill>
                <a:latin typeface="Arial"/>
                <a:cs typeface="Arial"/>
              </a:rPr>
              <a:t> </a:t>
            </a:r>
            <a:r>
              <a:rPr dirty="0" sz="1050" spc="-55" i="1">
                <a:solidFill>
                  <a:srgbClr val="111726"/>
                </a:solidFill>
                <a:latin typeface="Arial"/>
                <a:cs typeface="Arial"/>
              </a:rPr>
              <a:t>this</a:t>
            </a:r>
            <a:r>
              <a:rPr dirty="0" sz="1050" spc="-90" i="1">
                <a:solidFill>
                  <a:srgbClr val="111726"/>
                </a:solidFill>
                <a:latin typeface="Arial"/>
                <a:cs typeface="Arial"/>
              </a:rPr>
              <a:t> </a:t>
            </a:r>
            <a:r>
              <a:rPr dirty="0" sz="1050" spc="-80" i="1">
                <a:solidFill>
                  <a:srgbClr val="111726"/>
                </a:solidFill>
                <a:latin typeface="Arial"/>
                <a:cs typeface="Arial"/>
              </a:rPr>
              <a:t>requirements</a:t>
            </a:r>
            <a:r>
              <a:rPr dirty="0" sz="1050" spc="-85" i="1">
                <a:solidFill>
                  <a:srgbClr val="111726"/>
                </a:solidFill>
                <a:latin typeface="Arial"/>
                <a:cs typeface="Arial"/>
              </a:rPr>
              <a:t> </a:t>
            </a:r>
            <a:r>
              <a:rPr dirty="0" sz="950" spc="-30" i="1">
                <a:solidFill>
                  <a:srgbClr val="111726"/>
                </a:solidFill>
                <a:latin typeface="Arial"/>
                <a:cs typeface="Arial"/>
              </a:rPr>
              <a:t>ﬁ</a:t>
            </a:r>
            <a:r>
              <a:rPr dirty="0" sz="1050" spc="-30" i="1">
                <a:solidFill>
                  <a:srgbClr val="111726"/>
                </a:solidFill>
                <a:latin typeface="Arial"/>
                <a:cs typeface="Arial"/>
              </a:rPr>
              <a:t>le</a:t>
            </a:r>
            <a:r>
              <a:rPr dirty="0" sz="1050" spc="-90" i="1">
                <a:solidFill>
                  <a:srgbClr val="111726"/>
                </a:solidFill>
                <a:latin typeface="Arial"/>
                <a:cs typeface="Arial"/>
              </a:rPr>
              <a:t> </a:t>
            </a:r>
            <a:r>
              <a:rPr dirty="0" sz="950" spc="-204" i="1">
                <a:solidFill>
                  <a:srgbClr val="111726"/>
                </a:solidFill>
                <a:latin typeface="Arial"/>
                <a:cs typeface="Arial"/>
              </a:rPr>
              <a:t>—</a:t>
            </a:r>
            <a:r>
              <a:rPr dirty="0" sz="950" spc="-55" i="1">
                <a:solidFill>
                  <a:srgbClr val="111726"/>
                </a:solidFill>
                <a:latin typeface="Arial"/>
                <a:cs typeface="Arial"/>
              </a:rPr>
              <a:t> </a:t>
            </a:r>
            <a:r>
              <a:rPr dirty="0" sz="1050" i="1">
                <a:solidFill>
                  <a:srgbClr val="111726"/>
                </a:solidFill>
                <a:latin typeface="Arial"/>
                <a:cs typeface="Arial"/>
              </a:rPr>
              <a:t>it</a:t>
            </a:r>
            <a:r>
              <a:rPr dirty="0" sz="1050" spc="-85" i="1">
                <a:solidFill>
                  <a:srgbClr val="111726"/>
                </a:solidFill>
                <a:latin typeface="Arial"/>
                <a:cs typeface="Arial"/>
              </a:rPr>
              <a:t> </a:t>
            </a:r>
            <a:r>
              <a:rPr dirty="0" sz="1050" spc="-25" i="1">
                <a:solidFill>
                  <a:srgbClr val="111726"/>
                </a:solidFill>
                <a:latin typeface="Arial"/>
                <a:cs typeface="Arial"/>
              </a:rPr>
              <a:t>may</a:t>
            </a:r>
            <a:r>
              <a:rPr dirty="0" sz="1050" spc="-25" i="1">
                <a:solidFill>
                  <a:srgbClr val="111726"/>
                </a:solidFill>
                <a:latin typeface="Arial"/>
                <a:cs typeface="Arial"/>
              </a:rPr>
              <a:t> </a:t>
            </a:r>
            <a:r>
              <a:rPr dirty="0" sz="1050" spc="-85" i="1">
                <a:solidFill>
                  <a:srgbClr val="111726"/>
                </a:solidFill>
                <a:latin typeface="Arial"/>
                <a:cs typeface="Arial"/>
              </a:rPr>
              <a:t>already</a:t>
            </a:r>
            <a:r>
              <a:rPr dirty="0" sz="1050" spc="-75" i="1">
                <a:solidFill>
                  <a:srgbClr val="111726"/>
                </a:solidFill>
                <a:latin typeface="Arial"/>
                <a:cs typeface="Arial"/>
              </a:rPr>
              <a:t> </a:t>
            </a:r>
            <a:r>
              <a:rPr dirty="0" sz="1050" spc="-100" i="1">
                <a:solidFill>
                  <a:srgbClr val="111726"/>
                </a:solidFill>
                <a:latin typeface="Arial"/>
                <a:cs typeface="Arial"/>
              </a:rPr>
              <a:t>be</a:t>
            </a:r>
            <a:r>
              <a:rPr dirty="0" sz="1050" spc="-75" i="1">
                <a:solidFill>
                  <a:srgbClr val="111726"/>
                </a:solidFill>
                <a:latin typeface="Arial"/>
                <a:cs typeface="Arial"/>
              </a:rPr>
              <a:t> </a:t>
            </a:r>
            <a:r>
              <a:rPr dirty="0" sz="1050" spc="-60" i="1">
                <a:solidFill>
                  <a:srgbClr val="111726"/>
                </a:solidFill>
                <a:latin typeface="Arial"/>
                <a:cs typeface="Arial"/>
              </a:rPr>
              <a:t>pulled</a:t>
            </a:r>
            <a:r>
              <a:rPr dirty="0" sz="1050" spc="-75" i="1">
                <a:solidFill>
                  <a:srgbClr val="111726"/>
                </a:solidFill>
                <a:latin typeface="Arial"/>
                <a:cs typeface="Arial"/>
              </a:rPr>
              <a:t> </a:t>
            </a:r>
            <a:r>
              <a:rPr dirty="0" sz="1050" spc="-45" i="1">
                <a:solidFill>
                  <a:srgbClr val="111726"/>
                </a:solidFill>
                <a:latin typeface="Arial"/>
                <a:cs typeface="Arial"/>
              </a:rPr>
              <a:t>in</a:t>
            </a:r>
            <a:r>
              <a:rPr dirty="0" sz="1050" spc="-75" i="1">
                <a:solidFill>
                  <a:srgbClr val="111726"/>
                </a:solidFill>
                <a:latin typeface="Arial"/>
                <a:cs typeface="Arial"/>
              </a:rPr>
              <a:t> </a:t>
            </a:r>
            <a:r>
              <a:rPr dirty="0" sz="1050" spc="-130" i="1">
                <a:solidFill>
                  <a:srgbClr val="111726"/>
                </a:solidFill>
                <a:latin typeface="Arial"/>
                <a:cs typeface="Arial"/>
              </a:rPr>
              <a:t>as</a:t>
            </a:r>
            <a:r>
              <a:rPr dirty="0" sz="1050" spc="-75" i="1">
                <a:solidFill>
                  <a:srgbClr val="111726"/>
                </a:solidFill>
                <a:latin typeface="Arial"/>
                <a:cs typeface="Arial"/>
              </a:rPr>
              <a:t> </a:t>
            </a:r>
            <a:r>
              <a:rPr dirty="0" sz="1050" spc="-120" i="1">
                <a:solidFill>
                  <a:srgbClr val="111726"/>
                </a:solidFill>
                <a:latin typeface="Arial"/>
                <a:cs typeface="Arial"/>
              </a:rPr>
              <a:t>a</a:t>
            </a:r>
            <a:r>
              <a:rPr dirty="0" sz="1050" spc="-75" i="1">
                <a:solidFill>
                  <a:srgbClr val="111726"/>
                </a:solidFill>
                <a:latin typeface="Arial"/>
                <a:cs typeface="Arial"/>
              </a:rPr>
              <a:t> </a:t>
            </a:r>
            <a:r>
              <a:rPr dirty="0" sz="1050" spc="-95" i="1">
                <a:solidFill>
                  <a:srgbClr val="111726"/>
                </a:solidFill>
                <a:latin typeface="Arial"/>
                <a:cs typeface="Arial"/>
              </a:rPr>
              <a:t>dependency</a:t>
            </a:r>
            <a:r>
              <a:rPr dirty="0" sz="1050" spc="-75" i="1">
                <a:solidFill>
                  <a:srgbClr val="111726"/>
                </a:solidFill>
                <a:latin typeface="Arial"/>
                <a:cs typeface="Arial"/>
              </a:rPr>
              <a:t> </a:t>
            </a:r>
            <a:r>
              <a:rPr dirty="0" sz="1050" i="1">
                <a:solidFill>
                  <a:srgbClr val="111726"/>
                </a:solidFill>
                <a:latin typeface="Arial"/>
                <a:cs typeface="Arial"/>
              </a:rPr>
              <a:t>of</a:t>
            </a:r>
            <a:r>
              <a:rPr dirty="0" sz="1050" spc="175" i="1">
                <a:solidFill>
                  <a:srgbClr val="111726"/>
                </a:solidFill>
                <a:latin typeface="Arial"/>
                <a:cs typeface="Arial"/>
              </a:rPr>
              <a:t> </a:t>
            </a:r>
            <a:r>
              <a:rPr dirty="0" sz="800" i="1">
                <a:solidFill>
                  <a:srgbClr val="111726"/>
                </a:solidFill>
                <a:latin typeface="Courier New"/>
                <a:cs typeface="Courier New"/>
              </a:rPr>
              <a:t>langchain</a:t>
            </a:r>
            <a:r>
              <a:rPr dirty="0" sz="800" spc="-235" i="1">
                <a:solidFill>
                  <a:srgbClr val="111726"/>
                </a:solidFill>
                <a:latin typeface="Courier New"/>
                <a:cs typeface="Courier New"/>
              </a:rPr>
              <a:t> </a:t>
            </a:r>
            <a:r>
              <a:rPr dirty="0" sz="1050" i="1">
                <a:solidFill>
                  <a:srgbClr val="111726"/>
                </a:solidFill>
                <a:latin typeface="Arial"/>
                <a:cs typeface="Arial"/>
              </a:rPr>
              <a:t>/</a:t>
            </a:r>
            <a:r>
              <a:rPr dirty="0" sz="1050" spc="-50" i="1">
                <a:solidFill>
                  <a:srgbClr val="111726"/>
                </a:solidFill>
                <a:latin typeface="Arial"/>
                <a:cs typeface="Arial"/>
              </a:rPr>
              <a:t> </a:t>
            </a:r>
            <a:r>
              <a:rPr dirty="0" sz="800" i="1">
                <a:solidFill>
                  <a:srgbClr val="111726"/>
                </a:solidFill>
                <a:latin typeface="Courier New"/>
                <a:cs typeface="Courier New"/>
              </a:rPr>
              <a:t>langchain-community</a:t>
            </a:r>
            <a:r>
              <a:rPr dirty="0" sz="800" spc="-235" i="1">
                <a:solidFill>
                  <a:srgbClr val="111726"/>
                </a:solidFill>
                <a:latin typeface="Courier New"/>
                <a:cs typeface="Courier New"/>
              </a:rPr>
              <a:t> </a:t>
            </a:r>
            <a:r>
              <a:rPr dirty="0" sz="1050" spc="-65" i="1">
                <a:solidFill>
                  <a:srgbClr val="111726"/>
                </a:solidFill>
                <a:latin typeface="Arial"/>
                <a:cs typeface="Arial"/>
              </a:rPr>
              <a:t>,</a:t>
            </a:r>
            <a:r>
              <a:rPr dirty="0" sz="1050" spc="-75" i="1">
                <a:solidFill>
                  <a:srgbClr val="111726"/>
                </a:solidFill>
                <a:latin typeface="Arial"/>
                <a:cs typeface="Arial"/>
              </a:rPr>
              <a:t> </a:t>
            </a:r>
            <a:r>
              <a:rPr dirty="0" sz="1050" spc="-45" i="1">
                <a:solidFill>
                  <a:srgbClr val="111726"/>
                </a:solidFill>
                <a:latin typeface="Arial"/>
                <a:cs typeface="Arial"/>
              </a:rPr>
              <a:t>but</a:t>
            </a:r>
            <a:r>
              <a:rPr dirty="0" sz="1050" spc="-75" i="1">
                <a:solidFill>
                  <a:srgbClr val="111726"/>
                </a:solidFill>
                <a:latin typeface="Arial"/>
                <a:cs typeface="Arial"/>
              </a:rPr>
              <a:t> </a:t>
            </a:r>
            <a:r>
              <a:rPr dirty="0" sz="1050" spc="-50" i="1">
                <a:solidFill>
                  <a:srgbClr val="111726"/>
                </a:solidFill>
                <a:latin typeface="Arial"/>
                <a:cs typeface="Arial"/>
              </a:rPr>
              <a:t>for</a:t>
            </a:r>
            <a:r>
              <a:rPr dirty="0" sz="1050" spc="-75" i="1">
                <a:solidFill>
                  <a:srgbClr val="111726"/>
                </a:solidFill>
                <a:latin typeface="Arial"/>
                <a:cs typeface="Arial"/>
              </a:rPr>
              <a:t> </a:t>
            </a:r>
            <a:r>
              <a:rPr dirty="0" sz="1050" spc="-40" i="1">
                <a:solidFill>
                  <a:srgbClr val="111726"/>
                </a:solidFill>
                <a:latin typeface="Arial"/>
                <a:cs typeface="Arial"/>
              </a:rPr>
              <a:t>reliability</a:t>
            </a:r>
            <a:r>
              <a:rPr dirty="0" sz="1050" spc="-75" i="1">
                <a:solidFill>
                  <a:srgbClr val="111726"/>
                </a:solidFill>
                <a:latin typeface="Arial"/>
                <a:cs typeface="Arial"/>
              </a:rPr>
              <a:t> </a:t>
            </a:r>
            <a:r>
              <a:rPr dirty="0" sz="1050" spc="-30" i="1">
                <a:solidFill>
                  <a:srgbClr val="111726"/>
                </a:solidFill>
                <a:latin typeface="Arial"/>
                <a:cs typeface="Arial"/>
              </a:rPr>
              <a:t>it's</a:t>
            </a:r>
            <a:r>
              <a:rPr dirty="0" sz="1050" spc="-75" i="1">
                <a:solidFill>
                  <a:srgbClr val="111726"/>
                </a:solidFill>
                <a:latin typeface="Arial"/>
                <a:cs typeface="Arial"/>
              </a:rPr>
              <a:t> </a:t>
            </a:r>
            <a:r>
              <a:rPr dirty="0" sz="1050" spc="-55" i="1">
                <a:solidFill>
                  <a:srgbClr val="111726"/>
                </a:solidFill>
                <a:latin typeface="Arial"/>
                <a:cs typeface="Arial"/>
              </a:rPr>
              <a:t>worth</a:t>
            </a:r>
            <a:r>
              <a:rPr dirty="0" sz="1050" spc="-75" i="1">
                <a:solidFill>
                  <a:srgbClr val="111726"/>
                </a:solidFill>
                <a:latin typeface="Arial"/>
                <a:cs typeface="Arial"/>
              </a:rPr>
              <a:t> </a:t>
            </a:r>
            <a:r>
              <a:rPr dirty="0" sz="1050" spc="-80" i="1">
                <a:solidFill>
                  <a:srgbClr val="111726"/>
                </a:solidFill>
                <a:latin typeface="Arial"/>
                <a:cs typeface="Arial"/>
              </a:rPr>
              <a:t>adding</a:t>
            </a:r>
            <a:r>
              <a:rPr dirty="0" sz="1050" spc="-75" i="1">
                <a:solidFill>
                  <a:srgbClr val="111726"/>
                </a:solidFill>
                <a:latin typeface="Arial"/>
                <a:cs typeface="Arial"/>
              </a:rPr>
              <a:t> </a:t>
            </a:r>
            <a:r>
              <a:rPr dirty="0" sz="1050" spc="-25" i="1">
                <a:solidFill>
                  <a:srgbClr val="111726"/>
                </a:solidFill>
                <a:latin typeface="Arial"/>
                <a:cs typeface="Arial"/>
              </a:rPr>
              <a:t>it</a:t>
            </a:r>
            <a:r>
              <a:rPr dirty="0" sz="1050" spc="-25" i="1">
                <a:solidFill>
                  <a:srgbClr val="111726"/>
                </a:solidFill>
                <a:latin typeface="Arial"/>
                <a:cs typeface="Arial"/>
              </a:rPr>
              <a:t> </a:t>
            </a:r>
            <a:r>
              <a:rPr dirty="0" sz="1050" spc="-10" i="1">
                <a:solidFill>
                  <a:srgbClr val="111726"/>
                </a:solidFill>
                <a:latin typeface="Arial"/>
                <a:cs typeface="Arial"/>
              </a:rPr>
              <a:t>explicitly.)</a:t>
            </a:r>
            <a:endParaRPr sz="10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8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40"/>
              </a:spcBef>
            </a:pPr>
            <a:endParaRPr sz="8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750" spc="-240" b="1">
                <a:solidFill>
                  <a:srgbClr val="111726"/>
                </a:solidFill>
                <a:latin typeface="Source Han Sans JP"/>
                <a:cs typeface="Source Han Sans JP"/>
              </a:rPr>
              <a:t>PART</a:t>
            </a:r>
            <a:r>
              <a:rPr dirty="0" sz="1750" spc="-55" b="1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550" spc="-70" b="1">
                <a:solidFill>
                  <a:srgbClr val="111726"/>
                </a:solidFill>
                <a:latin typeface="Trebuchet MS"/>
                <a:cs typeface="Trebuchet MS"/>
              </a:rPr>
              <a:t>3</a:t>
            </a:r>
            <a:r>
              <a:rPr dirty="0" sz="1550" spc="-120" b="1">
                <a:solidFill>
                  <a:srgbClr val="111726"/>
                </a:solidFill>
                <a:latin typeface="Trebuchet MS"/>
                <a:cs typeface="Trebuchet MS"/>
              </a:rPr>
              <a:t> </a:t>
            </a:r>
            <a:r>
              <a:rPr dirty="0" sz="1600" spc="-305" b="1">
                <a:solidFill>
                  <a:srgbClr val="111726"/>
                </a:solidFill>
                <a:latin typeface="Arial"/>
                <a:cs typeface="Arial"/>
              </a:rPr>
              <a:t>—</a:t>
            </a:r>
            <a:r>
              <a:rPr dirty="0" sz="1600" spc="-95" b="1">
                <a:solidFill>
                  <a:srgbClr val="111726"/>
                </a:solidFill>
                <a:latin typeface="Arial"/>
                <a:cs typeface="Arial"/>
              </a:rPr>
              <a:t> </a:t>
            </a:r>
            <a:r>
              <a:rPr dirty="0" sz="1750" spc="-220" b="1">
                <a:solidFill>
                  <a:srgbClr val="111726"/>
                </a:solidFill>
                <a:latin typeface="Source Han Sans JP"/>
                <a:cs typeface="Source Han Sans JP"/>
              </a:rPr>
              <a:t>ChromaDB</a:t>
            </a:r>
            <a:r>
              <a:rPr dirty="0" sz="1750" spc="-50" b="1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750" spc="-235" b="1">
                <a:solidFill>
                  <a:srgbClr val="111726"/>
                </a:solidFill>
                <a:latin typeface="Source Han Sans JP"/>
                <a:cs typeface="Source Han Sans JP"/>
              </a:rPr>
              <a:t>RAG</a:t>
            </a:r>
            <a:r>
              <a:rPr dirty="0" sz="1750" spc="-55" b="1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750" spc="-125" b="1">
                <a:solidFill>
                  <a:srgbClr val="111726"/>
                </a:solidFill>
                <a:latin typeface="Source Han Sans JP"/>
                <a:cs typeface="Source Han Sans JP"/>
              </a:rPr>
              <a:t>(</a:t>
            </a:r>
            <a:r>
              <a:rPr dirty="0" sz="1750" spc="-170" b="1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350" b="1">
                <a:solidFill>
                  <a:srgbClr val="111726"/>
                </a:solidFill>
                <a:latin typeface="Courier New"/>
                <a:cs typeface="Courier New"/>
              </a:rPr>
              <a:t>rag_with_chromadb.ipynb</a:t>
            </a:r>
            <a:r>
              <a:rPr dirty="0" sz="1350" spc="-585" b="1">
                <a:solidFill>
                  <a:srgbClr val="111726"/>
                </a:solidFill>
                <a:latin typeface="Courier New"/>
                <a:cs typeface="Courier New"/>
              </a:rPr>
              <a:t> </a:t>
            </a:r>
            <a:r>
              <a:rPr dirty="0" sz="1750" spc="-50" b="1">
                <a:solidFill>
                  <a:srgbClr val="111726"/>
                </a:solidFill>
                <a:latin typeface="Source Han Sans JP"/>
                <a:cs typeface="Source Han Sans JP"/>
              </a:rPr>
              <a:t>)</a:t>
            </a:r>
            <a:endParaRPr sz="1750">
              <a:latin typeface="Source Han Sans JP"/>
              <a:cs typeface="Source Han Sans JP"/>
            </a:endParaRPr>
          </a:p>
          <a:p>
            <a:pPr marL="12700" marR="88265">
              <a:lnSpc>
                <a:spcPct val="114999"/>
              </a:lnSpc>
              <a:spcBef>
                <a:spcPts val="855"/>
              </a:spcBef>
            </a:pPr>
            <a:r>
              <a:rPr dirty="0" sz="1000" spc="-80">
                <a:solidFill>
                  <a:srgbClr val="111726"/>
                </a:solidFill>
                <a:latin typeface="Source Han Sans JP"/>
                <a:cs typeface="Source Han Sans JP"/>
              </a:rPr>
              <a:t>This</a:t>
            </a:r>
            <a:r>
              <a:rPr dirty="0" sz="1000" spc="-20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70">
                <a:solidFill>
                  <a:srgbClr val="111726"/>
                </a:solidFill>
                <a:latin typeface="Source Han Sans JP"/>
                <a:cs typeface="Source Han Sans JP"/>
              </a:rPr>
              <a:t>is</a:t>
            </a:r>
            <a:r>
              <a:rPr dirty="0" sz="1000" spc="-1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90">
                <a:solidFill>
                  <a:srgbClr val="111726"/>
                </a:solidFill>
                <a:latin typeface="Source Han Sans JP"/>
                <a:cs typeface="Source Han Sans JP"/>
              </a:rPr>
              <a:t>a</a:t>
            </a:r>
            <a:r>
              <a:rPr dirty="0" sz="1000" spc="-1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95" b="1">
                <a:solidFill>
                  <a:srgbClr val="111726"/>
                </a:solidFill>
                <a:latin typeface="Source Han Sans JP"/>
                <a:cs typeface="Source Han Sans JP"/>
              </a:rPr>
              <a:t>Google</a:t>
            </a:r>
            <a:r>
              <a:rPr dirty="0" sz="1000" spc="-20" b="1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90" b="1">
                <a:solidFill>
                  <a:srgbClr val="111726"/>
                </a:solidFill>
                <a:latin typeface="Source Han Sans JP"/>
                <a:cs typeface="Source Han Sans JP"/>
              </a:rPr>
              <a:t>Colab</a:t>
            </a:r>
            <a:r>
              <a:rPr dirty="0" sz="1000" spc="-15" b="1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105" b="1">
                <a:solidFill>
                  <a:srgbClr val="111726"/>
                </a:solidFill>
                <a:latin typeface="Source Han Sans JP"/>
                <a:cs typeface="Source Han Sans JP"/>
              </a:rPr>
              <a:t>notebook</a:t>
            </a:r>
            <a:r>
              <a:rPr dirty="0" sz="1000" spc="-25" b="1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50">
                <a:solidFill>
                  <a:srgbClr val="111726"/>
                </a:solidFill>
                <a:latin typeface="Source Han Sans JP"/>
                <a:cs typeface="Source Han Sans JP"/>
              </a:rPr>
              <a:t>(</a:t>
            </a:r>
            <a:r>
              <a:rPr dirty="0" sz="900" spc="-50">
                <a:solidFill>
                  <a:srgbClr val="111726"/>
                </a:solidFill>
                <a:latin typeface="Arial"/>
                <a:cs typeface="Arial"/>
              </a:rPr>
              <a:t>12</a:t>
            </a:r>
            <a:r>
              <a:rPr dirty="0" sz="900" spc="-40">
                <a:solidFill>
                  <a:srgbClr val="111726"/>
                </a:solidFill>
                <a:latin typeface="Arial"/>
                <a:cs typeface="Arial"/>
              </a:rPr>
              <a:t> </a:t>
            </a:r>
            <a:r>
              <a:rPr dirty="0" sz="1000" spc="-95">
                <a:solidFill>
                  <a:srgbClr val="111726"/>
                </a:solidFill>
                <a:latin typeface="Source Han Sans JP"/>
                <a:cs typeface="Source Han Sans JP"/>
              </a:rPr>
              <a:t>code</a:t>
            </a:r>
            <a:r>
              <a:rPr dirty="0" sz="1000" spc="-1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70">
                <a:solidFill>
                  <a:srgbClr val="111726"/>
                </a:solidFill>
                <a:latin typeface="Source Han Sans JP"/>
                <a:cs typeface="Source Han Sans JP"/>
              </a:rPr>
              <a:t>cells,</a:t>
            </a:r>
            <a:r>
              <a:rPr dirty="0" sz="1000" spc="-1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105">
                <a:solidFill>
                  <a:srgbClr val="111726"/>
                </a:solidFill>
                <a:latin typeface="Source Han Sans JP"/>
                <a:cs typeface="Source Han Sans JP"/>
              </a:rPr>
              <a:t>no</a:t>
            </a:r>
            <a:r>
              <a:rPr dirty="0" sz="1000" spc="-20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110">
                <a:solidFill>
                  <a:srgbClr val="111726"/>
                </a:solidFill>
                <a:latin typeface="Source Han Sans JP"/>
                <a:cs typeface="Source Han Sans JP"/>
              </a:rPr>
              <a:t>markdown</a:t>
            </a:r>
            <a:r>
              <a:rPr dirty="0" sz="1000" spc="-1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70">
                <a:solidFill>
                  <a:srgbClr val="111726"/>
                </a:solidFill>
                <a:latin typeface="Source Han Sans JP"/>
                <a:cs typeface="Source Han Sans JP"/>
              </a:rPr>
              <a:t>cells)</a:t>
            </a:r>
            <a:r>
              <a:rPr dirty="0" sz="1000" spc="-1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80">
                <a:solidFill>
                  <a:srgbClr val="111726"/>
                </a:solidFill>
                <a:latin typeface="Source Han Sans JP"/>
                <a:cs typeface="Source Han Sans JP"/>
              </a:rPr>
              <a:t>that</a:t>
            </a:r>
            <a:r>
              <a:rPr dirty="0" sz="1000" spc="-20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75">
                <a:solidFill>
                  <a:srgbClr val="111726"/>
                </a:solidFill>
                <a:latin typeface="Source Han Sans JP"/>
                <a:cs typeface="Source Han Sans JP"/>
              </a:rPr>
              <a:t>lets</a:t>
            </a:r>
            <a:r>
              <a:rPr dirty="0" sz="1000" spc="-1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90">
                <a:solidFill>
                  <a:srgbClr val="111726"/>
                </a:solidFill>
                <a:latin typeface="Source Han Sans JP"/>
                <a:cs typeface="Source Han Sans JP"/>
              </a:rPr>
              <a:t>a</a:t>
            </a:r>
            <a:r>
              <a:rPr dirty="0" sz="1000" spc="-1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80">
                <a:solidFill>
                  <a:srgbClr val="111726"/>
                </a:solidFill>
                <a:latin typeface="Source Han Sans JP"/>
                <a:cs typeface="Source Han Sans JP"/>
              </a:rPr>
              <a:t>user</a:t>
            </a:r>
            <a:r>
              <a:rPr dirty="0" sz="1000" spc="-20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90">
                <a:solidFill>
                  <a:srgbClr val="111726"/>
                </a:solidFill>
                <a:latin typeface="Source Han Sans JP"/>
                <a:cs typeface="Source Han Sans JP"/>
              </a:rPr>
              <a:t>upload</a:t>
            </a:r>
            <a:r>
              <a:rPr dirty="0" sz="1000" spc="-1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90">
                <a:solidFill>
                  <a:srgbClr val="111726"/>
                </a:solidFill>
                <a:latin typeface="Source Han Sans JP"/>
                <a:cs typeface="Source Han Sans JP"/>
              </a:rPr>
              <a:t>a</a:t>
            </a:r>
            <a:r>
              <a:rPr dirty="0" sz="1000" spc="-1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100">
                <a:solidFill>
                  <a:srgbClr val="111726"/>
                </a:solidFill>
                <a:latin typeface="Source Han Sans JP"/>
                <a:cs typeface="Source Han Sans JP"/>
              </a:rPr>
              <a:t>PDF</a:t>
            </a:r>
            <a:r>
              <a:rPr dirty="0" sz="1000" spc="-20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80">
                <a:solidFill>
                  <a:srgbClr val="111726"/>
                </a:solidFill>
                <a:latin typeface="Source Han Sans JP"/>
                <a:cs typeface="Source Han Sans JP"/>
              </a:rPr>
              <a:t>interactively,</a:t>
            </a:r>
            <a:r>
              <a:rPr dirty="0" sz="1000" spc="-1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90">
                <a:solidFill>
                  <a:srgbClr val="111726"/>
                </a:solidFill>
                <a:latin typeface="Source Han Sans JP"/>
                <a:cs typeface="Source Han Sans JP"/>
              </a:rPr>
              <a:t>then</a:t>
            </a:r>
            <a:r>
              <a:rPr dirty="0" sz="1000" spc="-1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20">
                <a:solidFill>
                  <a:srgbClr val="111726"/>
                </a:solidFill>
                <a:latin typeface="Source Han Sans JP"/>
                <a:cs typeface="Source Han Sans JP"/>
              </a:rPr>
              <a:t>builds </a:t>
            </a:r>
            <a:r>
              <a:rPr dirty="0" sz="1000" spc="-100">
                <a:solidFill>
                  <a:srgbClr val="111726"/>
                </a:solidFill>
                <a:latin typeface="Source Han Sans JP"/>
                <a:cs typeface="Source Han Sans JP"/>
              </a:rPr>
              <a:t>an</a:t>
            </a:r>
            <a:r>
              <a:rPr dirty="0" sz="1000" spc="-1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80">
                <a:solidFill>
                  <a:srgbClr val="111726"/>
                </a:solidFill>
                <a:latin typeface="Source Han Sans JP"/>
                <a:cs typeface="Source Han Sans JP"/>
              </a:rPr>
              <a:t>in-</a:t>
            </a:r>
            <a:r>
              <a:rPr dirty="0" sz="1000" spc="-100">
                <a:solidFill>
                  <a:srgbClr val="111726"/>
                </a:solidFill>
                <a:latin typeface="Source Han Sans JP"/>
                <a:cs typeface="Source Han Sans JP"/>
              </a:rPr>
              <a:t>memory</a:t>
            </a:r>
            <a:r>
              <a:rPr dirty="0" sz="1000" spc="-1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100">
                <a:solidFill>
                  <a:srgbClr val="111726"/>
                </a:solidFill>
                <a:latin typeface="Source Han Sans JP"/>
                <a:cs typeface="Source Han Sans JP"/>
              </a:rPr>
              <a:t>Chroma</a:t>
            </a:r>
            <a:r>
              <a:rPr dirty="0" sz="1000" spc="-10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85">
                <a:solidFill>
                  <a:srgbClr val="111726"/>
                </a:solidFill>
                <a:latin typeface="Source Han Sans JP"/>
                <a:cs typeface="Source Han Sans JP"/>
              </a:rPr>
              <a:t>vector</a:t>
            </a:r>
            <a:r>
              <a:rPr dirty="0" sz="1000" spc="-1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85">
                <a:solidFill>
                  <a:srgbClr val="111726"/>
                </a:solidFill>
                <a:latin typeface="Source Han Sans JP"/>
                <a:cs typeface="Source Han Sans JP"/>
              </a:rPr>
              <a:t>store</a:t>
            </a:r>
            <a:r>
              <a:rPr dirty="0" sz="1000" spc="-10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950" spc="-204">
                <a:solidFill>
                  <a:srgbClr val="111726"/>
                </a:solidFill>
                <a:latin typeface="Arial"/>
                <a:cs typeface="Arial"/>
              </a:rPr>
              <a:t>—</a:t>
            </a:r>
            <a:r>
              <a:rPr dirty="0" sz="950" spc="-55">
                <a:solidFill>
                  <a:srgbClr val="111726"/>
                </a:solidFill>
                <a:latin typeface="Arial"/>
                <a:cs typeface="Arial"/>
              </a:rPr>
              <a:t> </a:t>
            </a:r>
            <a:r>
              <a:rPr dirty="0" sz="1000" spc="-105">
                <a:solidFill>
                  <a:srgbClr val="111726"/>
                </a:solidFill>
                <a:latin typeface="Source Han Sans JP"/>
                <a:cs typeface="Source Han Sans JP"/>
              </a:rPr>
              <a:t>no</a:t>
            </a:r>
            <a:r>
              <a:rPr dirty="0" sz="1000" spc="-10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85">
                <a:solidFill>
                  <a:srgbClr val="111726"/>
                </a:solidFill>
                <a:latin typeface="Source Han Sans JP"/>
                <a:cs typeface="Source Han Sans JP"/>
              </a:rPr>
              <a:t>external</a:t>
            </a:r>
            <a:r>
              <a:rPr dirty="0" sz="1000" spc="-1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95">
                <a:solidFill>
                  <a:srgbClr val="111726"/>
                </a:solidFill>
                <a:latin typeface="Source Han Sans JP"/>
                <a:cs typeface="Source Han Sans JP"/>
              </a:rPr>
              <a:t>database</a:t>
            </a:r>
            <a:r>
              <a:rPr dirty="0" sz="1000" spc="-10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75">
                <a:solidFill>
                  <a:srgbClr val="111726"/>
                </a:solidFill>
                <a:latin typeface="Source Han Sans JP"/>
                <a:cs typeface="Source Han Sans JP"/>
              </a:rPr>
              <a:t>server</a:t>
            </a:r>
            <a:r>
              <a:rPr dirty="0" sz="1000" spc="-1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10">
                <a:solidFill>
                  <a:srgbClr val="111726"/>
                </a:solidFill>
                <a:latin typeface="Source Han Sans JP"/>
                <a:cs typeface="Source Han Sans JP"/>
              </a:rPr>
              <a:t>required.</a:t>
            </a:r>
            <a:endParaRPr sz="1000">
              <a:latin typeface="Source Han Sans JP"/>
              <a:cs typeface="Source Han Sans JP"/>
            </a:endParaRPr>
          </a:p>
          <a:p>
            <a:pPr marL="147320">
              <a:lnSpc>
                <a:spcPct val="100000"/>
              </a:lnSpc>
              <a:spcBef>
                <a:spcPts val="1300"/>
              </a:spcBef>
            </a:pPr>
            <a:r>
              <a:rPr dirty="0" sz="1000" spc="-110" b="1">
                <a:solidFill>
                  <a:srgbClr val="111726"/>
                </a:solidFill>
                <a:latin typeface="Source Han Sans JP"/>
                <a:cs typeface="Source Han Sans JP"/>
              </a:rPr>
              <a:t>Note</a:t>
            </a:r>
            <a:r>
              <a:rPr dirty="0" sz="1000" spc="-15" b="1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110" b="1">
                <a:solidFill>
                  <a:srgbClr val="111726"/>
                </a:solidFill>
                <a:latin typeface="Source Han Sans JP"/>
                <a:cs typeface="Source Han Sans JP"/>
              </a:rPr>
              <a:t>on</a:t>
            </a:r>
            <a:r>
              <a:rPr dirty="0" sz="1000" spc="-15" b="1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95" b="1">
                <a:solidFill>
                  <a:srgbClr val="111726"/>
                </a:solidFill>
                <a:latin typeface="Source Han Sans JP"/>
                <a:cs typeface="Source Han Sans JP"/>
              </a:rPr>
              <a:t>outputs</a:t>
            </a:r>
            <a:r>
              <a:rPr dirty="0" sz="1000" spc="-15" b="1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95" b="1">
                <a:solidFill>
                  <a:srgbClr val="111726"/>
                </a:solidFill>
                <a:latin typeface="Source Han Sans JP"/>
                <a:cs typeface="Source Han Sans JP"/>
              </a:rPr>
              <a:t>below:</a:t>
            </a:r>
            <a:r>
              <a:rPr dirty="0" sz="1000" spc="-20" b="1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70">
                <a:solidFill>
                  <a:srgbClr val="111726"/>
                </a:solidFill>
                <a:latin typeface="Source Han Sans JP"/>
                <a:cs typeface="Source Han Sans JP"/>
              </a:rPr>
              <a:t>this</a:t>
            </a:r>
            <a:r>
              <a:rPr dirty="0" sz="1000" spc="-10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100">
                <a:solidFill>
                  <a:srgbClr val="111726"/>
                </a:solidFill>
                <a:latin typeface="Source Han Sans JP"/>
                <a:cs typeface="Source Han Sans JP"/>
              </a:rPr>
              <a:t>notebook</a:t>
            </a:r>
            <a:r>
              <a:rPr dirty="0" sz="1000" spc="-1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100">
                <a:solidFill>
                  <a:srgbClr val="111726"/>
                </a:solidFill>
                <a:latin typeface="Source Han Sans JP"/>
                <a:cs typeface="Source Han Sans JP"/>
              </a:rPr>
              <a:t>was</a:t>
            </a:r>
            <a:r>
              <a:rPr dirty="0" sz="1000" spc="-1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75">
                <a:solidFill>
                  <a:srgbClr val="111726"/>
                </a:solidFill>
                <a:latin typeface="Source Han Sans JP"/>
                <a:cs typeface="Source Han Sans JP"/>
              </a:rPr>
              <a:t>actually</a:t>
            </a:r>
            <a:r>
              <a:rPr dirty="0" sz="1000" spc="-1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50" spc="-95" i="1">
                <a:solidFill>
                  <a:srgbClr val="111726"/>
                </a:solidFill>
                <a:latin typeface="Arial"/>
                <a:cs typeface="Arial"/>
              </a:rPr>
              <a:t>executed</a:t>
            </a:r>
            <a:r>
              <a:rPr dirty="0" sz="1050" spc="-80" i="1">
                <a:solidFill>
                  <a:srgbClr val="111726"/>
                </a:solidFill>
                <a:latin typeface="Arial"/>
                <a:cs typeface="Arial"/>
              </a:rPr>
              <a:t> </a:t>
            </a:r>
            <a:r>
              <a:rPr dirty="0" sz="1000" spc="-85">
                <a:solidFill>
                  <a:srgbClr val="111726"/>
                </a:solidFill>
                <a:latin typeface="Source Han Sans JP"/>
                <a:cs typeface="Source Han Sans JP"/>
              </a:rPr>
              <a:t>in</a:t>
            </a:r>
            <a:r>
              <a:rPr dirty="0" sz="1000" spc="-1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80">
                <a:solidFill>
                  <a:srgbClr val="111726"/>
                </a:solidFill>
                <a:latin typeface="Source Han Sans JP"/>
                <a:cs typeface="Source Han Sans JP"/>
              </a:rPr>
              <a:t>Colab,</a:t>
            </a:r>
            <a:r>
              <a:rPr dirty="0" sz="1000" spc="-1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95">
                <a:solidFill>
                  <a:srgbClr val="111726"/>
                </a:solidFill>
                <a:latin typeface="Source Han Sans JP"/>
                <a:cs typeface="Source Han Sans JP"/>
              </a:rPr>
              <a:t>and</a:t>
            </a:r>
            <a:r>
              <a:rPr dirty="0" sz="1000" spc="-1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65">
                <a:solidFill>
                  <a:srgbClr val="111726"/>
                </a:solidFill>
                <a:latin typeface="Source Han Sans JP"/>
                <a:cs typeface="Source Han Sans JP"/>
              </a:rPr>
              <a:t>its</a:t>
            </a:r>
            <a:r>
              <a:rPr dirty="0" sz="1000" spc="-10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75">
                <a:solidFill>
                  <a:srgbClr val="111726"/>
                </a:solidFill>
                <a:latin typeface="Source Han Sans JP"/>
                <a:cs typeface="Source Han Sans JP"/>
              </a:rPr>
              <a:t>real</a:t>
            </a:r>
            <a:r>
              <a:rPr dirty="0" sz="1000" spc="-1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85">
                <a:solidFill>
                  <a:srgbClr val="111726"/>
                </a:solidFill>
                <a:latin typeface="Source Han Sans JP"/>
                <a:cs typeface="Source Han Sans JP"/>
              </a:rPr>
              <a:t>stdout/stderr</a:t>
            </a:r>
            <a:r>
              <a:rPr dirty="0" sz="1000" spc="-1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100">
                <a:solidFill>
                  <a:srgbClr val="111726"/>
                </a:solidFill>
                <a:latin typeface="Source Han Sans JP"/>
                <a:cs typeface="Source Han Sans JP"/>
              </a:rPr>
              <a:t>was</a:t>
            </a:r>
            <a:r>
              <a:rPr dirty="0" sz="1000" spc="-1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90">
                <a:solidFill>
                  <a:srgbClr val="111726"/>
                </a:solidFill>
                <a:latin typeface="Source Han Sans JP"/>
                <a:cs typeface="Source Han Sans JP"/>
              </a:rPr>
              <a:t>saved</a:t>
            </a:r>
            <a:r>
              <a:rPr dirty="0" sz="1000" spc="-10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80">
                <a:solidFill>
                  <a:srgbClr val="111726"/>
                </a:solidFill>
                <a:latin typeface="Source Han Sans JP"/>
                <a:cs typeface="Source Han Sans JP"/>
              </a:rPr>
              <a:t>inside</a:t>
            </a:r>
            <a:r>
              <a:rPr dirty="0" sz="1000" spc="-1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25">
                <a:solidFill>
                  <a:srgbClr val="111726"/>
                </a:solidFill>
                <a:latin typeface="Source Han Sans JP"/>
                <a:cs typeface="Source Han Sans JP"/>
              </a:rPr>
              <a:t>the</a:t>
            </a:r>
            <a:endParaRPr sz="1000">
              <a:latin typeface="Source Han Sans JP"/>
              <a:cs typeface="Source Han Sans JP"/>
            </a:endParaRPr>
          </a:p>
          <a:p>
            <a:pPr marL="147320" marR="160020" indent="26670">
              <a:lnSpc>
                <a:spcPts val="1490"/>
              </a:lnSpc>
              <a:spcBef>
                <a:spcPts val="30"/>
              </a:spcBef>
            </a:pPr>
            <a:r>
              <a:rPr dirty="0" sz="800">
                <a:solidFill>
                  <a:srgbClr val="111726"/>
                </a:solidFill>
                <a:latin typeface="Courier New"/>
                <a:cs typeface="Courier New"/>
              </a:rPr>
              <a:t>.ipynb</a:t>
            </a:r>
            <a:r>
              <a:rPr dirty="0" sz="800" spc="-40">
                <a:solidFill>
                  <a:srgbClr val="111726"/>
                </a:solidFill>
                <a:latin typeface="Courier New"/>
                <a:cs typeface="Courier New"/>
              </a:rPr>
              <a:t> </a:t>
            </a:r>
            <a:r>
              <a:rPr dirty="0" sz="950" spc="-35">
                <a:solidFill>
                  <a:srgbClr val="111726"/>
                </a:solidFill>
                <a:latin typeface="Arial"/>
                <a:cs typeface="Arial"/>
              </a:rPr>
              <a:t>ﬁ</a:t>
            </a:r>
            <a:r>
              <a:rPr dirty="0" sz="1000" spc="-35">
                <a:solidFill>
                  <a:srgbClr val="111726"/>
                </a:solidFill>
                <a:latin typeface="Source Han Sans JP"/>
                <a:cs typeface="Source Han Sans JP"/>
              </a:rPr>
              <a:t>le.</a:t>
            </a:r>
            <a:r>
              <a:rPr dirty="0" sz="1000" spc="-1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80">
                <a:solidFill>
                  <a:srgbClr val="111726"/>
                </a:solidFill>
                <a:latin typeface="Source Han Sans JP"/>
                <a:cs typeface="Source Han Sans JP"/>
              </a:rPr>
              <a:t>Every</a:t>
            </a:r>
            <a:r>
              <a:rPr dirty="0" sz="1000" spc="-1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85">
                <a:solidFill>
                  <a:srgbClr val="111726"/>
                </a:solidFill>
                <a:latin typeface="Source Han Sans JP"/>
                <a:cs typeface="Source Han Sans JP"/>
              </a:rPr>
              <a:t>"Output"</a:t>
            </a:r>
            <a:r>
              <a:rPr dirty="0" sz="1000" spc="-1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100">
                <a:solidFill>
                  <a:srgbClr val="111726"/>
                </a:solidFill>
                <a:latin typeface="Source Han Sans JP"/>
                <a:cs typeface="Source Han Sans JP"/>
              </a:rPr>
              <a:t>shown</a:t>
            </a:r>
            <a:r>
              <a:rPr dirty="0" sz="1000" spc="-1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85">
                <a:solidFill>
                  <a:srgbClr val="111726"/>
                </a:solidFill>
                <a:latin typeface="Source Han Sans JP"/>
                <a:cs typeface="Source Han Sans JP"/>
              </a:rPr>
              <a:t>in</a:t>
            </a:r>
            <a:r>
              <a:rPr dirty="0" sz="1000" spc="-1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70">
                <a:solidFill>
                  <a:srgbClr val="111726"/>
                </a:solidFill>
                <a:latin typeface="Source Han Sans JP"/>
                <a:cs typeface="Source Han Sans JP"/>
              </a:rPr>
              <a:t>this</a:t>
            </a:r>
            <a:r>
              <a:rPr dirty="0" sz="1000" spc="-10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85">
                <a:solidFill>
                  <a:srgbClr val="111726"/>
                </a:solidFill>
                <a:latin typeface="Source Han Sans JP"/>
                <a:cs typeface="Source Han Sans JP"/>
              </a:rPr>
              <a:t>section</a:t>
            </a:r>
            <a:r>
              <a:rPr dirty="0" sz="1000" spc="-1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85">
                <a:solidFill>
                  <a:srgbClr val="111726"/>
                </a:solidFill>
                <a:latin typeface="Source Han Sans JP"/>
                <a:cs typeface="Source Han Sans JP"/>
              </a:rPr>
              <a:t>(Part</a:t>
            </a:r>
            <a:r>
              <a:rPr dirty="0" sz="1000" spc="-1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900" spc="-50">
                <a:solidFill>
                  <a:srgbClr val="111726"/>
                </a:solidFill>
                <a:latin typeface="Arial"/>
                <a:cs typeface="Arial"/>
              </a:rPr>
              <a:t>3</a:t>
            </a:r>
            <a:r>
              <a:rPr dirty="0" sz="1000" spc="-50">
                <a:solidFill>
                  <a:srgbClr val="111726"/>
                </a:solidFill>
                <a:latin typeface="Source Han Sans JP"/>
                <a:cs typeface="Source Han Sans JP"/>
              </a:rPr>
              <a:t>)</a:t>
            </a:r>
            <a:r>
              <a:rPr dirty="0" sz="1000" spc="-1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70">
                <a:solidFill>
                  <a:srgbClr val="111726"/>
                </a:solidFill>
                <a:latin typeface="Source Han Sans JP"/>
                <a:cs typeface="Source Han Sans JP"/>
              </a:rPr>
              <a:t>is</a:t>
            </a:r>
            <a:r>
              <a:rPr dirty="0" sz="1000" spc="-1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85">
                <a:solidFill>
                  <a:srgbClr val="111726"/>
                </a:solidFill>
                <a:latin typeface="Source Han Sans JP"/>
                <a:cs typeface="Source Han Sans JP"/>
              </a:rPr>
              <a:t>therefore</a:t>
            </a:r>
            <a:r>
              <a:rPr dirty="0" sz="1000" spc="-1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90">
                <a:solidFill>
                  <a:srgbClr val="111726"/>
                </a:solidFill>
                <a:latin typeface="Source Han Sans JP"/>
                <a:cs typeface="Source Han Sans JP"/>
              </a:rPr>
              <a:t>the</a:t>
            </a:r>
            <a:r>
              <a:rPr dirty="0" sz="1000" spc="-1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85" b="1">
                <a:solidFill>
                  <a:srgbClr val="111726"/>
                </a:solidFill>
                <a:latin typeface="Source Han Sans JP"/>
                <a:cs typeface="Source Han Sans JP"/>
              </a:rPr>
              <a:t>actual</a:t>
            </a:r>
            <a:r>
              <a:rPr dirty="0" sz="1000" spc="-15" b="1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100" b="1">
                <a:solidFill>
                  <a:srgbClr val="111726"/>
                </a:solidFill>
                <a:latin typeface="Source Han Sans JP"/>
                <a:cs typeface="Source Han Sans JP"/>
              </a:rPr>
              <a:t>captured</a:t>
            </a:r>
            <a:r>
              <a:rPr dirty="0" sz="1000" spc="-15" b="1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90" b="1">
                <a:solidFill>
                  <a:srgbClr val="111726"/>
                </a:solidFill>
                <a:latin typeface="Source Han Sans JP"/>
                <a:cs typeface="Source Han Sans JP"/>
              </a:rPr>
              <a:t>output</a:t>
            </a:r>
            <a:r>
              <a:rPr dirty="0" sz="1000" spc="-90">
                <a:solidFill>
                  <a:srgbClr val="111726"/>
                </a:solidFill>
                <a:latin typeface="Source Han Sans JP"/>
                <a:cs typeface="Source Han Sans JP"/>
              </a:rPr>
              <a:t>,</a:t>
            </a:r>
            <a:r>
              <a:rPr dirty="0" sz="1000" spc="-1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95">
                <a:solidFill>
                  <a:srgbClr val="111726"/>
                </a:solidFill>
                <a:latin typeface="Source Han Sans JP"/>
                <a:cs typeface="Source Han Sans JP"/>
              </a:rPr>
              <a:t>not</a:t>
            </a:r>
            <a:r>
              <a:rPr dirty="0" sz="1000" spc="-1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90">
                <a:solidFill>
                  <a:srgbClr val="111726"/>
                </a:solidFill>
                <a:latin typeface="Source Han Sans JP"/>
                <a:cs typeface="Source Han Sans JP"/>
              </a:rPr>
              <a:t>a</a:t>
            </a:r>
            <a:r>
              <a:rPr dirty="0" sz="1000" spc="-10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85">
                <a:solidFill>
                  <a:srgbClr val="111726"/>
                </a:solidFill>
                <a:latin typeface="Source Han Sans JP"/>
                <a:cs typeface="Source Han Sans JP"/>
              </a:rPr>
              <a:t>guess</a:t>
            </a:r>
            <a:r>
              <a:rPr dirty="0" sz="1000" spc="-1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950" spc="-50">
                <a:solidFill>
                  <a:srgbClr val="111726"/>
                </a:solidFill>
                <a:latin typeface="Arial"/>
                <a:cs typeface="Arial"/>
              </a:rPr>
              <a:t>— </a:t>
            </a:r>
            <a:r>
              <a:rPr dirty="0" sz="1000" spc="-80">
                <a:solidFill>
                  <a:srgbClr val="111726"/>
                </a:solidFill>
                <a:latin typeface="Source Han Sans JP"/>
                <a:cs typeface="Source Han Sans JP"/>
              </a:rPr>
              <a:t>including</a:t>
            </a:r>
            <a:r>
              <a:rPr dirty="0" sz="1000" spc="-30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90">
                <a:solidFill>
                  <a:srgbClr val="111726"/>
                </a:solidFill>
                <a:latin typeface="Source Han Sans JP"/>
                <a:cs typeface="Source Han Sans JP"/>
              </a:rPr>
              <a:t>the</a:t>
            </a:r>
            <a:r>
              <a:rPr dirty="0" sz="1000" spc="-20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75">
                <a:solidFill>
                  <a:srgbClr val="111726"/>
                </a:solidFill>
                <a:latin typeface="Source Han Sans JP"/>
                <a:cs typeface="Source Han Sans JP"/>
              </a:rPr>
              <a:t>real</a:t>
            </a:r>
            <a:r>
              <a:rPr dirty="0" sz="1000" spc="-20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90">
                <a:solidFill>
                  <a:srgbClr val="111726"/>
                </a:solidFill>
                <a:latin typeface="Source Han Sans JP"/>
                <a:cs typeface="Source Han Sans JP"/>
              </a:rPr>
              <a:t>uploaded</a:t>
            </a:r>
            <a:r>
              <a:rPr dirty="0" sz="1000" spc="-20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950" spc="-75">
                <a:solidFill>
                  <a:srgbClr val="111726"/>
                </a:solidFill>
                <a:latin typeface="Arial"/>
                <a:cs typeface="Arial"/>
              </a:rPr>
              <a:t>ﬁ</a:t>
            </a:r>
            <a:r>
              <a:rPr dirty="0" sz="1000" spc="-75">
                <a:solidFill>
                  <a:srgbClr val="111726"/>
                </a:solidFill>
                <a:latin typeface="Source Han Sans JP"/>
                <a:cs typeface="Source Han Sans JP"/>
              </a:rPr>
              <a:t>lename,</a:t>
            </a:r>
            <a:r>
              <a:rPr dirty="0" sz="1000" spc="-20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75">
                <a:solidFill>
                  <a:srgbClr val="111726"/>
                </a:solidFill>
                <a:latin typeface="Source Han Sans JP"/>
                <a:cs typeface="Source Han Sans JP"/>
              </a:rPr>
              <a:t>real</a:t>
            </a:r>
            <a:r>
              <a:rPr dirty="0" sz="1000" spc="-20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100">
                <a:solidFill>
                  <a:srgbClr val="111726"/>
                </a:solidFill>
                <a:latin typeface="Source Han Sans JP"/>
                <a:cs typeface="Source Han Sans JP"/>
              </a:rPr>
              <a:t>page/chunk</a:t>
            </a:r>
            <a:r>
              <a:rPr dirty="0" sz="1000" spc="-20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90">
                <a:solidFill>
                  <a:srgbClr val="111726"/>
                </a:solidFill>
                <a:latin typeface="Source Han Sans JP"/>
                <a:cs typeface="Source Han Sans JP"/>
              </a:rPr>
              <a:t>counts,</a:t>
            </a:r>
            <a:r>
              <a:rPr dirty="0" sz="1000" spc="-20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95">
                <a:solidFill>
                  <a:srgbClr val="111726"/>
                </a:solidFill>
                <a:latin typeface="Source Han Sans JP"/>
                <a:cs typeface="Source Han Sans JP"/>
              </a:rPr>
              <a:t>and</a:t>
            </a:r>
            <a:r>
              <a:rPr dirty="0" sz="1000" spc="-20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90">
                <a:solidFill>
                  <a:srgbClr val="111726"/>
                </a:solidFill>
                <a:latin typeface="Source Han Sans JP"/>
                <a:cs typeface="Source Han Sans JP"/>
              </a:rPr>
              <a:t>the</a:t>
            </a:r>
            <a:r>
              <a:rPr dirty="0" sz="1000" spc="-20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75">
                <a:solidFill>
                  <a:srgbClr val="111726"/>
                </a:solidFill>
                <a:latin typeface="Source Han Sans JP"/>
                <a:cs typeface="Source Han Sans JP"/>
              </a:rPr>
              <a:t>real</a:t>
            </a:r>
            <a:r>
              <a:rPr dirty="0" sz="1000" spc="-20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95">
                <a:solidFill>
                  <a:srgbClr val="111726"/>
                </a:solidFill>
                <a:latin typeface="Source Han Sans JP"/>
                <a:cs typeface="Source Han Sans JP"/>
              </a:rPr>
              <a:t>generated</a:t>
            </a:r>
            <a:r>
              <a:rPr dirty="0" sz="1000" spc="-20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95">
                <a:solidFill>
                  <a:srgbClr val="111726"/>
                </a:solidFill>
                <a:latin typeface="Source Han Sans JP"/>
                <a:cs typeface="Source Han Sans JP"/>
              </a:rPr>
              <a:t>answer.</a:t>
            </a:r>
            <a:r>
              <a:rPr dirty="0" sz="1000" spc="-20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50">
                <a:solidFill>
                  <a:srgbClr val="111726"/>
                </a:solidFill>
                <a:latin typeface="Source Han Sans JP"/>
                <a:cs typeface="Source Han Sans JP"/>
              </a:rPr>
              <a:t>The</a:t>
            </a:r>
            <a:r>
              <a:rPr dirty="0" sz="1000" spc="21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800">
                <a:solidFill>
                  <a:srgbClr val="111726"/>
                </a:solidFill>
                <a:latin typeface="Courier New"/>
                <a:cs typeface="Courier New"/>
              </a:rPr>
              <a:t>.py</a:t>
            </a:r>
            <a:r>
              <a:rPr dirty="0" sz="800" spc="-50">
                <a:solidFill>
                  <a:srgbClr val="111726"/>
                </a:solidFill>
                <a:latin typeface="Courier New"/>
                <a:cs typeface="Courier New"/>
              </a:rPr>
              <a:t> </a:t>
            </a:r>
            <a:r>
              <a:rPr dirty="0" sz="1000" spc="-80">
                <a:solidFill>
                  <a:srgbClr val="111726"/>
                </a:solidFill>
                <a:latin typeface="Source Han Sans JP"/>
                <a:cs typeface="Source Han Sans JP"/>
              </a:rPr>
              <a:t>scripts</a:t>
            </a:r>
            <a:r>
              <a:rPr dirty="0" sz="1000" spc="-20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85">
                <a:solidFill>
                  <a:srgbClr val="111726"/>
                </a:solidFill>
                <a:latin typeface="Source Han Sans JP"/>
                <a:cs typeface="Source Han Sans JP"/>
              </a:rPr>
              <a:t>in</a:t>
            </a:r>
            <a:r>
              <a:rPr dirty="0" sz="1000" spc="-1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35">
                <a:solidFill>
                  <a:srgbClr val="111726"/>
                </a:solidFill>
                <a:latin typeface="Source Han Sans JP"/>
                <a:cs typeface="Source Han Sans JP"/>
              </a:rPr>
              <a:t>Parts</a:t>
            </a:r>
            <a:endParaRPr sz="1000">
              <a:latin typeface="Source Han Sans JP"/>
              <a:cs typeface="Source Han Sans JP"/>
            </a:endParaRPr>
          </a:p>
          <a:p>
            <a:pPr marL="147320" marR="182880">
              <a:lnSpc>
                <a:spcPct val="114999"/>
              </a:lnSpc>
              <a:spcBef>
                <a:spcPts val="5"/>
              </a:spcBef>
            </a:pPr>
            <a:r>
              <a:rPr dirty="0" sz="900" spc="-40">
                <a:solidFill>
                  <a:srgbClr val="111726"/>
                </a:solidFill>
                <a:latin typeface="Arial"/>
                <a:cs typeface="Arial"/>
              </a:rPr>
              <a:t>1 </a:t>
            </a:r>
            <a:r>
              <a:rPr dirty="0" sz="1000" spc="-95">
                <a:solidFill>
                  <a:srgbClr val="111726"/>
                </a:solidFill>
                <a:latin typeface="Source Han Sans JP"/>
                <a:cs typeface="Source Han Sans JP"/>
              </a:rPr>
              <a:t>and</a:t>
            </a:r>
            <a:r>
              <a:rPr dirty="0" sz="1000" spc="-10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900" spc="-40">
                <a:solidFill>
                  <a:srgbClr val="111726"/>
                </a:solidFill>
                <a:latin typeface="Arial"/>
                <a:cs typeface="Arial"/>
              </a:rPr>
              <a:t>2 </a:t>
            </a:r>
            <a:r>
              <a:rPr dirty="0" sz="1000" spc="-95">
                <a:solidFill>
                  <a:srgbClr val="111726"/>
                </a:solidFill>
                <a:latin typeface="Source Han Sans JP"/>
                <a:cs typeface="Source Han Sans JP"/>
              </a:rPr>
              <a:t>were</a:t>
            </a:r>
            <a:r>
              <a:rPr dirty="0" sz="1000" spc="-10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100" b="1">
                <a:solidFill>
                  <a:srgbClr val="111726"/>
                </a:solidFill>
                <a:latin typeface="Source Han Sans JP"/>
                <a:cs typeface="Source Han Sans JP"/>
              </a:rPr>
              <a:t>not</a:t>
            </a:r>
            <a:r>
              <a:rPr dirty="0" sz="1000" spc="-20" b="1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85">
                <a:solidFill>
                  <a:srgbClr val="111726"/>
                </a:solidFill>
                <a:latin typeface="Source Han Sans JP"/>
                <a:cs typeface="Source Han Sans JP"/>
              </a:rPr>
              <a:t>run</a:t>
            </a:r>
            <a:r>
              <a:rPr dirty="0" sz="1000" spc="-1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85">
                <a:solidFill>
                  <a:srgbClr val="111726"/>
                </a:solidFill>
                <a:latin typeface="Source Han Sans JP"/>
                <a:cs typeface="Source Han Sans JP"/>
              </a:rPr>
              <a:t>as</a:t>
            </a:r>
            <a:r>
              <a:rPr dirty="0" sz="1000" spc="-10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80">
                <a:solidFill>
                  <a:srgbClr val="111726"/>
                </a:solidFill>
                <a:latin typeface="Source Han Sans JP"/>
                <a:cs typeface="Source Han Sans JP"/>
              </a:rPr>
              <a:t>part</a:t>
            </a:r>
            <a:r>
              <a:rPr dirty="0" sz="1000" spc="-1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75">
                <a:solidFill>
                  <a:srgbClr val="111726"/>
                </a:solidFill>
                <a:latin typeface="Source Han Sans JP"/>
                <a:cs typeface="Source Han Sans JP"/>
              </a:rPr>
              <a:t>of</a:t>
            </a:r>
            <a:r>
              <a:rPr dirty="0" sz="1000" spc="-10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90">
                <a:solidFill>
                  <a:srgbClr val="111726"/>
                </a:solidFill>
                <a:latin typeface="Source Han Sans JP"/>
                <a:cs typeface="Source Han Sans JP"/>
              </a:rPr>
              <a:t>producing</a:t>
            </a:r>
            <a:r>
              <a:rPr dirty="0" sz="1000" spc="-1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70">
                <a:solidFill>
                  <a:srgbClr val="111726"/>
                </a:solidFill>
                <a:latin typeface="Source Han Sans JP"/>
                <a:cs typeface="Source Han Sans JP"/>
              </a:rPr>
              <a:t>this</a:t>
            </a:r>
            <a:r>
              <a:rPr dirty="0" sz="1000" spc="-10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95">
                <a:solidFill>
                  <a:srgbClr val="111726"/>
                </a:solidFill>
                <a:latin typeface="Source Han Sans JP"/>
                <a:cs typeface="Source Han Sans JP"/>
              </a:rPr>
              <a:t>documentation</a:t>
            </a:r>
            <a:r>
              <a:rPr dirty="0" sz="1000" spc="-1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85">
                <a:solidFill>
                  <a:srgbClr val="111726"/>
                </a:solidFill>
                <a:latin typeface="Source Han Sans JP"/>
                <a:cs typeface="Source Han Sans JP"/>
              </a:rPr>
              <a:t>(no</a:t>
            </a:r>
            <a:r>
              <a:rPr dirty="0" sz="1000" spc="-10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65">
                <a:solidFill>
                  <a:srgbClr val="111726"/>
                </a:solidFill>
                <a:latin typeface="Source Han Sans JP"/>
                <a:cs typeface="Source Han Sans JP"/>
              </a:rPr>
              <a:t>live</a:t>
            </a:r>
            <a:r>
              <a:rPr dirty="0" sz="1000" spc="-10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90">
                <a:solidFill>
                  <a:srgbClr val="111726"/>
                </a:solidFill>
                <a:latin typeface="Source Han Sans JP"/>
                <a:cs typeface="Source Han Sans JP"/>
              </a:rPr>
              <a:t>Postgres/Solr/Ollama</a:t>
            </a:r>
            <a:r>
              <a:rPr dirty="0" sz="1000" spc="-1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95">
                <a:solidFill>
                  <a:srgbClr val="111726"/>
                </a:solidFill>
                <a:latin typeface="Source Han Sans JP"/>
                <a:cs typeface="Source Han Sans JP"/>
              </a:rPr>
              <a:t>instances</a:t>
            </a:r>
            <a:r>
              <a:rPr dirty="0" sz="1000" spc="-10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95">
                <a:solidFill>
                  <a:srgbClr val="111726"/>
                </a:solidFill>
                <a:latin typeface="Source Han Sans JP"/>
                <a:cs typeface="Source Han Sans JP"/>
              </a:rPr>
              <a:t>were</a:t>
            </a:r>
            <a:r>
              <a:rPr dirty="0" sz="1000" spc="-1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45">
                <a:solidFill>
                  <a:srgbClr val="111726"/>
                </a:solidFill>
                <a:latin typeface="Source Han Sans JP"/>
                <a:cs typeface="Source Han Sans JP"/>
              </a:rPr>
              <a:t>available),</a:t>
            </a:r>
            <a:r>
              <a:rPr dirty="0" sz="1000" spc="500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90">
                <a:solidFill>
                  <a:srgbClr val="111726"/>
                </a:solidFill>
                <a:latin typeface="Source Han Sans JP"/>
                <a:cs typeface="Source Han Sans JP"/>
              </a:rPr>
              <a:t>so</a:t>
            </a:r>
            <a:r>
              <a:rPr dirty="0" sz="1000" spc="-1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70">
                <a:solidFill>
                  <a:srgbClr val="111726"/>
                </a:solidFill>
                <a:latin typeface="Source Han Sans JP"/>
                <a:cs typeface="Source Han Sans JP"/>
              </a:rPr>
              <a:t>their</a:t>
            </a:r>
            <a:r>
              <a:rPr dirty="0" sz="1000" spc="-10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85">
                <a:solidFill>
                  <a:srgbClr val="111726"/>
                </a:solidFill>
                <a:latin typeface="Source Han Sans JP"/>
                <a:cs typeface="Source Han Sans JP"/>
              </a:rPr>
              <a:t>"Output"</a:t>
            </a:r>
            <a:r>
              <a:rPr dirty="0" sz="1000" spc="-1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80">
                <a:solidFill>
                  <a:srgbClr val="111726"/>
                </a:solidFill>
                <a:latin typeface="Source Han Sans JP"/>
                <a:cs typeface="Source Han Sans JP"/>
              </a:rPr>
              <a:t>entries</a:t>
            </a:r>
            <a:r>
              <a:rPr dirty="0" sz="1000" spc="-10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80">
                <a:solidFill>
                  <a:srgbClr val="111726"/>
                </a:solidFill>
                <a:latin typeface="Source Han Sans JP"/>
                <a:cs typeface="Source Han Sans JP"/>
              </a:rPr>
              <a:t>are</a:t>
            </a:r>
            <a:r>
              <a:rPr dirty="0" sz="1000" spc="-1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70">
                <a:solidFill>
                  <a:srgbClr val="111726"/>
                </a:solidFill>
                <a:latin typeface="Source Han Sans JP"/>
                <a:cs typeface="Source Han Sans JP"/>
              </a:rPr>
              <a:t>realistic,</a:t>
            </a:r>
            <a:r>
              <a:rPr dirty="0" sz="1000" spc="-10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75">
                <a:solidFill>
                  <a:srgbClr val="111726"/>
                </a:solidFill>
                <a:latin typeface="Source Han Sans JP"/>
                <a:cs typeface="Source Han Sans JP"/>
              </a:rPr>
              <a:t>illustrative</a:t>
            </a:r>
            <a:r>
              <a:rPr dirty="0" sz="1000" spc="-1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95">
                <a:solidFill>
                  <a:srgbClr val="111726"/>
                </a:solidFill>
                <a:latin typeface="Source Han Sans JP"/>
                <a:cs typeface="Source Han Sans JP"/>
              </a:rPr>
              <a:t>examples</a:t>
            </a:r>
            <a:r>
              <a:rPr dirty="0" sz="1000" spc="-10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95">
                <a:solidFill>
                  <a:srgbClr val="111726"/>
                </a:solidFill>
                <a:latin typeface="Source Han Sans JP"/>
                <a:cs typeface="Source Han Sans JP"/>
              </a:rPr>
              <a:t>based</a:t>
            </a:r>
            <a:r>
              <a:rPr dirty="0" sz="1000" spc="-1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105">
                <a:solidFill>
                  <a:srgbClr val="111726"/>
                </a:solidFill>
                <a:latin typeface="Source Han Sans JP"/>
                <a:cs typeface="Source Han Sans JP"/>
              </a:rPr>
              <a:t>on</a:t>
            </a:r>
            <a:r>
              <a:rPr dirty="0" sz="1000" spc="-10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100">
                <a:solidFill>
                  <a:srgbClr val="111726"/>
                </a:solidFill>
                <a:latin typeface="Source Han Sans JP"/>
                <a:cs typeface="Source Han Sans JP"/>
              </a:rPr>
              <a:t>what</a:t>
            </a:r>
            <a:r>
              <a:rPr dirty="0" sz="1000" spc="-10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90">
                <a:solidFill>
                  <a:srgbClr val="111726"/>
                </a:solidFill>
                <a:latin typeface="Source Han Sans JP"/>
                <a:cs typeface="Source Han Sans JP"/>
              </a:rPr>
              <a:t>the</a:t>
            </a:r>
            <a:r>
              <a:rPr dirty="0" sz="1000" spc="-1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95">
                <a:solidFill>
                  <a:srgbClr val="111726"/>
                </a:solidFill>
                <a:latin typeface="Source Han Sans JP"/>
                <a:cs typeface="Source Han Sans JP"/>
              </a:rPr>
              <a:t>code</a:t>
            </a:r>
            <a:r>
              <a:rPr dirty="0" sz="1000" spc="-10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95">
                <a:solidFill>
                  <a:srgbClr val="111726"/>
                </a:solidFill>
                <a:latin typeface="Source Han Sans JP"/>
                <a:cs typeface="Source Han Sans JP"/>
              </a:rPr>
              <a:t>would</a:t>
            </a:r>
            <a:r>
              <a:rPr dirty="0" sz="1000" spc="-1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70">
                <a:solidFill>
                  <a:srgbClr val="111726"/>
                </a:solidFill>
                <a:latin typeface="Source Han Sans JP"/>
                <a:cs typeface="Source Han Sans JP"/>
              </a:rPr>
              <a:t>print,</a:t>
            </a:r>
            <a:r>
              <a:rPr dirty="0" sz="1000" spc="-10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95">
                <a:solidFill>
                  <a:srgbClr val="111726"/>
                </a:solidFill>
                <a:latin typeface="Source Han Sans JP"/>
                <a:cs typeface="Source Han Sans JP"/>
              </a:rPr>
              <a:t>not</a:t>
            </a:r>
            <a:r>
              <a:rPr dirty="0" sz="1000" spc="-1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90">
                <a:solidFill>
                  <a:srgbClr val="111726"/>
                </a:solidFill>
                <a:latin typeface="Source Han Sans JP"/>
                <a:cs typeface="Source Han Sans JP"/>
              </a:rPr>
              <a:t>captured</a:t>
            </a:r>
            <a:r>
              <a:rPr dirty="0" sz="1000" spc="-10">
                <a:solidFill>
                  <a:srgbClr val="111726"/>
                </a:solidFill>
                <a:latin typeface="Source Han Sans JP"/>
                <a:cs typeface="Source Han Sans JP"/>
              </a:rPr>
              <a:t> logs.</a:t>
            </a:r>
            <a:endParaRPr sz="1000">
              <a:latin typeface="Source Han Sans JP"/>
              <a:cs typeface="Source Han Sans JP"/>
            </a:endParaRPr>
          </a:p>
          <a:p>
            <a:pPr>
              <a:lnSpc>
                <a:spcPct val="100000"/>
              </a:lnSpc>
              <a:spcBef>
                <a:spcPts val="360"/>
              </a:spcBef>
            </a:pPr>
            <a:endParaRPr sz="850">
              <a:latin typeface="Source Han Sans JP"/>
              <a:cs typeface="Source Han Sans JP"/>
            </a:endParaRPr>
          </a:p>
          <a:p>
            <a:pPr marL="12700">
              <a:lnSpc>
                <a:spcPct val="100000"/>
              </a:lnSpc>
            </a:pPr>
            <a:r>
              <a:rPr dirty="0" sz="1450" spc="-130" b="1">
                <a:solidFill>
                  <a:srgbClr val="111726"/>
                </a:solidFill>
                <a:latin typeface="Source Han Sans JP"/>
                <a:cs typeface="Source Han Sans JP"/>
              </a:rPr>
              <a:t>Cell</a:t>
            </a:r>
            <a:r>
              <a:rPr dirty="0" sz="1450" spc="-55" b="1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300" spc="-75" b="1">
                <a:solidFill>
                  <a:srgbClr val="111726"/>
                </a:solidFill>
                <a:latin typeface="Trebuchet MS"/>
                <a:cs typeface="Trebuchet MS"/>
              </a:rPr>
              <a:t>1</a:t>
            </a:r>
            <a:r>
              <a:rPr dirty="0" sz="1300" spc="-114" b="1">
                <a:solidFill>
                  <a:srgbClr val="111726"/>
                </a:solidFill>
                <a:latin typeface="Trebuchet MS"/>
                <a:cs typeface="Trebuchet MS"/>
              </a:rPr>
              <a:t> </a:t>
            </a:r>
            <a:r>
              <a:rPr dirty="0" sz="1350" spc="-285" b="1">
                <a:solidFill>
                  <a:srgbClr val="111726"/>
                </a:solidFill>
                <a:latin typeface="Arial"/>
                <a:cs typeface="Arial"/>
              </a:rPr>
              <a:t>—</a:t>
            </a:r>
            <a:r>
              <a:rPr dirty="0" sz="1350" spc="-100" b="1">
                <a:solidFill>
                  <a:srgbClr val="111726"/>
                </a:solidFill>
                <a:latin typeface="Arial"/>
                <a:cs typeface="Arial"/>
              </a:rPr>
              <a:t> </a:t>
            </a:r>
            <a:r>
              <a:rPr dirty="0" sz="1450" spc="-135" b="1">
                <a:solidFill>
                  <a:srgbClr val="111726"/>
                </a:solidFill>
                <a:latin typeface="Source Han Sans JP"/>
                <a:cs typeface="Source Han Sans JP"/>
              </a:rPr>
              <a:t>Install</a:t>
            </a:r>
            <a:r>
              <a:rPr dirty="0" sz="1450" spc="-50" b="1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450" spc="-75" b="1">
                <a:solidFill>
                  <a:srgbClr val="111726"/>
                </a:solidFill>
                <a:latin typeface="Source Han Sans JP"/>
                <a:cs typeface="Source Han Sans JP"/>
              </a:rPr>
              <a:t>dependencies</a:t>
            </a:r>
            <a:endParaRPr sz="1450">
              <a:latin typeface="Source Han Sans JP"/>
              <a:cs typeface="Source Han Sans JP"/>
            </a:endParaRPr>
          </a:p>
          <a:p>
            <a:pPr marL="106680">
              <a:lnSpc>
                <a:spcPct val="100000"/>
              </a:lnSpc>
              <a:spcBef>
                <a:spcPts val="1670"/>
              </a:spcBef>
            </a:pP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!pip</a:t>
            </a:r>
            <a:r>
              <a:rPr dirty="0" sz="800" spc="2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-q</a:t>
            </a:r>
            <a:r>
              <a:rPr dirty="0" sz="800" spc="2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install</a:t>
            </a:r>
            <a:r>
              <a:rPr dirty="0" sz="800" spc="2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 spc="-10">
                <a:solidFill>
                  <a:srgbClr val="E4E7EB"/>
                </a:solidFill>
                <a:latin typeface="Courier New"/>
                <a:cs typeface="Courier New"/>
              </a:rPr>
              <a:t>langchain</a:t>
            </a:r>
            <a:endParaRPr sz="800">
              <a:latin typeface="Courier New"/>
              <a:cs typeface="Courier New"/>
            </a:endParaRPr>
          </a:p>
          <a:p>
            <a:pPr marL="106680">
              <a:lnSpc>
                <a:spcPct val="100000"/>
              </a:lnSpc>
              <a:spcBef>
                <a:spcPts val="475"/>
              </a:spcBef>
            </a:pP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!pip</a:t>
            </a:r>
            <a:r>
              <a:rPr dirty="0" sz="800" spc="3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-q</a:t>
            </a:r>
            <a:r>
              <a:rPr dirty="0" sz="800" spc="4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install</a:t>
            </a:r>
            <a:r>
              <a:rPr dirty="0" sz="800" spc="4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langchain-</a:t>
            </a:r>
            <a:r>
              <a:rPr dirty="0" sz="800" spc="-10">
                <a:solidFill>
                  <a:srgbClr val="E4E7EB"/>
                </a:solidFill>
                <a:latin typeface="Courier New"/>
                <a:cs typeface="Courier New"/>
              </a:rPr>
              <a:t>community</a:t>
            </a:r>
            <a:endParaRPr sz="800">
              <a:latin typeface="Courier New"/>
              <a:cs typeface="Courier New"/>
            </a:endParaRPr>
          </a:p>
          <a:p>
            <a:pPr marL="106680">
              <a:lnSpc>
                <a:spcPct val="100000"/>
              </a:lnSpc>
              <a:spcBef>
                <a:spcPts val="420"/>
              </a:spcBef>
            </a:pP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!pip</a:t>
            </a:r>
            <a:r>
              <a:rPr dirty="0" sz="800" spc="3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-q</a:t>
            </a:r>
            <a:r>
              <a:rPr dirty="0" sz="800" spc="4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install</a:t>
            </a:r>
            <a:r>
              <a:rPr dirty="0" sz="800" spc="4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langchain-</a:t>
            </a:r>
            <a:r>
              <a:rPr dirty="0" sz="800" spc="-10">
                <a:solidFill>
                  <a:srgbClr val="E4E7EB"/>
                </a:solidFill>
                <a:latin typeface="Courier New"/>
                <a:cs typeface="Courier New"/>
              </a:rPr>
              <a:t>chroma</a:t>
            </a:r>
            <a:endParaRPr sz="800">
              <a:latin typeface="Courier New"/>
              <a:cs typeface="Courier New"/>
            </a:endParaRPr>
          </a:p>
          <a:p>
            <a:pPr marL="106680">
              <a:lnSpc>
                <a:spcPct val="100000"/>
              </a:lnSpc>
              <a:spcBef>
                <a:spcPts val="420"/>
              </a:spcBef>
            </a:pP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!pip</a:t>
            </a:r>
            <a:r>
              <a:rPr dirty="0" sz="800" spc="3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-q</a:t>
            </a:r>
            <a:r>
              <a:rPr dirty="0" sz="800" spc="4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install</a:t>
            </a:r>
            <a:r>
              <a:rPr dirty="0" sz="800" spc="4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langchain-</a:t>
            </a:r>
            <a:r>
              <a:rPr dirty="0" sz="800" spc="-10">
                <a:solidFill>
                  <a:srgbClr val="E4E7EB"/>
                </a:solidFill>
                <a:latin typeface="Courier New"/>
                <a:cs typeface="Courier New"/>
              </a:rPr>
              <a:t>huggingface</a:t>
            </a:r>
            <a:endParaRPr sz="800">
              <a:latin typeface="Courier New"/>
              <a:cs typeface="Courier New"/>
            </a:endParaRPr>
          </a:p>
          <a:p>
            <a:pPr marL="106680">
              <a:lnSpc>
                <a:spcPct val="100000"/>
              </a:lnSpc>
              <a:spcBef>
                <a:spcPts val="470"/>
              </a:spcBef>
            </a:pP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!pip</a:t>
            </a:r>
            <a:r>
              <a:rPr dirty="0" sz="800" spc="4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-q</a:t>
            </a:r>
            <a:r>
              <a:rPr dirty="0" sz="800" spc="4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install</a:t>
            </a:r>
            <a:r>
              <a:rPr dirty="0" sz="800" spc="5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langchain-text-</a:t>
            </a:r>
            <a:r>
              <a:rPr dirty="0" sz="800" spc="-10">
                <a:solidFill>
                  <a:srgbClr val="E4E7EB"/>
                </a:solidFill>
                <a:latin typeface="Courier New"/>
                <a:cs typeface="Courier New"/>
              </a:rPr>
              <a:t>splitters</a:t>
            </a:r>
            <a:endParaRPr sz="800">
              <a:latin typeface="Courier New"/>
              <a:cs typeface="Courier New"/>
            </a:endParaRPr>
          </a:p>
          <a:p>
            <a:pPr marL="106680">
              <a:lnSpc>
                <a:spcPct val="100000"/>
              </a:lnSpc>
              <a:spcBef>
                <a:spcPts val="420"/>
              </a:spcBef>
            </a:pP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!pip</a:t>
            </a:r>
            <a:r>
              <a:rPr dirty="0" sz="800" spc="2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-q</a:t>
            </a:r>
            <a:r>
              <a:rPr dirty="0" sz="800" spc="2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install</a:t>
            </a:r>
            <a:r>
              <a:rPr dirty="0" sz="800" spc="2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 spc="-10">
                <a:solidFill>
                  <a:srgbClr val="E4E7EB"/>
                </a:solidFill>
                <a:latin typeface="Courier New"/>
                <a:cs typeface="Courier New"/>
              </a:rPr>
              <a:t>pypdf</a:t>
            </a:r>
            <a:endParaRPr sz="800">
              <a:latin typeface="Courier New"/>
              <a:cs typeface="Courier New"/>
            </a:endParaRPr>
          </a:p>
          <a:p>
            <a:pPr marL="106680">
              <a:lnSpc>
                <a:spcPct val="100000"/>
              </a:lnSpc>
              <a:spcBef>
                <a:spcPts val="475"/>
              </a:spcBef>
            </a:pP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!pip</a:t>
            </a:r>
            <a:r>
              <a:rPr dirty="0" sz="800" spc="3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-q</a:t>
            </a:r>
            <a:r>
              <a:rPr dirty="0" sz="800" spc="4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install</a:t>
            </a:r>
            <a:r>
              <a:rPr dirty="0" sz="800" spc="3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sentence-</a:t>
            </a:r>
            <a:r>
              <a:rPr dirty="0" sz="800" spc="-10">
                <a:solidFill>
                  <a:srgbClr val="E4E7EB"/>
                </a:solidFill>
                <a:latin typeface="Courier New"/>
                <a:cs typeface="Courier New"/>
              </a:rPr>
              <a:t>transformers</a:t>
            </a:r>
            <a:endParaRPr sz="800">
              <a:latin typeface="Courier New"/>
              <a:cs typeface="Courier New"/>
            </a:endParaRPr>
          </a:p>
          <a:p>
            <a:pPr marL="106680">
              <a:lnSpc>
                <a:spcPct val="100000"/>
              </a:lnSpc>
              <a:spcBef>
                <a:spcPts val="420"/>
              </a:spcBef>
            </a:pP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!pip</a:t>
            </a:r>
            <a:r>
              <a:rPr dirty="0" sz="800" spc="2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-q</a:t>
            </a:r>
            <a:r>
              <a:rPr dirty="0" sz="800" spc="2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install</a:t>
            </a:r>
            <a:r>
              <a:rPr dirty="0" sz="800" spc="2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 spc="-10">
                <a:solidFill>
                  <a:srgbClr val="E4E7EB"/>
                </a:solidFill>
                <a:latin typeface="Courier New"/>
                <a:cs typeface="Courier New"/>
              </a:rPr>
              <a:t>transformers</a:t>
            </a:r>
            <a:endParaRPr sz="800">
              <a:latin typeface="Courier New"/>
              <a:cs typeface="Courier New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754253" y="6281508"/>
            <a:ext cx="916940" cy="316865"/>
          </a:xfrm>
          <a:custGeom>
            <a:avLst/>
            <a:gdLst/>
            <a:ahLst/>
            <a:cxnLst/>
            <a:rect l="l" t="t" r="r" b="b"/>
            <a:pathLst>
              <a:path w="916939" h="316865">
                <a:moveTo>
                  <a:pt x="559536" y="198640"/>
                </a:moveTo>
                <a:lnTo>
                  <a:pt x="558850" y="195186"/>
                </a:lnTo>
                <a:lnTo>
                  <a:pt x="556120" y="188582"/>
                </a:lnTo>
                <a:lnTo>
                  <a:pt x="554164" y="185661"/>
                </a:lnTo>
                <a:lnTo>
                  <a:pt x="551637" y="183159"/>
                </a:lnTo>
                <a:lnTo>
                  <a:pt x="549109" y="180606"/>
                </a:lnTo>
                <a:lnTo>
                  <a:pt x="546188" y="178650"/>
                </a:lnTo>
                <a:lnTo>
                  <a:pt x="539584" y="175971"/>
                </a:lnTo>
                <a:lnTo>
                  <a:pt x="536143" y="175260"/>
                </a:lnTo>
                <a:lnTo>
                  <a:pt x="0" y="175260"/>
                </a:lnTo>
                <a:lnTo>
                  <a:pt x="0" y="316826"/>
                </a:lnTo>
                <a:lnTo>
                  <a:pt x="536143" y="316826"/>
                </a:lnTo>
                <a:lnTo>
                  <a:pt x="559536" y="293446"/>
                </a:lnTo>
                <a:lnTo>
                  <a:pt x="559536" y="198640"/>
                </a:lnTo>
                <a:close/>
              </a:path>
              <a:path w="916939" h="316865">
                <a:moveTo>
                  <a:pt x="916838" y="0"/>
                </a:moveTo>
                <a:lnTo>
                  <a:pt x="23393" y="0"/>
                </a:lnTo>
                <a:lnTo>
                  <a:pt x="19951" y="698"/>
                </a:lnTo>
                <a:lnTo>
                  <a:pt x="0" y="23368"/>
                </a:lnTo>
                <a:lnTo>
                  <a:pt x="0" y="118186"/>
                </a:lnTo>
                <a:lnTo>
                  <a:pt x="23393" y="141566"/>
                </a:lnTo>
                <a:lnTo>
                  <a:pt x="916838" y="141566"/>
                </a:lnTo>
                <a:lnTo>
                  <a:pt x="916838" y="0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8" name="object 18"/>
          <p:cNvGrpSpPr/>
          <p:nvPr/>
        </p:nvGrpSpPr>
        <p:grpSpPr>
          <a:xfrm>
            <a:off x="2271080" y="6281528"/>
            <a:ext cx="694690" cy="316865"/>
            <a:chOff x="2271080" y="6281528"/>
            <a:chExt cx="694690" cy="316865"/>
          </a:xfrm>
        </p:grpSpPr>
        <p:pic>
          <p:nvPicPr>
            <p:cNvPr id="19" name="object 1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857585" y="6281528"/>
              <a:ext cx="107863" cy="141543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2271080" y="6456778"/>
              <a:ext cx="560070" cy="141605"/>
            </a:xfrm>
            <a:custGeom>
              <a:avLst/>
              <a:gdLst/>
              <a:ahLst/>
              <a:cxnLst/>
              <a:rect l="l" t="t" r="r" b="b"/>
              <a:pathLst>
                <a:path w="560069" h="141604">
                  <a:moveTo>
                    <a:pt x="536148" y="141564"/>
                  </a:moveTo>
                  <a:lnTo>
                    <a:pt x="0" y="141564"/>
                  </a:lnTo>
                  <a:lnTo>
                    <a:pt x="0" y="0"/>
                  </a:lnTo>
                  <a:lnTo>
                    <a:pt x="536148" y="0"/>
                  </a:lnTo>
                  <a:lnTo>
                    <a:pt x="539588" y="709"/>
                  </a:lnTo>
                  <a:lnTo>
                    <a:pt x="546195" y="3392"/>
                  </a:lnTo>
                  <a:lnTo>
                    <a:pt x="549112" y="5341"/>
                  </a:lnTo>
                  <a:lnTo>
                    <a:pt x="551640" y="7896"/>
                  </a:lnTo>
                  <a:lnTo>
                    <a:pt x="554169" y="10397"/>
                  </a:lnTo>
                  <a:lnTo>
                    <a:pt x="556117" y="13323"/>
                  </a:lnTo>
                  <a:lnTo>
                    <a:pt x="558854" y="19929"/>
                  </a:lnTo>
                  <a:lnTo>
                    <a:pt x="559538" y="23381"/>
                  </a:lnTo>
                  <a:lnTo>
                    <a:pt x="559538" y="118179"/>
                  </a:lnTo>
                  <a:lnTo>
                    <a:pt x="539588" y="140857"/>
                  </a:lnTo>
                  <a:lnTo>
                    <a:pt x="536148" y="141564"/>
                  </a:lnTo>
                  <a:close/>
                </a:path>
              </a:pathLst>
            </a:custGeom>
            <a:solidFill>
              <a:srgbClr val="F4F5F6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1" name="object 21"/>
          <p:cNvSpPr/>
          <p:nvPr/>
        </p:nvSpPr>
        <p:spPr>
          <a:xfrm>
            <a:off x="6066507" y="6281517"/>
            <a:ext cx="674370" cy="141605"/>
          </a:xfrm>
          <a:custGeom>
            <a:avLst/>
            <a:gdLst/>
            <a:ahLst/>
            <a:cxnLst/>
            <a:rect l="l" t="t" r="r" b="b"/>
            <a:pathLst>
              <a:path w="674370" h="141604">
                <a:moveTo>
                  <a:pt x="674143" y="141565"/>
                </a:moveTo>
                <a:lnTo>
                  <a:pt x="23389" y="141565"/>
                </a:lnTo>
                <a:lnTo>
                  <a:pt x="19949" y="140868"/>
                </a:lnTo>
                <a:lnTo>
                  <a:pt x="0" y="118189"/>
                </a:lnTo>
                <a:lnTo>
                  <a:pt x="0" y="23364"/>
                </a:lnTo>
                <a:lnTo>
                  <a:pt x="23389" y="0"/>
                </a:lnTo>
                <a:lnTo>
                  <a:pt x="674143" y="0"/>
                </a:lnTo>
                <a:lnTo>
                  <a:pt x="674143" y="141565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22" name="object 22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536202" y="6456806"/>
            <a:ext cx="168535" cy="141543"/>
          </a:xfrm>
          <a:prstGeom prst="rect">
            <a:avLst/>
          </a:prstGeom>
        </p:spPr>
      </p:pic>
      <p:sp>
        <p:nvSpPr>
          <p:cNvPr id="23" name="object 23"/>
          <p:cNvSpPr/>
          <p:nvPr/>
        </p:nvSpPr>
        <p:spPr>
          <a:xfrm>
            <a:off x="754253" y="6746658"/>
            <a:ext cx="1153160" cy="316865"/>
          </a:xfrm>
          <a:custGeom>
            <a:avLst/>
            <a:gdLst/>
            <a:ahLst/>
            <a:cxnLst/>
            <a:rect l="l" t="t" r="r" b="b"/>
            <a:pathLst>
              <a:path w="1153160" h="316865">
                <a:moveTo>
                  <a:pt x="916838" y="0"/>
                </a:moveTo>
                <a:lnTo>
                  <a:pt x="23393" y="0"/>
                </a:lnTo>
                <a:lnTo>
                  <a:pt x="19951" y="698"/>
                </a:lnTo>
                <a:lnTo>
                  <a:pt x="13335" y="3416"/>
                </a:lnTo>
                <a:lnTo>
                  <a:pt x="10426" y="5334"/>
                </a:lnTo>
                <a:lnTo>
                  <a:pt x="7899" y="7886"/>
                </a:lnTo>
                <a:lnTo>
                  <a:pt x="5372" y="10388"/>
                </a:lnTo>
                <a:lnTo>
                  <a:pt x="3416" y="13322"/>
                </a:lnTo>
                <a:lnTo>
                  <a:pt x="685" y="19951"/>
                </a:lnTo>
                <a:lnTo>
                  <a:pt x="0" y="23406"/>
                </a:lnTo>
                <a:lnTo>
                  <a:pt x="0" y="118173"/>
                </a:lnTo>
                <a:lnTo>
                  <a:pt x="23393" y="141566"/>
                </a:lnTo>
                <a:lnTo>
                  <a:pt x="916838" y="141566"/>
                </a:lnTo>
                <a:lnTo>
                  <a:pt x="916838" y="0"/>
                </a:lnTo>
                <a:close/>
              </a:path>
              <a:path w="1153160" h="316865">
                <a:moveTo>
                  <a:pt x="1152779" y="198653"/>
                </a:moveTo>
                <a:lnTo>
                  <a:pt x="1129398" y="175285"/>
                </a:lnTo>
                <a:lnTo>
                  <a:pt x="0" y="175285"/>
                </a:lnTo>
                <a:lnTo>
                  <a:pt x="0" y="316852"/>
                </a:lnTo>
                <a:lnTo>
                  <a:pt x="1129398" y="316852"/>
                </a:lnTo>
                <a:lnTo>
                  <a:pt x="1152779" y="293446"/>
                </a:lnTo>
                <a:lnTo>
                  <a:pt x="1152779" y="198653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4313734" y="6746688"/>
            <a:ext cx="708025" cy="141605"/>
          </a:xfrm>
          <a:custGeom>
            <a:avLst/>
            <a:gdLst/>
            <a:ahLst/>
            <a:cxnLst/>
            <a:rect l="l" t="t" r="r" b="b"/>
            <a:pathLst>
              <a:path w="708025" h="141604">
                <a:moveTo>
                  <a:pt x="684460" y="141543"/>
                </a:moveTo>
                <a:lnTo>
                  <a:pt x="23390" y="141543"/>
                </a:lnTo>
                <a:lnTo>
                  <a:pt x="19949" y="140862"/>
                </a:lnTo>
                <a:lnTo>
                  <a:pt x="0" y="118157"/>
                </a:lnTo>
                <a:lnTo>
                  <a:pt x="0" y="114604"/>
                </a:lnTo>
                <a:lnTo>
                  <a:pt x="0" y="23386"/>
                </a:lnTo>
                <a:lnTo>
                  <a:pt x="23390" y="0"/>
                </a:lnTo>
                <a:lnTo>
                  <a:pt x="684460" y="0"/>
                </a:lnTo>
                <a:lnTo>
                  <a:pt x="707850" y="23386"/>
                </a:lnTo>
                <a:lnTo>
                  <a:pt x="707850" y="118157"/>
                </a:lnTo>
                <a:lnTo>
                  <a:pt x="687900" y="140862"/>
                </a:lnTo>
                <a:lnTo>
                  <a:pt x="684460" y="141543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754253" y="7211821"/>
            <a:ext cx="970915" cy="316865"/>
          </a:xfrm>
          <a:custGeom>
            <a:avLst/>
            <a:gdLst/>
            <a:ahLst/>
            <a:cxnLst/>
            <a:rect l="l" t="t" r="r" b="b"/>
            <a:pathLst>
              <a:path w="970914" h="316865">
                <a:moveTo>
                  <a:pt x="916838" y="0"/>
                </a:moveTo>
                <a:lnTo>
                  <a:pt x="23393" y="0"/>
                </a:lnTo>
                <a:lnTo>
                  <a:pt x="19951" y="698"/>
                </a:lnTo>
                <a:lnTo>
                  <a:pt x="0" y="23393"/>
                </a:lnTo>
                <a:lnTo>
                  <a:pt x="0" y="118173"/>
                </a:lnTo>
                <a:lnTo>
                  <a:pt x="23393" y="141554"/>
                </a:lnTo>
                <a:lnTo>
                  <a:pt x="916838" y="141554"/>
                </a:lnTo>
                <a:lnTo>
                  <a:pt x="916838" y="0"/>
                </a:lnTo>
                <a:close/>
              </a:path>
              <a:path w="970914" h="316865">
                <a:moveTo>
                  <a:pt x="970762" y="198653"/>
                </a:moveTo>
                <a:lnTo>
                  <a:pt x="947369" y="175272"/>
                </a:lnTo>
                <a:lnTo>
                  <a:pt x="0" y="175272"/>
                </a:lnTo>
                <a:lnTo>
                  <a:pt x="0" y="316839"/>
                </a:lnTo>
                <a:lnTo>
                  <a:pt x="947369" y="316839"/>
                </a:lnTo>
                <a:lnTo>
                  <a:pt x="970762" y="293471"/>
                </a:lnTo>
                <a:lnTo>
                  <a:pt x="970762" y="198653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5028326" y="7211846"/>
            <a:ext cx="411480" cy="141605"/>
          </a:xfrm>
          <a:custGeom>
            <a:avLst/>
            <a:gdLst/>
            <a:ahLst/>
            <a:cxnLst/>
            <a:rect l="l" t="t" r="r" b="b"/>
            <a:pathLst>
              <a:path w="411479" h="141604">
                <a:moveTo>
                  <a:pt x="387837" y="141543"/>
                </a:moveTo>
                <a:lnTo>
                  <a:pt x="23390" y="141543"/>
                </a:lnTo>
                <a:lnTo>
                  <a:pt x="19949" y="140862"/>
                </a:lnTo>
                <a:lnTo>
                  <a:pt x="0" y="118157"/>
                </a:lnTo>
                <a:lnTo>
                  <a:pt x="0" y="114604"/>
                </a:lnTo>
                <a:lnTo>
                  <a:pt x="0" y="23386"/>
                </a:lnTo>
                <a:lnTo>
                  <a:pt x="23390" y="0"/>
                </a:lnTo>
                <a:lnTo>
                  <a:pt x="387837" y="0"/>
                </a:lnTo>
                <a:lnTo>
                  <a:pt x="411227" y="23386"/>
                </a:lnTo>
                <a:lnTo>
                  <a:pt x="411227" y="118157"/>
                </a:lnTo>
                <a:lnTo>
                  <a:pt x="391277" y="140862"/>
                </a:lnTo>
                <a:lnTo>
                  <a:pt x="387837" y="141543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754253" y="7676971"/>
            <a:ext cx="1267460" cy="316865"/>
          </a:xfrm>
          <a:custGeom>
            <a:avLst/>
            <a:gdLst/>
            <a:ahLst/>
            <a:cxnLst/>
            <a:rect l="l" t="t" r="r" b="b"/>
            <a:pathLst>
              <a:path w="1267460" h="316865">
                <a:moveTo>
                  <a:pt x="916838" y="0"/>
                </a:moveTo>
                <a:lnTo>
                  <a:pt x="23393" y="0"/>
                </a:lnTo>
                <a:lnTo>
                  <a:pt x="19951" y="711"/>
                </a:lnTo>
                <a:lnTo>
                  <a:pt x="13335" y="3416"/>
                </a:lnTo>
                <a:lnTo>
                  <a:pt x="10426" y="5372"/>
                </a:lnTo>
                <a:lnTo>
                  <a:pt x="7899" y="7924"/>
                </a:lnTo>
                <a:lnTo>
                  <a:pt x="5372" y="10426"/>
                </a:lnTo>
                <a:lnTo>
                  <a:pt x="3416" y="13347"/>
                </a:lnTo>
                <a:lnTo>
                  <a:pt x="685" y="19926"/>
                </a:lnTo>
                <a:lnTo>
                  <a:pt x="0" y="23380"/>
                </a:lnTo>
                <a:lnTo>
                  <a:pt x="0" y="118173"/>
                </a:lnTo>
                <a:lnTo>
                  <a:pt x="16649" y="139509"/>
                </a:lnTo>
                <a:lnTo>
                  <a:pt x="19951" y="140906"/>
                </a:lnTo>
                <a:lnTo>
                  <a:pt x="23393" y="141566"/>
                </a:lnTo>
                <a:lnTo>
                  <a:pt x="916838" y="141566"/>
                </a:lnTo>
                <a:lnTo>
                  <a:pt x="916838" y="0"/>
                </a:lnTo>
                <a:close/>
              </a:path>
              <a:path w="1267460" h="316865">
                <a:moveTo>
                  <a:pt x="1267383" y="198678"/>
                </a:moveTo>
                <a:lnTo>
                  <a:pt x="1266698" y="195237"/>
                </a:lnTo>
                <a:lnTo>
                  <a:pt x="1263967" y="188595"/>
                </a:lnTo>
                <a:lnTo>
                  <a:pt x="1262024" y="185674"/>
                </a:lnTo>
                <a:lnTo>
                  <a:pt x="1259484" y="183172"/>
                </a:lnTo>
                <a:lnTo>
                  <a:pt x="1256957" y="180619"/>
                </a:lnTo>
                <a:lnTo>
                  <a:pt x="1254048" y="178663"/>
                </a:lnTo>
                <a:lnTo>
                  <a:pt x="1247432" y="175983"/>
                </a:lnTo>
                <a:lnTo>
                  <a:pt x="1244003" y="175285"/>
                </a:lnTo>
                <a:lnTo>
                  <a:pt x="0" y="175285"/>
                </a:lnTo>
                <a:lnTo>
                  <a:pt x="0" y="316852"/>
                </a:lnTo>
                <a:lnTo>
                  <a:pt x="1244003" y="316852"/>
                </a:lnTo>
                <a:lnTo>
                  <a:pt x="1267383" y="293458"/>
                </a:lnTo>
                <a:lnTo>
                  <a:pt x="1267383" y="198678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5169896" y="7677005"/>
            <a:ext cx="1294765" cy="141605"/>
          </a:xfrm>
          <a:custGeom>
            <a:avLst/>
            <a:gdLst/>
            <a:ahLst/>
            <a:cxnLst/>
            <a:rect l="l" t="t" r="r" b="b"/>
            <a:pathLst>
              <a:path w="1294764" h="141604">
                <a:moveTo>
                  <a:pt x="1270965" y="141570"/>
                </a:moveTo>
                <a:lnTo>
                  <a:pt x="23390" y="141570"/>
                </a:lnTo>
                <a:lnTo>
                  <a:pt x="19949" y="140882"/>
                </a:lnTo>
                <a:lnTo>
                  <a:pt x="0" y="118157"/>
                </a:lnTo>
                <a:lnTo>
                  <a:pt x="0" y="114604"/>
                </a:lnTo>
                <a:lnTo>
                  <a:pt x="0" y="23359"/>
                </a:lnTo>
                <a:lnTo>
                  <a:pt x="23390" y="0"/>
                </a:lnTo>
                <a:lnTo>
                  <a:pt x="1270965" y="0"/>
                </a:lnTo>
                <a:lnTo>
                  <a:pt x="1294355" y="23359"/>
                </a:lnTo>
                <a:lnTo>
                  <a:pt x="1294355" y="118157"/>
                </a:lnTo>
                <a:lnTo>
                  <a:pt x="1274405" y="140882"/>
                </a:lnTo>
                <a:lnTo>
                  <a:pt x="1270965" y="141570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754253" y="8142147"/>
            <a:ext cx="916940" cy="499109"/>
          </a:xfrm>
          <a:custGeom>
            <a:avLst/>
            <a:gdLst/>
            <a:ahLst/>
            <a:cxnLst/>
            <a:rect l="l" t="t" r="r" b="b"/>
            <a:pathLst>
              <a:path w="916939" h="499109">
                <a:moveTo>
                  <a:pt x="559536" y="380657"/>
                </a:moveTo>
                <a:lnTo>
                  <a:pt x="536143" y="357276"/>
                </a:lnTo>
                <a:lnTo>
                  <a:pt x="0" y="357276"/>
                </a:lnTo>
                <a:lnTo>
                  <a:pt x="0" y="498843"/>
                </a:lnTo>
                <a:lnTo>
                  <a:pt x="536143" y="498843"/>
                </a:lnTo>
                <a:lnTo>
                  <a:pt x="539584" y="498157"/>
                </a:lnTo>
                <a:lnTo>
                  <a:pt x="542886" y="496785"/>
                </a:lnTo>
                <a:lnTo>
                  <a:pt x="546188" y="495439"/>
                </a:lnTo>
                <a:lnTo>
                  <a:pt x="559536" y="475462"/>
                </a:lnTo>
                <a:lnTo>
                  <a:pt x="559536" y="380657"/>
                </a:lnTo>
                <a:close/>
              </a:path>
              <a:path w="916939" h="499109">
                <a:moveTo>
                  <a:pt x="889863" y="175260"/>
                </a:moveTo>
                <a:lnTo>
                  <a:pt x="0" y="175260"/>
                </a:lnTo>
                <a:lnTo>
                  <a:pt x="0" y="316814"/>
                </a:lnTo>
                <a:lnTo>
                  <a:pt x="889863" y="316814"/>
                </a:lnTo>
                <a:lnTo>
                  <a:pt x="889863" y="175260"/>
                </a:lnTo>
                <a:close/>
              </a:path>
              <a:path w="916939" h="499109">
                <a:moveTo>
                  <a:pt x="916838" y="0"/>
                </a:moveTo>
                <a:lnTo>
                  <a:pt x="23393" y="0"/>
                </a:lnTo>
                <a:lnTo>
                  <a:pt x="19951" y="685"/>
                </a:lnTo>
                <a:lnTo>
                  <a:pt x="0" y="23368"/>
                </a:lnTo>
                <a:lnTo>
                  <a:pt x="0" y="118160"/>
                </a:lnTo>
                <a:lnTo>
                  <a:pt x="16649" y="139496"/>
                </a:lnTo>
                <a:lnTo>
                  <a:pt x="19951" y="140881"/>
                </a:lnTo>
                <a:lnTo>
                  <a:pt x="23393" y="141566"/>
                </a:lnTo>
                <a:lnTo>
                  <a:pt x="916838" y="141566"/>
                </a:lnTo>
                <a:lnTo>
                  <a:pt x="916838" y="0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3868800" y="8142165"/>
            <a:ext cx="1827530" cy="141605"/>
          </a:xfrm>
          <a:custGeom>
            <a:avLst/>
            <a:gdLst/>
            <a:ahLst/>
            <a:cxnLst/>
            <a:rect l="l" t="t" r="r" b="b"/>
            <a:pathLst>
              <a:path w="1827529" h="141604">
                <a:moveTo>
                  <a:pt x="1803538" y="141570"/>
                </a:moveTo>
                <a:lnTo>
                  <a:pt x="23389" y="141570"/>
                </a:lnTo>
                <a:lnTo>
                  <a:pt x="19950" y="140882"/>
                </a:lnTo>
                <a:lnTo>
                  <a:pt x="0" y="118157"/>
                </a:lnTo>
                <a:lnTo>
                  <a:pt x="0" y="114604"/>
                </a:lnTo>
                <a:lnTo>
                  <a:pt x="0" y="23359"/>
                </a:lnTo>
                <a:lnTo>
                  <a:pt x="23389" y="0"/>
                </a:lnTo>
                <a:lnTo>
                  <a:pt x="1803538" y="0"/>
                </a:lnTo>
                <a:lnTo>
                  <a:pt x="1826928" y="23359"/>
                </a:lnTo>
                <a:lnTo>
                  <a:pt x="1826928" y="118157"/>
                </a:lnTo>
                <a:lnTo>
                  <a:pt x="1806978" y="140882"/>
                </a:lnTo>
                <a:lnTo>
                  <a:pt x="1803538" y="141570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754257" y="8789342"/>
            <a:ext cx="1294765" cy="141605"/>
          </a:xfrm>
          <a:custGeom>
            <a:avLst/>
            <a:gdLst/>
            <a:ahLst/>
            <a:cxnLst/>
            <a:rect l="l" t="t" r="r" b="b"/>
            <a:pathLst>
              <a:path w="1294764" h="141604">
                <a:moveTo>
                  <a:pt x="1270965" y="141543"/>
                </a:moveTo>
                <a:lnTo>
                  <a:pt x="23389" y="141543"/>
                </a:lnTo>
                <a:lnTo>
                  <a:pt x="19950" y="140862"/>
                </a:lnTo>
                <a:lnTo>
                  <a:pt x="0" y="118157"/>
                </a:lnTo>
                <a:lnTo>
                  <a:pt x="0" y="114604"/>
                </a:lnTo>
                <a:lnTo>
                  <a:pt x="0" y="23359"/>
                </a:lnTo>
                <a:lnTo>
                  <a:pt x="23389" y="0"/>
                </a:lnTo>
                <a:lnTo>
                  <a:pt x="1270965" y="0"/>
                </a:lnTo>
                <a:lnTo>
                  <a:pt x="1294355" y="23359"/>
                </a:lnTo>
                <a:lnTo>
                  <a:pt x="1294355" y="118157"/>
                </a:lnTo>
                <a:lnTo>
                  <a:pt x="1274405" y="140862"/>
                </a:lnTo>
                <a:lnTo>
                  <a:pt x="1270965" y="141543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4259803" y="8789342"/>
            <a:ext cx="708025" cy="141605"/>
          </a:xfrm>
          <a:custGeom>
            <a:avLst/>
            <a:gdLst/>
            <a:ahLst/>
            <a:cxnLst/>
            <a:rect l="l" t="t" r="r" b="b"/>
            <a:pathLst>
              <a:path w="708025" h="141604">
                <a:moveTo>
                  <a:pt x="684460" y="141543"/>
                </a:moveTo>
                <a:lnTo>
                  <a:pt x="23390" y="141543"/>
                </a:lnTo>
                <a:lnTo>
                  <a:pt x="19949" y="140862"/>
                </a:lnTo>
                <a:lnTo>
                  <a:pt x="0" y="118157"/>
                </a:lnTo>
                <a:lnTo>
                  <a:pt x="0" y="114604"/>
                </a:lnTo>
                <a:lnTo>
                  <a:pt x="0" y="23359"/>
                </a:lnTo>
                <a:lnTo>
                  <a:pt x="23390" y="0"/>
                </a:lnTo>
                <a:lnTo>
                  <a:pt x="684460" y="0"/>
                </a:lnTo>
                <a:lnTo>
                  <a:pt x="707850" y="23359"/>
                </a:lnTo>
                <a:lnTo>
                  <a:pt x="707850" y="118157"/>
                </a:lnTo>
                <a:lnTo>
                  <a:pt x="687900" y="140862"/>
                </a:lnTo>
                <a:lnTo>
                  <a:pt x="684460" y="141543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754253" y="9079191"/>
            <a:ext cx="1267460" cy="316865"/>
          </a:xfrm>
          <a:custGeom>
            <a:avLst/>
            <a:gdLst/>
            <a:ahLst/>
            <a:cxnLst/>
            <a:rect l="l" t="t" r="r" b="b"/>
            <a:pathLst>
              <a:path w="1267460" h="316865">
                <a:moveTo>
                  <a:pt x="916838" y="0"/>
                </a:moveTo>
                <a:lnTo>
                  <a:pt x="23393" y="0"/>
                </a:lnTo>
                <a:lnTo>
                  <a:pt x="19951" y="711"/>
                </a:lnTo>
                <a:lnTo>
                  <a:pt x="0" y="23380"/>
                </a:lnTo>
                <a:lnTo>
                  <a:pt x="0" y="118173"/>
                </a:lnTo>
                <a:lnTo>
                  <a:pt x="23393" y="141566"/>
                </a:lnTo>
                <a:lnTo>
                  <a:pt x="916838" y="141566"/>
                </a:lnTo>
                <a:lnTo>
                  <a:pt x="916838" y="0"/>
                </a:lnTo>
                <a:close/>
              </a:path>
              <a:path w="1267460" h="316865">
                <a:moveTo>
                  <a:pt x="1267383" y="198653"/>
                </a:moveTo>
                <a:lnTo>
                  <a:pt x="1244003" y="175285"/>
                </a:lnTo>
                <a:lnTo>
                  <a:pt x="0" y="175285"/>
                </a:lnTo>
                <a:lnTo>
                  <a:pt x="0" y="316852"/>
                </a:lnTo>
                <a:lnTo>
                  <a:pt x="1244003" y="316852"/>
                </a:lnTo>
                <a:lnTo>
                  <a:pt x="1247432" y="316179"/>
                </a:lnTo>
                <a:lnTo>
                  <a:pt x="1250746" y="314782"/>
                </a:lnTo>
                <a:lnTo>
                  <a:pt x="1254048" y="313436"/>
                </a:lnTo>
                <a:lnTo>
                  <a:pt x="1267383" y="293458"/>
                </a:lnTo>
                <a:lnTo>
                  <a:pt x="1267383" y="198653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2271080" y="9247759"/>
            <a:ext cx="1294765" cy="141605"/>
          </a:xfrm>
          <a:custGeom>
            <a:avLst/>
            <a:gdLst/>
            <a:ahLst/>
            <a:cxnLst/>
            <a:rect l="l" t="t" r="r" b="b"/>
            <a:pathLst>
              <a:path w="1294764" h="141604">
                <a:moveTo>
                  <a:pt x="1270965" y="141543"/>
                </a:moveTo>
                <a:lnTo>
                  <a:pt x="23389" y="141543"/>
                </a:lnTo>
                <a:lnTo>
                  <a:pt x="19950" y="140862"/>
                </a:lnTo>
                <a:lnTo>
                  <a:pt x="0" y="118157"/>
                </a:lnTo>
                <a:lnTo>
                  <a:pt x="0" y="114604"/>
                </a:lnTo>
                <a:lnTo>
                  <a:pt x="0" y="23386"/>
                </a:lnTo>
                <a:lnTo>
                  <a:pt x="23389" y="0"/>
                </a:lnTo>
                <a:lnTo>
                  <a:pt x="1270965" y="0"/>
                </a:lnTo>
                <a:lnTo>
                  <a:pt x="1294355" y="23386"/>
                </a:lnTo>
                <a:lnTo>
                  <a:pt x="1294355" y="118157"/>
                </a:lnTo>
                <a:lnTo>
                  <a:pt x="1274405" y="140862"/>
                </a:lnTo>
                <a:lnTo>
                  <a:pt x="1270965" y="141543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754253" y="9544341"/>
            <a:ext cx="916940" cy="316865"/>
          </a:xfrm>
          <a:custGeom>
            <a:avLst/>
            <a:gdLst/>
            <a:ahLst/>
            <a:cxnLst/>
            <a:rect l="l" t="t" r="r" b="b"/>
            <a:pathLst>
              <a:path w="916939" h="316865">
                <a:moveTo>
                  <a:pt x="734809" y="198666"/>
                </a:moveTo>
                <a:lnTo>
                  <a:pt x="711428" y="175285"/>
                </a:lnTo>
                <a:lnTo>
                  <a:pt x="0" y="175285"/>
                </a:lnTo>
                <a:lnTo>
                  <a:pt x="0" y="316852"/>
                </a:lnTo>
                <a:lnTo>
                  <a:pt x="711428" y="316852"/>
                </a:lnTo>
                <a:lnTo>
                  <a:pt x="734809" y="293458"/>
                </a:lnTo>
                <a:lnTo>
                  <a:pt x="734809" y="198666"/>
                </a:lnTo>
                <a:close/>
              </a:path>
              <a:path w="916939" h="316865">
                <a:moveTo>
                  <a:pt x="916838" y="0"/>
                </a:moveTo>
                <a:lnTo>
                  <a:pt x="23393" y="0"/>
                </a:lnTo>
                <a:lnTo>
                  <a:pt x="19951" y="711"/>
                </a:lnTo>
                <a:lnTo>
                  <a:pt x="0" y="23380"/>
                </a:lnTo>
                <a:lnTo>
                  <a:pt x="0" y="118186"/>
                </a:lnTo>
                <a:lnTo>
                  <a:pt x="23393" y="141592"/>
                </a:lnTo>
                <a:lnTo>
                  <a:pt x="916838" y="141592"/>
                </a:lnTo>
                <a:lnTo>
                  <a:pt x="916838" y="0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3302519" y="9544383"/>
            <a:ext cx="768985" cy="141605"/>
          </a:xfrm>
          <a:custGeom>
            <a:avLst/>
            <a:gdLst/>
            <a:ahLst/>
            <a:cxnLst/>
            <a:rect l="l" t="t" r="r" b="b"/>
            <a:pathLst>
              <a:path w="768985" h="141604">
                <a:moveTo>
                  <a:pt x="745133" y="141543"/>
                </a:moveTo>
                <a:lnTo>
                  <a:pt x="23390" y="141543"/>
                </a:lnTo>
                <a:lnTo>
                  <a:pt x="19950" y="140862"/>
                </a:lnTo>
                <a:lnTo>
                  <a:pt x="0" y="118157"/>
                </a:lnTo>
                <a:lnTo>
                  <a:pt x="0" y="114604"/>
                </a:lnTo>
                <a:lnTo>
                  <a:pt x="0" y="23359"/>
                </a:lnTo>
                <a:lnTo>
                  <a:pt x="23390" y="0"/>
                </a:lnTo>
                <a:lnTo>
                  <a:pt x="745133" y="0"/>
                </a:lnTo>
                <a:lnTo>
                  <a:pt x="768523" y="23359"/>
                </a:lnTo>
                <a:lnTo>
                  <a:pt x="768523" y="118157"/>
                </a:lnTo>
                <a:lnTo>
                  <a:pt x="748572" y="140862"/>
                </a:lnTo>
                <a:lnTo>
                  <a:pt x="745133" y="141543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graphicFrame>
        <p:nvGraphicFramePr>
          <p:cNvPr id="37" name="object 37"/>
          <p:cNvGraphicFramePr>
            <a:graphicFrameLocks noGrp="1"/>
          </p:cNvGraphicFramePr>
          <p:nvPr/>
        </p:nvGraphicFramePr>
        <p:xfrm>
          <a:off x="680102" y="5910750"/>
          <a:ext cx="6278880" cy="40151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17015"/>
                <a:gridCol w="4678680"/>
              </a:tblGrid>
              <a:tr h="289560">
                <a:tc>
                  <a:txBody>
                    <a:bodyPr/>
                    <a:lstStyle/>
                    <a:p>
                      <a:pPr marL="70485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950" spc="-20" b="1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Line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64769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950" spc="-10" b="1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Explanation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64769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  <a:solidFill>
                      <a:srgbClr val="F7FAFB"/>
                    </a:solidFill>
                  </a:tcPr>
                </a:tc>
              </a:tr>
              <a:tr h="464820">
                <a:tc>
                  <a:txBody>
                    <a:bodyPr/>
                    <a:lstStyle/>
                    <a:p>
                      <a:pPr marL="70485" marR="523875" indent="26670">
                        <a:lnSpc>
                          <a:spcPct val="153300"/>
                        </a:lnSpc>
                        <a:spcBef>
                          <a:spcPts val="229"/>
                        </a:spcBef>
                      </a:pP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!pip</a:t>
                      </a:r>
                      <a:r>
                        <a:rPr dirty="0" sz="750" spc="45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-q</a:t>
                      </a:r>
                      <a:r>
                        <a:rPr dirty="0" sz="750" spc="45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 spc="-1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install langchain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29209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310" marR="128270">
                        <a:lnSpc>
                          <a:spcPct val="121100"/>
                        </a:lnSpc>
                        <a:spcBef>
                          <a:spcPts val="270"/>
                        </a:spcBef>
                      </a:pPr>
                      <a:r>
                        <a:rPr dirty="0" sz="950" spc="-9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The</a:t>
                      </a:r>
                      <a:r>
                        <a:rPr dirty="0" sz="950" spc="-3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6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leading</a:t>
                      </a:r>
                      <a:r>
                        <a:rPr dirty="0" sz="950" spc="19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!</a:t>
                      </a:r>
                      <a:r>
                        <a:rPr dirty="0" sz="750" spc="-4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runs</a:t>
                      </a:r>
                      <a:r>
                        <a:rPr dirty="0" sz="950" spc="-2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9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a</a:t>
                      </a:r>
                      <a:r>
                        <a:rPr dirty="0" sz="950" spc="-3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6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shell</a:t>
                      </a:r>
                      <a:r>
                        <a:rPr dirty="0" sz="950" spc="-2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10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command</a:t>
                      </a:r>
                      <a:r>
                        <a:rPr dirty="0" sz="950" spc="-2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from</a:t>
                      </a:r>
                      <a:r>
                        <a:rPr dirty="0" sz="950" spc="-2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within</a:t>
                      </a:r>
                      <a:r>
                        <a:rPr dirty="0" sz="950" spc="-3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the</a:t>
                      </a:r>
                      <a:r>
                        <a:rPr dirty="0" sz="950" spc="-2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Colab/Jupyter</a:t>
                      </a:r>
                      <a:r>
                        <a:rPr dirty="0" sz="950" spc="-2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notebook.</a:t>
                      </a:r>
                      <a:r>
                        <a:rPr dirty="0" sz="950" spc="19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pip</a:t>
                      </a:r>
                      <a:r>
                        <a:rPr dirty="0" sz="750" spc="35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 spc="-1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install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langchain</a:t>
                      </a:r>
                      <a:r>
                        <a:rPr dirty="0" sz="750" spc="-5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950" spc="-7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installs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the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core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LangChain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5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library;</a:t>
                      </a:r>
                      <a:r>
                        <a:rPr dirty="0" sz="950" spc="229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-q</a:t>
                      </a:r>
                      <a:r>
                        <a:rPr dirty="0" sz="750" spc="-5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950" spc="-7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(quiet)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suppresses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verbose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install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logs.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34290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</a:tr>
              <a:tr h="464820">
                <a:tc>
                  <a:txBody>
                    <a:bodyPr/>
                    <a:lstStyle/>
                    <a:p>
                      <a:pPr marL="70485" marR="313690" indent="26670">
                        <a:lnSpc>
                          <a:spcPct val="153300"/>
                        </a:lnSpc>
                        <a:spcBef>
                          <a:spcPts val="229"/>
                        </a:spcBef>
                      </a:pP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!pip</a:t>
                      </a:r>
                      <a:r>
                        <a:rPr dirty="0" sz="750" spc="45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-q</a:t>
                      </a:r>
                      <a:r>
                        <a:rPr dirty="0" sz="750" spc="45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 spc="-1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install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langchain-</a:t>
                      </a:r>
                      <a:r>
                        <a:rPr dirty="0" sz="750" spc="-1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community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29209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950" spc="-7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Installs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9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community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integrations,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6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including</a:t>
                      </a:r>
                      <a:r>
                        <a:rPr dirty="0" sz="950" spc="24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PyPDFLoader</a:t>
                      </a:r>
                      <a:r>
                        <a:rPr dirty="0" sz="750" spc="-21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950" spc="-5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.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64769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</a:tr>
              <a:tr h="464820">
                <a:tc>
                  <a:txBody>
                    <a:bodyPr/>
                    <a:lstStyle/>
                    <a:p>
                      <a:pPr marL="70485" marR="491490" indent="26670">
                        <a:lnSpc>
                          <a:spcPct val="153300"/>
                        </a:lnSpc>
                        <a:spcBef>
                          <a:spcPts val="229"/>
                        </a:spcBef>
                      </a:pP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!pip</a:t>
                      </a:r>
                      <a:r>
                        <a:rPr dirty="0" sz="750" spc="45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-q</a:t>
                      </a:r>
                      <a:r>
                        <a:rPr dirty="0" sz="750" spc="45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 spc="-1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install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langchain-</a:t>
                      </a:r>
                      <a:r>
                        <a:rPr dirty="0" sz="750" spc="-1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chroma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29209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950" spc="-7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Installs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LangChain's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9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Chroma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vector-store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integration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4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(the</a:t>
                      </a:r>
                      <a:r>
                        <a:rPr dirty="0" sz="950" spc="22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Chroma</a:t>
                      </a:r>
                      <a:r>
                        <a:rPr dirty="0" sz="750" spc="-5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950" spc="-7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class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used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below).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64769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</a:tr>
              <a:tr h="464820">
                <a:tc>
                  <a:txBody>
                    <a:bodyPr/>
                    <a:lstStyle/>
                    <a:p>
                      <a:pPr marL="70485" marR="195580" indent="26670">
                        <a:lnSpc>
                          <a:spcPct val="153300"/>
                        </a:lnSpc>
                        <a:spcBef>
                          <a:spcPts val="229"/>
                        </a:spcBef>
                      </a:pP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!pip</a:t>
                      </a:r>
                      <a:r>
                        <a:rPr dirty="0" sz="750" spc="45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-q</a:t>
                      </a:r>
                      <a:r>
                        <a:rPr dirty="0" sz="750" spc="45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 spc="-1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install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langchain-</a:t>
                      </a:r>
                      <a:r>
                        <a:rPr dirty="0" sz="750" spc="-1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huggingface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29209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950" spc="-7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Installs</a:t>
                      </a:r>
                      <a:r>
                        <a:rPr dirty="0" sz="950" spc="-2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LangChain's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Hugging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9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Face</a:t>
                      </a:r>
                      <a:r>
                        <a:rPr dirty="0" sz="950" spc="-2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integration,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providing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2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the</a:t>
                      </a:r>
                      <a:r>
                        <a:rPr dirty="0" sz="950" spc="2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750" spc="-1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HuggingFaceEmbeddings</a:t>
                      </a:r>
                      <a:endParaRPr sz="750">
                        <a:latin typeface="Courier New"/>
                        <a:cs typeface="Courier New"/>
                      </a:endParaRPr>
                    </a:p>
                    <a:p>
                      <a:pPr marL="6731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wrapper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class.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64769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</a:tr>
              <a:tr h="647065">
                <a:tc>
                  <a:txBody>
                    <a:bodyPr/>
                    <a:lstStyle/>
                    <a:p>
                      <a:pPr algn="just" marL="70485" marR="523875" indent="26670">
                        <a:lnSpc>
                          <a:spcPct val="156300"/>
                        </a:lnSpc>
                        <a:spcBef>
                          <a:spcPts val="200"/>
                        </a:spcBef>
                      </a:pP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!pip</a:t>
                      </a:r>
                      <a:r>
                        <a:rPr dirty="0" sz="750" spc="45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-q</a:t>
                      </a:r>
                      <a:r>
                        <a:rPr dirty="0" sz="750" spc="45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 spc="-1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install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langchain-</a:t>
                      </a:r>
                      <a:r>
                        <a:rPr dirty="0" sz="750" spc="-1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text-splitters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25400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950" spc="-7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Installs</a:t>
                      </a:r>
                      <a:r>
                        <a:rPr dirty="0" sz="950" spc="3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the</a:t>
                      </a:r>
                      <a:r>
                        <a:rPr dirty="0" sz="950" spc="3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text-</a:t>
                      </a:r>
                      <a:r>
                        <a:rPr dirty="0" sz="950" spc="-7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splitting</a:t>
                      </a:r>
                      <a:r>
                        <a:rPr dirty="0" sz="950" spc="3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6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utilities</a:t>
                      </a:r>
                      <a:r>
                        <a:rPr dirty="0" sz="950" spc="3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(</a:t>
                      </a:r>
                      <a:r>
                        <a:rPr dirty="0" sz="950" spc="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RecursiveCharacterTextSplitter</a:t>
                      </a:r>
                      <a:r>
                        <a:rPr dirty="0" sz="750" spc="-165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950" spc="-2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).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64769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!pip</a:t>
                      </a:r>
                      <a:r>
                        <a:rPr dirty="0" sz="750" spc="55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-q</a:t>
                      </a:r>
                      <a:r>
                        <a:rPr dirty="0" sz="750" spc="55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install</a:t>
                      </a:r>
                      <a:r>
                        <a:rPr dirty="0" sz="750" spc="6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 spc="-1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pypdf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90170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950" spc="-7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Installs</a:t>
                      </a:r>
                      <a:r>
                        <a:rPr dirty="0" sz="950" spc="-2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the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PDF-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parsing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9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backend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used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2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by</a:t>
                      </a:r>
                      <a:r>
                        <a:rPr dirty="0" sz="950" spc="22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PyPDFLoader</a:t>
                      </a:r>
                      <a:r>
                        <a:rPr dirty="0" sz="750" spc="-22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950" spc="-5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.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64769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</a:tr>
              <a:tr h="464820">
                <a:tc>
                  <a:txBody>
                    <a:bodyPr/>
                    <a:lstStyle/>
                    <a:p>
                      <a:pPr marL="70485" marR="195580" indent="26670">
                        <a:lnSpc>
                          <a:spcPct val="153300"/>
                        </a:lnSpc>
                        <a:spcBef>
                          <a:spcPts val="229"/>
                        </a:spcBef>
                      </a:pP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!pip</a:t>
                      </a:r>
                      <a:r>
                        <a:rPr dirty="0" sz="750" spc="45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-q</a:t>
                      </a:r>
                      <a:r>
                        <a:rPr dirty="0" sz="750" spc="45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 spc="-1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install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sentence-</a:t>
                      </a:r>
                      <a:r>
                        <a:rPr dirty="0" sz="750" spc="-1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transformers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29209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950" spc="-7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Installs</a:t>
                      </a:r>
                      <a:r>
                        <a:rPr dirty="0" sz="950" spc="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the</a:t>
                      </a:r>
                      <a:r>
                        <a:rPr dirty="0" sz="950" spc="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sentence-</a:t>
                      </a:r>
                      <a:r>
                        <a:rPr dirty="0" sz="950" spc="-9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embedding</a:t>
                      </a:r>
                      <a:r>
                        <a:rPr dirty="0" sz="950" spc="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library</a:t>
                      </a:r>
                      <a:r>
                        <a:rPr dirty="0" sz="950" spc="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(a</a:t>
                      </a:r>
                      <a:r>
                        <a:rPr dirty="0" sz="950" spc="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dependency</a:t>
                      </a:r>
                      <a:r>
                        <a:rPr dirty="0" sz="950" spc="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used</a:t>
                      </a:r>
                      <a:r>
                        <a:rPr dirty="0" sz="950" spc="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indirectly</a:t>
                      </a:r>
                      <a:r>
                        <a:rPr dirty="0" sz="950" spc="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through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  <a:p>
                      <a:pPr marL="94615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HuggingFaceEmbeddings</a:t>
                      </a:r>
                      <a:r>
                        <a:rPr dirty="0" sz="750" spc="-6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950" spc="-2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).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64769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</a:tr>
              <a:tr h="464820">
                <a:tc>
                  <a:txBody>
                    <a:bodyPr/>
                    <a:lstStyle/>
                    <a:p>
                      <a:pPr marL="70485" marR="523875" indent="26670">
                        <a:lnSpc>
                          <a:spcPct val="153300"/>
                        </a:lnSpc>
                        <a:spcBef>
                          <a:spcPts val="229"/>
                        </a:spcBef>
                      </a:pP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!pip</a:t>
                      </a:r>
                      <a:r>
                        <a:rPr dirty="0" sz="750" spc="45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-q</a:t>
                      </a:r>
                      <a:r>
                        <a:rPr dirty="0" sz="750" spc="45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 spc="-1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install transformers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29209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950" spc="-7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Installs</a:t>
                      </a:r>
                      <a:r>
                        <a:rPr dirty="0" sz="950" spc="-2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Hugging</a:t>
                      </a:r>
                      <a:r>
                        <a:rPr dirty="0" sz="950" spc="-2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6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Face</a:t>
                      </a:r>
                      <a:r>
                        <a:rPr dirty="0" sz="950" spc="2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transformers</a:t>
                      </a:r>
                      <a:r>
                        <a:rPr dirty="0" sz="750" spc="-22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950" spc="-5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,</a:t>
                      </a:r>
                      <a:r>
                        <a:rPr dirty="0" sz="950" spc="-2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used</a:t>
                      </a:r>
                      <a:r>
                        <a:rPr dirty="0" sz="950" spc="-2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later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to</a:t>
                      </a:r>
                      <a:r>
                        <a:rPr dirty="0" sz="950" spc="-2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load</a:t>
                      </a:r>
                      <a:r>
                        <a:rPr dirty="0" sz="950" spc="-2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the</a:t>
                      </a:r>
                      <a:r>
                        <a:rPr dirty="0" sz="950" spc="-2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9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Qwen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9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LLM</a:t>
                      </a:r>
                      <a:r>
                        <a:rPr dirty="0" sz="950" spc="-2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for</a:t>
                      </a:r>
                      <a:r>
                        <a:rPr dirty="0" sz="950" spc="-2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generation.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64769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80102" y="1036679"/>
            <a:ext cx="6202680" cy="1611630"/>
          </a:xfrm>
          <a:custGeom>
            <a:avLst/>
            <a:gdLst/>
            <a:ahLst/>
            <a:cxnLst/>
            <a:rect l="l" t="t" r="r" b="b"/>
            <a:pathLst>
              <a:path w="6202680" h="1611630">
                <a:moveTo>
                  <a:pt x="6151728" y="1611175"/>
                </a:moveTo>
                <a:lnTo>
                  <a:pt x="50390" y="1611175"/>
                </a:lnTo>
                <a:lnTo>
                  <a:pt x="46883" y="1610831"/>
                </a:lnTo>
                <a:lnTo>
                  <a:pt x="11056" y="1590135"/>
                </a:lnTo>
                <a:lnTo>
                  <a:pt x="0" y="1560796"/>
                </a:lnTo>
                <a:lnTo>
                  <a:pt x="0" y="1557271"/>
                </a:lnTo>
                <a:lnTo>
                  <a:pt x="0" y="50378"/>
                </a:lnTo>
                <a:lnTo>
                  <a:pt x="18300" y="13273"/>
                </a:lnTo>
                <a:lnTo>
                  <a:pt x="50390" y="0"/>
                </a:lnTo>
                <a:lnTo>
                  <a:pt x="6151728" y="0"/>
                </a:lnTo>
                <a:lnTo>
                  <a:pt x="6188826" y="18276"/>
                </a:lnTo>
                <a:lnTo>
                  <a:pt x="6202118" y="50378"/>
                </a:lnTo>
                <a:lnTo>
                  <a:pt x="6202118" y="1560796"/>
                </a:lnTo>
                <a:lnTo>
                  <a:pt x="6183818" y="1597874"/>
                </a:lnTo>
                <a:lnTo>
                  <a:pt x="6155235" y="1610831"/>
                </a:lnTo>
                <a:lnTo>
                  <a:pt x="6151728" y="1611175"/>
                </a:lnTo>
                <a:close/>
              </a:path>
            </a:pathLst>
          </a:custGeom>
          <a:solidFill>
            <a:srgbClr val="0E172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680102" y="3274835"/>
            <a:ext cx="6202680" cy="6985"/>
          </a:xfrm>
          <a:custGeom>
            <a:avLst/>
            <a:gdLst/>
            <a:ahLst/>
            <a:cxnLst/>
            <a:rect l="l" t="t" r="r" b="b"/>
            <a:pathLst>
              <a:path w="6202680" h="6985">
                <a:moveTo>
                  <a:pt x="6202119" y="6741"/>
                </a:moveTo>
                <a:lnTo>
                  <a:pt x="0" y="6741"/>
                </a:lnTo>
                <a:lnTo>
                  <a:pt x="0" y="0"/>
                </a:lnTo>
                <a:lnTo>
                  <a:pt x="6202119" y="0"/>
                </a:lnTo>
                <a:lnTo>
                  <a:pt x="6202119" y="6741"/>
                </a:lnTo>
                <a:close/>
              </a:path>
            </a:pathLst>
          </a:custGeom>
          <a:solidFill>
            <a:srgbClr val="E4E7E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680102" y="3739994"/>
            <a:ext cx="6202680" cy="2143760"/>
          </a:xfrm>
          <a:custGeom>
            <a:avLst/>
            <a:gdLst/>
            <a:ahLst/>
            <a:cxnLst/>
            <a:rect l="l" t="t" r="r" b="b"/>
            <a:pathLst>
              <a:path w="6202680" h="2143760">
                <a:moveTo>
                  <a:pt x="6151728" y="2143748"/>
                </a:moveTo>
                <a:lnTo>
                  <a:pt x="50390" y="2143748"/>
                </a:lnTo>
                <a:lnTo>
                  <a:pt x="46883" y="2143405"/>
                </a:lnTo>
                <a:lnTo>
                  <a:pt x="11056" y="2122708"/>
                </a:lnTo>
                <a:lnTo>
                  <a:pt x="0" y="2093397"/>
                </a:lnTo>
                <a:lnTo>
                  <a:pt x="0" y="2089844"/>
                </a:lnTo>
                <a:lnTo>
                  <a:pt x="0" y="50378"/>
                </a:lnTo>
                <a:lnTo>
                  <a:pt x="18300" y="13273"/>
                </a:lnTo>
                <a:lnTo>
                  <a:pt x="50390" y="0"/>
                </a:lnTo>
                <a:lnTo>
                  <a:pt x="6151728" y="0"/>
                </a:lnTo>
                <a:lnTo>
                  <a:pt x="6188826" y="18249"/>
                </a:lnTo>
                <a:lnTo>
                  <a:pt x="6202118" y="50378"/>
                </a:lnTo>
                <a:lnTo>
                  <a:pt x="6202118" y="2093397"/>
                </a:lnTo>
                <a:lnTo>
                  <a:pt x="6183818" y="2130475"/>
                </a:lnTo>
                <a:lnTo>
                  <a:pt x="6155235" y="2143405"/>
                </a:lnTo>
                <a:lnTo>
                  <a:pt x="6151728" y="2143748"/>
                </a:lnTo>
                <a:close/>
              </a:path>
            </a:pathLst>
          </a:custGeom>
          <a:solidFill>
            <a:srgbClr val="0E172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667402" y="543366"/>
            <a:ext cx="6012180" cy="3771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4999"/>
              </a:lnSpc>
              <a:spcBef>
                <a:spcPts val="100"/>
              </a:spcBef>
            </a:pPr>
            <a:r>
              <a:rPr dirty="0" sz="1000" spc="-85" b="1">
                <a:solidFill>
                  <a:srgbClr val="111726"/>
                </a:solidFill>
                <a:latin typeface="Source Han Sans JP"/>
                <a:cs typeface="Source Han Sans JP"/>
              </a:rPr>
              <a:t>Actual</a:t>
            </a:r>
            <a:r>
              <a:rPr dirty="0" sz="1000" spc="-5" b="1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100" b="1">
                <a:solidFill>
                  <a:srgbClr val="111726"/>
                </a:solidFill>
                <a:latin typeface="Source Han Sans JP"/>
                <a:cs typeface="Source Han Sans JP"/>
              </a:rPr>
              <a:t>captured</a:t>
            </a:r>
            <a:r>
              <a:rPr dirty="0" sz="1000" b="1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90" b="1">
                <a:solidFill>
                  <a:srgbClr val="111726"/>
                </a:solidFill>
                <a:latin typeface="Source Han Sans JP"/>
                <a:cs typeface="Source Han Sans JP"/>
              </a:rPr>
              <a:t>output:</a:t>
            </a:r>
            <a:r>
              <a:rPr dirty="0" sz="1000" spc="-10" b="1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85">
                <a:solidFill>
                  <a:srgbClr val="111726"/>
                </a:solidFill>
                <a:latin typeface="Source Han Sans JP"/>
                <a:cs typeface="Source Han Sans JP"/>
              </a:rPr>
              <a:t>quiet-</a:t>
            </a:r>
            <a:r>
              <a:rPr dirty="0" sz="1000" spc="-105">
                <a:solidFill>
                  <a:srgbClr val="111726"/>
                </a:solidFill>
                <a:latin typeface="Source Han Sans JP"/>
                <a:cs typeface="Source Han Sans JP"/>
              </a:rPr>
              <a:t>mode</a:t>
            </a:r>
            <a:r>
              <a:rPr dirty="0" sz="1000" spc="-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85">
                <a:solidFill>
                  <a:srgbClr val="111726"/>
                </a:solidFill>
                <a:latin typeface="Source Han Sans JP"/>
                <a:cs typeface="Source Han Sans JP"/>
              </a:rPr>
              <a:t>progress</a:t>
            </a:r>
            <a:r>
              <a:rPr dirty="0" sz="1000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85">
                <a:solidFill>
                  <a:srgbClr val="111726"/>
                </a:solidFill>
                <a:latin typeface="Source Han Sans JP"/>
                <a:cs typeface="Source Han Sans JP"/>
              </a:rPr>
              <a:t>bars</a:t>
            </a:r>
            <a:r>
              <a:rPr dirty="0" sz="1000" spc="-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70">
                <a:solidFill>
                  <a:srgbClr val="111726"/>
                </a:solidFill>
                <a:latin typeface="Source Han Sans JP"/>
                <a:cs typeface="Source Han Sans JP"/>
              </a:rPr>
              <a:t>for</a:t>
            </a:r>
            <a:r>
              <a:rPr dirty="0" sz="1000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95">
                <a:solidFill>
                  <a:srgbClr val="111726"/>
                </a:solidFill>
                <a:latin typeface="Source Han Sans JP"/>
                <a:cs typeface="Source Han Sans JP"/>
              </a:rPr>
              <a:t>each</a:t>
            </a:r>
            <a:r>
              <a:rPr dirty="0" sz="1000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90">
                <a:solidFill>
                  <a:srgbClr val="111726"/>
                </a:solidFill>
                <a:latin typeface="Source Han Sans JP"/>
                <a:cs typeface="Source Han Sans JP"/>
              </a:rPr>
              <a:t>package,</a:t>
            </a:r>
            <a:r>
              <a:rPr dirty="0" sz="1000" spc="-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75">
                <a:solidFill>
                  <a:srgbClr val="111726"/>
                </a:solidFill>
                <a:latin typeface="Source Han Sans JP"/>
                <a:cs typeface="Source Han Sans JP"/>
              </a:rPr>
              <a:t>plus</a:t>
            </a:r>
            <a:r>
              <a:rPr dirty="0" sz="1000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105">
                <a:solidFill>
                  <a:srgbClr val="111726"/>
                </a:solidFill>
                <a:latin typeface="Source Han Sans JP"/>
                <a:cs typeface="Source Han Sans JP"/>
              </a:rPr>
              <a:t>two</a:t>
            </a:r>
            <a:r>
              <a:rPr dirty="0" sz="1000" spc="-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95">
                <a:solidFill>
                  <a:srgbClr val="111726"/>
                </a:solidFill>
                <a:latin typeface="Source Han Sans JP"/>
                <a:cs typeface="Source Han Sans JP"/>
              </a:rPr>
              <a:t>non-</a:t>
            </a:r>
            <a:r>
              <a:rPr dirty="0" sz="1000" spc="-80">
                <a:solidFill>
                  <a:srgbClr val="111726"/>
                </a:solidFill>
                <a:latin typeface="Source Han Sans JP"/>
                <a:cs typeface="Source Han Sans JP"/>
              </a:rPr>
              <a:t>fatal</a:t>
            </a:r>
            <a:r>
              <a:rPr dirty="0" sz="1000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95">
                <a:solidFill>
                  <a:srgbClr val="111726"/>
                </a:solidFill>
                <a:latin typeface="Source Han Sans JP"/>
                <a:cs typeface="Source Han Sans JP"/>
              </a:rPr>
              <a:t>dependency-</a:t>
            </a:r>
            <a:r>
              <a:rPr dirty="0" sz="1000" spc="-80">
                <a:solidFill>
                  <a:srgbClr val="111726"/>
                </a:solidFill>
                <a:latin typeface="Source Han Sans JP"/>
                <a:cs typeface="Source Han Sans JP"/>
              </a:rPr>
              <a:t>resolver</a:t>
            </a:r>
            <a:r>
              <a:rPr dirty="0" sz="1000" spc="-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50">
                <a:solidFill>
                  <a:srgbClr val="111726"/>
                </a:solidFill>
                <a:latin typeface="Source Han Sans JP"/>
                <a:cs typeface="Source Han Sans JP"/>
              </a:rPr>
              <a:t>warnings</a:t>
            </a:r>
            <a:r>
              <a:rPr dirty="0" sz="1000" spc="500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90">
                <a:solidFill>
                  <a:srgbClr val="111726"/>
                </a:solidFill>
                <a:latin typeface="Source Han Sans JP"/>
                <a:cs typeface="Source Han Sans JP"/>
              </a:rPr>
              <a:t>from</a:t>
            </a:r>
            <a:r>
              <a:rPr dirty="0" sz="1000" spc="-2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75">
                <a:solidFill>
                  <a:srgbClr val="111726"/>
                </a:solidFill>
                <a:latin typeface="Source Han Sans JP"/>
                <a:cs typeface="Source Han Sans JP"/>
              </a:rPr>
              <a:t>pip,</a:t>
            </a:r>
            <a:r>
              <a:rPr dirty="0" sz="1000" spc="-2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10">
                <a:solidFill>
                  <a:srgbClr val="111726"/>
                </a:solidFill>
                <a:latin typeface="Source Han Sans JP"/>
                <a:cs typeface="Source Han Sans JP"/>
              </a:rPr>
              <a:t>e.g.:</a:t>
            </a:r>
            <a:endParaRPr sz="1000">
              <a:latin typeface="Source Han Sans JP"/>
              <a:cs typeface="Source Han Sans JP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61782" y="1084910"/>
            <a:ext cx="6005195" cy="144843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128270">
              <a:lnSpc>
                <a:spcPct val="143800"/>
              </a:lnSpc>
              <a:spcBef>
                <a:spcPts val="95"/>
              </a:spcBef>
            </a:pP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ERROR:</a:t>
            </a:r>
            <a:r>
              <a:rPr dirty="0" sz="800" spc="3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pip's</a:t>
            </a:r>
            <a:r>
              <a:rPr dirty="0" sz="800" spc="3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dependency</a:t>
            </a:r>
            <a:r>
              <a:rPr dirty="0" sz="800" spc="3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resolver</a:t>
            </a:r>
            <a:r>
              <a:rPr dirty="0" sz="800" spc="3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does</a:t>
            </a:r>
            <a:r>
              <a:rPr dirty="0" sz="800" spc="3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not</a:t>
            </a:r>
            <a:r>
              <a:rPr dirty="0" sz="800" spc="3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currently</a:t>
            </a:r>
            <a:r>
              <a:rPr dirty="0" sz="800" spc="3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take</a:t>
            </a:r>
            <a:r>
              <a:rPr dirty="0" sz="800" spc="3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into</a:t>
            </a:r>
            <a:r>
              <a:rPr dirty="0" sz="800" spc="3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account</a:t>
            </a:r>
            <a:r>
              <a:rPr dirty="0" sz="800" spc="3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all</a:t>
            </a:r>
            <a:r>
              <a:rPr dirty="0" sz="800" spc="3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the</a:t>
            </a:r>
            <a:r>
              <a:rPr dirty="0" sz="800" spc="3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packages</a:t>
            </a:r>
            <a:r>
              <a:rPr dirty="0" sz="800" spc="3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that</a:t>
            </a:r>
            <a:r>
              <a:rPr dirty="0" sz="800" spc="3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 spc="-25">
                <a:solidFill>
                  <a:srgbClr val="E4E7EB"/>
                </a:solidFill>
                <a:latin typeface="Courier New"/>
                <a:cs typeface="Courier New"/>
              </a:rPr>
              <a:t>are </a:t>
            </a:r>
            <a:r>
              <a:rPr dirty="0" sz="800" spc="-10">
                <a:solidFill>
                  <a:srgbClr val="E4E7EB"/>
                </a:solidFill>
                <a:latin typeface="Courier New"/>
                <a:cs typeface="Courier New"/>
              </a:rPr>
              <a:t>installed...</a:t>
            </a:r>
            <a:endParaRPr sz="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475"/>
              </a:spcBef>
            </a:pP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google-colab</a:t>
            </a:r>
            <a:r>
              <a:rPr dirty="0" sz="800" spc="3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1.0.0</a:t>
            </a:r>
            <a:r>
              <a:rPr dirty="0" sz="800" spc="3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requires</a:t>
            </a:r>
            <a:r>
              <a:rPr dirty="0" sz="800" spc="3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requests==2.32.4,</a:t>
            </a:r>
            <a:r>
              <a:rPr dirty="0" sz="800" spc="3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but</a:t>
            </a:r>
            <a:r>
              <a:rPr dirty="0" sz="800" spc="3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you</a:t>
            </a:r>
            <a:r>
              <a:rPr dirty="0" sz="800" spc="3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have</a:t>
            </a:r>
            <a:r>
              <a:rPr dirty="0" sz="800" spc="3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requests</a:t>
            </a:r>
            <a:r>
              <a:rPr dirty="0" sz="800" spc="3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2.34.2</a:t>
            </a:r>
            <a:r>
              <a:rPr dirty="0" sz="800" spc="3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which</a:t>
            </a:r>
            <a:r>
              <a:rPr dirty="0" sz="800" spc="3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is</a:t>
            </a:r>
            <a:r>
              <a:rPr dirty="0" sz="800" spc="3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 spc="-10">
                <a:solidFill>
                  <a:srgbClr val="E4E7EB"/>
                </a:solidFill>
                <a:latin typeface="Courier New"/>
                <a:cs typeface="Courier New"/>
              </a:rPr>
              <a:t>incompatible.</a:t>
            </a:r>
            <a:endParaRPr sz="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420"/>
              </a:spcBef>
            </a:pPr>
            <a:r>
              <a:rPr dirty="0" sz="800" spc="-25">
                <a:solidFill>
                  <a:srgbClr val="E4E7EB"/>
                </a:solidFill>
                <a:latin typeface="Courier New"/>
                <a:cs typeface="Courier New"/>
              </a:rPr>
              <a:t>...</a:t>
            </a:r>
            <a:endParaRPr sz="800">
              <a:latin typeface="Courier New"/>
              <a:cs typeface="Courier New"/>
            </a:endParaRPr>
          </a:p>
          <a:p>
            <a:pPr marL="12700" marR="5080">
              <a:lnSpc>
                <a:spcPts val="1430"/>
              </a:lnSpc>
              <a:spcBef>
                <a:spcPts val="75"/>
              </a:spcBef>
            </a:pP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google-adk</a:t>
            </a:r>
            <a:r>
              <a:rPr dirty="0" sz="800" spc="5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2.4.0</a:t>
            </a:r>
            <a:r>
              <a:rPr dirty="0" sz="800" spc="5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requires</a:t>
            </a:r>
            <a:r>
              <a:rPr dirty="0" sz="800" spc="5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opentelemetry-api&lt;=1.42.1,&gt;=1.39,</a:t>
            </a:r>
            <a:r>
              <a:rPr dirty="0" sz="800" spc="5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but</a:t>
            </a:r>
            <a:r>
              <a:rPr dirty="0" sz="800" spc="5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you</a:t>
            </a:r>
            <a:r>
              <a:rPr dirty="0" sz="800" spc="5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have</a:t>
            </a:r>
            <a:r>
              <a:rPr dirty="0" sz="800" spc="5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opentelemetry-api</a:t>
            </a:r>
            <a:r>
              <a:rPr dirty="0" sz="800" spc="5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 spc="-10">
                <a:solidFill>
                  <a:srgbClr val="E4E7EB"/>
                </a:solidFill>
                <a:latin typeface="Courier New"/>
                <a:cs typeface="Courier New"/>
              </a:rPr>
              <a:t>1.44.0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which</a:t>
            </a:r>
            <a:r>
              <a:rPr dirty="0" sz="800" spc="2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is</a:t>
            </a:r>
            <a:r>
              <a:rPr dirty="0" sz="800" spc="2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 spc="-10">
                <a:solidFill>
                  <a:srgbClr val="E4E7EB"/>
                </a:solidFill>
                <a:latin typeface="Courier New"/>
                <a:cs typeface="Courier New"/>
              </a:rPr>
              <a:t>incompatible.</a:t>
            </a:r>
            <a:endParaRPr sz="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300"/>
              </a:spcBef>
            </a:pP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google-adk</a:t>
            </a:r>
            <a:r>
              <a:rPr dirty="0" sz="800" spc="5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2.4.0</a:t>
            </a:r>
            <a:r>
              <a:rPr dirty="0" sz="800" spc="5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requires</a:t>
            </a:r>
            <a:r>
              <a:rPr dirty="0" sz="800" spc="5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opentelemetry-sdk&lt;=1.42.1,&gt;=1.39,</a:t>
            </a:r>
            <a:r>
              <a:rPr dirty="0" sz="800" spc="5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but</a:t>
            </a:r>
            <a:r>
              <a:rPr dirty="0" sz="800" spc="5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you</a:t>
            </a:r>
            <a:r>
              <a:rPr dirty="0" sz="800" spc="5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have</a:t>
            </a:r>
            <a:r>
              <a:rPr dirty="0" sz="800" spc="5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opentelemetry-sdk</a:t>
            </a:r>
            <a:r>
              <a:rPr dirty="0" sz="800" spc="5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 spc="-10">
                <a:solidFill>
                  <a:srgbClr val="E4E7EB"/>
                </a:solidFill>
                <a:latin typeface="Courier New"/>
                <a:cs typeface="Courier New"/>
              </a:rPr>
              <a:t>1.44.0</a:t>
            </a:r>
            <a:endParaRPr sz="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470"/>
              </a:spcBef>
            </a:pP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which</a:t>
            </a:r>
            <a:r>
              <a:rPr dirty="0" sz="800" spc="2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is</a:t>
            </a:r>
            <a:r>
              <a:rPr dirty="0" sz="800" spc="2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 spc="-10">
                <a:solidFill>
                  <a:srgbClr val="E4E7EB"/>
                </a:solidFill>
                <a:latin typeface="Courier New"/>
                <a:cs typeface="Courier New"/>
              </a:rPr>
              <a:t>incompatible.</a:t>
            </a:r>
            <a:endParaRPr sz="8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67402" y="2728534"/>
            <a:ext cx="5917565" cy="9264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14999"/>
              </a:lnSpc>
              <a:spcBef>
                <a:spcPts val="95"/>
              </a:spcBef>
            </a:pPr>
            <a:r>
              <a:rPr dirty="0" sz="1000" spc="-90">
                <a:solidFill>
                  <a:srgbClr val="111726"/>
                </a:solidFill>
                <a:latin typeface="Source Han Sans JP"/>
                <a:cs typeface="Source Han Sans JP"/>
              </a:rPr>
              <a:t>These</a:t>
            </a:r>
            <a:r>
              <a:rPr dirty="0" sz="1000" spc="-10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80">
                <a:solidFill>
                  <a:srgbClr val="111726"/>
                </a:solidFill>
                <a:latin typeface="Source Han Sans JP"/>
                <a:cs typeface="Source Han Sans JP"/>
              </a:rPr>
              <a:t>are</a:t>
            </a:r>
            <a:r>
              <a:rPr dirty="0" sz="1000" spc="-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85">
                <a:solidFill>
                  <a:srgbClr val="111726"/>
                </a:solidFill>
                <a:latin typeface="Source Han Sans JP"/>
                <a:cs typeface="Source Han Sans JP"/>
              </a:rPr>
              <a:t>pre-</a:t>
            </a:r>
            <a:r>
              <a:rPr dirty="0" sz="1000" spc="-80">
                <a:solidFill>
                  <a:srgbClr val="111726"/>
                </a:solidFill>
                <a:latin typeface="Source Han Sans JP"/>
                <a:cs typeface="Source Han Sans JP"/>
              </a:rPr>
              <a:t>existing</a:t>
            </a:r>
            <a:r>
              <a:rPr dirty="0" sz="1000" spc="-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85">
                <a:solidFill>
                  <a:srgbClr val="111726"/>
                </a:solidFill>
                <a:latin typeface="Source Han Sans JP"/>
                <a:cs typeface="Source Han Sans JP"/>
              </a:rPr>
              <a:t>Colab-</a:t>
            </a:r>
            <a:r>
              <a:rPr dirty="0" sz="1000" spc="-95">
                <a:solidFill>
                  <a:srgbClr val="111726"/>
                </a:solidFill>
                <a:latin typeface="Source Han Sans JP"/>
                <a:cs typeface="Source Han Sans JP"/>
              </a:rPr>
              <a:t>environment</a:t>
            </a:r>
            <a:r>
              <a:rPr dirty="0" sz="1000" spc="-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95">
                <a:solidFill>
                  <a:srgbClr val="111726"/>
                </a:solidFill>
                <a:latin typeface="Source Han Sans JP"/>
                <a:cs typeface="Source Han Sans JP"/>
              </a:rPr>
              <a:t>package</a:t>
            </a:r>
            <a:r>
              <a:rPr dirty="0" sz="1000" spc="-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70">
                <a:solidFill>
                  <a:srgbClr val="111726"/>
                </a:solidFill>
                <a:latin typeface="Source Han Sans JP"/>
                <a:cs typeface="Source Han Sans JP"/>
              </a:rPr>
              <a:t>con</a:t>
            </a:r>
            <a:r>
              <a:rPr dirty="0" sz="950" spc="-70">
                <a:solidFill>
                  <a:srgbClr val="111726"/>
                </a:solidFill>
                <a:latin typeface="Arial"/>
                <a:cs typeface="Arial"/>
              </a:rPr>
              <a:t>ﬂ</a:t>
            </a:r>
            <a:r>
              <a:rPr dirty="0" sz="1000" spc="-70">
                <a:solidFill>
                  <a:srgbClr val="111726"/>
                </a:solidFill>
                <a:latin typeface="Source Han Sans JP"/>
                <a:cs typeface="Source Han Sans JP"/>
              </a:rPr>
              <a:t>icts,</a:t>
            </a:r>
            <a:r>
              <a:rPr dirty="0" sz="1000" spc="-10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95">
                <a:solidFill>
                  <a:srgbClr val="111726"/>
                </a:solidFill>
                <a:latin typeface="Source Han Sans JP"/>
                <a:cs typeface="Source Han Sans JP"/>
              </a:rPr>
              <a:t>not</a:t>
            </a:r>
            <a:r>
              <a:rPr dirty="0" sz="1000" spc="-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75">
                <a:solidFill>
                  <a:srgbClr val="111726"/>
                </a:solidFill>
                <a:latin typeface="Source Han Sans JP"/>
                <a:cs typeface="Source Han Sans JP"/>
              </a:rPr>
              <a:t>install</a:t>
            </a:r>
            <a:r>
              <a:rPr dirty="0" sz="1000" spc="-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75">
                <a:solidFill>
                  <a:srgbClr val="111726"/>
                </a:solidFill>
                <a:latin typeface="Source Han Sans JP"/>
                <a:cs typeface="Source Han Sans JP"/>
              </a:rPr>
              <a:t>failures</a:t>
            </a:r>
            <a:r>
              <a:rPr dirty="0" sz="1000" spc="-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950" spc="-204">
                <a:solidFill>
                  <a:srgbClr val="111726"/>
                </a:solidFill>
                <a:latin typeface="Arial"/>
                <a:cs typeface="Arial"/>
              </a:rPr>
              <a:t>—</a:t>
            </a:r>
            <a:r>
              <a:rPr dirty="0" sz="950" spc="-45">
                <a:solidFill>
                  <a:srgbClr val="111726"/>
                </a:solidFill>
                <a:latin typeface="Arial"/>
                <a:cs typeface="Arial"/>
              </a:rPr>
              <a:t> </a:t>
            </a:r>
            <a:r>
              <a:rPr dirty="0" sz="1000" spc="-55">
                <a:solidFill>
                  <a:srgbClr val="111726"/>
                </a:solidFill>
                <a:latin typeface="Source Han Sans JP"/>
                <a:cs typeface="Source Han Sans JP"/>
              </a:rPr>
              <a:t>all</a:t>
            </a:r>
            <a:r>
              <a:rPr dirty="0" sz="1000" spc="-10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90">
                <a:solidFill>
                  <a:srgbClr val="111726"/>
                </a:solidFill>
                <a:latin typeface="Source Han Sans JP"/>
                <a:cs typeface="Source Han Sans JP"/>
              </a:rPr>
              <a:t>requested</a:t>
            </a:r>
            <a:r>
              <a:rPr dirty="0" sz="1000" spc="-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95">
                <a:solidFill>
                  <a:srgbClr val="111726"/>
                </a:solidFill>
                <a:latin typeface="Source Han Sans JP"/>
                <a:cs typeface="Source Han Sans JP"/>
              </a:rPr>
              <a:t>packages</a:t>
            </a:r>
            <a:r>
              <a:rPr dirty="0" sz="1000" spc="-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60">
                <a:solidFill>
                  <a:srgbClr val="111726"/>
                </a:solidFill>
                <a:latin typeface="Source Han Sans JP"/>
                <a:cs typeface="Source Han Sans JP"/>
              </a:rPr>
              <a:t>still</a:t>
            </a:r>
            <a:r>
              <a:rPr dirty="0" sz="1000" spc="-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40">
                <a:solidFill>
                  <a:srgbClr val="111726"/>
                </a:solidFill>
                <a:latin typeface="Source Han Sans JP"/>
                <a:cs typeface="Source Han Sans JP"/>
              </a:rPr>
              <a:t>installed</a:t>
            </a:r>
            <a:r>
              <a:rPr dirty="0" sz="1000" spc="-10">
                <a:solidFill>
                  <a:srgbClr val="111726"/>
                </a:solidFill>
                <a:latin typeface="Source Han Sans JP"/>
                <a:cs typeface="Source Han Sans JP"/>
              </a:rPr>
              <a:t> successfully.</a:t>
            </a:r>
            <a:endParaRPr sz="1000">
              <a:latin typeface="Source Han Sans JP"/>
              <a:cs typeface="Source Han Sans JP"/>
            </a:endParaRPr>
          </a:p>
          <a:p>
            <a:pPr>
              <a:lnSpc>
                <a:spcPct val="100000"/>
              </a:lnSpc>
              <a:spcBef>
                <a:spcPts val="994"/>
              </a:spcBef>
            </a:pPr>
            <a:endParaRPr sz="850">
              <a:latin typeface="Source Han Sans JP"/>
              <a:cs typeface="Source Han Sans JP"/>
            </a:endParaRPr>
          </a:p>
          <a:p>
            <a:pPr marL="12700">
              <a:lnSpc>
                <a:spcPct val="100000"/>
              </a:lnSpc>
            </a:pPr>
            <a:r>
              <a:rPr dirty="0" sz="1450" spc="-130" b="1">
                <a:solidFill>
                  <a:srgbClr val="111726"/>
                </a:solidFill>
                <a:latin typeface="Source Han Sans JP"/>
                <a:cs typeface="Source Han Sans JP"/>
              </a:rPr>
              <a:t>Cell</a:t>
            </a:r>
            <a:r>
              <a:rPr dirty="0" sz="1450" spc="-55" b="1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300" spc="-75" b="1">
                <a:solidFill>
                  <a:srgbClr val="111726"/>
                </a:solidFill>
                <a:latin typeface="Trebuchet MS"/>
                <a:cs typeface="Trebuchet MS"/>
              </a:rPr>
              <a:t>2</a:t>
            </a:r>
            <a:r>
              <a:rPr dirty="0" sz="1300" spc="-120" b="1">
                <a:solidFill>
                  <a:srgbClr val="111726"/>
                </a:solidFill>
                <a:latin typeface="Trebuchet MS"/>
                <a:cs typeface="Trebuchet MS"/>
              </a:rPr>
              <a:t> </a:t>
            </a:r>
            <a:r>
              <a:rPr dirty="0" sz="1350" spc="-285" b="1">
                <a:solidFill>
                  <a:srgbClr val="111726"/>
                </a:solidFill>
                <a:latin typeface="Arial"/>
                <a:cs typeface="Arial"/>
              </a:rPr>
              <a:t>—</a:t>
            </a:r>
            <a:r>
              <a:rPr dirty="0" sz="1350" spc="-105" b="1">
                <a:solidFill>
                  <a:srgbClr val="111726"/>
                </a:solidFill>
                <a:latin typeface="Arial"/>
                <a:cs typeface="Arial"/>
              </a:rPr>
              <a:t> </a:t>
            </a:r>
            <a:r>
              <a:rPr dirty="0" sz="1450" spc="-20" b="1">
                <a:solidFill>
                  <a:srgbClr val="111726"/>
                </a:solidFill>
                <a:latin typeface="Source Han Sans JP"/>
                <a:cs typeface="Source Han Sans JP"/>
              </a:rPr>
              <a:t>Imports</a:t>
            </a:r>
            <a:endParaRPr sz="1450">
              <a:latin typeface="Source Han Sans JP"/>
              <a:cs typeface="Source Han Sans JP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61782" y="3840538"/>
            <a:ext cx="4155440" cy="19284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from</a:t>
            </a:r>
            <a:r>
              <a:rPr dirty="0" sz="800" spc="3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google.colab</a:t>
            </a:r>
            <a:r>
              <a:rPr dirty="0" sz="800" spc="4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import</a:t>
            </a:r>
            <a:r>
              <a:rPr dirty="0" sz="800" spc="3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 spc="-20">
                <a:solidFill>
                  <a:srgbClr val="E4E7EB"/>
                </a:solidFill>
                <a:latin typeface="Courier New"/>
                <a:cs typeface="Courier New"/>
              </a:rPr>
              <a:t>files</a:t>
            </a:r>
            <a:endParaRPr sz="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894"/>
              </a:spcBef>
            </a:pPr>
            <a:endParaRPr sz="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from</a:t>
            </a:r>
            <a:r>
              <a:rPr dirty="0" sz="800" spc="7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langchain_community.document_loaders</a:t>
            </a:r>
            <a:r>
              <a:rPr dirty="0" sz="800" spc="7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import</a:t>
            </a:r>
            <a:r>
              <a:rPr dirty="0" sz="800" spc="7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 spc="-10">
                <a:solidFill>
                  <a:srgbClr val="E4E7EB"/>
                </a:solidFill>
                <a:latin typeface="Courier New"/>
                <a:cs typeface="Courier New"/>
              </a:rPr>
              <a:t>PyPDFLoader</a:t>
            </a:r>
            <a:endParaRPr sz="800">
              <a:latin typeface="Courier New"/>
              <a:cs typeface="Courier New"/>
            </a:endParaRPr>
          </a:p>
          <a:p>
            <a:pPr marL="12700" marR="5080">
              <a:lnSpc>
                <a:spcPct val="293100"/>
              </a:lnSpc>
            </a:pP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from</a:t>
            </a:r>
            <a:r>
              <a:rPr dirty="0" sz="800" spc="5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langchain_text_splitters</a:t>
            </a:r>
            <a:r>
              <a:rPr dirty="0" sz="800" spc="5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import</a:t>
            </a:r>
            <a:r>
              <a:rPr dirty="0" sz="800" spc="5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 spc="-10">
                <a:solidFill>
                  <a:srgbClr val="E4E7EB"/>
                </a:solidFill>
                <a:latin typeface="Courier New"/>
                <a:cs typeface="Courier New"/>
              </a:rPr>
              <a:t>RecursiveCharacterTextSplitter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from</a:t>
            </a:r>
            <a:r>
              <a:rPr dirty="0" sz="800" spc="5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langchain_huggingface</a:t>
            </a:r>
            <a:r>
              <a:rPr dirty="0" sz="800" spc="5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import</a:t>
            </a:r>
            <a:r>
              <a:rPr dirty="0" sz="800" spc="5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 spc="-10">
                <a:solidFill>
                  <a:srgbClr val="E4E7EB"/>
                </a:solidFill>
                <a:latin typeface="Courier New"/>
                <a:cs typeface="Courier New"/>
              </a:rPr>
              <a:t>HuggingFaceEmbeddings</a:t>
            </a:r>
            <a:endParaRPr sz="800">
              <a:latin typeface="Courier New"/>
              <a:cs typeface="Courier New"/>
            </a:endParaRPr>
          </a:p>
          <a:p>
            <a:pPr marL="12700" marR="1977389">
              <a:lnSpc>
                <a:spcPct val="293100"/>
              </a:lnSpc>
            </a:pP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from</a:t>
            </a:r>
            <a:r>
              <a:rPr dirty="0" sz="800" spc="4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langchain_chroma</a:t>
            </a:r>
            <a:r>
              <a:rPr dirty="0" sz="800" spc="4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import</a:t>
            </a:r>
            <a:r>
              <a:rPr dirty="0" sz="800" spc="4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 spc="-10">
                <a:solidFill>
                  <a:srgbClr val="E4E7EB"/>
                </a:solidFill>
                <a:latin typeface="Courier New"/>
                <a:cs typeface="Courier New"/>
              </a:rPr>
              <a:t>Chroma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from</a:t>
            </a:r>
            <a:r>
              <a:rPr dirty="0" sz="800" spc="3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transformers</a:t>
            </a:r>
            <a:r>
              <a:rPr dirty="0" sz="800" spc="4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import</a:t>
            </a:r>
            <a:r>
              <a:rPr dirty="0" sz="800" spc="3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 spc="-10">
                <a:solidFill>
                  <a:srgbClr val="E4E7EB"/>
                </a:solidFill>
                <a:latin typeface="Courier New"/>
                <a:cs typeface="Courier New"/>
              </a:rPr>
              <a:t>pipeline</a:t>
            </a:r>
            <a:endParaRPr sz="800">
              <a:latin typeface="Courier New"/>
              <a:cs typeface="Courier New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754257" y="6355670"/>
            <a:ext cx="1827530" cy="141605"/>
          </a:xfrm>
          <a:custGeom>
            <a:avLst/>
            <a:gdLst/>
            <a:ahLst/>
            <a:cxnLst/>
            <a:rect l="l" t="t" r="r" b="b"/>
            <a:pathLst>
              <a:path w="1827530" h="141604">
                <a:moveTo>
                  <a:pt x="1803538" y="141543"/>
                </a:moveTo>
                <a:lnTo>
                  <a:pt x="23389" y="141543"/>
                </a:lnTo>
                <a:lnTo>
                  <a:pt x="19950" y="140862"/>
                </a:lnTo>
                <a:lnTo>
                  <a:pt x="0" y="118157"/>
                </a:lnTo>
                <a:lnTo>
                  <a:pt x="0" y="114604"/>
                </a:lnTo>
                <a:lnTo>
                  <a:pt x="0" y="23359"/>
                </a:lnTo>
                <a:lnTo>
                  <a:pt x="23389" y="0"/>
                </a:lnTo>
                <a:lnTo>
                  <a:pt x="1803538" y="0"/>
                </a:lnTo>
                <a:lnTo>
                  <a:pt x="1826928" y="23359"/>
                </a:lnTo>
                <a:lnTo>
                  <a:pt x="1826928" y="118157"/>
                </a:lnTo>
                <a:lnTo>
                  <a:pt x="1806978" y="140862"/>
                </a:lnTo>
                <a:lnTo>
                  <a:pt x="1803538" y="141543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754253" y="6814057"/>
            <a:ext cx="2454275" cy="316865"/>
          </a:xfrm>
          <a:custGeom>
            <a:avLst/>
            <a:gdLst/>
            <a:ahLst/>
            <a:cxnLst/>
            <a:rect l="l" t="t" r="r" b="b"/>
            <a:pathLst>
              <a:path w="2454275" h="316865">
                <a:moveTo>
                  <a:pt x="1092111" y="198653"/>
                </a:moveTo>
                <a:lnTo>
                  <a:pt x="1068717" y="175285"/>
                </a:lnTo>
                <a:lnTo>
                  <a:pt x="0" y="175285"/>
                </a:lnTo>
                <a:lnTo>
                  <a:pt x="0" y="316852"/>
                </a:lnTo>
                <a:lnTo>
                  <a:pt x="1068717" y="316852"/>
                </a:lnTo>
                <a:lnTo>
                  <a:pt x="1092111" y="293458"/>
                </a:lnTo>
                <a:lnTo>
                  <a:pt x="1092111" y="198653"/>
                </a:lnTo>
                <a:close/>
              </a:path>
              <a:path w="2454275" h="316865">
                <a:moveTo>
                  <a:pt x="2453881" y="0"/>
                </a:moveTo>
                <a:lnTo>
                  <a:pt x="23393" y="0"/>
                </a:lnTo>
                <a:lnTo>
                  <a:pt x="19951" y="711"/>
                </a:lnTo>
                <a:lnTo>
                  <a:pt x="0" y="23406"/>
                </a:lnTo>
                <a:lnTo>
                  <a:pt x="0" y="118173"/>
                </a:lnTo>
                <a:lnTo>
                  <a:pt x="23393" y="141566"/>
                </a:lnTo>
                <a:lnTo>
                  <a:pt x="2453881" y="141566"/>
                </a:lnTo>
                <a:lnTo>
                  <a:pt x="2453881" y="0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754253" y="7279233"/>
            <a:ext cx="2157730" cy="316865"/>
          </a:xfrm>
          <a:custGeom>
            <a:avLst/>
            <a:gdLst/>
            <a:ahLst/>
            <a:cxnLst/>
            <a:rect l="l" t="t" r="r" b="b"/>
            <a:pathLst>
              <a:path w="2157730" h="316865">
                <a:moveTo>
                  <a:pt x="1799958" y="198640"/>
                </a:moveTo>
                <a:lnTo>
                  <a:pt x="1799272" y="195186"/>
                </a:lnTo>
                <a:lnTo>
                  <a:pt x="1796542" y="188607"/>
                </a:lnTo>
                <a:lnTo>
                  <a:pt x="1794586" y="185686"/>
                </a:lnTo>
                <a:lnTo>
                  <a:pt x="1792058" y="183184"/>
                </a:lnTo>
                <a:lnTo>
                  <a:pt x="1789531" y="180632"/>
                </a:lnTo>
                <a:lnTo>
                  <a:pt x="1786623" y="178676"/>
                </a:lnTo>
                <a:lnTo>
                  <a:pt x="1780006" y="175971"/>
                </a:lnTo>
                <a:lnTo>
                  <a:pt x="1776577" y="175260"/>
                </a:lnTo>
                <a:lnTo>
                  <a:pt x="0" y="175260"/>
                </a:lnTo>
                <a:lnTo>
                  <a:pt x="0" y="316826"/>
                </a:lnTo>
                <a:lnTo>
                  <a:pt x="1776577" y="316826"/>
                </a:lnTo>
                <a:lnTo>
                  <a:pt x="1799958" y="293433"/>
                </a:lnTo>
                <a:lnTo>
                  <a:pt x="1799958" y="198640"/>
                </a:lnTo>
                <a:close/>
              </a:path>
              <a:path w="2157730" h="316865">
                <a:moveTo>
                  <a:pt x="2157260" y="0"/>
                </a:moveTo>
                <a:lnTo>
                  <a:pt x="23393" y="0"/>
                </a:lnTo>
                <a:lnTo>
                  <a:pt x="19951" y="685"/>
                </a:lnTo>
                <a:lnTo>
                  <a:pt x="0" y="23368"/>
                </a:lnTo>
                <a:lnTo>
                  <a:pt x="0" y="118160"/>
                </a:lnTo>
                <a:lnTo>
                  <a:pt x="23393" y="141566"/>
                </a:lnTo>
                <a:lnTo>
                  <a:pt x="2157260" y="141566"/>
                </a:lnTo>
                <a:lnTo>
                  <a:pt x="2157260" y="0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754253" y="7744383"/>
            <a:ext cx="1982470" cy="316865"/>
          </a:xfrm>
          <a:custGeom>
            <a:avLst/>
            <a:gdLst/>
            <a:ahLst/>
            <a:cxnLst/>
            <a:rect l="l" t="t" r="r" b="b"/>
            <a:pathLst>
              <a:path w="1982470" h="316865">
                <a:moveTo>
                  <a:pt x="1267383" y="198678"/>
                </a:moveTo>
                <a:lnTo>
                  <a:pt x="1266698" y="195224"/>
                </a:lnTo>
                <a:lnTo>
                  <a:pt x="1263967" y="188595"/>
                </a:lnTo>
                <a:lnTo>
                  <a:pt x="1262024" y="185661"/>
                </a:lnTo>
                <a:lnTo>
                  <a:pt x="1259484" y="183159"/>
                </a:lnTo>
                <a:lnTo>
                  <a:pt x="1256957" y="180606"/>
                </a:lnTo>
                <a:lnTo>
                  <a:pt x="1254048" y="178663"/>
                </a:lnTo>
                <a:lnTo>
                  <a:pt x="1247432" y="175945"/>
                </a:lnTo>
                <a:lnTo>
                  <a:pt x="1244003" y="175260"/>
                </a:lnTo>
                <a:lnTo>
                  <a:pt x="0" y="175260"/>
                </a:lnTo>
                <a:lnTo>
                  <a:pt x="0" y="316852"/>
                </a:lnTo>
                <a:lnTo>
                  <a:pt x="1244003" y="316852"/>
                </a:lnTo>
                <a:lnTo>
                  <a:pt x="1267383" y="293446"/>
                </a:lnTo>
                <a:lnTo>
                  <a:pt x="1267383" y="198678"/>
                </a:lnTo>
                <a:close/>
              </a:path>
              <a:path w="1982470" h="316865">
                <a:moveTo>
                  <a:pt x="1981974" y="0"/>
                </a:moveTo>
                <a:lnTo>
                  <a:pt x="23393" y="0"/>
                </a:lnTo>
                <a:lnTo>
                  <a:pt x="19951" y="698"/>
                </a:lnTo>
                <a:lnTo>
                  <a:pt x="13335" y="3416"/>
                </a:lnTo>
                <a:lnTo>
                  <a:pt x="10426" y="5359"/>
                </a:lnTo>
                <a:lnTo>
                  <a:pt x="7899" y="7912"/>
                </a:lnTo>
                <a:lnTo>
                  <a:pt x="5372" y="10414"/>
                </a:lnTo>
                <a:lnTo>
                  <a:pt x="3416" y="13335"/>
                </a:lnTo>
                <a:lnTo>
                  <a:pt x="685" y="19926"/>
                </a:lnTo>
                <a:lnTo>
                  <a:pt x="0" y="23368"/>
                </a:lnTo>
                <a:lnTo>
                  <a:pt x="0" y="118173"/>
                </a:lnTo>
                <a:lnTo>
                  <a:pt x="23393" y="141566"/>
                </a:lnTo>
                <a:lnTo>
                  <a:pt x="1981974" y="141566"/>
                </a:lnTo>
                <a:lnTo>
                  <a:pt x="1981974" y="0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5945161" y="7919683"/>
            <a:ext cx="647700" cy="141605"/>
          </a:xfrm>
          <a:custGeom>
            <a:avLst/>
            <a:gdLst/>
            <a:ahLst/>
            <a:cxnLst/>
            <a:rect l="l" t="t" r="r" b="b"/>
            <a:pathLst>
              <a:path w="647700" h="141604">
                <a:moveTo>
                  <a:pt x="623787" y="141543"/>
                </a:moveTo>
                <a:lnTo>
                  <a:pt x="23390" y="141543"/>
                </a:lnTo>
                <a:lnTo>
                  <a:pt x="19950" y="140862"/>
                </a:lnTo>
                <a:lnTo>
                  <a:pt x="0" y="118157"/>
                </a:lnTo>
                <a:lnTo>
                  <a:pt x="0" y="114604"/>
                </a:lnTo>
                <a:lnTo>
                  <a:pt x="0" y="23386"/>
                </a:lnTo>
                <a:lnTo>
                  <a:pt x="23390" y="0"/>
                </a:lnTo>
                <a:lnTo>
                  <a:pt x="623787" y="0"/>
                </a:lnTo>
                <a:lnTo>
                  <a:pt x="647177" y="23386"/>
                </a:lnTo>
                <a:lnTo>
                  <a:pt x="647177" y="118157"/>
                </a:lnTo>
                <a:lnTo>
                  <a:pt x="627226" y="140862"/>
                </a:lnTo>
                <a:lnTo>
                  <a:pt x="623787" y="141543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5250793" y="8094960"/>
            <a:ext cx="404495" cy="141605"/>
          </a:xfrm>
          <a:custGeom>
            <a:avLst/>
            <a:gdLst/>
            <a:ahLst/>
            <a:cxnLst/>
            <a:rect l="l" t="t" r="r" b="b"/>
            <a:pathLst>
              <a:path w="404495" h="141604">
                <a:moveTo>
                  <a:pt x="381095" y="141543"/>
                </a:moveTo>
                <a:lnTo>
                  <a:pt x="23390" y="141543"/>
                </a:lnTo>
                <a:lnTo>
                  <a:pt x="19949" y="140862"/>
                </a:lnTo>
                <a:lnTo>
                  <a:pt x="0" y="118157"/>
                </a:lnTo>
                <a:lnTo>
                  <a:pt x="0" y="114604"/>
                </a:lnTo>
                <a:lnTo>
                  <a:pt x="0" y="23359"/>
                </a:lnTo>
                <a:lnTo>
                  <a:pt x="23390" y="0"/>
                </a:lnTo>
                <a:lnTo>
                  <a:pt x="381095" y="0"/>
                </a:lnTo>
                <a:lnTo>
                  <a:pt x="404486" y="23359"/>
                </a:lnTo>
                <a:lnTo>
                  <a:pt x="404486" y="118157"/>
                </a:lnTo>
                <a:lnTo>
                  <a:pt x="384535" y="140862"/>
                </a:lnTo>
                <a:lnTo>
                  <a:pt x="381095" y="141543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754257" y="8384842"/>
            <a:ext cx="2124075" cy="141605"/>
          </a:xfrm>
          <a:custGeom>
            <a:avLst/>
            <a:gdLst/>
            <a:ahLst/>
            <a:cxnLst/>
            <a:rect l="l" t="t" r="r" b="b"/>
            <a:pathLst>
              <a:path w="2124075" h="141604">
                <a:moveTo>
                  <a:pt x="2100161" y="141543"/>
                </a:moveTo>
                <a:lnTo>
                  <a:pt x="23389" y="141543"/>
                </a:lnTo>
                <a:lnTo>
                  <a:pt x="19950" y="140862"/>
                </a:lnTo>
                <a:lnTo>
                  <a:pt x="0" y="118157"/>
                </a:lnTo>
                <a:lnTo>
                  <a:pt x="0" y="114604"/>
                </a:lnTo>
                <a:lnTo>
                  <a:pt x="0" y="23359"/>
                </a:lnTo>
                <a:lnTo>
                  <a:pt x="23389" y="0"/>
                </a:lnTo>
                <a:lnTo>
                  <a:pt x="2100161" y="0"/>
                </a:lnTo>
                <a:lnTo>
                  <a:pt x="2123551" y="23359"/>
                </a:lnTo>
                <a:lnTo>
                  <a:pt x="2123551" y="118157"/>
                </a:lnTo>
                <a:lnTo>
                  <a:pt x="2103601" y="140862"/>
                </a:lnTo>
                <a:lnTo>
                  <a:pt x="2100161" y="141543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754257" y="8836517"/>
            <a:ext cx="2009139" cy="141605"/>
          </a:xfrm>
          <a:custGeom>
            <a:avLst/>
            <a:gdLst/>
            <a:ahLst/>
            <a:cxnLst/>
            <a:rect l="l" t="t" r="r" b="b"/>
            <a:pathLst>
              <a:path w="2009139" h="141604">
                <a:moveTo>
                  <a:pt x="1985557" y="141543"/>
                </a:moveTo>
                <a:lnTo>
                  <a:pt x="23389" y="141543"/>
                </a:lnTo>
                <a:lnTo>
                  <a:pt x="19950" y="140862"/>
                </a:lnTo>
                <a:lnTo>
                  <a:pt x="0" y="118157"/>
                </a:lnTo>
                <a:lnTo>
                  <a:pt x="0" y="114604"/>
                </a:lnTo>
                <a:lnTo>
                  <a:pt x="0" y="23359"/>
                </a:lnTo>
                <a:lnTo>
                  <a:pt x="23389" y="0"/>
                </a:lnTo>
                <a:lnTo>
                  <a:pt x="1985557" y="0"/>
                </a:lnTo>
                <a:lnTo>
                  <a:pt x="2008947" y="23359"/>
                </a:lnTo>
                <a:lnTo>
                  <a:pt x="2008947" y="118157"/>
                </a:lnTo>
                <a:lnTo>
                  <a:pt x="1988997" y="140862"/>
                </a:lnTo>
                <a:lnTo>
                  <a:pt x="1985557" y="141543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graphicFrame>
        <p:nvGraphicFramePr>
          <p:cNvPr id="17" name="object 17"/>
          <p:cNvGraphicFramePr>
            <a:graphicFrameLocks noGrp="1"/>
          </p:cNvGraphicFramePr>
          <p:nvPr/>
        </p:nvGraphicFramePr>
        <p:xfrm>
          <a:off x="680102" y="5991633"/>
          <a:ext cx="6278880" cy="32194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932430"/>
                <a:gridCol w="3262629"/>
              </a:tblGrid>
              <a:tr h="282575">
                <a:tc>
                  <a:txBody>
                    <a:bodyPr/>
                    <a:lstStyle/>
                    <a:p>
                      <a:pPr marL="70485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950" spc="-20" b="1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Line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64769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marL="72390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950" spc="-10" b="1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Explanation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64769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  <a:solidFill>
                      <a:srgbClr val="F7FAFB"/>
                    </a:solidFill>
                  </a:tcPr>
                </a:tc>
              </a:tr>
              <a:tr h="457834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from</a:t>
                      </a:r>
                      <a:r>
                        <a:rPr dirty="0" sz="750" spc="8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google.colab</a:t>
                      </a:r>
                      <a:r>
                        <a:rPr dirty="0" sz="750" spc="8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import</a:t>
                      </a:r>
                      <a:r>
                        <a:rPr dirty="0" sz="750" spc="85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 spc="-1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files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90170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2390" marR="72390">
                        <a:lnSpc>
                          <a:spcPct val="121100"/>
                        </a:lnSpc>
                        <a:spcBef>
                          <a:spcPts val="270"/>
                        </a:spcBef>
                      </a:pP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Imports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Colab's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00" spc="-35">
                          <a:solidFill>
                            <a:srgbClr val="111726"/>
                          </a:solidFill>
                          <a:latin typeface="Arial"/>
                          <a:cs typeface="Arial"/>
                        </a:rPr>
                        <a:t>ﬁ</a:t>
                      </a:r>
                      <a:r>
                        <a:rPr dirty="0" sz="950" spc="-3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le-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upload</a:t>
                      </a:r>
                      <a:r>
                        <a:rPr dirty="0" sz="95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widget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helper</a:t>
                      </a:r>
                      <a:r>
                        <a:rPr dirty="0" sz="95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00" spc="-180">
                          <a:solidFill>
                            <a:srgbClr val="111726"/>
                          </a:solidFill>
                          <a:latin typeface="Arial"/>
                          <a:cs typeface="Arial"/>
                        </a:rPr>
                        <a:t>—</a:t>
                      </a:r>
                      <a:r>
                        <a:rPr dirty="0" sz="900" spc="-40">
                          <a:solidFill>
                            <a:srgbClr val="111726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only</a:t>
                      </a:r>
                      <a:r>
                        <a:rPr dirty="0" sz="95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available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5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inside</a:t>
                      </a:r>
                      <a:r>
                        <a:rPr dirty="0" sz="950" spc="50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9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a</a:t>
                      </a:r>
                      <a:r>
                        <a:rPr dirty="0" sz="950" spc="-2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Google</a:t>
                      </a:r>
                      <a:r>
                        <a:rPr dirty="0" sz="950" spc="-2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Colab</a:t>
                      </a:r>
                      <a:r>
                        <a:rPr dirty="0" sz="950" spc="-2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runtime.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34290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</a:tr>
              <a:tr h="464820">
                <a:tc>
                  <a:txBody>
                    <a:bodyPr/>
                    <a:lstStyle/>
                    <a:p>
                      <a:pPr marL="70485" marR="400685" indent="26670">
                        <a:lnSpc>
                          <a:spcPct val="153300"/>
                        </a:lnSpc>
                        <a:spcBef>
                          <a:spcPts val="229"/>
                        </a:spcBef>
                      </a:pP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from</a:t>
                      </a:r>
                      <a:r>
                        <a:rPr dirty="0" sz="750" spc="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 spc="-1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langchain_community.document_loaders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import</a:t>
                      </a:r>
                      <a:r>
                        <a:rPr dirty="0" sz="750" spc="7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 spc="-1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PyPDFLoader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29209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2390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PDF</a:t>
                      </a:r>
                      <a:r>
                        <a:rPr dirty="0" sz="950" spc="-2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loader,</a:t>
                      </a:r>
                      <a:r>
                        <a:rPr dirty="0" sz="950" spc="-2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9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same</a:t>
                      </a:r>
                      <a:r>
                        <a:rPr dirty="0" sz="950" spc="-2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role</a:t>
                      </a:r>
                      <a:r>
                        <a:rPr dirty="0" sz="950" spc="-2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as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in</a:t>
                      </a:r>
                      <a:r>
                        <a:rPr dirty="0" sz="950" spc="-2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the</a:t>
                      </a:r>
                      <a:r>
                        <a:rPr dirty="0" sz="950" spc="-2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other</a:t>
                      </a:r>
                      <a:r>
                        <a:rPr dirty="0" sz="950" spc="-2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two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projects.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64769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</a:tr>
              <a:tr h="464820">
                <a:tc>
                  <a:txBody>
                    <a:bodyPr/>
                    <a:lstStyle/>
                    <a:p>
                      <a:pPr marL="70485" marR="696595" indent="26670">
                        <a:lnSpc>
                          <a:spcPct val="153300"/>
                        </a:lnSpc>
                        <a:spcBef>
                          <a:spcPts val="229"/>
                        </a:spcBef>
                      </a:pP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from</a:t>
                      </a:r>
                      <a:r>
                        <a:rPr dirty="0" sz="750" spc="135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langchain_text_splitters</a:t>
                      </a:r>
                      <a:r>
                        <a:rPr dirty="0" sz="750" spc="14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 spc="-1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import RecursiveCharacterTextSplitter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29209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2390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Chunking</a:t>
                      </a:r>
                      <a:r>
                        <a:rPr dirty="0" sz="950" spc="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utility.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64769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marL="70485" marR="874394" indent="26670">
                        <a:lnSpc>
                          <a:spcPct val="153300"/>
                        </a:lnSpc>
                        <a:spcBef>
                          <a:spcPts val="229"/>
                        </a:spcBef>
                      </a:pP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from</a:t>
                      </a:r>
                      <a:r>
                        <a:rPr dirty="0" sz="750" spc="125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langchain_huggingface</a:t>
                      </a:r>
                      <a:r>
                        <a:rPr dirty="0" sz="750" spc="125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 spc="-1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import HuggingFaceEmbeddings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29209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just" marL="72390" marR="284480">
                        <a:lnSpc>
                          <a:spcPct val="121100"/>
                        </a:lnSpc>
                        <a:spcBef>
                          <a:spcPts val="270"/>
                        </a:spcBef>
                      </a:pP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LangChain-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native</a:t>
                      </a:r>
                      <a:r>
                        <a:rPr dirty="0" sz="950" spc="-3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wrapper</a:t>
                      </a:r>
                      <a:r>
                        <a:rPr dirty="0" sz="950" spc="-3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around</a:t>
                      </a:r>
                      <a:r>
                        <a:rPr dirty="0" sz="950" spc="-3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a</a:t>
                      </a:r>
                      <a:r>
                        <a:rPr dirty="0" sz="950" spc="-3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Hugging</a:t>
                      </a:r>
                      <a:r>
                        <a:rPr dirty="0" sz="950" spc="-3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9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Face</a:t>
                      </a:r>
                      <a:r>
                        <a:rPr dirty="0" sz="950" spc="-3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sentence-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embedding</a:t>
                      </a:r>
                      <a:r>
                        <a:rPr dirty="0" sz="950" spc="-3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model,</a:t>
                      </a:r>
                      <a:r>
                        <a:rPr dirty="0" sz="950" spc="-3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implementing</a:t>
                      </a:r>
                      <a:r>
                        <a:rPr dirty="0" sz="950" spc="-3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LangChain's</a:t>
                      </a:r>
                      <a:r>
                        <a:rPr dirty="0" sz="950" spc="1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750" spc="5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Embeddings</a:t>
                      </a:r>
                      <a:r>
                        <a:rPr dirty="0" sz="750" spc="1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interface</a:t>
                      </a:r>
                      <a:r>
                        <a:rPr dirty="0" sz="950" spc="-3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so</a:t>
                      </a:r>
                      <a:r>
                        <a:rPr dirty="0" sz="950" spc="-3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5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it</a:t>
                      </a:r>
                      <a:r>
                        <a:rPr dirty="0" sz="950" spc="-3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plugs</a:t>
                      </a:r>
                      <a:r>
                        <a:rPr dirty="0" sz="950" spc="-3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6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directly</a:t>
                      </a:r>
                      <a:r>
                        <a:rPr dirty="0" sz="950" spc="-3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into</a:t>
                      </a:r>
                      <a:r>
                        <a:rPr dirty="0" sz="950" spc="1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750" spc="5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Chroma</a:t>
                      </a:r>
                      <a:r>
                        <a:rPr dirty="0" sz="750" spc="-24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950" spc="-4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.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34290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</a:tr>
              <a:tr h="451484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from</a:t>
                      </a:r>
                      <a:r>
                        <a:rPr dirty="0" sz="750" spc="9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langchain_chroma</a:t>
                      </a:r>
                      <a:r>
                        <a:rPr dirty="0" sz="750" spc="95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import</a:t>
                      </a:r>
                      <a:r>
                        <a:rPr dirty="0" sz="750" spc="95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 spc="-1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Chroma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90170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2390" marR="187960">
                        <a:lnSpc>
                          <a:spcPct val="116399"/>
                        </a:lnSpc>
                        <a:spcBef>
                          <a:spcPts val="320"/>
                        </a:spcBef>
                      </a:pP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Imports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LangChain's</a:t>
                      </a:r>
                      <a:r>
                        <a:rPr dirty="0" sz="95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9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Chroma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vector-store</a:t>
                      </a:r>
                      <a:r>
                        <a:rPr dirty="0" sz="95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6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class,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used</a:t>
                      </a:r>
                      <a:r>
                        <a:rPr dirty="0" sz="95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to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5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create</a:t>
                      </a:r>
                      <a:r>
                        <a:rPr dirty="0" sz="950" spc="50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and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query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9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an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6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in-</a:t>
                      </a:r>
                      <a:r>
                        <a:rPr dirty="0" sz="950" spc="-9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memory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6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(or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on-</a:t>
                      </a:r>
                      <a:r>
                        <a:rPr dirty="0" sz="950" spc="-7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disk)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vector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index.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40640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</a:tr>
              <a:tr h="457834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from</a:t>
                      </a:r>
                      <a:r>
                        <a:rPr dirty="0" sz="750" spc="8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transformers</a:t>
                      </a:r>
                      <a:r>
                        <a:rPr dirty="0" sz="750" spc="8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import</a:t>
                      </a:r>
                      <a:r>
                        <a:rPr dirty="0" sz="750" spc="85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 spc="-1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pipeline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90170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2390" marR="136525">
                        <a:lnSpc>
                          <a:spcPct val="121100"/>
                        </a:lnSpc>
                        <a:spcBef>
                          <a:spcPts val="270"/>
                        </a:spcBef>
                      </a:pP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Imported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here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(and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again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later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in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6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Cell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850" spc="-50">
                          <a:solidFill>
                            <a:srgbClr val="111726"/>
                          </a:solidFill>
                          <a:latin typeface="Arial"/>
                          <a:cs typeface="Arial"/>
                        </a:rPr>
                        <a:t>9</a:t>
                      </a:r>
                      <a:r>
                        <a:rPr dirty="0" sz="950" spc="-5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)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for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generating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text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3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with</a:t>
                      </a:r>
                      <a:r>
                        <a:rPr dirty="0" sz="950" spc="50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the</a:t>
                      </a:r>
                      <a:r>
                        <a:rPr dirty="0" sz="950" spc="-2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local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9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Qwen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model.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34290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8" name="object 18"/>
          <p:cNvSpPr txBox="1"/>
          <p:nvPr/>
        </p:nvSpPr>
        <p:spPr>
          <a:xfrm>
            <a:off x="667402" y="9326760"/>
            <a:ext cx="4074160" cy="18288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000" spc="-85" b="1">
                <a:solidFill>
                  <a:srgbClr val="111726"/>
                </a:solidFill>
                <a:latin typeface="Source Han Sans JP"/>
                <a:cs typeface="Source Han Sans JP"/>
              </a:rPr>
              <a:t>Actual</a:t>
            </a:r>
            <a:r>
              <a:rPr dirty="0" sz="1000" spc="-10" b="1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100" b="1">
                <a:solidFill>
                  <a:srgbClr val="111726"/>
                </a:solidFill>
                <a:latin typeface="Source Han Sans JP"/>
                <a:cs typeface="Source Han Sans JP"/>
              </a:rPr>
              <a:t>captured</a:t>
            </a:r>
            <a:r>
              <a:rPr dirty="0" sz="1000" spc="-5" b="1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90" b="1">
                <a:solidFill>
                  <a:srgbClr val="111726"/>
                </a:solidFill>
                <a:latin typeface="Source Han Sans JP"/>
                <a:cs typeface="Source Han Sans JP"/>
              </a:rPr>
              <a:t>output:</a:t>
            </a:r>
            <a:r>
              <a:rPr dirty="0" sz="1000" spc="-10" b="1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90">
                <a:solidFill>
                  <a:srgbClr val="111726"/>
                </a:solidFill>
                <a:latin typeface="Source Han Sans JP"/>
                <a:cs typeface="Source Han Sans JP"/>
              </a:rPr>
              <a:t>a</a:t>
            </a:r>
            <a:r>
              <a:rPr dirty="0" sz="1000" spc="-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90">
                <a:solidFill>
                  <a:srgbClr val="111726"/>
                </a:solidFill>
                <a:latin typeface="Source Han Sans JP"/>
                <a:cs typeface="Source Han Sans JP"/>
              </a:rPr>
              <a:t>deprecation</a:t>
            </a:r>
            <a:r>
              <a:rPr dirty="0" sz="1000" spc="-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95">
                <a:solidFill>
                  <a:srgbClr val="111726"/>
                </a:solidFill>
                <a:latin typeface="Source Han Sans JP"/>
                <a:cs typeface="Source Han Sans JP"/>
              </a:rPr>
              <a:t>warning</a:t>
            </a:r>
            <a:r>
              <a:rPr dirty="0" sz="1000" spc="-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105">
                <a:solidFill>
                  <a:srgbClr val="111726"/>
                </a:solidFill>
                <a:latin typeface="Source Han Sans JP"/>
                <a:cs typeface="Source Han Sans JP"/>
              </a:rPr>
              <a:t>on</a:t>
            </a:r>
            <a:r>
              <a:rPr dirty="0" sz="1000" spc="-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80">
                <a:solidFill>
                  <a:srgbClr val="111726"/>
                </a:solidFill>
                <a:latin typeface="Source Han Sans JP"/>
                <a:cs typeface="Source Han Sans JP"/>
              </a:rPr>
              <a:t>stderr</a:t>
            </a:r>
            <a:r>
              <a:rPr dirty="0" sz="1000" spc="-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85">
                <a:solidFill>
                  <a:srgbClr val="111726"/>
                </a:solidFill>
                <a:latin typeface="Source Han Sans JP"/>
                <a:cs typeface="Source Han Sans JP"/>
              </a:rPr>
              <a:t>(imports</a:t>
            </a:r>
            <a:r>
              <a:rPr dirty="0" sz="1000" spc="-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60">
                <a:solidFill>
                  <a:srgbClr val="111726"/>
                </a:solidFill>
                <a:latin typeface="Source Han Sans JP"/>
                <a:cs typeface="Source Han Sans JP"/>
              </a:rPr>
              <a:t>still</a:t>
            </a:r>
            <a:r>
              <a:rPr dirty="0" sz="1000" spc="-10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45">
                <a:solidFill>
                  <a:srgbClr val="111726"/>
                </a:solidFill>
                <a:latin typeface="Source Han Sans JP"/>
                <a:cs typeface="Source Han Sans JP"/>
              </a:rPr>
              <a:t>succeed):</a:t>
            </a:r>
            <a:endParaRPr sz="1000">
              <a:latin typeface="Source Han Sans JP"/>
              <a:cs typeface="Source Han Sans JP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80102" y="571530"/>
            <a:ext cx="6202680" cy="1078865"/>
          </a:xfrm>
          <a:custGeom>
            <a:avLst/>
            <a:gdLst/>
            <a:ahLst/>
            <a:cxnLst/>
            <a:rect l="l" t="t" r="r" b="b"/>
            <a:pathLst>
              <a:path w="6202680" h="1078864">
                <a:moveTo>
                  <a:pt x="6151728" y="1078629"/>
                </a:moveTo>
                <a:lnTo>
                  <a:pt x="50390" y="1078629"/>
                </a:lnTo>
                <a:lnTo>
                  <a:pt x="46883" y="1078285"/>
                </a:lnTo>
                <a:lnTo>
                  <a:pt x="13292" y="1060299"/>
                </a:lnTo>
                <a:lnTo>
                  <a:pt x="0" y="1028203"/>
                </a:lnTo>
                <a:lnTo>
                  <a:pt x="0" y="1024697"/>
                </a:lnTo>
                <a:lnTo>
                  <a:pt x="0" y="50378"/>
                </a:lnTo>
                <a:lnTo>
                  <a:pt x="18300" y="13273"/>
                </a:lnTo>
                <a:lnTo>
                  <a:pt x="50390" y="0"/>
                </a:lnTo>
                <a:lnTo>
                  <a:pt x="6151728" y="0"/>
                </a:lnTo>
                <a:lnTo>
                  <a:pt x="6188826" y="18276"/>
                </a:lnTo>
                <a:lnTo>
                  <a:pt x="6202118" y="50378"/>
                </a:lnTo>
                <a:lnTo>
                  <a:pt x="6202118" y="1028203"/>
                </a:lnTo>
                <a:lnTo>
                  <a:pt x="6183818" y="1065301"/>
                </a:lnTo>
                <a:lnTo>
                  <a:pt x="6155235" y="1078285"/>
                </a:lnTo>
                <a:lnTo>
                  <a:pt x="6151728" y="1078629"/>
                </a:lnTo>
                <a:close/>
              </a:path>
            </a:pathLst>
          </a:custGeom>
          <a:solidFill>
            <a:srgbClr val="0E172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680102" y="1811954"/>
            <a:ext cx="6202680" cy="6985"/>
          </a:xfrm>
          <a:custGeom>
            <a:avLst/>
            <a:gdLst/>
            <a:ahLst/>
            <a:cxnLst/>
            <a:rect l="l" t="t" r="r" b="b"/>
            <a:pathLst>
              <a:path w="6202680" h="6985">
                <a:moveTo>
                  <a:pt x="6202119" y="6741"/>
                </a:moveTo>
                <a:lnTo>
                  <a:pt x="0" y="6741"/>
                </a:lnTo>
                <a:lnTo>
                  <a:pt x="0" y="0"/>
                </a:lnTo>
                <a:lnTo>
                  <a:pt x="6202119" y="0"/>
                </a:lnTo>
                <a:lnTo>
                  <a:pt x="6202119" y="6741"/>
                </a:lnTo>
                <a:close/>
              </a:path>
            </a:pathLst>
          </a:custGeom>
          <a:solidFill>
            <a:srgbClr val="E4E7E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680102" y="2277113"/>
            <a:ext cx="6202680" cy="1078865"/>
          </a:xfrm>
          <a:custGeom>
            <a:avLst/>
            <a:gdLst/>
            <a:ahLst/>
            <a:cxnLst/>
            <a:rect l="l" t="t" r="r" b="b"/>
            <a:pathLst>
              <a:path w="6202680" h="1078864">
                <a:moveTo>
                  <a:pt x="6151728" y="1078629"/>
                </a:moveTo>
                <a:lnTo>
                  <a:pt x="50390" y="1078629"/>
                </a:lnTo>
                <a:lnTo>
                  <a:pt x="46883" y="1078258"/>
                </a:lnTo>
                <a:lnTo>
                  <a:pt x="11056" y="1057589"/>
                </a:lnTo>
                <a:lnTo>
                  <a:pt x="0" y="1028223"/>
                </a:lnTo>
                <a:lnTo>
                  <a:pt x="0" y="1024697"/>
                </a:lnTo>
                <a:lnTo>
                  <a:pt x="0" y="50378"/>
                </a:lnTo>
                <a:lnTo>
                  <a:pt x="18300" y="13273"/>
                </a:lnTo>
                <a:lnTo>
                  <a:pt x="50390" y="0"/>
                </a:lnTo>
                <a:lnTo>
                  <a:pt x="6151728" y="0"/>
                </a:lnTo>
                <a:lnTo>
                  <a:pt x="6188826" y="18276"/>
                </a:lnTo>
                <a:lnTo>
                  <a:pt x="6202118" y="50378"/>
                </a:lnTo>
                <a:lnTo>
                  <a:pt x="6202118" y="1028223"/>
                </a:lnTo>
                <a:lnTo>
                  <a:pt x="6183818" y="1065301"/>
                </a:lnTo>
                <a:lnTo>
                  <a:pt x="6155235" y="1078258"/>
                </a:lnTo>
                <a:lnTo>
                  <a:pt x="6151728" y="1078629"/>
                </a:lnTo>
                <a:close/>
              </a:path>
            </a:pathLst>
          </a:custGeom>
          <a:solidFill>
            <a:srgbClr val="0E172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680102" y="5904004"/>
            <a:ext cx="6202680" cy="721360"/>
          </a:xfrm>
          <a:custGeom>
            <a:avLst/>
            <a:gdLst/>
            <a:ahLst/>
            <a:cxnLst/>
            <a:rect l="l" t="t" r="r" b="b"/>
            <a:pathLst>
              <a:path w="6202680" h="721359">
                <a:moveTo>
                  <a:pt x="6151728" y="721306"/>
                </a:moveTo>
                <a:lnTo>
                  <a:pt x="50390" y="721306"/>
                </a:lnTo>
                <a:lnTo>
                  <a:pt x="46883" y="720962"/>
                </a:lnTo>
                <a:lnTo>
                  <a:pt x="11056" y="700293"/>
                </a:lnTo>
                <a:lnTo>
                  <a:pt x="0" y="670927"/>
                </a:lnTo>
                <a:lnTo>
                  <a:pt x="0" y="667401"/>
                </a:lnTo>
                <a:lnTo>
                  <a:pt x="0" y="50378"/>
                </a:lnTo>
                <a:lnTo>
                  <a:pt x="18300" y="13273"/>
                </a:lnTo>
                <a:lnTo>
                  <a:pt x="50390" y="0"/>
                </a:lnTo>
                <a:lnTo>
                  <a:pt x="6151728" y="0"/>
                </a:lnTo>
                <a:lnTo>
                  <a:pt x="6188826" y="18276"/>
                </a:lnTo>
                <a:lnTo>
                  <a:pt x="6202118" y="50378"/>
                </a:lnTo>
                <a:lnTo>
                  <a:pt x="6202118" y="670927"/>
                </a:lnTo>
                <a:lnTo>
                  <a:pt x="6183818" y="708005"/>
                </a:lnTo>
                <a:lnTo>
                  <a:pt x="6155235" y="720962"/>
                </a:lnTo>
                <a:lnTo>
                  <a:pt x="6151728" y="721306"/>
                </a:lnTo>
                <a:close/>
              </a:path>
            </a:pathLst>
          </a:custGeom>
          <a:solidFill>
            <a:srgbClr val="0E172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680102" y="6787132"/>
            <a:ext cx="6202680" cy="6985"/>
          </a:xfrm>
          <a:custGeom>
            <a:avLst/>
            <a:gdLst/>
            <a:ahLst/>
            <a:cxnLst/>
            <a:rect l="l" t="t" r="r" b="b"/>
            <a:pathLst>
              <a:path w="6202680" h="6984">
                <a:moveTo>
                  <a:pt x="6202119" y="6741"/>
                </a:moveTo>
                <a:lnTo>
                  <a:pt x="0" y="6741"/>
                </a:lnTo>
                <a:lnTo>
                  <a:pt x="0" y="0"/>
                </a:lnTo>
                <a:lnTo>
                  <a:pt x="6202119" y="0"/>
                </a:lnTo>
                <a:lnTo>
                  <a:pt x="6202119" y="6741"/>
                </a:lnTo>
                <a:close/>
              </a:path>
            </a:pathLst>
          </a:custGeom>
          <a:solidFill>
            <a:srgbClr val="E4E7E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680102" y="7252291"/>
            <a:ext cx="6202680" cy="1078865"/>
          </a:xfrm>
          <a:custGeom>
            <a:avLst/>
            <a:gdLst/>
            <a:ahLst/>
            <a:cxnLst/>
            <a:rect l="l" t="t" r="r" b="b"/>
            <a:pathLst>
              <a:path w="6202680" h="1078865">
                <a:moveTo>
                  <a:pt x="6151728" y="1078629"/>
                </a:moveTo>
                <a:lnTo>
                  <a:pt x="50390" y="1078629"/>
                </a:lnTo>
                <a:lnTo>
                  <a:pt x="46883" y="1078285"/>
                </a:lnTo>
                <a:lnTo>
                  <a:pt x="11056" y="1057616"/>
                </a:lnTo>
                <a:lnTo>
                  <a:pt x="0" y="1028223"/>
                </a:lnTo>
                <a:lnTo>
                  <a:pt x="0" y="1024697"/>
                </a:lnTo>
                <a:lnTo>
                  <a:pt x="0" y="50378"/>
                </a:lnTo>
                <a:lnTo>
                  <a:pt x="18300" y="13273"/>
                </a:lnTo>
                <a:lnTo>
                  <a:pt x="50390" y="0"/>
                </a:lnTo>
                <a:lnTo>
                  <a:pt x="6151728" y="0"/>
                </a:lnTo>
                <a:lnTo>
                  <a:pt x="6188826" y="18276"/>
                </a:lnTo>
                <a:lnTo>
                  <a:pt x="6202118" y="50378"/>
                </a:lnTo>
                <a:lnTo>
                  <a:pt x="6202118" y="1028223"/>
                </a:lnTo>
                <a:lnTo>
                  <a:pt x="6183818" y="1065328"/>
                </a:lnTo>
                <a:lnTo>
                  <a:pt x="6155235" y="1078285"/>
                </a:lnTo>
                <a:lnTo>
                  <a:pt x="6151728" y="1078629"/>
                </a:lnTo>
                <a:close/>
              </a:path>
            </a:pathLst>
          </a:custGeom>
          <a:solidFill>
            <a:srgbClr val="0E172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761782" y="619761"/>
            <a:ext cx="5881370" cy="915669"/>
          </a:xfrm>
          <a:prstGeom prst="rect">
            <a:avLst/>
          </a:prstGeom>
        </p:spPr>
        <p:txBody>
          <a:bodyPr wrap="square" lIns="0" tIns="8890" rIns="0" bIns="0" rtlCol="0" vert="horz">
            <a:spAutoFit/>
          </a:bodyPr>
          <a:lstStyle/>
          <a:p>
            <a:pPr marL="12700" marR="5080">
              <a:lnSpc>
                <a:spcPct val="146500"/>
              </a:lnSpc>
              <a:spcBef>
                <a:spcPts val="70"/>
              </a:spcBef>
            </a:pP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DeprecationWarning:</a:t>
            </a:r>
            <a:r>
              <a:rPr dirty="0" sz="800" spc="3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`langchain-community`</a:t>
            </a:r>
            <a:r>
              <a:rPr dirty="0" sz="800" spc="4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is</a:t>
            </a:r>
            <a:r>
              <a:rPr dirty="0" sz="800" spc="3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being</a:t>
            </a:r>
            <a:r>
              <a:rPr dirty="0" sz="800" spc="4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sunset</a:t>
            </a:r>
            <a:r>
              <a:rPr dirty="0" sz="800" spc="4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and</a:t>
            </a:r>
            <a:r>
              <a:rPr dirty="0" sz="800" spc="3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is</a:t>
            </a:r>
            <a:r>
              <a:rPr dirty="0" sz="800" spc="4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no</a:t>
            </a:r>
            <a:r>
              <a:rPr dirty="0" sz="800" spc="4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longer</a:t>
            </a:r>
            <a:r>
              <a:rPr dirty="0" sz="800" spc="3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actively</a:t>
            </a:r>
            <a:r>
              <a:rPr dirty="0" sz="800" spc="4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 spc="-10">
                <a:solidFill>
                  <a:srgbClr val="E4E7EB"/>
                </a:solidFill>
                <a:latin typeface="Courier New"/>
                <a:cs typeface="Courier New"/>
              </a:rPr>
              <a:t>maintained.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See</a:t>
            </a:r>
            <a:r>
              <a:rPr dirty="0" sz="800" spc="7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  <a:hlinkClick r:id="rId2"/>
              </a:rPr>
              <a:t>https://github.com/langchain-ai/langchain-community/issues/674</a:t>
            </a:r>
            <a:r>
              <a:rPr dirty="0" sz="800" spc="7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for</a:t>
            </a:r>
            <a:r>
              <a:rPr dirty="0" sz="800" spc="7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details</a:t>
            </a:r>
            <a:r>
              <a:rPr dirty="0" sz="800" spc="7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and</a:t>
            </a:r>
            <a:r>
              <a:rPr dirty="0" sz="800" spc="7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 spc="-10">
                <a:solidFill>
                  <a:srgbClr val="E4E7EB"/>
                </a:solidFill>
                <a:latin typeface="Courier New"/>
                <a:cs typeface="Courier New"/>
              </a:rPr>
              <a:t>migration guidance</a:t>
            </a:r>
            <a:endParaRPr sz="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420"/>
              </a:spcBef>
            </a:pP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toward</a:t>
            </a:r>
            <a:r>
              <a:rPr dirty="0" sz="800" spc="4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standalone</a:t>
            </a:r>
            <a:r>
              <a:rPr dirty="0" sz="800" spc="4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integration</a:t>
            </a:r>
            <a:r>
              <a:rPr dirty="0" sz="800" spc="4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 spc="-10">
                <a:solidFill>
                  <a:srgbClr val="E4E7EB"/>
                </a:solidFill>
                <a:latin typeface="Courier New"/>
                <a:cs typeface="Courier New"/>
              </a:rPr>
              <a:t>packages.</a:t>
            </a:r>
            <a:endParaRPr sz="800">
              <a:latin typeface="Courier New"/>
              <a:cs typeface="Courier New"/>
            </a:endParaRPr>
          </a:p>
          <a:p>
            <a:pPr marL="135890">
              <a:lnSpc>
                <a:spcPct val="100000"/>
              </a:lnSpc>
              <a:spcBef>
                <a:spcPts val="475"/>
              </a:spcBef>
            </a:pP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from</a:t>
            </a:r>
            <a:r>
              <a:rPr dirty="0" sz="800" spc="7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langchain_community.document_loaders</a:t>
            </a:r>
            <a:r>
              <a:rPr dirty="0" sz="800" spc="7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import</a:t>
            </a:r>
            <a:r>
              <a:rPr dirty="0" sz="800" spc="7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 spc="-10">
                <a:solidFill>
                  <a:srgbClr val="E4E7EB"/>
                </a:solidFill>
                <a:latin typeface="Courier New"/>
                <a:cs typeface="Courier New"/>
              </a:rPr>
              <a:t>PyPDFLoader</a:t>
            </a:r>
            <a:endParaRPr sz="8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67402" y="1946535"/>
            <a:ext cx="1503680" cy="24511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450" spc="-130" b="1">
                <a:solidFill>
                  <a:srgbClr val="111726"/>
                </a:solidFill>
                <a:latin typeface="Source Han Sans JP"/>
                <a:cs typeface="Source Han Sans JP"/>
              </a:rPr>
              <a:t>Cell</a:t>
            </a:r>
            <a:r>
              <a:rPr dirty="0" sz="1450" spc="-55" b="1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300" spc="-75" b="1">
                <a:solidFill>
                  <a:srgbClr val="111726"/>
                </a:solidFill>
                <a:latin typeface="Trebuchet MS"/>
                <a:cs typeface="Trebuchet MS"/>
              </a:rPr>
              <a:t>3</a:t>
            </a:r>
            <a:r>
              <a:rPr dirty="0" sz="1300" spc="-114" b="1">
                <a:solidFill>
                  <a:srgbClr val="111726"/>
                </a:solidFill>
                <a:latin typeface="Trebuchet MS"/>
                <a:cs typeface="Trebuchet MS"/>
              </a:rPr>
              <a:t> </a:t>
            </a:r>
            <a:r>
              <a:rPr dirty="0" sz="1350" spc="-285" b="1">
                <a:solidFill>
                  <a:srgbClr val="111726"/>
                </a:solidFill>
                <a:latin typeface="Arial"/>
                <a:cs typeface="Arial"/>
              </a:rPr>
              <a:t>—</a:t>
            </a:r>
            <a:r>
              <a:rPr dirty="0" sz="1350" spc="-100" b="1">
                <a:solidFill>
                  <a:srgbClr val="111726"/>
                </a:solidFill>
                <a:latin typeface="Arial"/>
                <a:cs typeface="Arial"/>
              </a:rPr>
              <a:t> </a:t>
            </a:r>
            <a:r>
              <a:rPr dirty="0" sz="1450" spc="-170" b="1">
                <a:solidFill>
                  <a:srgbClr val="111726"/>
                </a:solidFill>
                <a:latin typeface="Source Han Sans JP"/>
                <a:cs typeface="Source Han Sans JP"/>
              </a:rPr>
              <a:t>Upload</a:t>
            </a:r>
            <a:r>
              <a:rPr dirty="0" sz="1450" spc="-55" b="1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450" spc="-135" b="1">
                <a:solidFill>
                  <a:srgbClr val="111726"/>
                </a:solidFill>
                <a:latin typeface="Source Han Sans JP"/>
                <a:cs typeface="Source Han Sans JP"/>
              </a:rPr>
              <a:t>PDF</a:t>
            </a:r>
            <a:endParaRPr sz="1450">
              <a:latin typeface="Source Han Sans JP"/>
              <a:cs typeface="Source Han Sans JP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61782" y="2377657"/>
            <a:ext cx="2183130" cy="86296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uploaded</a:t>
            </a:r>
            <a:r>
              <a:rPr dirty="0" sz="800" spc="2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=</a:t>
            </a:r>
            <a:r>
              <a:rPr dirty="0" sz="800" spc="2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 spc="-10">
                <a:solidFill>
                  <a:srgbClr val="E4E7EB"/>
                </a:solidFill>
                <a:latin typeface="Courier New"/>
                <a:cs typeface="Courier New"/>
              </a:rPr>
              <a:t>files.upload()</a:t>
            </a:r>
            <a:endParaRPr sz="800">
              <a:latin typeface="Courier New"/>
              <a:cs typeface="Courier New"/>
            </a:endParaRPr>
          </a:p>
          <a:p>
            <a:pPr marL="12700" marR="5080">
              <a:lnSpc>
                <a:spcPct val="293100"/>
              </a:lnSpc>
            </a:pP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pdf_file</a:t>
            </a:r>
            <a:r>
              <a:rPr dirty="0" sz="800" spc="2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=</a:t>
            </a:r>
            <a:r>
              <a:rPr dirty="0" sz="800" spc="2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 spc="-10">
                <a:solidFill>
                  <a:srgbClr val="E4E7EB"/>
                </a:solidFill>
                <a:latin typeface="Courier New"/>
                <a:cs typeface="Courier New"/>
              </a:rPr>
              <a:t>list(uploaded.keys())[0]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print("Uploaded:",</a:t>
            </a:r>
            <a:r>
              <a:rPr dirty="0" sz="800" spc="8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 spc="-10">
                <a:solidFill>
                  <a:srgbClr val="E4E7EB"/>
                </a:solidFill>
                <a:latin typeface="Courier New"/>
                <a:cs typeface="Courier New"/>
              </a:rPr>
              <a:t>pdf_file)</a:t>
            </a:r>
            <a:endParaRPr sz="800">
              <a:latin typeface="Courier New"/>
              <a:cs typeface="Courier New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754257" y="3827643"/>
            <a:ext cx="1530350" cy="141605"/>
          </a:xfrm>
          <a:custGeom>
            <a:avLst/>
            <a:gdLst/>
            <a:ahLst/>
            <a:cxnLst/>
            <a:rect l="l" t="t" r="r" b="b"/>
            <a:pathLst>
              <a:path w="1530350" h="141604">
                <a:moveTo>
                  <a:pt x="1506915" y="141543"/>
                </a:moveTo>
                <a:lnTo>
                  <a:pt x="23389" y="141543"/>
                </a:lnTo>
                <a:lnTo>
                  <a:pt x="19950" y="140862"/>
                </a:lnTo>
                <a:lnTo>
                  <a:pt x="0" y="118157"/>
                </a:lnTo>
                <a:lnTo>
                  <a:pt x="0" y="114604"/>
                </a:lnTo>
                <a:lnTo>
                  <a:pt x="0" y="23359"/>
                </a:lnTo>
                <a:lnTo>
                  <a:pt x="23389" y="0"/>
                </a:lnTo>
                <a:lnTo>
                  <a:pt x="1506915" y="0"/>
                </a:lnTo>
                <a:lnTo>
                  <a:pt x="1530305" y="23359"/>
                </a:lnTo>
                <a:lnTo>
                  <a:pt x="1530305" y="118157"/>
                </a:lnTo>
                <a:lnTo>
                  <a:pt x="1510355" y="140862"/>
                </a:lnTo>
                <a:lnTo>
                  <a:pt x="1506915" y="141543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754253" y="4454575"/>
            <a:ext cx="1449705" cy="316865"/>
          </a:xfrm>
          <a:custGeom>
            <a:avLst/>
            <a:gdLst/>
            <a:ahLst/>
            <a:cxnLst/>
            <a:rect l="l" t="t" r="r" b="b"/>
            <a:pathLst>
              <a:path w="1449705" h="316864">
                <a:moveTo>
                  <a:pt x="620204" y="0"/>
                </a:moveTo>
                <a:lnTo>
                  <a:pt x="23393" y="0"/>
                </a:lnTo>
                <a:lnTo>
                  <a:pt x="19951" y="698"/>
                </a:lnTo>
                <a:lnTo>
                  <a:pt x="0" y="23380"/>
                </a:lnTo>
                <a:lnTo>
                  <a:pt x="0" y="118173"/>
                </a:lnTo>
                <a:lnTo>
                  <a:pt x="23393" y="141566"/>
                </a:lnTo>
                <a:lnTo>
                  <a:pt x="620204" y="141566"/>
                </a:lnTo>
                <a:lnTo>
                  <a:pt x="620204" y="0"/>
                </a:lnTo>
                <a:close/>
              </a:path>
              <a:path w="1449705" h="316864">
                <a:moveTo>
                  <a:pt x="1449412" y="198678"/>
                </a:moveTo>
                <a:lnTo>
                  <a:pt x="1448727" y="195224"/>
                </a:lnTo>
                <a:lnTo>
                  <a:pt x="1445983" y="188595"/>
                </a:lnTo>
                <a:lnTo>
                  <a:pt x="1444040" y="185674"/>
                </a:lnTo>
                <a:lnTo>
                  <a:pt x="1441513" y="183172"/>
                </a:lnTo>
                <a:lnTo>
                  <a:pt x="1438986" y="180606"/>
                </a:lnTo>
                <a:lnTo>
                  <a:pt x="1436065" y="178663"/>
                </a:lnTo>
                <a:lnTo>
                  <a:pt x="1429461" y="175983"/>
                </a:lnTo>
                <a:lnTo>
                  <a:pt x="1426019" y="175285"/>
                </a:lnTo>
                <a:lnTo>
                  <a:pt x="0" y="175285"/>
                </a:lnTo>
                <a:lnTo>
                  <a:pt x="0" y="316852"/>
                </a:lnTo>
                <a:lnTo>
                  <a:pt x="1426019" y="316852"/>
                </a:lnTo>
                <a:lnTo>
                  <a:pt x="1449412" y="293446"/>
                </a:lnTo>
                <a:lnTo>
                  <a:pt x="1449412" y="198678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754253" y="4919725"/>
            <a:ext cx="1092200" cy="316865"/>
          </a:xfrm>
          <a:custGeom>
            <a:avLst/>
            <a:gdLst/>
            <a:ahLst/>
            <a:cxnLst/>
            <a:rect l="l" t="t" r="r" b="b"/>
            <a:pathLst>
              <a:path w="1092200" h="316864">
                <a:moveTo>
                  <a:pt x="559536" y="198666"/>
                </a:moveTo>
                <a:lnTo>
                  <a:pt x="536143" y="175285"/>
                </a:lnTo>
                <a:lnTo>
                  <a:pt x="0" y="175285"/>
                </a:lnTo>
                <a:lnTo>
                  <a:pt x="0" y="316852"/>
                </a:lnTo>
                <a:lnTo>
                  <a:pt x="536143" y="316852"/>
                </a:lnTo>
                <a:lnTo>
                  <a:pt x="559536" y="293458"/>
                </a:lnTo>
                <a:lnTo>
                  <a:pt x="559536" y="198666"/>
                </a:lnTo>
                <a:close/>
              </a:path>
              <a:path w="1092200" h="316864">
                <a:moveTo>
                  <a:pt x="1092111" y="0"/>
                </a:moveTo>
                <a:lnTo>
                  <a:pt x="23393" y="0"/>
                </a:lnTo>
                <a:lnTo>
                  <a:pt x="19951" y="711"/>
                </a:lnTo>
                <a:lnTo>
                  <a:pt x="13335" y="3416"/>
                </a:lnTo>
                <a:lnTo>
                  <a:pt x="10426" y="5372"/>
                </a:lnTo>
                <a:lnTo>
                  <a:pt x="7899" y="7924"/>
                </a:lnTo>
                <a:lnTo>
                  <a:pt x="5372" y="10426"/>
                </a:lnTo>
                <a:lnTo>
                  <a:pt x="3416" y="13347"/>
                </a:lnTo>
                <a:lnTo>
                  <a:pt x="685" y="19964"/>
                </a:lnTo>
                <a:lnTo>
                  <a:pt x="0" y="23406"/>
                </a:lnTo>
                <a:lnTo>
                  <a:pt x="0" y="118186"/>
                </a:lnTo>
                <a:lnTo>
                  <a:pt x="23393" y="141566"/>
                </a:lnTo>
                <a:lnTo>
                  <a:pt x="1092111" y="141566"/>
                </a:lnTo>
                <a:lnTo>
                  <a:pt x="1092111" y="0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graphicFrame>
        <p:nvGraphicFramePr>
          <p:cNvPr id="14" name="object 14"/>
          <p:cNvGraphicFramePr>
            <a:graphicFrameLocks noGrp="1"/>
          </p:cNvGraphicFramePr>
          <p:nvPr/>
        </p:nvGraphicFramePr>
        <p:xfrm>
          <a:off x="680102" y="3463605"/>
          <a:ext cx="6278880" cy="18459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06575"/>
                <a:gridCol w="4388485"/>
              </a:tblGrid>
              <a:tr h="282575">
                <a:tc>
                  <a:txBody>
                    <a:bodyPr/>
                    <a:lstStyle/>
                    <a:p>
                      <a:pPr marL="70485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950" spc="-20" b="1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Line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64769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marL="73025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950" spc="-10" b="1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Explanation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64769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  <a:solidFill>
                      <a:srgbClr val="F7FAFB"/>
                    </a:solidFill>
                  </a:tcPr>
                </a:tc>
              </a:tr>
              <a:tr h="626745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uploaded</a:t>
                      </a:r>
                      <a:r>
                        <a:rPr dirty="0" sz="750" spc="55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=</a:t>
                      </a:r>
                      <a:r>
                        <a:rPr dirty="0" sz="750" spc="6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 spc="-1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files.upload()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90170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just" marL="73025" marR="264795">
                        <a:lnSpc>
                          <a:spcPct val="118700"/>
                        </a:lnSpc>
                        <a:spcBef>
                          <a:spcPts val="295"/>
                        </a:spcBef>
                      </a:pP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Opens</a:t>
                      </a:r>
                      <a:r>
                        <a:rPr dirty="0" sz="950" spc="-3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a</a:t>
                      </a:r>
                      <a:r>
                        <a:rPr dirty="0" sz="950" spc="-3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browser</a:t>
                      </a:r>
                      <a:r>
                        <a:rPr dirty="0" sz="950" spc="-3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00" spc="-30">
                          <a:solidFill>
                            <a:srgbClr val="111726"/>
                          </a:solidFill>
                          <a:latin typeface="Arial"/>
                          <a:cs typeface="Arial"/>
                        </a:rPr>
                        <a:t>ﬁ</a:t>
                      </a:r>
                      <a:r>
                        <a:rPr dirty="0" sz="950" spc="-3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le-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picker</a:t>
                      </a:r>
                      <a:r>
                        <a:rPr dirty="0" sz="950" spc="-3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dialog</a:t>
                      </a:r>
                      <a:r>
                        <a:rPr dirty="0" sz="950" spc="-3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inside</a:t>
                      </a:r>
                      <a:r>
                        <a:rPr dirty="0" sz="950" spc="-3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Colab;</a:t>
                      </a:r>
                      <a:r>
                        <a:rPr dirty="0" sz="950" spc="-3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the</a:t>
                      </a:r>
                      <a:r>
                        <a:rPr dirty="0" sz="950" spc="-3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user</a:t>
                      </a:r>
                      <a:r>
                        <a:rPr dirty="0" sz="950" spc="-3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selects</a:t>
                      </a:r>
                      <a:r>
                        <a:rPr dirty="0" sz="950" spc="-3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a</a:t>
                      </a:r>
                      <a:r>
                        <a:rPr dirty="0" sz="950" spc="-3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local</a:t>
                      </a:r>
                      <a:r>
                        <a:rPr dirty="0" sz="950" spc="-3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9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PDF,</a:t>
                      </a:r>
                      <a:r>
                        <a:rPr dirty="0" sz="950" spc="-3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which</a:t>
                      </a:r>
                      <a:r>
                        <a:rPr dirty="0" sz="950" spc="-3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6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is</a:t>
                      </a:r>
                      <a:r>
                        <a:rPr dirty="0" sz="950" spc="-3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uploaded</a:t>
                      </a:r>
                      <a:r>
                        <a:rPr dirty="0" sz="950" spc="-3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into</a:t>
                      </a:r>
                      <a:r>
                        <a:rPr dirty="0" sz="950" spc="-3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the</a:t>
                      </a:r>
                      <a:r>
                        <a:rPr dirty="0" sz="950" spc="-3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Colab</a:t>
                      </a:r>
                      <a:r>
                        <a:rPr dirty="0" sz="950" spc="-3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VM's</a:t>
                      </a:r>
                      <a:r>
                        <a:rPr dirty="0" sz="950" spc="-3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00" spc="-65">
                          <a:solidFill>
                            <a:srgbClr val="111726"/>
                          </a:solidFill>
                          <a:latin typeface="Arial"/>
                          <a:cs typeface="Arial"/>
                        </a:rPr>
                        <a:t>ﬁ</a:t>
                      </a:r>
                      <a:r>
                        <a:rPr dirty="0" sz="950" spc="-6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lesystem.</a:t>
                      </a:r>
                      <a:r>
                        <a:rPr dirty="0" sz="950" spc="-3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Returns</a:t>
                      </a:r>
                      <a:r>
                        <a:rPr dirty="0" sz="950" spc="-3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a</a:t>
                      </a:r>
                      <a:r>
                        <a:rPr dirty="0" sz="950" spc="-3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dict</a:t>
                      </a:r>
                      <a:r>
                        <a:rPr dirty="0" sz="950" spc="-3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mapping</a:t>
                      </a:r>
                      <a:r>
                        <a:rPr dirty="0" sz="950" spc="-3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00" spc="-65">
                          <a:solidFill>
                            <a:srgbClr val="111726"/>
                          </a:solidFill>
                          <a:latin typeface="Arial"/>
                          <a:cs typeface="Arial"/>
                        </a:rPr>
                        <a:t>ﬁ</a:t>
                      </a:r>
                      <a:r>
                        <a:rPr dirty="0" sz="950" spc="-6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lename</a:t>
                      </a:r>
                      <a:r>
                        <a:rPr dirty="0" sz="950" spc="-3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00" spc="-90">
                          <a:solidFill>
                            <a:srgbClr val="111726"/>
                          </a:solidFill>
                          <a:latin typeface="Arial"/>
                          <a:cs typeface="Arial"/>
                        </a:rPr>
                        <a:t>→</a:t>
                      </a:r>
                      <a:r>
                        <a:rPr dirty="0" sz="900" spc="-70">
                          <a:solidFill>
                            <a:srgbClr val="111726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50" spc="-9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raw</a:t>
                      </a:r>
                      <a:r>
                        <a:rPr dirty="0" sz="950" spc="-3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00" spc="-30">
                          <a:solidFill>
                            <a:srgbClr val="111726"/>
                          </a:solidFill>
                          <a:latin typeface="Arial"/>
                          <a:cs typeface="Arial"/>
                        </a:rPr>
                        <a:t>ﬁ</a:t>
                      </a:r>
                      <a:r>
                        <a:rPr dirty="0" sz="950" spc="-3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le </a:t>
                      </a:r>
                      <a:r>
                        <a:rPr dirty="0" sz="950" spc="-7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bytes.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37465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</a:tr>
              <a:tr h="464820">
                <a:tc>
                  <a:txBody>
                    <a:bodyPr/>
                    <a:lstStyle/>
                    <a:p>
                      <a:pPr marL="70485" marR="307975" indent="26670">
                        <a:lnSpc>
                          <a:spcPct val="153300"/>
                        </a:lnSpc>
                        <a:spcBef>
                          <a:spcPts val="229"/>
                        </a:spcBef>
                      </a:pP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pdf_file</a:t>
                      </a:r>
                      <a:r>
                        <a:rPr dirty="0" sz="750" spc="85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 spc="-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= </a:t>
                      </a:r>
                      <a:r>
                        <a:rPr dirty="0" sz="750" spc="-1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list(uploaded.keys())[0]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29209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3025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Extracts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the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00" spc="-70">
                          <a:solidFill>
                            <a:srgbClr val="111726"/>
                          </a:solidFill>
                          <a:latin typeface="Arial"/>
                          <a:cs typeface="Arial"/>
                        </a:rPr>
                        <a:t>ﬁ</a:t>
                      </a:r>
                      <a:r>
                        <a:rPr dirty="0" sz="950" spc="-7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lename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of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the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00" spc="-45">
                          <a:solidFill>
                            <a:srgbClr val="111726"/>
                          </a:solidFill>
                          <a:latin typeface="Arial"/>
                          <a:cs typeface="Arial"/>
                        </a:rPr>
                        <a:t>ﬁ</a:t>
                      </a:r>
                      <a:r>
                        <a:rPr dirty="0" sz="950" spc="-4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rst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(and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typically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only)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uploaded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00" spc="-35">
                          <a:solidFill>
                            <a:srgbClr val="111726"/>
                          </a:solidFill>
                          <a:latin typeface="Arial"/>
                          <a:cs typeface="Arial"/>
                        </a:rPr>
                        <a:t>ﬁ</a:t>
                      </a:r>
                      <a:r>
                        <a:rPr dirty="0" sz="950" spc="-3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le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from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the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dict's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keys.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64769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</a:tr>
              <a:tr h="471805">
                <a:tc>
                  <a:txBody>
                    <a:bodyPr/>
                    <a:lstStyle/>
                    <a:p>
                      <a:pPr marL="70485" marR="635635" indent="26670">
                        <a:lnSpc>
                          <a:spcPct val="153300"/>
                        </a:lnSpc>
                        <a:spcBef>
                          <a:spcPts val="229"/>
                        </a:spcBef>
                      </a:pPr>
                      <a:r>
                        <a:rPr dirty="0" sz="750" spc="-1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print("Uploaded:", pdf_file)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29209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3025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950" spc="-7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Con</a:t>
                      </a:r>
                      <a:r>
                        <a:rPr dirty="0" sz="900" spc="-70">
                          <a:solidFill>
                            <a:srgbClr val="111726"/>
                          </a:solidFill>
                          <a:latin typeface="Arial"/>
                          <a:cs typeface="Arial"/>
                        </a:rPr>
                        <a:t>ﬁ</a:t>
                      </a:r>
                      <a:r>
                        <a:rPr dirty="0" sz="950" spc="-7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rms</a:t>
                      </a:r>
                      <a:r>
                        <a:rPr dirty="0" sz="950" spc="-2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which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00" spc="-35">
                          <a:solidFill>
                            <a:srgbClr val="111726"/>
                          </a:solidFill>
                          <a:latin typeface="Arial"/>
                          <a:cs typeface="Arial"/>
                        </a:rPr>
                        <a:t>ﬁ</a:t>
                      </a:r>
                      <a:r>
                        <a:rPr dirty="0" sz="950" spc="-3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le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9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was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uploaded.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64769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5" name="object 15"/>
          <p:cNvSpPr/>
          <p:nvPr/>
        </p:nvSpPr>
        <p:spPr>
          <a:xfrm>
            <a:off x="1509298" y="5634347"/>
            <a:ext cx="674370" cy="148590"/>
          </a:xfrm>
          <a:custGeom>
            <a:avLst/>
            <a:gdLst/>
            <a:ahLst/>
            <a:cxnLst/>
            <a:rect l="l" t="t" r="r" b="b"/>
            <a:pathLst>
              <a:path w="674369" h="148589">
                <a:moveTo>
                  <a:pt x="650753" y="148284"/>
                </a:moveTo>
                <a:lnTo>
                  <a:pt x="23389" y="148284"/>
                </a:lnTo>
                <a:lnTo>
                  <a:pt x="19950" y="147603"/>
                </a:lnTo>
                <a:lnTo>
                  <a:pt x="0" y="124898"/>
                </a:lnTo>
                <a:lnTo>
                  <a:pt x="0" y="121345"/>
                </a:lnTo>
                <a:lnTo>
                  <a:pt x="0" y="23359"/>
                </a:lnTo>
                <a:lnTo>
                  <a:pt x="23389" y="0"/>
                </a:lnTo>
                <a:lnTo>
                  <a:pt x="650753" y="0"/>
                </a:lnTo>
                <a:lnTo>
                  <a:pt x="674143" y="23359"/>
                </a:lnTo>
                <a:lnTo>
                  <a:pt x="674143" y="124898"/>
                </a:lnTo>
                <a:lnTo>
                  <a:pt x="654193" y="147603"/>
                </a:lnTo>
                <a:lnTo>
                  <a:pt x="650753" y="148284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667402" y="5391608"/>
            <a:ext cx="6205220" cy="38989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19400"/>
              </a:lnSpc>
              <a:spcBef>
                <a:spcPts val="95"/>
              </a:spcBef>
            </a:pPr>
            <a:r>
              <a:rPr dirty="0" sz="1000" spc="-85" b="1">
                <a:solidFill>
                  <a:srgbClr val="111726"/>
                </a:solidFill>
                <a:latin typeface="Source Han Sans JP"/>
                <a:cs typeface="Source Han Sans JP"/>
              </a:rPr>
              <a:t>Actual</a:t>
            </a:r>
            <a:r>
              <a:rPr dirty="0" sz="1000" spc="-15" b="1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100" b="1">
                <a:solidFill>
                  <a:srgbClr val="111726"/>
                </a:solidFill>
                <a:latin typeface="Source Han Sans JP"/>
                <a:cs typeface="Source Han Sans JP"/>
              </a:rPr>
              <a:t>captured</a:t>
            </a:r>
            <a:r>
              <a:rPr dirty="0" sz="1000" spc="-10" b="1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95" b="1">
                <a:solidFill>
                  <a:srgbClr val="111726"/>
                </a:solidFill>
                <a:latin typeface="Source Han Sans JP"/>
                <a:cs typeface="Source Han Sans JP"/>
              </a:rPr>
              <a:t>output</a:t>
            </a:r>
            <a:r>
              <a:rPr dirty="0" sz="1000" spc="-20" b="1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75">
                <a:solidFill>
                  <a:srgbClr val="111726"/>
                </a:solidFill>
                <a:latin typeface="Source Han Sans JP"/>
                <a:cs typeface="Source Han Sans JP"/>
              </a:rPr>
              <a:t>(a</a:t>
            </a:r>
            <a:r>
              <a:rPr dirty="0" sz="1000" spc="-1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90">
                <a:solidFill>
                  <a:srgbClr val="111726"/>
                </a:solidFill>
                <a:latin typeface="Source Han Sans JP"/>
                <a:cs typeface="Source Han Sans JP"/>
              </a:rPr>
              <a:t>browser</a:t>
            </a:r>
            <a:r>
              <a:rPr dirty="0" sz="1000" spc="-10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90">
                <a:solidFill>
                  <a:srgbClr val="111726"/>
                </a:solidFill>
                <a:latin typeface="Source Han Sans JP"/>
                <a:cs typeface="Source Han Sans JP"/>
              </a:rPr>
              <a:t>upload</a:t>
            </a:r>
            <a:r>
              <a:rPr dirty="0" sz="1000" spc="-1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90">
                <a:solidFill>
                  <a:srgbClr val="111726"/>
                </a:solidFill>
                <a:latin typeface="Source Han Sans JP"/>
                <a:cs typeface="Source Han Sans JP"/>
              </a:rPr>
              <a:t>widget</a:t>
            </a:r>
            <a:r>
              <a:rPr dirty="0" sz="1000" spc="-10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70">
                <a:solidFill>
                  <a:srgbClr val="111726"/>
                </a:solidFill>
                <a:latin typeface="Source Han Sans JP"/>
                <a:cs typeface="Source Han Sans JP"/>
              </a:rPr>
              <a:t>is</a:t>
            </a:r>
            <a:r>
              <a:rPr dirty="0" sz="1000" spc="-1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80">
                <a:solidFill>
                  <a:srgbClr val="111726"/>
                </a:solidFill>
                <a:latin typeface="Source Han Sans JP"/>
                <a:cs typeface="Source Han Sans JP"/>
              </a:rPr>
              <a:t>displayed,</a:t>
            </a:r>
            <a:r>
              <a:rPr dirty="0" sz="1000" spc="-10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90">
                <a:solidFill>
                  <a:srgbClr val="111726"/>
                </a:solidFill>
                <a:latin typeface="Source Han Sans JP"/>
                <a:cs typeface="Source Han Sans JP"/>
              </a:rPr>
              <a:t>then</a:t>
            </a:r>
            <a:r>
              <a:rPr dirty="0" sz="1000" spc="-1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70">
                <a:solidFill>
                  <a:srgbClr val="111726"/>
                </a:solidFill>
                <a:latin typeface="Source Han Sans JP"/>
                <a:cs typeface="Source Han Sans JP"/>
              </a:rPr>
              <a:t>this</a:t>
            </a:r>
            <a:r>
              <a:rPr dirty="0" sz="1000" spc="-10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90">
                <a:solidFill>
                  <a:srgbClr val="111726"/>
                </a:solidFill>
                <a:latin typeface="Source Han Sans JP"/>
                <a:cs typeface="Source Han Sans JP"/>
              </a:rPr>
              <a:t>text</a:t>
            </a:r>
            <a:r>
              <a:rPr dirty="0" sz="1000" spc="-1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70">
                <a:solidFill>
                  <a:srgbClr val="111726"/>
                </a:solidFill>
                <a:latin typeface="Source Han Sans JP"/>
                <a:cs typeface="Source Han Sans JP"/>
              </a:rPr>
              <a:t>is</a:t>
            </a:r>
            <a:r>
              <a:rPr dirty="0" sz="1000" spc="-10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80">
                <a:solidFill>
                  <a:srgbClr val="111726"/>
                </a:solidFill>
                <a:latin typeface="Source Han Sans JP"/>
                <a:cs typeface="Source Han Sans JP"/>
              </a:rPr>
              <a:t>printed)</a:t>
            </a:r>
            <a:r>
              <a:rPr dirty="0" sz="1000" spc="-1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950" spc="-204">
                <a:solidFill>
                  <a:srgbClr val="111726"/>
                </a:solidFill>
                <a:latin typeface="Arial"/>
                <a:cs typeface="Arial"/>
              </a:rPr>
              <a:t>—</a:t>
            </a:r>
            <a:r>
              <a:rPr dirty="0" sz="950" spc="-50">
                <a:solidFill>
                  <a:srgbClr val="111726"/>
                </a:solidFill>
                <a:latin typeface="Arial"/>
                <a:cs typeface="Arial"/>
              </a:rPr>
              <a:t> </a:t>
            </a:r>
            <a:r>
              <a:rPr dirty="0" sz="1000" spc="-105">
                <a:solidFill>
                  <a:srgbClr val="111726"/>
                </a:solidFill>
                <a:latin typeface="Source Han Sans JP"/>
                <a:cs typeface="Source Han Sans JP"/>
              </a:rPr>
              <a:t>note</a:t>
            </a:r>
            <a:r>
              <a:rPr dirty="0" sz="1000" spc="-1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90">
                <a:solidFill>
                  <a:srgbClr val="111726"/>
                </a:solidFill>
                <a:latin typeface="Source Han Sans JP"/>
                <a:cs typeface="Source Han Sans JP"/>
              </a:rPr>
              <a:t>the</a:t>
            </a:r>
            <a:r>
              <a:rPr dirty="0" sz="1000" spc="-10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950" spc="-40">
                <a:solidFill>
                  <a:srgbClr val="111726"/>
                </a:solidFill>
                <a:latin typeface="Arial"/>
                <a:cs typeface="Arial"/>
              </a:rPr>
              <a:t>ﬁ</a:t>
            </a:r>
            <a:r>
              <a:rPr dirty="0" sz="1000" spc="-40">
                <a:solidFill>
                  <a:srgbClr val="111726"/>
                </a:solidFill>
                <a:latin typeface="Source Han Sans JP"/>
                <a:cs typeface="Source Han Sans JP"/>
              </a:rPr>
              <a:t>le</a:t>
            </a:r>
            <a:r>
              <a:rPr dirty="0" sz="1000" spc="-1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75">
                <a:solidFill>
                  <a:srgbClr val="111726"/>
                </a:solidFill>
                <a:latin typeface="Source Han Sans JP"/>
                <a:cs typeface="Source Han Sans JP"/>
              </a:rPr>
              <a:t>actually</a:t>
            </a:r>
            <a:r>
              <a:rPr dirty="0" sz="1000" spc="-10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90">
                <a:solidFill>
                  <a:srgbClr val="111726"/>
                </a:solidFill>
                <a:latin typeface="Source Han Sans JP"/>
                <a:cs typeface="Source Han Sans JP"/>
              </a:rPr>
              <a:t>uploaded</a:t>
            </a:r>
            <a:r>
              <a:rPr dirty="0" sz="1000" spc="-1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25">
                <a:solidFill>
                  <a:srgbClr val="111726"/>
                </a:solidFill>
                <a:latin typeface="Source Han Sans JP"/>
                <a:cs typeface="Source Han Sans JP"/>
              </a:rPr>
              <a:t>in</a:t>
            </a:r>
            <a:r>
              <a:rPr dirty="0" sz="1000" spc="500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70">
                <a:solidFill>
                  <a:srgbClr val="111726"/>
                </a:solidFill>
                <a:latin typeface="Source Han Sans JP"/>
                <a:cs typeface="Source Han Sans JP"/>
              </a:rPr>
              <a:t>this</a:t>
            </a:r>
            <a:r>
              <a:rPr dirty="0" sz="1000" spc="-30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85">
                <a:solidFill>
                  <a:srgbClr val="111726"/>
                </a:solidFill>
                <a:latin typeface="Source Han Sans JP"/>
                <a:cs typeface="Source Han Sans JP"/>
              </a:rPr>
              <a:t>run</a:t>
            </a:r>
            <a:r>
              <a:rPr dirty="0" sz="1000" spc="-30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100">
                <a:solidFill>
                  <a:srgbClr val="111726"/>
                </a:solidFill>
                <a:latin typeface="Source Han Sans JP"/>
                <a:cs typeface="Source Han Sans JP"/>
              </a:rPr>
              <a:t>was</a:t>
            </a:r>
            <a:r>
              <a:rPr dirty="0" sz="1000" spc="-30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60" b="1">
                <a:solidFill>
                  <a:srgbClr val="111726"/>
                </a:solidFill>
                <a:latin typeface="Source Han Sans JP"/>
                <a:cs typeface="Source Han Sans JP"/>
              </a:rPr>
              <a:t>not</a:t>
            </a:r>
            <a:r>
              <a:rPr dirty="0" sz="1000" spc="180" b="1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800">
                <a:solidFill>
                  <a:srgbClr val="111726"/>
                </a:solidFill>
                <a:latin typeface="Courier New"/>
                <a:cs typeface="Courier New"/>
              </a:rPr>
              <a:t>sample.pdf</a:t>
            </a:r>
            <a:r>
              <a:rPr dirty="0" sz="800" spc="-260">
                <a:solidFill>
                  <a:srgbClr val="111726"/>
                </a:solidFill>
                <a:latin typeface="Courier New"/>
                <a:cs typeface="Courier New"/>
              </a:rPr>
              <a:t> </a:t>
            </a:r>
            <a:r>
              <a:rPr dirty="0" sz="1000" spc="-50">
                <a:solidFill>
                  <a:srgbClr val="111726"/>
                </a:solidFill>
                <a:latin typeface="Source Han Sans JP"/>
                <a:cs typeface="Source Han Sans JP"/>
              </a:rPr>
              <a:t>,</a:t>
            </a:r>
            <a:r>
              <a:rPr dirty="0" sz="1000" spc="-30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85">
                <a:solidFill>
                  <a:srgbClr val="111726"/>
                </a:solidFill>
                <a:latin typeface="Source Han Sans JP"/>
                <a:cs typeface="Source Han Sans JP"/>
              </a:rPr>
              <a:t>but</a:t>
            </a:r>
            <a:r>
              <a:rPr dirty="0" sz="1000" spc="-30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90">
                <a:solidFill>
                  <a:srgbClr val="111726"/>
                </a:solidFill>
                <a:latin typeface="Source Han Sans JP"/>
                <a:cs typeface="Source Han Sans JP"/>
              </a:rPr>
              <a:t>a</a:t>
            </a:r>
            <a:r>
              <a:rPr dirty="0" sz="1000" spc="-30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65">
                <a:solidFill>
                  <a:srgbClr val="111726"/>
                </a:solidFill>
                <a:latin typeface="Source Han Sans JP"/>
                <a:cs typeface="Source Han Sans JP"/>
              </a:rPr>
              <a:t>di</a:t>
            </a:r>
            <a:r>
              <a:rPr dirty="0" sz="950" spc="-65">
                <a:solidFill>
                  <a:srgbClr val="111726"/>
                </a:solidFill>
                <a:latin typeface="Arial"/>
                <a:cs typeface="Arial"/>
              </a:rPr>
              <a:t>ﬀ</a:t>
            </a:r>
            <a:r>
              <a:rPr dirty="0" sz="1000" spc="-65">
                <a:solidFill>
                  <a:srgbClr val="111726"/>
                </a:solidFill>
                <a:latin typeface="Source Han Sans JP"/>
                <a:cs typeface="Source Han Sans JP"/>
              </a:rPr>
              <a:t>erent,</a:t>
            </a:r>
            <a:r>
              <a:rPr dirty="0" sz="1000" spc="-30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70">
                <a:solidFill>
                  <a:srgbClr val="111726"/>
                </a:solidFill>
                <a:latin typeface="Source Han Sans JP"/>
                <a:cs typeface="Source Han Sans JP"/>
              </a:rPr>
              <a:t>di</a:t>
            </a:r>
            <a:r>
              <a:rPr dirty="0" sz="950" spc="-70">
                <a:solidFill>
                  <a:srgbClr val="111726"/>
                </a:solidFill>
                <a:latin typeface="Arial"/>
                <a:cs typeface="Arial"/>
              </a:rPr>
              <a:t>ﬀ</a:t>
            </a:r>
            <a:r>
              <a:rPr dirty="0" sz="1000" spc="-70">
                <a:solidFill>
                  <a:srgbClr val="111726"/>
                </a:solidFill>
                <a:latin typeface="Source Han Sans JP"/>
                <a:cs typeface="Source Han Sans JP"/>
              </a:rPr>
              <a:t>erently-</a:t>
            </a:r>
            <a:r>
              <a:rPr dirty="0" sz="1000" spc="-105">
                <a:solidFill>
                  <a:srgbClr val="111726"/>
                </a:solidFill>
                <a:latin typeface="Source Han Sans JP"/>
                <a:cs typeface="Source Han Sans JP"/>
              </a:rPr>
              <a:t>named</a:t>
            </a:r>
            <a:r>
              <a:rPr dirty="0" sz="1000" spc="-30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20">
                <a:solidFill>
                  <a:srgbClr val="111726"/>
                </a:solidFill>
                <a:latin typeface="Source Han Sans JP"/>
                <a:cs typeface="Source Han Sans JP"/>
              </a:rPr>
              <a:t>PDF:</a:t>
            </a:r>
            <a:endParaRPr sz="1000">
              <a:latin typeface="Source Han Sans JP"/>
              <a:cs typeface="Source Han Sans JP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61782" y="5952234"/>
            <a:ext cx="5819775" cy="5581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43800"/>
              </a:lnSpc>
              <a:spcBef>
                <a:spcPts val="95"/>
              </a:spcBef>
            </a:pP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Saving</a:t>
            </a:r>
            <a:r>
              <a:rPr dirty="0" sz="800" spc="3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HSE</a:t>
            </a:r>
            <a:r>
              <a:rPr dirty="0" sz="800" spc="3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Management</a:t>
            </a:r>
            <a:r>
              <a:rPr dirty="0" sz="800" spc="3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System</a:t>
            </a:r>
            <a:r>
              <a:rPr dirty="0" sz="800" spc="3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–</a:t>
            </a:r>
            <a:r>
              <a:rPr dirty="0" sz="800" spc="3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Complete</a:t>
            </a:r>
            <a:r>
              <a:rPr dirty="0" sz="800" spc="3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Technical</a:t>
            </a:r>
            <a:r>
              <a:rPr dirty="0" sz="800" spc="3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Flow.pdf</a:t>
            </a:r>
            <a:r>
              <a:rPr dirty="0" sz="800" spc="3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to</a:t>
            </a:r>
            <a:r>
              <a:rPr dirty="0" sz="800" spc="3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HSE</a:t>
            </a:r>
            <a:r>
              <a:rPr dirty="0" sz="800" spc="3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Management</a:t>
            </a:r>
            <a:r>
              <a:rPr dirty="0" sz="800" spc="3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System</a:t>
            </a:r>
            <a:r>
              <a:rPr dirty="0" sz="800" spc="3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–</a:t>
            </a:r>
            <a:r>
              <a:rPr dirty="0" sz="800" spc="3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 spc="-10">
                <a:solidFill>
                  <a:srgbClr val="E4E7EB"/>
                </a:solidFill>
                <a:latin typeface="Courier New"/>
                <a:cs typeface="Courier New"/>
              </a:rPr>
              <a:t>Complete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Technical</a:t>
            </a:r>
            <a:r>
              <a:rPr dirty="0" sz="800" spc="4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 spc="-10">
                <a:solidFill>
                  <a:srgbClr val="E4E7EB"/>
                </a:solidFill>
                <a:latin typeface="Courier New"/>
                <a:cs typeface="Courier New"/>
              </a:rPr>
              <a:t>Flow.pdf</a:t>
            </a:r>
            <a:endParaRPr sz="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475"/>
              </a:spcBef>
            </a:pP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Uploaded:</a:t>
            </a:r>
            <a:r>
              <a:rPr dirty="0" sz="800" spc="3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HSE</a:t>
            </a:r>
            <a:r>
              <a:rPr dirty="0" sz="800" spc="3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Management</a:t>
            </a:r>
            <a:r>
              <a:rPr dirty="0" sz="800" spc="3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System</a:t>
            </a:r>
            <a:r>
              <a:rPr dirty="0" sz="800" spc="3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–</a:t>
            </a:r>
            <a:r>
              <a:rPr dirty="0" sz="800" spc="3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Complete</a:t>
            </a:r>
            <a:r>
              <a:rPr dirty="0" sz="800" spc="3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Technical</a:t>
            </a:r>
            <a:r>
              <a:rPr dirty="0" sz="800" spc="3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 spc="-10">
                <a:solidFill>
                  <a:srgbClr val="E4E7EB"/>
                </a:solidFill>
                <a:latin typeface="Courier New"/>
                <a:cs typeface="Courier New"/>
              </a:rPr>
              <a:t>Flow.pdf</a:t>
            </a:r>
            <a:endParaRPr sz="800">
              <a:latin typeface="Courier New"/>
              <a:cs typeface="Courier New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67402" y="6921713"/>
            <a:ext cx="1330960" cy="24511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450" spc="-130" b="1">
                <a:solidFill>
                  <a:srgbClr val="111726"/>
                </a:solidFill>
                <a:latin typeface="Source Han Sans JP"/>
                <a:cs typeface="Source Han Sans JP"/>
              </a:rPr>
              <a:t>Cell</a:t>
            </a:r>
            <a:r>
              <a:rPr dirty="0" sz="1450" spc="-55" b="1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300" spc="-75" b="1">
                <a:solidFill>
                  <a:srgbClr val="111726"/>
                </a:solidFill>
                <a:latin typeface="Trebuchet MS"/>
                <a:cs typeface="Trebuchet MS"/>
              </a:rPr>
              <a:t>4</a:t>
            </a:r>
            <a:r>
              <a:rPr dirty="0" sz="1300" spc="-120" b="1">
                <a:solidFill>
                  <a:srgbClr val="111726"/>
                </a:solidFill>
                <a:latin typeface="Trebuchet MS"/>
                <a:cs typeface="Trebuchet MS"/>
              </a:rPr>
              <a:t> </a:t>
            </a:r>
            <a:r>
              <a:rPr dirty="0" sz="1350" spc="-285" b="1">
                <a:solidFill>
                  <a:srgbClr val="111726"/>
                </a:solidFill>
                <a:latin typeface="Arial"/>
                <a:cs typeface="Arial"/>
              </a:rPr>
              <a:t>—</a:t>
            </a:r>
            <a:r>
              <a:rPr dirty="0" sz="1350" spc="-105" b="1">
                <a:solidFill>
                  <a:srgbClr val="111726"/>
                </a:solidFill>
                <a:latin typeface="Arial"/>
                <a:cs typeface="Arial"/>
              </a:rPr>
              <a:t> </a:t>
            </a:r>
            <a:r>
              <a:rPr dirty="0" sz="1450" spc="-175" b="1">
                <a:solidFill>
                  <a:srgbClr val="111726"/>
                </a:solidFill>
                <a:latin typeface="Source Han Sans JP"/>
                <a:cs typeface="Source Han Sans JP"/>
              </a:rPr>
              <a:t>Load</a:t>
            </a:r>
            <a:r>
              <a:rPr dirty="0" sz="1450" spc="-55" b="1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450" spc="-140" b="1">
                <a:solidFill>
                  <a:srgbClr val="111726"/>
                </a:solidFill>
                <a:latin typeface="Source Han Sans JP"/>
                <a:cs typeface="Source Han Sans JP"/>
              </a:rPr>
              <a:t>PDF</a:t>
            </a:r>
            <a:endParaRPr sz="1450">
              <a:latin typeface="Source Han Sans JP"/>
              <a:cs typeface="Source Han Sans JP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61782" y="7352834"/>
            <a:ext cx="1936750" cy="86296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loader</a:t>
            </a:r>
            <a:r>
              <a:rPr dirty="0" sz="800" spc="2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=</a:t>
            </a:r>
            <a:r>
              <a:rPr dirty="0" sz="800" spc="2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 spc="-10">
                <a:solidFill>
                  <a:srgbClr val="E4E7EB"/>
                </a:solidFill>
                <a:latin typeface="Courier New"/>
                <a:cs typeface="Courier New"/>
              </a:rPr>
              <a:t>PyPDFLoader(pdf_file)</a:t>
            </a:r>
            <a:endParaRPr sz="800">
              <a:latin typeface="Courier New"/>
              <a:cs typeface="Courier New"/>
            </a:endParaRPr>
          </a:p>
          <a:p>
            <a:pPr marL="12700" marR="5080">
              <a:lnSpc>
                <a:spcPct val="293100"/>
              </a:lnSpc>
            </a:pP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documents</a:t>
            </a:r>
            <a:r>
              <a:rPr dirty="0" sz="800" spc="2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=</a:t>
            </a:r>
            <a:r>
              <a:rPr dirty="0" sz="800" spc="3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 spc="-10">
                <a:solidFill>
                  <a:srgbClr val="E4E7EB"/>
                </a:solidFill>
                <a:latin typeface="Courier New"/>
                <a:cs typeface="Courier New"/>
              </a:rPr>
              <a:t>loader.load()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print("Pages:",</a:t>
            </a:r>
            <a:r>
              <a:rPr dirty="0" sz="800" spc="7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 spc="-10">
                <a:solidFill>
                  <a:srgbClr val="E4E7EB"/>
                </a:solidFill>
                <a:latin typeface="Courier New"/>
                <a:cs typeface="Courier New"/>
              </a:rPr>
              <a:t>len(documents))</a:t>
            </a:r>
            <a:endParaRPr sz="800">
              <a:latin typeface="Courier New"/>
              <a:cs typeface="Courier New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754257" y="8802821"/>
            <a:ext cx="1827530" cy="141605"/>
          </a:xfrm>
          <a:custGeom>
            <a:avLst/>
            <a:gdLst/>
            <a:ahLst/>
            <a:cxnLst/>
            <a:rect l="l" t="t" r="r" b="b"/>
            <a:pathLst>
              <a:path w="1827530" h="141604">
                <a:moveTo>
                  <a:pt x="1803538" y="141543"/>
                </a:moveTo>
                <a:lnTo>
                  <a:pt x="23389" y="141543"/>
                </a:lnTo>
                <a:lnTo>
                  <a:pt x="19950" y="140835"/>
                </a:lnTo>
                <a:lnTo>
                  <a:pt x="0" y="118157"/>
                </a:lnTo>
                <a:lnTo>
                  <a:pt x="0" y="114604"/>
                </a:lnTo>
                <a:lnTo>
                  <a:pt x="0" y="23359"/>
                </a:lnTo>
                <a:lnTo>
                  <a:pt x="23389" y="0"/>
                </a:lnTo>
                <a:lnTo>
                  <a:pt x="1803538" y="0"/>
                </a:lnTo>
                <a:lnTo>
                  <a:pt x="1826928" y="23359"/>
                </a:lnTo>
                <a:lnTo>
                  <a:pt x="1826928" y="118157"/>
                </a:lnTo>
                <a:lnTo>
                  <a:pt x="1806978" y="140835"/>
                </a:lnTo>
                <a:lnTo>
                  <a:pt x="1803538" y="141543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754257" y="9092703"/>
            <a:ext cx="1530350" cy="141605"/>
          </a:xfrm>
          <a:custGeom>
            <a:avLst/>
            <a:gdLst/>
            <a:ahLst/>
            <a:cxnLst/>
            <a:rect l="l" t="t" r="r" b="b"/>
            <a:pathLst>
              <a:path w="1530350" h="141604">
                <a:moveTo>
                  <a:pt x="1506915" y="141543"/>
                </a:moveTo>
                <a:lnTo>
                  <a:pt x="23389" y="141543"/>
                </a:lnTo>
                <a:lnTo>
                  <a:pt x="19950" y="140862"/>
                </a:lnTo>
                <a:lnTo>
                  <a:pt x="0" y="118157"/>
                </a:lnTo>
                <a:lnTo>
                  <a:pt x="0" y="114604"/>
                </a:lnTo>
                <a:lnTo>
                  <a:pt x="0" y="23386"/>
                </a:lnTo>
                <a:lnTo>
                  <a:pt x="23389" y="0"/>
                </a:lnTo>
                <a:lnTo>
                  <a:pt x="1506915" y="0"/>
                </a:lnTo>
                <a:lnTo>
                  <a:pt x="1530305" y="23386"/>
                </a:lnTo>
                <a:lnTo>
                  <a:pt x="1530305" y="118157"/>
                </a:lnTo>
                <a:lnTo>
                  <a:pt x="1510355" y="140862"/>
                </a:lnTo>
                <a:lnTo>
                  <a:pt x="1506915" y="141543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5109223" y="9092703"/>
            <a:ext cx="526415" cy="141605"/>
          </a:xfrm>
          <a:custGeom>
            <a:avLst/>
            <a:gdLst/>
            <a:ahLst/>
            <a:cxnLst/>
            <a:rect l="l" t="t" r="r" b="b"/>
            <a:pathLst>
              <a:path w="526414" h="141604">
                <a:moveTo>
                  <a:pt x="502441" y="141543"/>
                </a:moveTo>
                <a:lnTo>
                  <a:pt x="23390" y="141543"/>
                </a:lnTo>
                <a:lnTo>
                  <a:pt x="19949" y="140862"/>
                </a:lnTo>
                <a:lnTo>
                  <a:pt x="0" y="118157"/>
                </a:lnTo>
                <a:lnTo>
                  <a:pt x="0" y="114604"/>
                </a:lnTo>
                <a:lnTo>
                  <a:pt x="0" y="23386"/>
                </a:lnTo>
                <a:lnTo>
                  <a:pt x="23390" y="0"/>
                </a:lnTo>
                <a:lnTo>
                  <a:pt x="502441" y="0"/>
                </a:lnTo>
                <a:lnTo>
                  <a:pt x="525831" y="23386"/>
                </a:lnTo>
                <a:lnTo>
                  <a:pt x="525831" y="118157"/>
                </a:lnTo>
                <a:lnTo>
                  <a:pt x="505881" y="140862"/>
                </a:lnTo>
                <a:lnTo>
                  <a:pt x="502441" y="141543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754257" y="9389326"/>
            <a:ext cx="1887855" cy="141605"/>
          </a:xfrm>
          <a:custGeom>
            <a:avLst/>
            <a:gdLst/>
            <a:ahLst/>
            <a:cxnLst/>
            <a:rect l="l" t="t" r="r" b="b"/>
            <a:pathLst>
              <a:path w="1887855" h="141604">
                <a:moveTo>
                  <a:pt x="1864211" y="141543"/>
                </a:moveTo>
                <a:lnTo>
                  <a:pt x="23389" y="141543"/>
                </a:lnTo>
                <a:lnTo>
                  <a:pt x="19950" y="140862"/>
                </a:lnTo>
                <a:lnTo>
                  <a:pt x="0" y="118157"/>
                </a:lnTo>
                <a:lnTo>
                  <a:pt x="0" y="114604"/>
                </a:lnTo>
                <a:lnTo>
                  <a:pt x="0" y="23359"/>
                </a:lnTo>
                <a:lnTo>
                  <a:pt x="23389" y="0"/>
                </a:lnTo>
                <a:lnTo>
                  <a:pt x="1864211" y="0"/>
                </a:lnTo>
                <a:lnTo>
                  <a:pt x="1887601" y="23359"/>
                </a:lnTo>
                <a:lnTo>
                  <a:pt x="1887601" y="118157"/>
                </a:lnTo>
                <a:lnTo>
                  <a:pt x="1867651" y="140862"/>
                </a:lnTo>
                <a:lnTo>
                  <a:pt x="1864211" y="141543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graphicFrame>
        <p:nvGraphicFramePr>
          <p:cNvPr id="24" name="object 24"/>
          <p:cNvGraphicFramePr>
            <a:graphicFrameLocks noGrp="1"/>
          </p:cNvGraphicFramePr>
          <p:nvPr/>
        </p:nvGraphicFramePr>
        <p:xfrm>
          <a:off x="680102" y="8438784"/>
          <a:ext cx="6278880" cy="11582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581910"/>
                <a:gridCol w="3613150"/>
              </a:tblGrid>
              <a:tr h="282575">
                <a:tc>
                  <a:txBody>
                    <a:bodyPr/>
                    <a:lstStyle/>
                    <a:p>
                      <a:pPr marL="70485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950" spc="-20" b="1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Line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64769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marL="69215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950" spc="-10" b="1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Explanation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64769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  <a:solidFill>
                      <a:srgbClr val="F7FAFB"/>
                    </a:solidFill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loader</a:t>
                      </a:r>
                      <a:r>
                        <a:rPr dirty="0" sz="750" spc="45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=</a:t>
                      </a:r>
                      <a:r>
                        <a:rPr dirty="0" sz="750" spc="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 spc="-1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PyPDFLoader(pdf_file)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90170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215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Creates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9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a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loader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for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the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00" spc="-35">
                          <a:solidFill>
                            <a:srgbClr val="111726"/>
                          </a:solidFill>
                          <a:latin typeface="Arial"/>
                          <a:cs typeface="Arial"/>
                        </a:rPr>
                        <a:t>ﬁ</a:t>
                      </a:r>
                      <a:r>
                        <a:rPr dirty="0" sz="950" spc="-3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le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that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9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was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just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uploaded.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64769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</a:tr>
              <a:tr h="296545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documents</a:t>
                      </a:r>
                      <a:r>
                        <a:rPr dirty="0" sz="750" spc="6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=</a:t>
                      </a:r>
                      <a:r>
                        <a:rPr dirty="0" sz="750" spc="65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 spc="-1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loader.load()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90170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215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Parses</a:t>
                      </a:r>
                      <a:r>
                        <a:rPr dirty="0" sz="950" spc="-2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the</a:t>
                      </a:r>
                      <a:r>
                        <a:rPr dirty="0" sz="950" spc="-2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PDF</a:t>
                      </a:r>
                      <a:r>
                        <a:rPr dirty="0" sz="950" spc="-2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into</a:t>
                      </a:r>
                      <a:r>
                        <a:rPr dirty="0" sz="950" spc="-2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9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a</a:t>
                      </a:r>
                      <a:r>
                        <a:rPr dirty="0" sz="950" spc="-2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6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list</a:t>
                      </a:r>
                      <a:r>
                        <a:rPr dirty="0" sz="950" spc="-2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of</a:t>
                      </a:r>
                      <a:r>
                        <a:rPr dirty="0" sz="950" spc="-2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per-</a:t>
                      </a:r>
                      <a:r>
                        <a:rPr dirty="0" sz="950" spc="-6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page</a:t>
                      </a:r>
                      <a:r>
                        <a:rPr dirty="0" sz="950" spc="204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Document</a:t>
                      </a:r>
                      <a:r>
                        <a:rPr dirty="0" sz="750" spc="-35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objects.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64769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print("Pages:",</a:t>
                      </a:r>
                      <a:r>
                        <a:rPr dirty="0" sz="750" spc="145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 spc="-1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len(documents))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90170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215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Reports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the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9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page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count.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64769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5" name="object 25"/>
          <p:cNvSpPr txBox="1"/>
          <p:nvPr/>
        </p:nvSpPr>
        <p:spPr>
          <a:xfrm>
            <a:off x="667402" y="9704289"/>
            <a:ext cx="1289685" cy="18288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000" spc="-85" b="1">
                <a:solidFill>
                  <a:srgbClr val="111726"/>
                </a:solidFill>
                <a:latin typeface="Source Han Sans JP"/>
                <a:cs typeface="Source Han Sans JP"/>
              </a:rPr>
              <a:t>Actual</a:t>
            </a:r>
            <a:r>
              <a:rPr dirty="0" sz="1000" spc="-20" b="1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100" b="1">
                <a:solidFill>
                  <a:srgbClr val="111726"/>
                </a:solidFill>
                <a:latin typeface="Source Han Sans JP"/>
                <a:cs typeface="Source Han Sans JP"/>
              </a:rPr>
              <a:t>captured</a:t>
            </a:r>
            <a:r>
              <a:rPr dirty="0" sz="1000" spc="-20" b="1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70" b="1">
                <a:solidFill>
                  <a:srgbClr val="111726"/>
                </a:solidFill>
                <a:latin typeface="Source Han Sans JP"/>
                <a:cs typeface="Source Han Sans JP"/>
              </a:rPr>
              <a:t>output:</a:t>
            </a:r>
            <a:endParaRPr sz="1000">
              <a:latin typeface="Source Han Sans JP"/>
              <a:cs typeface="Source Han Sans JP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80102" y="571546"/>
            <a:ext cx="6202680" cy="364490"/>
          </a:xfrm>
          <a:custGeom>
            <a:avLst/>
            <a:gdLst/>
            <a:ahLst/>
            <a:cxnLst/>
            <a:rect l="l" t="t" r="r" b="b"/>
            <a:pathLst>
              <a:path w="6202680" h="364490">
                <a:moveTo>
                  <a:pt x="6151728" y="363983"/>
                </a:moveTo>
                <a:lnTo>
                  <a:pt x="50390" y="363983"/>
                </a:lnTo>
                <a:lnTo>
                  <a:pt x="46883" y="363639"/>
                </a:lnTo>
                <a:lnTo>
                  <a:pt x="11056" y="342943"/>
                </a:lnTo>
                <a:lnTo>
                  <a:pt x="0" y="313604"/>
                </a:lnTo>
                <a:lnTo>
                  <a:pt x="0" y="310078"/>
                </a:lnTo>
                <a:lnTo>
                  <a:pt x="0" y="50351"/>
                </a:lnTo>
                <a:lnTo>
                  <a:pt x="18300" y="13273"/>
                </a:lnTo>
                <a:lnTo>
                  <a:pt x="50390" y="0"/>
                </a:lnTo>
                <a:lnTo>
                  <a:pt x="6151728" y="0"/>
                </a:lnTo>
                <a:lnTo>
                  <a:pt x="6188826" y="18276"/>
                </a:lnTo>
                <a:lnTo>
                  <a:pt x="6202118" y="50351"/>
                </a:lnTo>
                <a:lnTo>
                  <a:pt x="6202118" y="313604"/>
                </a:lnTo>
                <a:lnTo>
                  <a:pt x="6183818" y="350682"/>
                </a:lnTo>
                <a:lnTo>
                  <a:pt x="6155235" y="363639"/>
                </a:lnTo>
                <a:lnTo>
                  <a:pt x="6151728" y="363983"/>
                </a:lnTo>
                <a:close/>
              </a:path>
            </a:pathLst>
          </a:custGeom>
          <a:solidFill>
            <a:srgbClr val="0E172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680102" y="1097351"/>
            <a:ext cx="6202680" cy="6985"/>
          </a:xfrm>
          <a:custGeom>
            <a:avLst/>
            <a:gdLst/>
            <a:ahLst/>
            <a:cxnLst/>
            <a:rect l="l" t="t" r="r" b="b"/>
            <a:pathLst>
              <a:path w="6202680" h="6984">
                <a:moveTo>
                  <a:pt x="6202119" y="6741"/>
                </a:moveTo>
                <a:lnTo>
                  <a:pt x="0" y="6741"/>
                </a:lnTo>
                <a:lnTo>
                  <a:pt x="0" y="0"/>
                </a:lnTo>
                <a:lnTo>
                  <a:pt x="6202119" y="0"/>
                </a:lnTo>
                <a:lnTo>
                  <a:pt x="6202119" y="6741"/>
                </a:lnTo>
                <a:close/>
              </a:path>
            </a:pathLst>
          </a:custGeom>
          <a:solidFill>
            <a:srgbClr val="E4E7E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680102" y="1562510"/>
            <a:ext cx="6202680" cy="2326005"/>
          </a:xfrm>
          <a:custGeom>
            <a:avLst/>
            <a:gdLst/>
            <a:ahLst/>
            <a:cxnLst/>
            <a:rect l="l" t="t" r="r" b="b"/>
            <a:pathLst>
              <a:path w="6202680" h="2326004">
                <a:moveTo>
                  <a:pt x="6151728" y="2325767"/>
                </a:moveTo>
                <a:lnTo>
                  <a:pt x="50390" y="2325767"/>
                </a:lnTo>
                <a:lnTo>
                  <a:pt x="46883" y="2325423"/>
                </a:lnTo>
                <a:lnTo>
                  <a:pt x="11056" y="2304781"/>
                </a:lnTo>
                <a:lnTo>
                  <a:pt x="0" y="2275388"/>
                </a:lnTo>
                <a:lnTo>
                  <a:pt x="0" y="2271863"/>
                </a:lnTo>
                <a:lnTo>
                  <a:pt x="0" y="50378"/>
                </a:lnTo>
                <a:lnTo>
                  <a:pt x="18300" y="13300"/>
                </a:lnTo>
                <a:lnTo>
                  <a:pt x="50390" y="0"/>
                </a:lnTo>
                <a:lnTo>
                  <a:pt x="6151728" y="0"/>
                </a:lnTo>
                <a:lnTo>
                  <a:pt x="6188826" y="18302"/>
                </a:lnTo>
                <a:lnTo>
                  <a:pt x="6202118" y="50378"/>
                </a:lnTo>
                <a:lnTo>
                  <a:pt x="6202118" y="2275388"/>
                </a:lnTo>
                <a:lnTo>
                  <a:pt x="6183818" y="2312493"/>
                </a:lnTo>
                <a:lnTo>
                  <a:pt x="6155235" y="2325423"/>
                </a:lnTo>
                <a:lnTo>
                  <a:pt x="6151728" y="2325767"/>
                </a:lnTo>
                <a:close/>
              </a:path>
            </a:pathLst>
          </a:custGeom>
          <a:solidFill>
            <a:srgbClr val="0E172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761782" y="672062"/>
            <a:ext cx="580390" cy="1485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Pages:</a:t>
            </a:r>
            <a:r>
              <a:rPr dirty="0" sz="800" spc="3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 spc="-25">
                <a:solidFill>
                  <a:srgbClr val="E4E7EB"/>
                </a:solidFill>
                <a:latin typeface="Courier New"/>
                <a:cs typeface="Courier New"/>
              </a:rPr>
              <a:t>23</a:t>
            </a:r>
            <a:endParaRPr sz="8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67402" y="1231931"/>
            <a:ext cx="2193290" cy="24511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450" spc="-130" b="1">
                <a:solidFill>
                  <a:srgbClr val="111726"/>
                </a:solidFill>
                <a:latin typeface="Source Han Sans JP"/>
                <a:cs typeface="Source Han Sans JP"/>
              </a:rPr>
              <a:t>Cell</a:t>
            </a:r>
            <a:r>
              <a:rPr dirty="0" sz="1450" spc="-50" b="1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300" spc="-75" b="1">
                <a:solidFill>
                  <a:srgbClr val="111726"/>
                </a:solidFill>
                <a:latin typeface="Trebuchet MS"/>
                <a:cs typeface="Trebuchet MS"/>
              </a:rPr>
              <a:t>5</a:t>
            </a:r>
            <a:r>
              <a:rPr dirty="0" sz="1300" spc="-114" b="1">
                <a:solidFill>
                  <a:srgbClr val="111726"/>
                </a:solidFill>
                <a:latin typeface="Trebuchet MS"/>
                <a:cs typeface="Trebuchet MS"/>
              </a:rPr>
              <a:t> </a:t>
            </a:r>
            <a:r>
              <a:rPr dirty="0" sz="1350" spc="-285" b="1">
                <a:solidFill>
                  <a:srgbClr val="111726"/>
                </a:solidFill>
                <a:latin typeface="Arial"/>
                <a:cs typeface="Arial"/>
              </a:rPr>
              <a:t>—</a:t>
            </a:r>
            <a:r>
              <a:rPr dirty="0" sz="1350" spc="-100" b="1">
                <a:solidFill>
                  <a:srgbClr val="111726"/>
                </a:solidFill>
                <a:latin typeface="Arial"/>
                <a:cs typeface="Arial"/>
              </a:rPr>
              <a:t> </a:t>
            </a:r>
            <a:r>
              <a:rPr dirty="0" sz="1450" spc="-180" b="1">
                <a:solidFill>
                  <a:srgbClr val="111726"/>
                </a:solidFill>
                <a:latin typeface="Source Han Sans JP"/>
                <a:cs typeface="Source Han Sans JP"/>
              </a:rPr>
              <a:t>Chunk</a:t>
            </a:r>
            <a:r>
              <a:rPr dirty="0" sz="1450" spc="-45" b="1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450" spc="-160" b="1">
                <a:solidFill>
                  <a:srgbClr val="111726"/>
                </a:solidFill>
                <a:latin typeface="Source Han Sans JP"/>
                <a:cs typeface="Source Han Sans JP"/>
              </a:rPr>
              <a:t>the</a:t>
            </a:r>
            <a:r>
              <a:rPr dirty="0" sz="1450" spc="-50" b="1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450" spc="-145" b="1">
                <a:solidFill>
                  <a:srgbClr val="111726"/>
                </a:solidFill>
                <a:latin typeface="Source Han Sans JP"/>
                <a:cs typeface="Source Han Sans JP"/>
              </a:rPr>
              <a:t>document</a:t>
            </a:r>
            <a:endParaRPr sz="1450">
              <a:latin typeface="Source Han Sans JP"/>
              <a:cs typeface="Source Han Sans JP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61782" y="1603998"/>
            <a:ext cx="2738120" cy="216979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59079" marR="128270" indent="-247015">
              <a:lnSpc>
                <a:spcPct val="149300"/>
              </a:lnSpc>
              <a:spcBef>
                <a:spcPts val="95"/>
              </a:spcBef>
            </a:pP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splitter</a:t>
            </a:r>
            <a:r>
              <a:rPr dirty="0" sz="800" spc="2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=</a:t>
            </a:r>
            <a:r>
              <a:rPr dirty="0" sz="800" spc="2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 spc="-10">
                <a:solidFill>
                  <a:srgbClr val="E4E7EB"/>
                </a:solidFill>
                <a:latin typeface="Courier New"/>
                <a:cs typeface="Courier New"/>
              </a:rPr>
              <a:t>RecursiveCharacterTextSplitter( chunk_size=600,</a:t>
            </a:r>
            <a:endParaRPr sz="800">
              <a:latin typeface="Courier New"/>
              <a:cs typeface="Courier New"/>
            </a:endParaRPr>
          </a:p>
          <a:p>
            <a:pPr marL="259079">
              <a:lnSpc>
                <a:spcPct val="100000"/>
              </a:lnSpc>
              <a:spcBef>
                <a:spcPts val="420"/>
              </a:spcBef>
            </a:pPr>
            <a:r>
              <a:rPr dirty="0" sz="800" spc="-10">
                <a:solidFill>
                  <a:srgbClr val="E4E7EB"/>
                </a:solidFill>
                <a:latin typeface="Courier New"/>
                <a:cs typeface="Courier New"/>
              </a:rPr>
              <a:t>chunk_overlap=75</a:t>
            </a:r>
            <a:endParaRPr sz="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475"/>
              </a:spcBef>
            </a:pPr>
            <a:r>
              <a:rPr dirty="0" sz="800" spc="-50">
                <a:solidFill>
                  <a:srgbClr val="E4E7EB"/>
                </a:solidFill>
                <a:latin typeface="Courier New"/>
                <a:cs typeface="Courier New"/>
              </a:rPr>
              <a:t>)</a:t>
            </a:r>
            <a:endParaRPr sz="800">
              <a:latin typeface="Courier New"/>
              <a:cs typeface="Courier New"/>
            </a:endParaRPr>
          </a:p>
          <a:p>
            <a:pPr marL="12700" marR="5080">
              <a:lnSpc>
                <a:spcPts val="2810"/>
              </a:lnSpc>
              <a:spcBef>
                <a:spcPts val="165"/>
              </a:spcBef>
            </a:pP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chunks</a:t>
            </a:r>
            <a:r>
              <a:rPr dirty="0" sz="800" spc="2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=</a:t>
            </a:r>
            <a:r>
              <a:rPr dirty="0" sz="800" spc="2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 spc="-10">
                <a:solidFill>
                  <a:srgbClr val="E4E7EB"/>
                </a:solidFill>
                <a:latin typeface="Courier New"/>
                <a:cs typeface="Courier New"/>
              </a:rPr>
              <a:t>splitter.split_documents(documents)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print("Chunks</a:t>
            </a:r>
            <a:r>
              <a:rPr dirty="0" sz="800" spc="5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Created:",</a:t>
            </a:r>
            <a:r>
              <a:rPr dirty="0" sz="800" spc="5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 spc="-10">
                <a:solidFill>
                  <a:srgbClr val="E4E7EB"/>
                </a:solidFill>
                <a:latin typeface="Courier New"/>
                <a:cs typeface="Courier New"/>
              </a:rPr>
              <a:t>len(chunks))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print("\nFirst</a:t>
            </a:r>
            <a:r>
              <a:rPr dirty="0" sz="800" spc="6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 spc="-10">
                <a:solidFill>
                  <a:srgbClr val="E4E7EB"/>
                </a:solidFill>
                <a:latin typeface="Courier New"/>
                <a:cs typeface="Courier New"/>
              </a:rPr>
              <a:t>Chunk:\n") print(chunks[0].page_content)</a:t>
            </a:r>
            <a:endParaRPr sz="800">
              <a:latin typeface="Courier New"/>
              <a:cs typeface="Courier New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754253" y="4360188"/>
            <a:ext cx="1861185" cy="316865"/>
          </a:xfrm>
          <a:custGeom>
            <a:avLst/>
            <a:gdLst/>
            <a:ahLst/>
            <a:cxnLst/>
            <a:rect l="l" t="t" r="r" b="b"/>
            <a:pathLst>
              <a:path w="1861185" h="316864">
                <a:moveTo>
                  <a:pt x="620204" y="0"/>
                </a:moveTo>
                <a:lnTo>
                  <a:pt x="23393" y="0"/>
                </a:lnTo>
                <a:lnTo>
                  <a:pt x="19951" y="711"/>
                </a:lnTo>
                <a:lnTo>
                  <a:pt x="0" y="23380"/>
                </a:lnTo>
                <a:lnTo>
                  <a:pt x="0" y="118173"/>
                </a:lnTo>
                <a:lnTo>
                  <a:pt x="16649" y="139509"/>
                </a:lnTo>
                <a:lnTo>
                  <a:pt x="19951" y="140906"/>
                </a:lnTo>
                <a:lnTo>
                  <a:pt x="23393" y="141566"/>
                </a:lnTo>
                <a:lnTo>
                  <a:pt x="620204" y="141566"/>
                </a:lnTo>
                <a:lnTo>
                  <a:pt x="620204" y="0"/>
                </a:lnTo>
                <a:close/>
              </a:path>
              <a:path w="1861185" h="316864">
                <a:moveTo>
                  <a:pt x="1860638" y="198678"/>
                </a:moveTo>
                <a:lnTo>
                  <a:pt x="1837245" y="175285"/>
                </a:lnTo>
                <a:lnTo>
                  <a:pt x="0" y="175285"/>
                </a:lnTo>
                <a:lnTo>
                  <a:pt x="0" y="316852"/>
                </a:lnTo>
                <a:lnTo>
                  <a:pt x="1837245" y="316852"/>
                </a:lnTo>
                <a:lnTo>
                  <a:pt x="1860638" y="293446"/>
                </a:lnTo>
                <a:lnTo>
                  <a:pt x="1860638" y="198678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754257" y="4832105"/>
            <a:ext cx="944244" cy="141605"/>
          </a:xfrm>
          <a:custGeom>
            <a:avLst/>
            <a:gdLst/>
            <a:ahLst/>
            <a:cxnLst/>
            <a:rect l="l" t="t" r="r" b="b"/>
            <a:pathLst>
              <a:path w="944244" h="141604">
                <a:moveTo>
                  <a:pt x="920410" y="141543"/>
                </a:moveTo>
                <a:lnTo>
                  <a:pt x="23389" y="141543"/>
                </a:lnTo>
                <a:lnTo>
                  <a:pt x="19950" y="140862"/>
                </a:lnTo>
                <a:lnTo>
                  <a:pt x="0" y="118157"/>
                </a:lnTo>
                <a:lnTo>
                  <a:pt x="0" y="114604"/>
                </a:lnTo>
                <a:lnTo>
                  <a:pt x="0" y="23359"/>
                </a:lnTo>
                <a:lnTo>
                  <a:pt x="23389" y="0"/>
                </a:lnTo>
                <a:lnTo>
                  <a:pt x="920410" y="0"/>
                </a:lnTo>
                <a:lnTo>
                  <a:pt x="943800" y="23359"/>
                </a:lnTo>
                <a:lnTo>
                  <a:pt x="943800" y="118157"/>
                </a:lnTo>
                <a:lnTo>
                  <a:pt x="923850" y="140862"/>
                </a:lnTo>
                <a:lnTo>
                  <a:pt x="920410" y="141543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754257" y="5283781"/>
            <a:ext cx="998219" cy="141605"/>
          </a:xfrm>
          <a:custGeom>
            <a:avLst/>
            <a:gdLst/>
            <a:ahLst/>
            <a:cxnLst/>
            <a:rect l="l" t="t" r="r" b="b"/>
            <a:pathLst>
              <a:path w="998219" h="141604">
                <a:moveTo>
                  <a:pt x="974342" y="141543"/>
                </a:moveTo>
                <a:lnTo>
                  <a:pt x="23389" y="141543"/>
                </a:lnTo>
                <a:lnTo>
                  <a:pt x="19950" y="140862"/>
                </a:lnTo>
                <a:lnTo>
                  <a:pt x="0" y="118184"/>
                </a:lnTo>
                <a:lnTo>
                  <a:pt x="0" y="114604"/>
                </a:lnTo>
                <a:lnTo>
                  <a:pt x="0" y="23359"/>
                </a:lnTo>
                <a:lnTo>
                  <a:pt x="23389" y="0"/>
                </a:lnTo>
                <a:lnTo>
                  <a:pt x="974342" y="0"/>
                </a:lnTo>
                <a:lnTo>
                  <a:pt x="997732" y="23359"/>
                </a:lnTo>
                <a:lnTo>
                  <a:pt x="997732" y="118184"/>
                </a:lnTo>
                <a:lnTo>
                  <a:pt x="977782" y="140862"/>
                </a:lnTo>
                <a:lnTo>
                  <a:pt x="974342" y="141543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1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54257" y="5573663"/>
            <a:ext cx="114604" cy="141570"/>
          </a:xfrm>
          <a:prstGeom prst="rect">
            <a:avLst/>
          </a:prstGeom>
        </p:spPr>
      </p:pic>
      <p:sp>
        <p:nvSpPr>
          <p:cNvPr id="12" name="object 12"/>
          <p:cNvSpPr/>
          <p:nvPr/>
        </p:nvSpPr>
        <p:spPr>
          <a:xfrm>
            <a:off x="754253" y="5863526"/>
            <a:ext cx="2096770" cy="316865"/>
          </a:xfrm>
          <a:custGeom>
            <a:avLst/>
            <a:gdLst/>
            <a:ahLst/>
            <a:cxnLst/>
            <a:rect l="l" t="t" r="r" b="b"/>
            <a:pathLst>
              <a:path w="2096770" h="316864">
                <a:moveTo>
                  <a:pt x="498868" y="0"/>
                </a:moveTo>
                <a:lnTo>
                  <a:pt x="23393" y="0"/>
                </a:lnTo>
                <a:lnTo>
                  <a:pt x="19951" y="711"/>
                </a:lnTo>
                <a:lnTo>
                  <a:pt x="13335" y="3416"/>
                </a:lnTo>
                <a:lnTo>
                  <a:pt x="10426" y="5372"/>
                </a:lnTo>
                <a:lnTo>
                  <a:pt x="7899" y="7924"/>
                </a:lnTo>
                <a:lnTo>
                  <a:pt x="5372" y="10426"/>
                </a:lnTo>
                <a:lnTo>
                  <a:pt x="3416" y="13347"/>
                </a:lnTo>
                <a:lnTo>
                  <a:pt x="685" y="19926"/>
                </a:lnTo>
                <a:lnTo>
                  <a:pt x="0" y="23380"/>
                </a:lnTo>
                <a:lnTo>
                  <a:pt x="0" y="118198"/>
                </a:lnTo>
                <a:lnTo>
                  <a:pt x="23393" y="141579"/>
                </a:lnTo>
                <a:lnTo>
                  <a:pt x="498868" y="141579"/>
                </a:lnTo>
                <a:lnTo>
                  <a:pt x="498868" y="0"/>
                </a:lnTo>
                <a:close/>
              </a:path>
              <a:path w="2096770" h="316864">
                <a:moveTo>
                  <a:pt x="2096579" y="198653"/>
                </a:moveTo>
                <a:lnTo>
                  <a:pt x="2073198" y="175272"/>
                </a:lnTo>
                <a:lnTo>
                  <a:pt x="0" y="175272"/>
                </a:lnTo>
                <a:lnTo>
                  <a:pt x="0" y="316839"/>
                </a:lnTo>
                <a:lnTo>
                  <a:pt x="2073198" y="316839"/>
                </a:lnTo>
                <a:lnTo>
                  <a:pt x="2096579" y="293458"/>
                </a:lnTo>
                <a:lnTo>
                  <a:pt x="2096579" y="198653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754257" y="6335445"/>
            <a:ext cx="2245360" cy="141605"/>
          </a:xfrm>
          <a:custGeom>
            <a:avLst/>
            <a:gdLst/>
            <a:ahLst/>
            <a:cxnLst/>
            <a:rect l="l" t="t" r="r" b="b"/>
            <a:pathLst>
              <a:path w="2245360" h="141604">
                <a:moveTo>
                  <a:pt x="2221507" y="141543"/>
                </a:moveTo>
                <a:lnTo>
                  <a:pt x="23389" y="141543"/>
                </a:lnTo>
                <a:lnTo>
                  <a:pt x="19950" y="140862"/>
                </a:lnTo>
                <a:lnTo>
                  <a:pt x="0" y="118157"/>
                </a:lnTo>
                <a:lnTo>
                  <a:pt x="0" y="114604"/>
                </a:lnTo>
                <a:lnTo>
                  <a:pt x="0" y="23359"/>
                </a:lnTo>
                <a:lnTo>
                  <a:pt x="23389" y="0"/>
                </a:lnTo>
                <a:lnTo>
                  <a:pt x="2221507" y="0"/>
                </a:lnTo>
                <a:lnTo>
                  <a:pt x="2244897" y="23359"/>
                </a:lnTo>
                <a:lnTo>
                  <a:pt x="2244897" y="118157"/>
                </a:lnTo>
                <a:lnTo>
                  <a:pt x="2224947" y="140862"/>
                </a:lnTo>
                <a:lnTo>
                  <a:pt x="2221507" y="141543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754257" y="6625326"/>
            <a:ext cx="1530350" cy="141605"/>
          </a:xfrm>
          <a:custGeom>
            <a:avLst/>
            <a:gdLst/>
            <a:ahLst/>
            <a:cxnLst/>
            <a:rect l="l" t="t" r="r" b="b"/>
            <a:pathLst>
              <a:path w="1530350" h="141604">
                <a:moveTo>
                  <a:pt x="1506915" y="141543"/>
                </a:moveTo>
                <a:lnTo>
                  <a:pt x="23389" y="141543"/>
                </a:lnTo>
                <a:lnTo>
                  <a:pt x="19950" y="140862"/>
                </a:lnTo>
                <a:lnTo>
                  <a:pt x="0" y="118157"/>
                </a:lnTo>
                <a:lnTo>
                  <a:pt x="0" y="114604"/>
                </a:lnTo>
                <a:lnTo>
                  <a:pt x="0" y="23359"/>
                </a:lnTo>
                <a:lnTo>
                  <a:pt x="23389" y="0"/>
                </a:lnTo>
                <a:lnTo>
                  <a:pt x="1506915" y="0"/>
                </a:lnTo>
                <a:lnTo>
                  <a:pt x="1530305" y="23359"/>
                </a:lnTo>
                <a:lnTo>
                  <a:pt x="1530305" y="118157"/>
                </a:lnTo>
                <a:lnTo>
                  <a:pt x="1510355" y="140862"/>
                </a:lnTo>
                <a:lnTo>
                  <a:pt x="1506915" y="141543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754257" y="6915208"/>
            <a:ext cx="1773555" cy="141605"/>
          </a:xfrm>
          <a:custGeom>
            <a:avLst/>
            <a:gdLst/>
            <a:ahLst/>
            <a:cxnLst/>
            <a:rect l="l" t="t" r="r" b="b"/>
            <a:pathLst>
              <a:path w="1773555" h="141604">
                <a:moveTo>
                  <a:pt x="1749607" y="141543"/>
                </a:moveTo>
                <a:lnTo>
                  <a:pt x="23389" y="141543"/>
                </a:lnTo>
                <a:lnTo>
                  <a:pt x="19950" y="140862"/>
                </a:lnTo>
                <a:lnTo>
                  <a:pt x="0" y="118157"/>
                </a:lnTo>
                <a:lnTo>
                  <a:pt x="0" y="114604"/>
                </a:lnTo>
                <a:lnTo>
                  <a:pt x="0" y="23359"/>
                </a:lnTo>
                <a:lnTo>
                  <a:pt x="23389" y="0"/>
                </a:lnTo>
                <a:lnTo>
                  <a:pt x="1749607" y="0"/>
                </a:lnTo>
                <a:lnTo>
                  <a:pt x="1772996" y="23359"/>
                </a:lnTo>
                <a:lnTo>
                  <a:pt x="1772996" y="118157"/>
                </a:lnTo>
                <a:lnTo>
                  <a:pt x="1753046" y="140862"/>
                </a:lnTo>
                <a:lnTo>
                  <a:pt x="1749607" y="141543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graphicFrame>
        <p:nvGraphicFramePr>
          <p:cNvPr id="16" name="object 16"/>
          <p:cNvGraphicFramePr>
            <a:graphicFrameLocks noGrp="1"/>
          </p:cNvGraphicFramePr>
          <p:nvPr/>
        </p:nvGraphicFramePr>
        <p:xfrm>
          <a:off x="680102" y="3996167"/>
          <a:ext cx="6278880" cy="32873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609215"/>
                <a:gridCol w="3586479"/>
              </a:tblGrid>
              <a:tr h="282575">
                <a:tc>
                  <a:txBody>
                    <a:bodyPr/>
                    <a:lstStyle/>
                    <a:p>
                      <a:pPr marL="70485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950" spc="-20" b="1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Line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64769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950" spc="-10" b="1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Explanation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64769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  <a:solidFill>
                      <a:srgbClr val="F7FAFB"/>
                    </a:solidFill>
                  </a:tcPr>
                </a:tc>
              </a:tr>
              <a:tr h="471805">
                <a:tc>
                  <a:txBody>
                    <a:bodyPr/>
                    <a:lstStyle/>
                    <a:p>
                      <a:pPr marL="70485" marR="695960" indent="26670">
                        <a:lnSpc>
                          <a:spcPct val="153300"/>
                        </a:lnSpc>
                        <a:spcBef>
                          <a:spcPts val="229"/>
                        </a:spcBef>
                      </a:pP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splitter</a:t>
                      </a:r>
                      <a:r>
                        <a:rPr dirty="0" sz="750" spc="85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 spc="-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= </a:t>
                      </a:r>
                      <a:r>
                        <a:rPr dirty="0" sz="750" spc="-1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RecursiveCharacterTextSplitter(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29209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Creates</a:t>
                      </a:r>
                      <a:r>
                        <a:rPr dirty="0" sz="95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the</a:t>
                      </a:r>
                      <a:r>
                        <a:rPr dirty="0" sz="950" spc="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splitter.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64769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</a:tr>
              <a:tr h="451484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dirty="0" sz="750" spc="-1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chunk_size=600,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90170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 marR="587375">
                        <a:lnSpc>
                          <a:spcPct val="116399"/>
                        </a:lnSpc>
                        <a:spcBef>
                          <a:spcPts val="320"/>
                        </a:spcBef>
                      </a:pPr>
                      <a:r>
                        <a:rPr dirty="0" sz="950" spc="-6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Slightly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larger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chunks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than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the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other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two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projects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4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(</a:t>
                      </a:r>
                      <a:r>
                        <a:rPr dirty="0" sz="850" spc="-40">
                          <a:solidFill>
                            <a:srgbClr val="111726"/>
                          </a:solidFill>
                          <a:latin typeface="Arial"/>
                          <a:cs typeface="Arial"/>
                        </a:rPr>
                        <a:t>600</a:t>
                      </a:r>
                      <a:r>
                        <a:rPr dirty="0" sz="850" spc="-30">
                          <a:solidFill>
                            <a:srgbClr val="111726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vs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850" spc="-25">
                          <a:solidFill>
                            <a:srgbClr val="111726"/>
                          </a:solidFill>
                          <a:latin typeface="Arial"/>
                          <a:cs typeface="Arial"/>
                        </a:rPr>
                        <a:t>500 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characters).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40640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dirty="0" sz="750" spc="-1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chunk_overlap=75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90170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850" spc="-40">
                          <a:solidFill>
                            <a:srgbClr val="111726"/>
                          </a:solidFill>
                          <a:latin typeface="Arial"/>
                          <a:cs typeface="Arial"/>
                        </a:rPr>
                        <a:t>75</a:t>
                      </a:r>
                      <a:r>
                        <a:rPr dirty="0" sz="950" spc="-4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-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character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overlap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between</a:t>
                      </a:r>
                      <a:r>
                        <a:rPr dirty="0" sz="95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chunks.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64769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dirty="0" sz="750" spc="-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)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90170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Closes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the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constructor.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64769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</a:tr>
              <a:tr h="471805">
                <a:tc>
                  <a:txBody>
                    <a:bodyPr/>
                    <a:lstStyle/>
                    <a:p>
                      <a:pPr marL="70485" marR="459105" indent="26670">
                        <a:lnSpc>
                          <a:spcPct val="153300"/>
                        </a:lnSpc>
                        <a:spcBef>
                          <a:spcPts val="229"/>
                        </a:spcBef>
                      </a:pP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chunks</a:t>
                      </a:r>
                      <a:r>
                        <a:rPr dirty="0" sz="750" spc="7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 spc="-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= </a:t>
                      </a:r>
                      <a:r>
                        <a:rPr dirty="0" sz="750" spc="-1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splitter.split_documents(documents)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29209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950" spc="-7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Splits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5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all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pages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into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overlapping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text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chunks.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64769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print("Chunks</a:t>
                      </a:r>
                      <a:r>
                        <a:rPr dirty="0" sz="750" spc="114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Created:",</a:t>
                      </a:r>
                      <a:r>
                        <a:rPr dirty="0" sz="750" spc="12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 spc="-1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len(chunks))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90170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Reports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the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chunk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count.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64769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print("\nFirst</a:t>
                      </a:r>
                      <a:r>
                        <a:rPr dirty="0" sz="750" spc="135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 spc="-1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Chunk:\n")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90170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Header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before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showing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9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a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sample.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64769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</a:tr>
              <a:tr h="451484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dirty="0" sz="750" spc="-1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print(chunks[0].page_content)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90170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 marR="182245">
                        <a:lnSpc>
                          <a:spcPct val="116399"/>
                        </a:lnSpc>
                        <a:spcBef>
                          <a:spcPts val="320"/>
                        </a:spcBef>
                      </a:pPr>
                      <a:r>
                        <a:rPr dirty="0" sz="950" spc="-7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Prints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the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5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full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text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of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the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6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very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00" spc="-45">
                          <a:solidFill>
                            <a:srgbClr val="111726"/>
                          </a:solidFill>
                          <a:latin typeface="Arial"/>
                          <a:cs typeface="Arial"/>
                        </a:rPr>
                        <a:t>ﬁ</a:t>
                      </a:r>
                      <a:r>
                        <a:rPr dirty="0" sz="950" spc="-4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rst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chunk,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letting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the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user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sanity-</a:t>
                      </a:r>
                      <a:r>
                        <a:rPr dirty="0" sz="950" spc="-5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check</a:t>
                      </a:r>
                      <a:r>
                        <a:rPr dirty="0" sz="950" spc="50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the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splitting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9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worked</a:t>
                      </a:r>
                      <a:r>
                        <a:rPr dirty="0" sz="95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as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expected.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40640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7" name="object 17"/>
          <p:cNvSpPr txBox="1"/>
          <p:nvPr/>
        </p:nvSpPr>
        <p:spPr>
          <a:xfrm>
            <a:off x="667402" y="7398708"/>
            <a:ext cx="1289685" cy="18288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000" spc="-85" b="1">
                <a:solidFill>
                  <a:srgbClr val="111726"/>
                </a:solidFill>
                <a:latin typeface="Source Han Sans JP"/>
                <a:cs typeface="Source Han Sans JP"/>
              </a:rPr>
              <a:t>Actual</a:t>
            </a:r>
            <a:r>
              <a:rPr dirty="0" sz="1000" spc="-20" b="1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100" b="1">
                <a:solidFill>
                  <a:srgbClr val="111726"/>
                </a:solidFill>
                <a:latin typeface="Source Han Sans JP"/>
                <a:cs typeface="Source Han Sans JP"/>
              </a:rPr>
              <a:t>captured</a:t>
            </a:r>
            <a:r>
              <a:rPr dirty="0" sz="1000" spc="-20" b="1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70" b="1">
                <a:solidFill>
                  <a:srgbClr val="111726"/>
                </a:solidFill>
                <a:latin typeface="Source Han Sans JP"/>
                <a:cs typeface="Source Han Sans JP"/>
              </a:rPr>
              <a:t>output:</a:t>
            </a:r>
            <a:endParaRPr sz="1000">
              <a:latin typeface="Source Han Sans JP"/>
              <a:cs typeface="Source Han Sans JP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80102" y="571505"/>
            <a:ext cx="6202680" cy="4456430"/>
          </a:xfrm>
          <a:custGeom>
            <a:avLst/>
            <a:gdLst/>
            <a:ahLst/>
            <a:cxnLst/>
            <a:rect l="l" t="t" r="r" b="b"/>
            <a:pathLst>
              <a:path w="6202680" h="4456430">
                <a:moveTo>
                  <a:pt x="6151728" y="4456060"/>
                </a:moveTo>
                <a:lnTo>
                  <a:pt x="50390" y="4456060"/>
                </a:lnTo>
                <a:lnTo>
                  <a:pt x="46883" y="4455716"/>
                </a:lnTo>
                <a:lnTo>
                  <a:pt x="11056" y="4435020"/>
                </a:lnTo>
                <a:lnTo>
                  <a:pt x="0" y="4405682"/>
                </a:lnTo>
                <a:lnTo>
                  <a:pt x="0" y="4402156"/>
                </a:lnTo>
                <a:lnTo>
                  <a:pt x="0" y="50378"/>
                </a:lnTo>
                <a:lnTo>
                  <a:pt x="18300" y="13273"/>
                </a:lnTo>
                <a:lnTo>
                  <a:pt x="50390" y="0"/>
                </a:lnTo>
                <a:lnTo>
                  <a:pt x="6151728" y="0"/>
                </a:lnTo>
                <a:lnTo>
                  <a:pt x="6188826" y="18249"/>
                </a:lnTo>
                <a:lnTo>
                  <a:pt x="6202118" y="50378"/>
                </a:lnTo>
                <a:lnTo>
                  <a:pt x="6202118" y="4405682"/>
                </a:lnTo>
                <a:lnTo>
                  <a:pt x="6183818" y="4442759"/>
                </a:lnTo>
                <a:lnTo>
                  <a:pt x="6155235" y="4455716"/>
                </a:lnTo>
                <a:lnTo>
                  <a:pt x="6151728" y="4456060"/>
                </a:lnTo>
                <a:close/>
              </a:path>
            </a:pathLst>
          </a:custGeom>
          <a:solidFill>
            <a:srgbClr val="0E172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680102" y="5668029"/>
            <a:ext cx="6202680" cy="6985"/>
          </a:xfrm>
          <a:custGeom>
            <a:avLst/>
            <a:gdLst/>
            <a:ahLst/>
            <a:cxnLst/>
            <a:rect l="l" t="t" r="r" b="b"/>
            <a:pathLst>
              <a:path w="6202680" h="6985">
                <a:moveTo>
                  <a:pt x="6202119" y="6741"/>
                </a:moveTo>
                <a:lnTo>
                  <a:pt x="0" y="6741"/>
                </a:lnTo>
                <a:lnTo>
                  <a:pt x="0" y="0"/>
                </a:lnTo>
                <a:lnTo>
                  <a:pt x="6202119" y="0"/>
                </a:lnTo>
                <a:lnTo>
                  <a:pt x="6202119" y="6741"/>
                </a:lnTo>
                <a:close/>
              </a:path>
            </a:pathLst>
          </a:custGeom>
          <a:solidFill>
            <a:srgbClr val="E4E7E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680102" y="6133188"/>
            <a:ext cx="6202680" cy="1786889"/>
          </a:xfrm>
          <a:custGeom>
            <a:avLst/>
            <a:gdLst/>
            <a:ahLst/>
            <a:cxnLst/>
            <a:rect l="l" t="t" r="r" b="b"/>
            <a:pathLst>
              <a:path w="6202680" h="1786890">
                <a:moveTo>
                  <a:pt x="6151728" y="1786453"/>
                </a:moveTo>
                <a:lnTo>
                  <a:pt x="50390" y="1786453"/>
                </a:lnTo>
                <a:lnTo>
                  <a:pt x="46883" y="1786109"/>
                </a:lnTo>
                <a:lnTo>
                  <a:pt x="11056" y="1765439"/>
                </a:lnTo>
                <a:lnTo>
                  <a:pt x="0" y="1736054"/>
                </a:lnTo>
                <a:lnTo>
                  <a:pt x="0" y="1732548"/>
                </a:lnTo>
                <a:lnTo>
                  <a:pt x="0" y="50378"/>
                </a:lnTo>
                <a:lnTo>
                  <a:pt x="18300" y="13273"/>
                </a:lnTo>
                <a:lnTo>
                  <a:pt x="50390" y="0"/>
                </a:lnTo>
                <a:lnTo>
                  <a:pt x="6151728" y="0"/>
                </a:lnTo>
                <a:lnTo>
                  <a:pt x="6188826" y="18276"/>
                </a:lnTo>
                <a:lnTo>
                  <a:pt x="6202118" y="50378"/>
                </a:lnTo>
                <a:lnTo>
                  <a:pt x="6202118" y="1736054"/>
                </a:lnTo>
                <a:lnTo>
                  <a:pt x="6183818" y="1773179"/>
                </a:lnTo>
                <a:lnTo>
                  <a:pt x="6155235" y="1786109"/>
                </a:lnTo>
                <a:lnTo>
                  <a:pt x="6151728" y="1786453"/>
                </a:lnTo>
                <a:close/>
              </a:path>
            </a:pathLst>
          </a:custGeom>
          <a:solidFill>
            <a:srgbClr val="0E172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761782" y="672048"/>
            <a:ext cx="6005195" cy="228600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Chunks</a:t>
            </a:r>
            <a:r>
              <a:rPr dirty="0" sz="800" spc="3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Created:</a:t>
            </a:r>
            <a:r>
              <a:rPr dirty="0" sz="800" spc="3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 spc="-25">
                <a:solidFill>
                  <a:srgbClr val="E4E7EB"/>
                </a:solidFill>
                <a:latin typeface="Courier New"/>
                <a:cs typeface="Courier New"/>
              </a:rPr>
              <a:t>38</a:t>
            </a:r>
            <a:endParaRPr sz="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endParaRPr sz="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First</a:t>
            </a:r>
            <a:r>
              <a:rPr dirty="0" sz="800" spc="2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 spc="-10">
                <a:solidFill>
                  <a:srgbClr val="E4E7EB"/>
                </a:solidFill>
                <a:latin typeface="Courier New"/>
                <a:cs typeface="Courier New"/>
              </a:rPr>
              <a:t>Chunk:</a:t>
            </a:r>
            <a:endParaRPr sz="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525"/>
              </a:spcBef>
            </a:pPr>
            <a:endParaRPr sz="800">
              <a:latin typeface="Courier New"/>
              <a:cs typeface="Courier New"/>
            </a:endParaRPr>
          </a:p>
          <a:p>
            <a:pPr marL="12700" marR="3764915">
              <a:lnSpc>
                <a:spcPct val="143800"/>
              </a:lnSpc>
              <a:spcBef>
                <a:spcPts val="5"/>
              </a:spcBef>
            </a:pP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HSE</a:t>
            </a:r>
            <a:r>
              <a:rPr dirty="0" sz="800" spc="5">
                <a:solidFill>
                  <a:srgbClr val="E4E7EB"/>
                </a:solidFill>
                <a:latin typeface="Courier New"/>
                <a:cs typeface="Courier New"/>
              </a:rPr>
              <a:t> 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Management</a:t>
            </a:r>
            <a:r>
              <a:rPr dirty="0" sz="800" spc="20">
                <a:solidFill>
                  <a:srgbClr val="E4E7EB"/>
                </a:solidFill>
                <a:latin typeface="Courier New"/>
                <a:cs typeface="Courier New"/>
              </a:rPr>
              <a:t> 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System</a:t>
            </a:r>
            <a:r>
              <a:rPr dirty="0" sz="800" spc="20">
                <a:solidFill>
                  <a:srgbClr val="E4E7EB"/>
                </a:solidFill>
                <a:latin typeface="Courier New"/>
                <a:cs typeface="Courier New"/>
              </a:rPr>
              <a:t> 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–</a:t>
            </a:r>
            <a:r>
              <a:rPr dirty="0" sz="800" spc="20">
                <a:solidFill>
                  <a:srgbClr val="E4E7EB"/>
                </a:solidFill>
                <a:latin typeface="Courier New"/>
                <a:cs typeface="Courier New"/>
              </a:rPr>
              <a:t>  </a:t>
            </a:r>
            <a:r>
              <a:rPr dirty="0" sz="800" spc="-10">
                <a:solidFill>
                  <a:srgbClr val="E4E7EB"/>
                </a:solidFill>
                <a:latin typeface="Courier New"/>
                <a:cs typeface="Courier New"/>
              </a:rPr>
              <a:t>Complete Technical</a:t>
            </a:r>
            <a:endParaRPr sz="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endParaRPr sz="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dirty="0" sz="800" spc="-20">
                <a:solidFill>
                  <a:srgbClr val="E4E7EB"/>
                </a:solidFill>
                <a:latin typeface="Courier New"/>
                <a:cs typeface="Courier New"/>
              </a:rPr>
              <a:t>Flow</a:t>
            </a:r>
            <a:endParaRPr sz="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525"/>
              </a:spcBef>
            </a:pPr>
            <a:endParaRPr sz="800">
              <a:latin typeface="Courier New"/>
              <a:cs typeface="Courier New"/>
            </a:endParaRPr>
          </a:p>
          <a:p>
            <a:pPr marL="12700" marR="5080">
              <a:lnSpc>
                <a:spcPct val="143800"/>
              </a:lnSpc>
            </a:pP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The</a:t>
            </a:r>
            <a:r>
              <a:rPr dirty="0" sz="800" spc="20">
                <a:solidFill>
                  <a:srgbClr val="E4E7EB"/>
                </a:solidFill>
                <a:latin typeface="Courier New"/>
                <a:cs typeface="Courier New"/>
              </a:rPr>
              <a:t> 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application</a:t>
            </a:r>
            <a:r>
              <a:rPr dirty="0" sz="800" spc="20">
                <a:solidFill>
                  <a:srgbClr val="E4E7EB"/>
                </a:solidFill>
                <a:latin typeface="Courier New"/>
                <a:cs typeface="Courier New"/>
              </a:rPr>
              <a:t> 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is</a:t>
            </a:r>
            <a:r>
              <a:rPr dirty="0" sz="800" spc="20">
                <a:solidFill>
                  <a:srgbClr val="E4E7EB"/>
                </a:solidFill>
                <a:latin typeface="Courier New"/>
                <a:cs typeface="Courier New"/>
              </a:rPr>
              <a:t> 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a</a:t>
            </a:r>
            <a:r>
              <a:rPr dirty="0" sz="800" spc="25">
                <a:solidFill>
                  <a:srgbClr val="E4E7EB"/>
                </a:solidFill>
                <a:latin typeface="Courier New"/>
                <a:cs typeface="Courier New"/>
              </a:rPr>
              <a:t> 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centralized</a:t>
            </a:r>
            <a:r>
              <a:rPr dirty="0" sz="800" spc="20">
                <a:solidFill>
                  <a:srgbClr val="E4E7EB"/>
                </a:solidFill>
                <a:latin typeface="Courier New"/>
                <a:cs typeface="Courier New"/>
              </a:rPr>
              <a:t> 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HSE</a:t>
            </a:r>
            <a:r>
              <a:rPr dirty="0" sz="800" spc="20">
                <a:solidFill>
                  <a:srgbClr val="E4E7EB"/>
                </a:solidFill>
                <a:latin typeface="Courier New"/>
                <a:cs typeface="Courier New"/>
              </a:rPr>
              <a:t> 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(Health,</a:t>
            </a:r>
            <a:r>
              <a:rPr dirty="0" sz="800" spc="20">
                <a:solidFill>
                  <a:srgbClr val="E4E7EB"/>
                </a:solidFill>
                <a:latin typeface="Courier New"/>
                <a:cs typeface="Courier New"/>
              </a:rPr>
              <a:t> 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Safety</a:t>
            </a:r>
            <a:r>
              <a:rPr dirty="0" sz="800" spc="25">
                <a:solidFill>
                  <a:srgbClr val="E4E7EB"/>
                </a:solidFill>
                <a:latin typeface="Courier New"/>
                <a:cs typeface="Courier New"/>
              </a:rPr>
              <a:t> 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&amp;</a:t>
            </a:r>
            <a:r>
              <a:rPr dirty="0" sz="800" spc="20">
                <a:solidFill>
                  <a:srgbClr val="E4E7EB"/>
                </a:solidFill>
                <a:latin typeface="Courier New"/>
                <a:cs typeface="Courier New"/>
              </a:rPr>
              <a:t> 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Environment)</a:t>
            </a:r>
            <a:r>
              <a:rPr dirty="0" sz="800" spc="20">
                <a:solidFill>
                  <a:srgbClr val="E4E7EB"/>
                </a:solidFill>
                <a:latin typeface="Courier New"/>
                <a:cs typeface="Courier New"/>
              </a:rPr>
              <a:t> 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Management</a:t>
            </a:r>
            <a:r>
              <a:rPr dirty="0" sz="800" spc="25">
                <a:solidFill>
                  <a:srgbClr val="E4E7EB"/>
                </a:solidFill>
                <a:latin typeface="Courier New"/>
                <a:cs typeface="Courier New"/>
              </a:rPr>
              <a:t>  </a:t>
            </a:r>
            <a:r>
              <a:rPr dirty="0" sz="800" spc="-10">
                <a:solidFill>
                  <a:srgbClr val="E4E7EB"/>
                </a:solidFill>
                <a:latin typeface="Courier New"/>
                <a:cs typeface="Courier New"/>
              </a:rPr>
              <a:t>System.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Technology</a:t>
            </a:r>
            <a:r>
              <a:rPr dirty="0" sz="800" spc="30">
                <a:solidFill>
                  <a:srgbClr val="E4E7EB"/>
                </a:solidFill>
                <a:latin typeface="Courier New"/>
                <a:cs typeface="Courier New"/>
              </a:rPr>
              <a:t>  </a:t>
            </a:r>
            <a:r>
              <a:rPr dirty="0" sz="800" spc="-20">
                <a:solidFill>
                  <a:srgbClr val="E4E7EB"/>
                </a:solidFill>
                <a:latin typeface="Courier New"/>
                <a:cs typeface="Courier New"/>
              </a:rPr>
              <a:t>stack</a:t>
            </a:r>
            <a:endParaRPr sz="800">
              <a:latin typeface="Courier New"/>
              <a:cs typeface="Courier New"/>
            </a:endParaRPr>
          </a:p>
          <a:p>
            <a:pPr marL="12700" marR="559435">
              <a:lnSpc>
                <a:spcPts val="1430"/>
              </a:lnSpc>
              <a:spcBef>
                <a:spcPts val="55"/>
              </a:spcBef>
              <a:tabLst>
                <a:tab pos="2231390" algn="l"/>
                <a:tab pos="4018915" algn="l"/>
              </a:tabLst>
            </a:pP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Frontend</a:t>
            </a:r>
            <a:r>
              <a:rPr dirty="0" sz="800" spc="25">
                <a:solidFill>
                  <a:srgbClr val="E4E7EB"/>
                </a:solidFill>
                <a:latin typeface="Courier New"/>
                <a:cs typeface="Courier New"/>
              </a:rPr>
              <a:t> 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(React/HTML</a:t>
            </a:r>
            <a:r>
              <a:rPr dirty="0" sz="800" spc="30">
                <a:solidFill>
                  <a:srgbClr val="E4E7EB"/>
                </a:solidFill>
                <a:latin typeface="Courier New"/>
                <a:cs typeface="Courier New"/>
              </a:rPr>
              <a:t>  </a:t>
            </a:r>
            <a:r>
              <a:rPr dirty="0" sz="800" spc="-25">
                <a:solidFill>
                  <a:srgbClr val="E4E7EB"/>
                </a:solidFill>
                <a:latin typeface="Courier New"/>
                <a:cs typeface="Courier New"/>
              </a:rPr>
              <a:t>UI)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	↓</a:t>
            </a:r>
            <a:r>
              <a:rPr dirty="0" sz="800" spc="15">
                <a:solidFill>
                  <a:srgbClr val="E4E7EB"/>
                </a:solidFill>
                <a:latin typeface="Courier New"/>
                <a:cs typeface="Courier New"/>
              </a:rPr>
              <a:t> 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FastAPI</a:t>
            </a:r>
            <a:r>
              <a:rPr dirty="0" sz="800" spc="15">
                <a:solidFill>
                  <a:srgbClr val="E4E7EB"/>
                </a:solidFill>
                <a:latin typeface="Courier New"/>
                <a:cs typeface="Courier New"/>
              </a:rPr>
              <a:t>  </a:t>
            </a:r>
            <a:r>
              <a:rPr dirty="0" sz="800" spc="-10">
                <a:solidFill>
                  <a:srgbClr val="E4E7EB"/>
                </a:solidFill>
                <a:latin typeface="Courier New"/>
                <a:cs typeface="Courier New"/>
              </a:rPr>
              <a:t>Backend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	↓</a:t>
            </a:r>
            <a:r>
              <a:rPr dirty="0" sz="800" spc="15">
                <a:solidFill>
                  <a:srgbClr val="E4E7EB"/>
                </a:solidFill>
                <a:latin typeface="Courier New"/>
                <a:cs typeface="Courier New"/>
              </a:rPr>
              <a:t> 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PostgreSQL</a:t>
            </a:r>
            <a:r>
              <a:rPr dirty="0" sz="800" spc="20">
                <a:solidFill>
                  <a:srgbClr val="E4E7EB"/>
                </a:solidFill>
                <a:latin typeface="Courier New"/>
                <a:cs typeface="Courier New"/>
              </a:rPr>
              <a:t>  </a:t>
            </a:r>
            <a:r>
              <a:rPr dirty="0" sz="800" spc="-10">
                <a:solidFill>
                  <a:srgbClr val="E4E7EB"/>
                </a:solidFill>
                <a:latin typeface="Courier New"/>
                <a:cs typeface="Courier New"/>
              </a:rPr>
              <a:t>Database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Authentication</a:t>
            </a:r>
            <a:r>
              <a:rPr dirty="0" sz="800" spc="20">
                <a:solidFill>
                  <a:srgbClr val="E4E7EB"/>
                </a:solidFill>
                <a:latin typeface="Courier New"/>
                <a:cs typeface="Courier New"/>
              </a:rPr>
              <a:t> 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is</a:t>
            </a:r>
            <a:r>
              <a:rPr dirty="0" sz="800" spc="25">
                <a:solidFill>
                  <a:srgbClr val="E4E7EB"/>
                </a:solidFill>
                <a:latin typeface="Courier New"/>
                <a:cs typeface="Courier New"/>
              </a:rPr>
              <a:t> 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handled</a:t>
            </a:r>
            <a:r>
              <a:rPr dirty="0" sz="800" spc="20">
                <a:solidFill>
                  <a:srgbClr val="E4E7EB"/>
                </a:solidFill>
                <a:latin typeface="Courier New"/>
                <a:cs typeface="Courier New"/>
              </a:rPr>
              <a:t> 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using</a:t>
            </a:r>
            <a:r>
              <a:rPr dirty="0" sz="800" spc="25">
                <a:solidFill>
                  <a:srgbClr val="E4E7EB"/>
                </a:solidFill>
                <a:latin typeface="Courier New"/>
                <a:cs typeface="Courier New"/>
              </a:rPr>
              <a:t>  </a:t>
            </a:r>
            <a:r>
              <a:rPr dirty="0" sz="800" spc="-20">
                <a:solidFill>
                  <a:srgbClr val="E4E7EB"/>
                </a:solidFill>
                <a:latin typeface="Courier New"/>
                <a:cs typeface="Courier New"/>
              </a:rPr>
              <a:t>JWT.</a:t>
            </a:r>
            <a:endParaRPr sz="8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624760" y="2932045"/>
            <a:ext cx="5142230" cy="376555"/>
          </a:xfrm>
          <a:prstGeom prst="rect">
            <a:avLst/>
          </a:prstGeom>
        </p:spPr>
        <p:txBody>
          <a:bodyPr wrap="square" lIns="0" tIns="654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15"/>
              </a:spcBef>
            </a:pP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share</a:t>
            </a:r>
            <a:r>
              <a:rPr dirty="0" sz="800" spc="15">
                <a:solidFill>
                  <a:srgbClr val="E4E7EB"/>
                </a:solidFill>
                <a:latin typeface="Courier New"/>
                <a:cs typeface="Courier New"/>
              </a:rPr>
              <a:t> 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a</a:t>
            </a:r>
            <a:r>
              <a:rPr dirty="0" sz="800" spc="20">
                <a:solidFill>
                  <a:srgbClr val="E4E7EB"/>
                </a:solidFill>
                <a:latin typeface="Courier New"/>
                <a:cs typeface="Courier New"/>
              </a:rPr>
              <a:t> 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single</a:t>
            </a:r>
            <a:r>
              <a:rPr dirty="0" sz="800" spc="20">
                <a:solidFill>
                  <a:srgbClr val="E4E7EB"/>
                </a:solidFill>
                <a:latin typeface="Courier New"/>
                <a:cs typeface="Courier New"/>
              </a:rPr>
              <a:t> 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PostgreSQL</a:t>
            </a:r>
            <a:r>
              <a:rPr dirty="0" sz="800" spc="20">
                <a:solidFill>
                  <a:srgbClr val="E4E7EB"/>
                </a:solidFill>
                <a:latin typeface="Courier New"/>
                <a:cs typeface="Courier New"/>
              </a:rPr>
              <a:t>  </a:t>
            </a:r>
            <a:r>
              <a:rPr dirty="0" sz="800" spc="-10">
                <a:solidFill>
                  <a:srgbClr val="E4E7EB"/>
                </a:solidFill>
                <a:latin typeface="Courier New"/>
                <a:cs typeface="Courier New"/>
              </a:rPr>
              <a:t>database.</a:t>
            </a:r>
            <a:endParaRPr sz="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420"/>
              </a:spcBef>
            </a:pP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owns</a:t>
            </a:r>
            <a:r>
              <a:rPr dirty="0" sz="800" spc="15">
                <a:solidFill>
                  <a:srgbClr val="E4E7EB"/>
                </a:solidFill>
                <a:latin typeface="Courier New"/>
                <a:cs typeface="Courier New"/>
              </a:rPr>
              <a:t> 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its</a:t>
            </a:r>
            <a:r>
              <a:rPr dirty="0" sz="800" spc="15">
                <a:solidFill>
                  <a:srgbClr val="E4E7EB"/>
                </a:solidFill>
                <a:latin typeface="Courier New"/>
                <a:cs typeface="Courier New"/>
              </a:rPr>
              <a:t> 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own</a:t>
            </a:r>
            <a:r>
              <a:rPr dirty="0" sz="800" spc="20">
                <a:solidFill>
                  <a:srgbClr val="E4E7EB"/>
                </a:solidFill>
                <a:latin typeface="Courier New"/>
                <a:cs typeface="Courier New"/>
              </a:rPr>
              <a:t> 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tables</a:t>
            </a:r>
            <a:r>
              <a:rPr dirty="0" sz="800" spc="15">
                <a:solidFill>
                  <a:srgbClr val="E4E7EB"/>
                </a:solidFill>
                <a:latin typeface="Courier New"/>
                <a:cs typeface="Courier New"/>
              </a:rPr>
              <a:t> 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and</a:t>
            </a:r>
            <a:r>
              <a:rPr dirty="0" sz="800" spc="15">
                <a:solidFill>
                  <a:srgbClr val="E4E7EB"/>
                </a:solidFill>
                <a:latin typeface="Courier New"/>
                <a:cs typeface="Courier New"/>
              </a:rPr>
              <a:t> 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APIs</a:t>
            </a:r>
            <a:r>
              <a:rPr dirty="0" sz="800" spc="20">
                <a:solidFill>
                  <a:srgbClr val="E4E7EB"/>
                </a:solidFill>
                <a:latin typeface="Courier New"/>
                <a:cs typeface="Courier New"/>
              </a:rPr>
              <a:t> 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but</a:t>
            </a:r>
            <a:r>
              <a:rPr dirty="0" sz="800" spc="15">
                <a:solidFill>
                  <a:srgbClr val="E4E7EB"/>
                </a:solidFill>
                <a:latin typeface="Courier New"/>
                <a:cs typeface="Courier New"/>
              </a:rPr>
              <a:t> 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can</a:t>
            </a:r>
            <a:r>
              <a:rPr dirty="0" sz="800" spc="15">
                <a:solidFill>
                  <a:srgbClr val="E4E7EB"/>
                </a:solidFill>
                <a:latin typeface="Courier New"/>
                <a:cs typeface="Courier New"/>
              </a:rPr>
              <a:t> 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read</a:t>
            </a:r>
            <a:r>
              <a:rPr dirty="0" sz="800" spc="20">
                <a:solidFill>
                  <a:srgbClr val="E4E7EB"/>
                </a:solidFill>
                <a:latin typeface="Courier New"/>
                <a:cs typeface="Courier New"/>
              </a:rPr>
              <a:t> 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data</a:t>
            </a:r>
            <a:r>
              <a:rPr dirty="0" sz="800" spc="15">
                <a:solidFill>
                  <a:srgbClr val="E4E7EB"/>
                </a:solidFill>
                <a:latin typeface="Courier New"/>
                <a:cs typeface="Courier New"/>
              </a:rPr>
              <a:t> 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from</a:t>
            </a:r>
            <a:r>
              <a:rPr dirty="0" sz="800" spc="15">
                <a:solidFill>
                  <a:srgbClr val="E4E7EB"/>
                </a:solidFill>
                <a:latin typeface="Courier New"/>
                <a:cs typeface="Courier New"/>
              </a:rPr>
              <a:t> 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other</a:t>
            </a:r>
            <a:r>
              <a:rPr dirty="0" sz="800" spc="20">
                <a:solidFill>
                  <a:srgbClr val="E4E7EB"/>
                </a:solidFill>
                <a:latin typeface="Courier New"/>
                <a:cs typeface="Courier New"/>
              </a:rPr>
              <a:t> 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modules</a:t>
            </a:r>
            <a:r>
              <a:rPr dirty="0" sz="800" spc="15">
                <a:solidFill>
                  <a:srgbClr val="E4E7EB"/>
                </a:solidFill>
                <a:latin typeface="Courier New"/>
                <a:cs typeface="Courier New"/>
              </a:rPr>
              <a:t>  </a:t>
            </a:r>
            <a:r>
              <a:rPr dirty="0" sz="800" spc="-20">
                <a:solidFill>
                  <a:srgbClr val="E4E7EB"/>
                </a:solidFill>
                <a:latin typeface="Courier New"/>
                <a:cs typeface="Courier New"/>
              </a:rPr>
              <a:t>when</a:t>
            </a:r>
            <a:endParaRPr sz="8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61782" y="2932045"/>
            <a:ext cx="765175" cy="558165"/>
          </a:xfrm>
          <a:prstGeom prst="rect">
            <a:avLst/>
          </a:prstGeom>
        </p:spPr>
        <p:txBody>
          <a:bodyPr wrap="square" lIns="0" tIns="8890" rIns="0" bIns="0" rtlCol="0" vert="horz">
            <a:spAutoFit/>
          </a:bodyPr>
          <a:lstStyle/>
          <a:p>
            <a:pPr algn="just" marL="12700" marR="5080">
              <a:lnSpc>
                <a:spcPct val="146500"/>
              </a:lnSpc>
              <a:spcBef>
                <a:spcPts val="70"/>
              </a:spcBef>
            </a:pP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All</a:t>
            </a:r>
            <a:r>
              <a:rPr dirty="0" sz="800" spc="10">
                <a:solidFill>
                  <a:srgbClr val="E4E7EB"/>
                </a:solidFill>
                <a:latin typeface="Courier New"/>
                <a:cs typeface="Courier New"/>
              </a:rPr>
              <a:t>  </a:t>
            </a:r>
            <a:r>
              <a:rPr dirty="0" sz="800" spc="-10">
                <a:solidFill>
                  <a:srgbClr val="E4E7EB"/>
                </a:solidFill>
                <a:latin typeface="Courier New"/>
                <a:cs typeface="Courier New"/>
              </a:rPr>
              <a:t>modules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Each</a:t>
            </a:r>
            <a:r>
              <a:rPr dirty="0" sz="800" spc="15">
                <a:solidFill>
                  <a:srgbClr val="E4E7EB"/>
                </a:solidFill>
                <a:latin typeface="Courier New"/>
                <a:cs typeface="Courier New"/>
              </a:rPr>
              <a:t>  </a:t>
            </a:r>
            <a:r>
              <a:rPr dirty="0" sz="800" spc="-10">
                <a:solidFill>
                  <a:srgbClr val="E4E7EB"/>
                </a:solidFill>
                <a:latin typeface="Courier New"/>
                <a:cs typeface="Courier New"/>
              </a:rPr>
              <a:t>module required.</a:t>
            </a:r>
            <a:endParaRPr sz="8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61782" y="3821914"/>
            <a:ext cx="2306320" cy="109093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43800"/>
              </a:lnSpc>
              <a:spcBef>
                <a:spcPts val="95"/>
              </a:spcBef>
            </a:pP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Module</a:t>
            </a:r>
            <a:r>
              <a:rPr dirty="0" sz="800" spc="15">
                <a:solidFill>
                  <a:srgbClr val="E4E7EB"/>
                </a:solidFill>
                <a:latin typeface="Courier New"/>
                <a:cs typeface="Courier New"/>
              </a:rPr>
              <a:t> 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1</a:t>
            </a:r>
            <a:r>
              <a:rPr dirty="0" sz="800" spc="20">
                <a:solidFill>
                  <a:srgbClr val="E4E7EB"/>
                </a:solidFill>
                <a:latin typeface="Courier New"/>
                <a:cs typeface="Courier New"/>
              </a:rPr>
              <a:t> 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–</a:t>
            </a:r>
            <a:r>
              <a:rPr dirty="0" sz="800" spc="15">
                <a:solidFill>
                  <a:srgbClr val="E4E7EB"/>
                </a:solidFill>
                <a:latin typeface="Courier New"/>
                <a:cs typeface="Courier New"/>
              </a:rPr>
              <a:t> 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Authentication</a:t>
            </a:r>
            <a:r>
              <a:rPr dirty="0" sz="800" spc="20">
                <a:solidFill>
                  <a:srgbClr val="E4E7EB"/>
                </a:solidFill>
                <a:latin typeface="Courier New"/>
                <a:cs typeface="Courier New"/>
              </a:rPr>
              <a:t> 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&amp;</a:t>
            </a:r>
            <a:r>
              <a:rPr dirty="0" sz="800" spc="15">
                <a:solidFill>
                  <a:srgbClr val="E4E7EB"/>
                </a:solidFill>
                <a:latin typeface="Courier New"/>
                <a:cs typeface="Courier New"/>
              </a:rPr>
              <a:t>  </a:t>
            </a:r>
            <a:r>
              <a:rPr dirty="0" sz="800" spc="-20">
                <a:solidFill>
                  <a:srgbClr val="E4E7EB"/>
                </a:solidFill>
                <a:latin typeface="Courier New"/>
                <a:cs typeface="Courier New"/>
              </a:rPr>
              <a:t>User </a:t>
            </a:r>
            <a:r>
              <a:rPr dirty="0" sz="800" spc="-10">
                <a:solidFill>
                  <a:srgbClr val="E4E7EB"/>
                </a:solidFill>
                <a:latin typeface="Courier New"/>
                <a:cs typeface="Courier New"/>
              </a:rPr>
              <a:t>Management-</a:t>
            </a:r>
            <a:endParaRPr sz="800">
              <a:latin typeface="Courier New"/>
              <a:cs typeface="Courier New"/>
            </a:endParaRPr>
          </a:p>
          <a:p>
            <a:pPr marL="12700" marR="2038985">
              <a:lnSpc>
                <a:spcPct val="293100"/>
              </a:lnSpc>
            </a:pPr>
            <a:r>
              <a:rPr dirty="0" sz="800" spc="-20">
                <a:solidFill>
                  <a:srgbClr val="E4E7EB"/>
                </a:solidFill>
                <a:latin typeface="Courier New"/>
                <a:cs typeface="Courier New"/>
              </a:rPr>
              <a:t>Said </a:t>
            </a:r>
            <a:r>
              <a:rPr dirty="0" sz="800" spc="-25">
                <a:solidFill>
                  <a:srgbClr val="E4E7EB"/>
                </a:solidFill>
                <a:latin typeface="Courier New"/>
                <a:cs typeface="Courier New"/>
              </a:rPr>
              <a:t>Ali</a:t>
            </a:r>
            <a:endParaRPr sz="800">
              <a:latin typeface="Courier New"/>
              <a:cs typeface="Courier New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4192389" y="5162421"/>
            <a:ext cx="364490" cy="148590"/>
          </a:xfrm>
          <a:custGeom>
            <a:avLst/>
            <a:gdLst/>
            <a:ahLst/>
            <a:cxnLst/>
            <a:rect l="l" t="t" r="r" b="b"/>
            <a:pathLst>
              <a:path w="364489" h="148589">
                <a:moveTo>
                  <a:pt x="340647" y="148284"/>
                </a:moveTo>
                <a:lnTo>
                  <a:pt x="23390" y="148284"/>
                </a:lnTo>
                <a:lnTo>
                  <a:pt x="19950" y="147603"/>
                </a:lnTo>
                <a:lnTo>
                  <a:pt x="0" y="124898"/>
                </a:lnTo>
                <a:lnTo>
                  <a:pt x="0" y="121345"/>
                </a:lnTo>
                <a:lnTo>
                  <a:pt x="0" y="23386"/>
                </a:lnTo>
                <a:lnTo>
                  <a:pt x="23390" y="0"/>
                </a:lnTo>
                <a:lnTo>
                  <a:pt x="340647" y="0"/>
                </a:lnTo>
                <a:lnTo>
                  <a:pt x="364037" y="23386"/>
                </a:lnTo>
                <a:lnTo>
                  <a:pt x="364037" y="124898"/>
                </a:lnTo>
                <a:lnTo>
                  <a:pt x="344087" y="147603"/>
                </a:lnTo>
                <a:lnTo>
                  <a:pt x="340647" y="148284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667402" y="5094760"/>
            <a:ext cx="5902960" cy="95313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23900"/>
              </a:lnSpc>
              <a:spcBef>
                <a:spcPts val="95"/>
              </a:spcBef>
            </a:pPr>
            <a:r>
              <a:rPr dirty="0" sz="1000" spc="-85">
                <a:solidFill>
                  <a:srgbClr val="111726"/>
                </a:solidFill>
                <a:latin typeface="Source Han Sans JP"/>
                <a:cs typeface="Source Han Sans JP"/>
              </a:rPr>
              <a:t>(The</a:t>
            </a:r>
            <a:r>
              <a:rPr dirty="0" sz="1000" spc="-2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90">
                <a:solidFill>
                  <a:srgbClr val="111726"/>
                </a:solidFill>
                <a:latin typeface="Source Han Sans JP"/>
                <a:cs typeface="Source Han Sans JP"/>
              </a:rPr>
              <a:t>doubled</a:t>
            </a:r>
            <a:r>
              <a:rPr dirty="0" sz="1000" spc="-2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95">
                <a:solidFill>
                  <a:srgbClr val="111726"/>
                </a:solidFill>
                <a:latin typeface="Source Han Sans JP"/>
                <a:cs typeface="Source Han Sans JP"/>
              </a:rPr>
              <a:t>spaces</a:t>
            </a:r>
            <a:r>
              <a:rPr dirty="0" sz="1000" spc="-2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95">
                <a:solidFill>
                  <a:srgbClr val="111726"/>
                </a:solidFill>
                <a:latin typeface="Source Han Sans JP"/>
                <a:cs typeface="Source Han Sans JP"/>
              </a:rPr>
              <a:t>and</a:t>
            </a:r>
            <a:r>
              <a:rPr dirty="0" sz="1000" spc="-20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75">
                <a:solidFill>
                  <a:srgbClr val="111726"/>
                </a:solidFill>
                <a:latin typeface="Source Han Sans JP"/>
                <a:cs typeface="Source Han Sans JP"/>
              </a:rPr>
              <a:t>irregular</a:t>
            </a:r>
            <a:r>
              <a:rPr dirty="0" sz="1000" spc="-2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70">
                <a:solidFill>
                  <a:srgbClr val="111726"/>
                </a:solidFill>
                <a:latin typeface="Source Han Sans JP"/>
                <a:cs typeface="Source Han Sans JP"/>
              </a:rPr>
              <a:t>line</a:t>
            </a:r>
            <a:r>
              <a:rPr dirty="0" sz="1000" spc="-2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90">
                <a:solidFill>
                  <a:srgbClr val="111726"/>
                </a:solidFill>
                <a:latin typeface="Source Han Sans JP"/>
                <a:cs typeface="Source Han Sans JP"/>
              </a:rPr>
              <a:t>breaks</a:t>
            </a:r>
            <a:r>
              <a:rPr dirty="0" sz="1000" spc="-2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110">
                <a:solidFill>
                  <a:srgbClr val="111726"/>
                </a:solidFill>
                <a:latin typeface="Source Han Sans JP"/>
                <a:cs typeface="Source Han Sans JP"/>
              </a:rPr>
              <a:t>come</a:t>
            </a:r>
            <a:r>
              <a:rPr dirty="0" sz="1000" spc="-20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75">
                <a:solidFill>
                  <a:srgbClr val="111726"/>
                </a:solidFill>
                <a:latin typeface="Source Han Sans JP"/>
                <a:cs typeface="Source Han Sans JP"/>
              </a:rPr>
              <a:t>directly</a:t>
            </a:r>
            <a:r>
              <a:rPr dirty="0" sz="1000" spc="-2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90">
                <a:solidFill>
                  <a:srgbClr val="111726"/>
                </a:solidFill>
                <a:latin typeface="Source Han Sans JP"/>
                <a:cs typeface="Source Han Sans JP"/>
              </a:rPr>
              <a:t>from</a:t>
            </a:r>
            <a:r>
              <a:rPr dirty="0" sz="1000" spc="-2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65">
                <a:solidFill>
                  <a:srgbClr val="111726"/>
                </a:solidFill>
                <a:latin typeface="Source Han Sans JP"/>
                <a:cs typeface="Source Han Sans JP"/>
              </a:rPr>
              <a:t>how</a:t>
            </a:r>
            <a:r>
              <a:rPr dirty="0" sz="1000" spc="204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800">
                <a:solidFill>
                  <a:srgbClr val="111726"/>
                </a:solidFill>
                <a:latin typeface="Courier New"/>
                <a:cs typeface="Courier New"/>
              </a:rPr>
              <a:t>pypdf</a:t>
            </a:r>
            <a:r>
              <a:rPr dirty="0" sz="800" spc="-55">
                <a:solidFill>
                  <a:srgbClr val="111726"/>
                </a:solidFill>
                <a:latin typeface="Courier New"/>
                <a:cs typeface="Courier New"/>
              </a:rPr>
              <a:t> </a:t>
            </a:r>
            <a:r>
              <a:rPr dirty="0" sz="1000" spc="-90">
                <a:solidFill>
                  <a:srgbClr val="111726"/>
                </a:solidFill>
                <a:latin typeface="Source Han Sans JP"/>
                <a:cs typeface="Source Han Sans JP"/>
              </a:rPr>
              <a:t>extracted</a:t>
            </a:r>
            <a:r>
              <a:rPr dirty="0" sz="1000" spc="-2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90">
                <a:solidFill>
                  <a:srgbClr val="111726"/>
                </a:solidFill>
                <a:latin typeface="Source Han Sans JP"/>
                <a:cs typeface="Source Han Sans JP"/>
              </a:rPr>
              <a:t>text</a:t>
            </a:r>
            <a:r>
              <a:rPr dirty="0" sz="1000" spc="-2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90">
                <a:solidFill>
                  <a:srgbClr val="111726"/>
                </a:solidFill>
                <a:latin typeface="Source Han Sans JP"/>
                <a:cs typeface="Source Han Sans JP"/>
              </a:rPr>
              <a:t>from</a:t>
            </a:r>
            <a:r>
              <a:rPr dirty="0" sz="1000" spc="-20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70">
                <a:solidFill>
                  <a:srgbClr val="111726"/>
                </a:solidFill>
                <a:latin typeface="Source Han Sans JP"/>
                <a:cs typeface="Source Han Sans JP"/>
              </a:rPr>
              <a:t>this</a:t>
            </a:r>
            <a:r>
              <a:rPr dirty="0" sz="1000" spc="-2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75">
                <a:solidFill>
                  <a:srgbClr val="111726"/>
                </a:solidFill>
                <a:latin typeface="Source Han Sans JP"/>
                <a:cs typeface="Source Han Sans JP"/>
              </a:rPr>
              <a:t>particular</a:t>
            </a:r>
            <a:r>
              <a:rPr dirty="0" sz="1000" spc="-2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40">
                <a:solidFill>
                  <a:srgbClr val="111726"/>
                </a:solidFill>
                <a:latin typeface="Source Han Sans JP"/>
                <a:cs typeface="Source Han Sans JP"/>
              </a:rPr>
              <a:t>PDF's</a:t>
            </a:r>
            <a:r>
              <a:rPr dirty="0" sz="1000" spc="500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80">
                <a:solidFill>
                  <a:srgbClr val="111726"/>
                </a:solidFill>
                <a:latin typeface="Source Han Sans JP"/>
                <a:cs typeface="Source Han Sans JP"/>
              </a:rPr>
              <a:t>layout</a:t>
            </a:r>
            <a:r>
              <a:rPr dirty="0" sz="1000" spc="-1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950" spc="-204">
                <a:solidFill>
                  <a:srgbClr val="111726"/>
                </a:solidFill>
                <a:latin typeface="Arial"/>
                <a:cs typeface="Arial"/>
              </a:rPr>
              <a:t>—</a:t>
            </a:r>
            <a:r>
              <a:rPr dirty="0" sz="950" spc="-50">
                <a:solidFill>
                  <a:srgbClr val="111726"/>
                </a:solidFill>
                <a:latin typeface="Arial"/>
                <a:cs typeface="Arial"/>
              </a:rPr>
              <a:t> </a:t>
            </a:r>
            <a:r>
              <a:rPr dirty="0" sz="1000" spc="-70">
                <a:solidFill>
                  <a:srgbClr val="111726"/>
                </a:solidFill>
                <a:latin typeface="Source Han Sans JP"/>
                <a:cs typeface="Source Han Sans JP"/>
              </a:rPr>
              <a:t>this</a:t>
            </a:r>
            <a:r>
              <a:rPr dirty="0" sz="1000" spc="-10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70">
                <a:solidFill>
                  <a:srgbClr val="111726"/>
                </a:solidFill>
                <a:latin typeface="Source Han Sans JP"/>
                <a:cs typeface="Source Han Sans JP"/>
              </a:rPr>
              <a:t>is</a:t>
            </a:r>
            <a:r>
              <a:rPr dirty="0" sz="1000" spc="-1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85">
                <a:solidFill>
                  <a:srgbClr val="111726"/>
                </a:solidFill>
                <a:latin typeface="Source Han Sans JP"/>
                <a:cs typeface="Source Han Sans JP"/>
              </a:rPr>
              <a:t>normal,</a:t>
            </a:r>
            <a:r>
              <a:rPr dirty="0" sz="1000" spc="-10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80">
                <a:solidFill>
                  <a:srgbClr val="111726"/>
                </a:solidFill>
                <a:latin typeface="Source Han Sans JP"/>
                <a:cs typeface="Source Han Sans JP"/>
              </a:rPr>
              <a:t>mildly</a:t>
            </a:r>
            <a:r>
              <a:rPr dirty="0" sz="1000" spc="-10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95">
                <a:solidFill>
                  <a:srgbClr val="111726"/>
                </a:solidFill>
                <a:latin typeface="Source Han Sans JP"/>
                <a:cs typeface="Source Han Sans JP"/>
              </a:rPr>
              <a:t>messy</a:t>
            </a:r>
            <a:r>
              <a:rPr dirty="0" sz="1000" spc="-1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105">
                <a:solidFill>
                  <a:srgbClr val="111726"/>
                </a:solidFill>
                <a:latin typeface="Source Han Sans JP"/>
                <a:cs typeface="Source Han Sans JP"/>
              </a:rPr>
              <a:t>PDF-</a:t>
            </a:r>
            <a:r>
              <a:rPr dirty="0" sz="1000" spc="-90">
                <a:solidFill>
                  <a:srgbClr val="111726"/>
                </a:solidFill>
                <a:latin typeface="Source Han Sans JP"/>
                <a:cs typeface="Source Han Sans JP"/>
              </a:rPr>
              <a:t>text</a:t>
            </a:r>
            <a:r>
              <a:rPr dirty="0" sz="1000" spc="-10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85">
                <a:solidFill>
                  <a:srgbClr val="111726"/>
                </a:solidFill>
                <a:latin typeface="Source Han Sans JP"/>
                <a:cs typeface="Source Han Sans JP"/>
              </a:rPr>
              <a:t>extraction,</a:t>
            </a:r>
            <a:r>
              <a:rPr dirty="0" sz="1000" spc="-10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95">
                <a:solidFill>
                  <a:srgbClr val="111726"/>
                </a:solidFill>
                <a:latin typeface="Source Han Sans JP"/>
                <a:cs typeface="Source Han Sans JP"/>
              </a:rPr>
              <a:t>not</a:t>
            </a:r>
            <a:r>
              <a:rPr dirty="0" sz="1000" spc="-1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90">
                <a:solidFill>
                  <a:srgbClr val="111726"/>
                </a:solidFill>
                <a:latin typeface="Source Han Sans JP"/>
                <a:cs typeface="Source Han Sans JP"/>
              </a:rPr>
              <a:t>a</a:t>
            </a:r>
            <a:r>
              <a:rPr dirty="0" sz="1000" spc="-10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100">
                <a:solidFill>
                  <a:srgbClr val="111726"/>
                </a:solidFill>
                <a:latin typeface="Source Han Sans JP"/>
                <a:cs typeface="Source Han Sans JP"/>
              </a:rPr>
              <a:t>bug</a:t>
            </a:r>
            <a:r>
              <a:rPr dirty="0" sz="1000" spc="-10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85">
                <a:solidFill>
                  <a:srgbClr val="111726"/>
                </a:solidFill>
                <a:latin typeface="Source Han Sans JP"/>
                <a:cs typeface="Source Han Sans JP"/>
              </a:rPr>
              <a:t>in</a:t>
            </a:r>
            <a:r>
              <a:rPr dirty="0" sz="1000" spc="-1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90">
                <a:solidFill>
                  <a:srgbClr val="111726"/>
                </a:solidFill>
                <a:latin typeface="Source Han Sans JP"/>
                <a:cs typeface="Source Han Sans JP"/>
              </a:rPr>
              <a:t>the</a:t>
            </a:r>
            <a:r>
              <a:rPr dirty="0" sz="1000" spc="-10">
                <a:solidFill>
                  <a:srgbClr val="111726"/>
                </a:solidFill>
                <a:latin typeface="Source Han Sans JP"/>
                <a:cs typeface="Source Han Sans JP"/>
              </a:rPr>
              <a:t> code.)</a:t>
            </a:r>
            <a:endParaRPr sz="1000">
              <a:latin typeface="Source Han Sans JP"/>
              <a:cs typeface="Source Han Sans JP"/>
            </a:endParaRPr>
          </a:p>
          <a:p>
            <a:pPr>
              <a:lnSpc>
                <a:spcPct val="100000"/>
              </a:lnSpc>
              <a:spcBef>
                <a:spcPts val="994"/>
              </a:spcBef>
            </a:pPr>
            <a:endParaRPr sz="850">
              <a:latin typeface="Source Han Sans JP"/>
              <a:cs typeface="Source Han Sans JP"/>
            </a:endParaRPr>
          </a:p>
          <a:p>
            <a:pPr marL="12700">
              <a:lnSpc>
                <a:spcPct val="100000"/>
              </a:lnSpc>
            </a:pPr>
            <a:r>
              <a:rPr dirty="0" sz="1450" spc="-130" b="1">
                <a:solidFill>
                  <a:srgbClr val="111726"/>
                </a:solidFill>
                <a:latin typeface="Source Han Sans JP"/>
                <a:cs typeface="Source Han Sans JP"/>
              </a:rPr>
              <a:t>Cell</a:t>
            </a:r>
            <a:r>
              <a:rPr dirty="0" sz="1450" spc="-50" b="1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300" spc="-75" b="1">
                <a:solidFill>
                  <a:srgbClr val="111726"/>
                </a:solidFill>
                <a:latin typeface="Trebuchet MS"/>
                <a:cs typeface="Trebuchet MS"/>
              </a:rPr>
              <a:t>6</a:t>
            </a:r>
            <a:r>
              <a:rPr dirty="0" sz="1300" spc="-114" b="1">
                <a:solidFill>
                  <a:srgbClr val="111726"/>
                </a:solidFill>
                <a:latin typeface="Trebuchet MS"/>
                <a:cs typeface="Trebuchet MS"/>
              </a:rPr>
              <a:t> </a:t>
            </a:r>
            <a:r>
              <a:rPr dirty="0" sz="1350" spc="-285" b="1">
                <a:solidFill>
                  <a:srgbClr val="111726"/>
                </a:solidFill>
                <a:latin typeface="Arial"/>
                <a:cs typeface="Arial"/>
              </a:rPr>
              <a:t>—</a:t>
            </a:r>
            <a:r>
              <a:rPr dirty="0" sz="1350" spc="-95" b="1">
                <a:solidFill>
                  <a:srgbClr val="111726"/>
                </a:solidFill>
                <a:latin typeface="Arial"/>
                <a:cs typeface="Arial"/>
              </a:rPr>
              <a:t> </a:t>
            </a:r>
            <a:r>
              <a:rPr dirty="0" sz="1450" spc="-175" b="1">
                <a:solidFill>
                  <a:srgbClr val="111726"/>
                </a:solidFill>
                <a:latin typeface="Source Han Sans JP"/>
                <a:cs typeface="Source Han Sans JP"/>
              </a:rPr>
              <a:t>Load</a:t>
            </a:r>
            <a:r>
              <a:rPr dirty="0" sz="1450" spc="-50" b="1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450" spc="-175" b="1">
                <a:solidFill>
                  <a:srgbClr val="111726"/>
                </a:solidFill>
                <a:latin typeface="Source Han Sans JP"/>
                <a:cs typeface="Source Han Sans JP"/>
              </a:rPr>
              <a:t>embedding</a:t>
            </a:r>
            <a:r>
              <a:rPr dirty="0" sz="1450" spc="-45" b="1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450" spc="-20" b="1">
                <a:solidFill>
                  <a:srgbClr val="111726"/>
                </a:solidFill>
                <a:latin typeface="Source Han Sans JP"/>
                <a:cs typeface="Source Han Sans JP"/>
              </a:rPr>
              <a:t>model</a:t>
            </a:r>
            <a:endParaRPr sz="1450">
              <a:latin typeface="Source Han Sans JP"/>
              <a:cs typeface="Source Han Sans JP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61782" y="6181417"/>
            <a:ext cx="3403600" cy="1623695"/>
          </a:xfrm>
          <a:prstGeom prst="rect">
            <a:avLst/>
          </a:prstGeom>
        </p:spPr>
        <p:txBody>
          <a:bodyPr wrap="square" lIns="0" tIns="654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15"/>
              </a:spcBef>
            </a:pP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#</a:t>
            </a:r>
            <a:r>
              <a:rPr dirty="0" sz="800" spc="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 spc="-10">
                <a:solidFill>
                  <a:srgbClr val="E4E7EB"/>
                </a:solidFill>
                <a:latin typeface="Courier New"/>
                <a:cs typeface="Courier New"/>
              </a:rPr>
              <a:t>======================================</a:t>
            </a:r>
            <a:endParaRPr sz="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420"/>
              </a:spcBef>
            </a:pP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#</a:t>
            </a:r>
            <a:r>
              <a:rPr dirty="0" sz="800" spc="2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Load</a:t>
            </a:r>
            <a:r>
              <a:rPr dirty="0" sz="800" spc="2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Embedding</a:t>
            </a:r>
            <a:r>
              <a:rPr dirty="0" sz="800" spc="2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 spc="-10">
                <a:solidFill>
                  <a:srgbClr val="E4E7EB"/>
                </a:solidFill>
                <a:latin typeface="Courier New"/>
                <a:cs typeface="Courier New"/>
              </a:rPr>
              <a:t>Model</a:t>
            </a:r>
            <a:endParaRPr sz="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475"/>
              </a:spcBef>
            </a:pP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#</a:t>
            </a:r>
            <a:r>
              <a:rPr dirty="0" sz="800" spc="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 spc="-10">
                <a:solidFill>
                  <a:srgbClr val="E4E7EB"/>
                </a:solidFill>
                <a:latin typeface="Courier New"/>
                <a:cs typeface="Courier New"/>
              </a:rPr>
              <a:t>======================================</a:t>
            </a:r>
            <a:endParaRPr sz="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420"/>
              </a:spcBef>
            </a:pPr>
            <a:endParaRPr sz="800">
              <a:latin typeface="Courier New"/>
              <a:cs typeface="Courier New"/>
            </a:endParaRPr>
          </a:p>
          <a:p>
            <a:pPr marL="259079" indent="-247015">
              <a:lnSpc>
                <a:spcPct val="149300"/>
              </a:lnSpc>
            </a:pP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embedding_model</a:t>
            </a:r>
            <a:r>
              <a:rPr dirty="0" sz="800" spc="4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=</a:t>
            </a:r>
            <a:r>
              <a:rPr dirty="0" sz="800" spc="4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 spc="-10">
                <a:solidFill>
                  <a:srgbClr val="E4E7EB"/>
                </a:solidFill>
                <a:latin typeface="Courier New"/>
                <a:cs typeface="Courier New"/>
              </a:rPr>
              <a:t>HuggingFaceEmbeddings(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model_name="sentence-transformers/all-MiniLM-L6-</a:t>
            </a:r>
            <a:r>
              <a:rPr dirty="0" sz="800" spc="-25">
                <a:solidFill>
                  <a:srgbClr val="E4E7EB"/>
                </a:solidFill>
                <a:latin typeface="Courier New"/>
                <a:cs typeface="Courier New"/>
              </a:rPr>
              <a:t>v2"</a:t>
            </a:r>
            <a:endParaRPr sz="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420"/>
              </a:spcBef>
            </a:pPr>
            <a:r>
              <a:rPr dirty="0" sz="800" spc="-50">
                <a:solidFill>
                  <a:srgbClr val="E4E7EB"/>
                </a:solidFill>
                <a:latin typeface="Courier New"/>
                <a:cs typeface="Courier New"/>
              </a:rPr>
              <a:t>)</a:t>
            </a:r>
            <a:endParaRPr sz="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endParaRPr sz="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print("Embedding</a:t>
            </a:r>
            <a:r>
              <a:rPr dirty="0" sz="800" spc="4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model</a:t>
            </a:r>
            <a:r>
              <a:rPr dirty="0" sz="800" spc="4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loaded</a:t>
            </a:r>
            <a:r>
              <a:rPr dirty="0" sz="800" spc="4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 spc="-10">
                <a:solidFill>
                  <a:srgbClr val="E4E7EB"/>
                </a:solidFill>
                <a:latin typeface="Courier New"/>
                <a:cs typeface="Courier New"/>
              </a:rPr>
              <a:t>successfully!")</a:t>
            </a:r>
            <a:endParaRPr sz="800">
              <a:latin typeface="Courier New"/>
              <a:cs typeface="Courier New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754257" y="8398309"/>
            <a:ext cx="586740" cy="141605"/>
          </a:xfrm>
          <a:custGeom>
            <a:avLst/>
            <a:gdLst/>
            <a:ahLst/>
            <a:cxnLst/>
            <a:rect l="l" t="t" r="r" b="b"/>
            <a:pathLst>
              <a:path w="586740" h="141604">
                <a:moveTo>
                  <a:pt x="563114" y="141543"/>
                </a:moveTo>
                <a:lnTo>
                  <a:pt x="23389" y="141543"/>
                </a:lnTo>
                <a:lnTo>
                  <a:pt x="19950" y="140862"/>
                </a:lnTo>
                <a:lnTo>
                  <a:pt x="0" y="118157"/>
                </a:lnTo>
                <a:lnTo>
                  <a:pt x="0" y="114604"/>
                </a:lnTo>
                <a:lnTo>
                  <a:pt x="0" y="23359"/>
                </a:lnTo>
                <a:lnTo>
                  <a:pt x="23389" y="0"/>
                </a:lnTo>
                <a:lnTo>
                  <a:pt x="563114" y="0"/>
                </a:lnTo>
                <a:lnTo>
                  <a:pt x="586504" y="23359"/>
                </a:lnTo>
                <a:lnTo>
                  <a:pt x="586504" y="118157"/>
                </a:lnTo>
                <a:lnTo>
                  <a:pt x="566554" y="140862"/>
                </a:lnTo>
                <a:lnTo>
                  <a:pt x="563114" y="141543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754257" y="8849986"/>
            <a:ext cx="2420620" cy="141605"/>
          </a:xfrm>
          <a:custGeom>
            <a:avLst/>
            <a:gdLst/>
            <a:ahLst/>
            <a:cxnLst/>
            <a:rect l="l" t="t" r="r" b="b"/>
            <a:pathLst>
              <a:path w="2420620" h="141604">
                <a:moveTo>
                  <a:pt x="2396784" y="141543"/>
                </a:moveTo>
                <a:lnTo>
                  <a:pt x="23389" y="141543"/>
                </a:lnTo>
                <a:lnTo>
                  <a:pt x="19950" y="140862"/>
                </a:lnTo>
                <a:lnTo>
                  <a:pt x="0" y="118157"/>
                </a:lnTo>
                <a:lnTo>
                  <a:pt x="0" y="114604"/>
                </a:lnTo>
                <a:lnTo>
                  <a:pt x="0" y="23359"/>
                </a:lnTo>
                <a:lnTo>
                  <a:pt x="23389" y="0"/>
                </a:lnTo>
                <a:lnTo>
                  <a:pt x="2396784" y="0"/>
                </a:lnTo>
                <a:lnTo>
                  <a:pt x="2420174" y="23359"/>
                </a:lnTo>
                <a:lnTo>
                  <a:pt x="2420174" y="118157"/>
                </a:lnTo>
                <a:lnTo>
                  <a:pt x="2400224" y="140862"/>
                </a:lnTo>
                <a:lnTo>
                  <a:pt x="2396784" y="141543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754253" y="9139834"/>
            <a:ext cx="2279015" cy="323850"/>
          </a:xfrm>
          <a:custGeom>
            <a:avLst/>
            <a:gdLst/>
            <a:ahLst/>
            <a:cxnLst/>
            <a:rect l="l" t="t" r="r" b="b"/>
            <a:pathLst>
              <a:path w="2279015" h="323850">
                <a:moveTo>
                  <a:pt x="795489" y="205397"/>
                </a:moveTo>
                <a:lnTo>
                  <a:pt x="772096" y="182029"/>
                </a:lnTo>
                <a:lnTo>
                  <a:pt x="0" y="182029"/>
                </a:lnTo>
                <a:lnTo>
                  <a:pt x="0" y="323596"/>
                </a:lnTo>
                <a:lnTo>
                  <a:pt x="772096" y="323596"/>
                </a:lnTo>
                <a:lnTo>
                  <a:pt x="795489" y="300189"/>
                </a:lnTo>
                <a:lnTo>
                  <a:pt x="795489" y="205397"/>
                </a:lnTo>
                <a:close/>
              </a:path>
              <a:path w="2279015" h="323850">
                <a:moveTo>
                  <a:pt x="2278608" y="0"/>
                </a:moveTo>
                <a:lnTo>
                  <a:pt x="23393" y="0"/>
                </a:lnTo>
                <a:lnTo>
                  <a:pt x="19951" y="698"/>
                </a:lnTo>
                <a:lnTo>
                  <a:pt x="0" y="23368"/>
                </a:lnTo>
                <a:lnTo>
                  <a:pt x="0" y="118173"/>
                </a:lnTo>
                <a:lnTo>
                  <a:pt x="23393" y="141566"/>
                </a:lnTo>
                <a:lnTo>
                  <a:pt x="2278608" y="141566"/>
                </a:lnTo>
                <a:lnTo>
                  <a:pt x="2278608" y="0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5" name="object 1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54257" y="9611768"/>
            <a:ext cx="114604" cy="141543"/>
          </a:xfrm>
          <a:prstGeom prst="rect">
            <a:avLst/>
          </a:prstGeom>
        </p:spPr>
      </p:pic>
      <p:graphicFrame>
        <p:nvGraphicFramePr>
          <p:cNvPr id="16" name="object 16"/>
          <p:cNvGraphicFramePr>
            <a:graphicFrameLocks noGrp="1"/>
          </p:cNvGraphicFramePr>
          <p:nvPr/>
        </p:nvGraphicFramePr>
        <p:xfrm>
          <a:off x="680102" y="8027530"/>
          <a:ext cx="6278880" cy="17919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609215"/>
                <a:gridCol w="3586479"/>
              </a:tblGrid>
              <a:tr h="289560">
                <a:tc>
                  <a:txBody>
                    <a:bodyPr/>
                    <a:lstStyle/>
                    <a:p>
                      <a:pPr marL="70485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950" spc="-20" b="1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Line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64769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marL="69215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950" spc="-10" b="1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Explanation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64769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  <a:solidFill>
                      <a:srgbClr val="F7FAFB"/>
                    </a:solidFill>
                  </a:tcPr>
                </a:tc>
              </a:tr>
              <a:tr h="451484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#</a:t>
                      </a:r>
                      <a:r>
                        <a:rPr dirty="0" sz="750" spc="55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====...</a:t>
                      </a:r>
                      <a:r>
                        <a:rPr dirty="0" sz="750" spc="-2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950" spc="-2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(x</a:t>
                      </a:r>
                      <a:r>
                        <a:rPr dirty="0" sz="850" spc="-20">
                          <a:solidFill>
                            <a:srgbClr val="111726"/>
                          </a:solidFill>
                          <a:latin typeface="Arial"/>
                          <a:cs typeface="Arial"/>
                        </a:rPr>
                        <a:t>3</a:t>
                      </a:r>
                      <a:r>
                        <a:rPr dirty="0" sz="950" spc="-2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)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64769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215" marR="363855">
                        <a:lnSpc>
                          <a:spcPct val="116399"/>
                        </a:lnSpc>
                        <a:spcBef>
                          <a:spcPts val="320"/>
                        </a:spcBef>
                      </a:pPr>
                      <a:r>
                        <a:rPr dirty="0" sz="950" spc="-9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Comment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banner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labeling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6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this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section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of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the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notebook,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purely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2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for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readability.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40640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embedding_model</a:t>
                      </a:r>
                      <a:r>
                        <a:rPr dirty="0" sz="750" spc="85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=</a:t>
                      </a:r>
                      <a:r>
                        <a:rPr dirty="0" sz="750" spc="9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 spc="-1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HuggingFaceEmbeddings(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90170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215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Instantiates</a:t>
                      </a:r>
                      <a:r>
                        <a:rPr dirty="0" sz="950" spc="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LangChain's</a:t>
                      </a:r>
                      <a:r>
                        <a:rPr dirty="0" sz="950" spc="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9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embedding</a:t>
                      </a:r>
                      <a:r>
                        <a:rPr dirty="0" sz="950" spc="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wrapper.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64769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</a:tr>
              <a:tr h="471805">
                <a:tc>
                  <a:txBody>
                    <a:bodyPr/>
                    <a:lstStyle/>
                    <a:p>
                      <a:pPr marL="70485" marR="254635" indent="26670">
                        <a:lnSpc>
                          <a:spcPct val="159200"/>
                        </a:lnSpc>
                        <a:spcBef>
                          <a:spcPts val="175"/>
                        </a:spcBef>
                      </a:pP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model_name="sentence-</a:t>
                      </a:r>
                      <a:r>
                        <a:rPr dirty="0" sz="750" spc="-1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transformers/all-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MiniLM-L6-</a:t>
                      </a:r>
                      <a:r>
                        <a:rPr dirty="0" sz="750" spc="-25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v2"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22225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215" marR="133350">
                        <a:lnSpc>
                          <a:spcPct val="121100"/>
                        </a:lnSpc>
                        <a:spcBef>
                          <a:spcPts val="270"/>
                        </a:spcBef>
                      </a:pPr>
                      <a:r>
                        <a:rPr dirty="0" sz="950" spc="-9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Same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850" spc="-40">
                          <a:solidFill>
                            <a:srgbClr val="111726"/>
                          </a:solidFill>
                          <a:latin typeface="Arial"/>
                          <a:cs typeface="Arial"/>
                        </a:rPr>
                        <a:t>384</a:t>
                      </a:r>
                      <a:r>
                        <a:rPr dirty="0" sz="950" spc="-4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-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dimension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9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embedding</a:t>
                      </a:r>
                      <a:r>
                        <a:rPr dirty="0" sz="95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model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used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across</a:t>
                      </a:r>
                      <a:r>
                        <a:rPr dirty="0" sz="95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5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all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three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5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projects,</a:t>
                      </a:r>
                      <a:r>
                        <a:rPr dirty="0" sz="950" spc="50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ensuring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9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comparable</a:t>
                      </a:r>
                      <a:r>
                        <a:rPr dirty="0" sz="95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behaviour.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34290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dirty="0" sz="750" spc="-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)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90170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215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Closes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the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constructor.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64769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80102" y="2020926"/>
            <a:ext cx="6202680" cy="896619"/>
          </a:xfrm>
          <a:custGeom>
            <a:avLst/>
            <a:gdLst/>
            <a:ahLst/>
            <a:cxnLst/>
            <a:rect l="l" t="t" r="r" b="b"/>
            <a:pathLst>
              <a:path w="6202680" h="896619">
                <a:moveTo>
                  <a:pt x="6151728" y="896610"/>
                </a:moveTo>
                <a:lnTo>
                  <a:pt x="50390" y="896610"/>
                </a:lnTo>
                <a:lnTo>
                  <a:pt x="46883" y="896266"/>
                </a:lnTo>
                <a:lnTo>
                  <a:pt x="13292" y="878280"/>
                </a:lnTo>
                <a:lnTo>
                  <a:pt x="0" y="846204"/>
                </a:lnTo>
                <a:lnTo>
                  <a:pt x="0" y="842679"/>
                </a:lnTo>
                <a:lnTo>
                  <a:pt x="0" y="50378"/>
                </a:lnTo>
                <a:lnTo>
                  <a:pt x="18300" y="13300"/>
                </a:lnTo>
                <a:lnTo>
                  <a:pt x="50390" y="0"/>
                </a:lnTo>
                <a:lnTo>
                  <a:pt x="6151728" y="0"/>
                </a:lnTo>
                <a:lnTo>
                  <a:pt x="6188826" y="18302"/>
                </a:lnTo>
                <a:lnTo>
                  <a:pt x="6202118" y="50378"/>
                </a:lnTo>
                <a:lnTo>
                  <a:pt x="6202118" y="846204"/>
                </a:lnTo>
                <a:lnTo>
                  <a:pt x="6183818" y="883282"/>
                </a:lnTo>
                <a:lnTo>
                  <a:pt x="6155235" y="896239"/>
                </a:lnTo>
                <a:lnTo>
                  <a:pt x="6151728" y="896610"/>
                </a:lnTo>
                <a:close/>
              </a:path>
            </a:pathLst>
          </a:custGeom>
          <a:solidFill>
            <a:srgbClr val="0E172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680102" y="3079331"/>
            <a:ext cx="6202680" cy="6985"/>
          </a:xfrm>
          <a:custGeom>
            <a:avLst/>
            <a:gdLst/>
            <a:ahLst/>
            <a:cxnLst/>
            <a:rect l="l" t="t" r="r" b="b"/>
            <a:pathLst>
              <a:path w="6202680" h="6985">
                <a:moveTo>
                  <a:pt x="6202119" y="6741"/>
                </a:moveTo>
                <a:lnTo>
                  <a:pt x="0" y="6741"/>
                </a:lnTo>
                <a:lnTo>
                  <a:pt x="0" y="0"/>
                </a:lnTo>
                <a:lnTo>
                  <a:pt x="6202119" y="0"/>
                </a:lnTo>
                <a:lnTo>
                  <a:pt x="6202119" y="6741"/>
                </a:lnTo>
                <a:close/>
              </a:path>
            </a:pathLst>
          </a:custGeom>
          <a:solidFill>
            <a:srgbClr val="E4E7E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680102" y="3544517"/>
            <a:ext cx="6202680" cy="2326005"/>
          </a:xfrm>
          <a:custGeom>
            <a:avLst/>
            <a:gdLst/>
            <a:ahLst/>
            <a:cxnLst/>
            <a:rect l="l" t="t" r="r" b="b"/>
            <a:pathLst>
              <a:path w="6202680" h="2326004">
                <a:moveTo>
                  <a:pt x="6151728" y="2325740"/>
                </a:moveTo>
                <a:lnTo>
                  <a:pt x="50390" y="2325740"/>
                </a:lnTo>
                <a:lnTo>
                  <a:pt x="46883" y="2325396"/>
                </a:lnTo>
                <a:lnTo>
                  <a:pt x="11056" y="2304700"/>
                </a:lnTo>
                <a:lnTo>
                  <a:pt x="0" y="2275362"/>
                </a:lnTo>
                <a:lnTo>
                  <a:pt x="0" y="2271836"/>
                </a:lnTo>
                <a:lnTo>
                  <a:pt x="0" y="50351"/>
                </a:lnTo>
                <a:lnTo>
                  <a:pt x="18300" y="13246"/>
                </a:lnTo>
                <a:lnTo>
                  <a:pt x="50390" y="0"/>
                </a:lnTo>
                <a:lnTo>
                  <a:pt x="6151728" y="0"/>
                </a:lnTo>
                <a:lnTo>
                  <a:pt x="6188826" y="18249"/>
                </a:lnTo>
                <a:lnTo>
                  <a:pt x="6202118" y="50351"/>
                </a:lnTo>
                <a:lnTo>
                  <a:pt x="6202118" y="2275362"/>
                </a:lnTo>
                <a:lnTo>
                  <a:pt x="6183818" y="2312439"/>
                </a:lnTo>
                <a:lnTo>
                  <a:pt x="6155235" y="2325396"/>
                </a:lnTo>
                <a:lnTo>
                  <a:pt x="6151728" y="2325740"/>
                </a:lnTo>
                <a:close/>
              </a:path>
            </a:pathLst>
          </a:custGeom>
          <a:solidFill>
            <a:srgbClr val="0E172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680102" y="9261226"/>
            <a:ext cx="6202680" cy="546100"/>
          </a:xfrm>
          <a:custGeom>
            <a:avLst/>
            <a:gdLst/>
            <a:ahLst/>
            <a:cxnLst/>
            <a:rect l="l" t="t" r="r" b="b"/>
            <a:pathLst>
              <a:path w="6202680" h="546100">
                <a:moveTo>
                  <a:pt x="6151728" y="546029"/>
                </a:moveTo>
                <a:lnTo>
                  <a:pt x="50390" y="546029"/>
                </a:lnTo>
                <a:lnTo>
                  <a:pt x="46883" y="545685"/>
                </a:lnTo>
                <a:lnTo>
                  <a:pt x="13292" y="527699"/>
                </a:lnTo>
                <a:lnTo>
                  <a:pt x="0" y="495677"/>
                </a:lnTo>
                <a:lnTo>
                  <a:pt x="0" y="492124"/>
                </a:lnTo>
                <a:lnTo>
                  <a:pt x="0" y="50378"/>
                </a:lnTo>
                <a:lnTo>
                  <a:pt x="18300" y="13273"/>
                </a:lnTo>
                <a:lnTo>
                  <a:pt x="50390" y="0"/>
                </a:lnTo>
                <a:lnTo>
                  <a:pt x="6151728" y="0"/>
                </a:lnTo>
                <a:lnTo>
                  <a:pt x="6188826" y="18276"/>
                </a:lnTo>
                <a:lnTo>
                  <a:pt x="6202118" y="50378"/>
                </a:lnTo>
                <a:lnTo>
                  <a:pt x="6202118" y="495677"/>
                </a:lnTo>
                <a:lnTo>
                  <a:pt x="6183818" y="532728"/>
                </a:lnTo>
                <a:lnTo>
                  <a:pt x="6155235" y="545685"/>
                </a:lnTo>
                <a:lnTo>
                  <a:pt x="6151728" y="546029"/>
                </a:lnTo>
                <a:close/>
              </a:path>
            </a:pathLst>
          </a:custGeom>
          <a:solidFill>
            <a:srgbClr val="0E172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754253" y="652385"/>
            <a:ext cx="1746250" cy="316865"/>
          </a:xfrm>
          <a:custGeom>
            <a:avLst/>
            <a:gdLst/>
            <a:ahLst/>
            <a:cxnLst/>
            <a:rect l="l" t="t" r="r" b="b"/>
            <a:pathLst>
              <a:path w="1746250" h="316865">
                <a:moveTo>
                  <a:pt x="916838" y="198653"/>
                </a:moveTo>
                <a:lnTo>
                  <a:pt x="893445" y="175272"/>
                </a:lnTo>
                <a:lnTo>
                  <a:pt x="0" y="175272"/>
                </a:lnTo>
                <a:lnTo>
                  <a:pt x="0" y="316839"/>
                </a:lnTo>
                <a:lnTo>
                  <a:pt x="893445" y="316839"/>
                </a:lnTo>
                <a:lnTo>
                  <a:pt x="916838" y="293458"/>
                </a:lnTo>
                <a:lnTo>
                  <a:pt x="916838" y="198653"/>
                </a:lnTo>
                <a:close/>
              </a:path>
              <a:path w="1746250" h="316865">
                <a:moveTo>
                  <a:pt x="1746034" y="0"/>
                </a:moveTo>
                <a:lnTo>
                  <a:pt x="23393" y="0"/>
                </a:lnTo>
                <a:lnTo>
                  <a:pt x="19951" y="711"/>
                </a:lnTo>
                <a:lnTo>
                  <a:pt x="0" y="23380"/>
                </a:lnTo>
                <a:lnTo>
                  <a:pt x="0" y="118173"/>
                </a:lnTo>
                <a:lnTo>
                  <a:pt x="23393" y="141566"/>
                </a:lnTo>
                <a:lnTo>
                  <a:pt x="1746034" y="141566"/>
                </a:lnTo>
                <a:lnTo>
                  <a:pt x="1746034" y="0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680102" y="571518"/>
          <a:ext cx="6278880" cy="4648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609215"/>
                <a:gridCol w="3586479"/>
              </a:tblGrid>
              <a:tr h="464820">
                <a:tc>
                  <a:txBody>
                    <a:bodyPr/>
                    <a:lstStyle/>
                    <a:p>
                      <a:pPr marL="70485" marR="787400" indent="26670">
                        <a:lnSpc>
                          <a:spcPct val="153300"/>
                        </a:lnSpc>
                        <a:spcBef>
                          <a:spcPts val="229"/>
                        </a:spcBef>
                      </a:pP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print("Embedding</a:t>
                      </a:r>
                      <a:r>
                        <a:rPr dirty="0" sz="750" spc="105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model</a:t>
                      </a:r>
                      <a:r>
                        <a:rPr dirty="0" sz="750" spc="11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 spc="-1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loaded successfully!")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29209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215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950" spc="-7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Con</a:t>
                      </a:r>
                      <a:r>
                        <a:rPr dirty="0" sz="900" spc="-70">
                          <a:solidFill>
                            <a:srgbClr val="111726"/>
                          </a:solidFill>
                          <a:latin typeface="Arial"/>
                          <a:cs typeface="Arial"/>
                        </a:rPr>
                        <a:t>ﬁ</a:t>
                      </a:r>
                      <a:r>
                        <a:rPr dirty="0" sz="950" spc="-7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rms</a:t>
                      </a:r>
                      <a:r>
                        <a:rPr dirty="0" sz="950" spc="-2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readiness.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64769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8" name="object 8"/>
          <p:cNvSpPr/>
          <p:nvPr/>
        </p:nvSpPr>
        <p:spPr>
          <a:xfrm>
            <a:off x="680097" y="1184972"/>
            <a:ext cx="5184775" cy="715010"/>
          </a:xfrm>
          <a:custGeom>
            <a:avLst/>
            <a:gdLst/>
            <a:ahLst/>
            <a:cxnLst/>
            <a:rect l="l" t="t" r="r" b="b"/>
            <a:pathLst>
              <a:path w="5184775" h="715010">
                <a:moveTo>
                  <a:pt x="1098854" y="400888"/>
                </a:moveTo>
                <a:lnTo>
                  <a:pt x="1075461" y="377520"/>
                </a:lnTo>
                <a:lnTo>
                  <a:pt x="23393" y="377520"/>
                </a:lnTo>
                <a:lnTo>
                  <a:pt x="0" y="400888"/>
                </a:lnTo>
                <a:lnTo>
                  <a:pt x="0" y="498868"/>
                </a:lnTo>
                <a:lnTo>
                  <a:pt x="0" y="502424"/>
                </a:lnTo>
                <a:lnTo>
                  <a:pt x="23393" y="525805"/>
                </a:lnTo>
                <a:lnTo>
                  <a:pt x="1075461" y="525805"/>
                </a:lnTo>
                <a:lnTo>
                  <a:pt x="1098854" y="502424"/>
                </a:lnTo>
                <a:lnTo>
                  <a:pt x="1098854" y="400888"/>
                </a:lnTo>
                <a:close/>
              </a:path>
              <a:path w="5184775" h="715010">
                <a:moveTo>
                  <a:pt x="1469631" y="589648"/>
                </a:moveTo>
                <a:lnTo>
                  <a:pt x="1446237" y="566280"/>
                </a:lnTo>
                <a:lnTo>
                  <a:pt x="23393" y="566280"/>
                </a:lnTo>
                <a:lnTo>
                  <a:pt x="0" y="589648"/>
                </a:lnTo>
                <a:lnTo>
                  <a:pt x="0" y="687628"/>
                </a:lnTo>
                <a:lnTo>
                  <a:pt x="0" y="691184"/>
                </a:lnTo>
                <a:lnTo>
                  <a:pt x="23393" y="714565"/>
                </a:lnTo>
                <a:lnTo>
                  <a:pt x="1446237" y="714565"/>
                </a:lnTo>
                <a:lnTo>
                  <a:pt x="1469631" y="691184"/>
                </a:lnTo>
                <a:lnTo>
                  <a:pt x="1469631" y="589648"/>
                </a:lnTo>
                <a:close/>
              </a:path>
              <a:path w="5184775" h="715010">
                <a:moveTo>
                  <a:pt x="2089848" y="212153"/>
                </a:moveTo>
                <a:lnTo>
                  <a:pt x="2066455" y="188760"/>
                </a:lnTo>
                <a:lnTo>
                  <a:pt x="23393" y="188760"/>
                </a:lnTo>
                <a:lnTo>
                  <a:pt x="0" y="212153"/>
                </a:lnTo>
                <a:lnTo>
                  <a:pt x="0" y="310108"/>
                </a:lnTo>
                <a:lnTo>
                  <a:pt x="0" y="313664"/>
                </a:lnTo>
                <a:lnTo>
                  <a:pt x="23393" y="337045"/>
                </a:lnTo>
                <a:lnTo>
                  <a:pt x="2066455" y="337045"/>
                </a:lnTo>
                <a:lnTo>
                  <a:pt x="2089848" y="313664"/>
                </a:lnTo>
                <a:lnTo>
                  <a:pt x="2089848" y="212153"/>
                </a:lnTo>
                <a:close/>
              </a:path>
              <a:path w="5184775" h="715010">
                <a:moveTo>
                  <a:pt x="2750502" y="212153"/>
                </a:moveTo>
                <a:lnTo>
                  <a:pt x="2727109" y="188760"/>
                </a:lnTo>
                <a:lnTo>
                  <a:pt x="2167166" y="188760"/>
                </a:lnTo>
                <a:lnTo>
                  <a:pt x="2143772" y="212153"/>
                </a:lnTo>
                <a:lnTo>
                  <a:pt x="2143772" y="310108"/>
                </a:lnTo>
                <a:lnTo>
                  <a:pt x="2143772" y="313664"/>
                </a:lnTo>
                <a:lnTo>
                  <a:pt x="2167166" y="337045"/>
                </a:lnTo>
                <a:lnTo>
                  <a:pt x="2727109" y="337045"/>
                </a:lnTo>
                <a:lnTo>
                  <a:pt x="2750502" y="313664"/>
                </a:lnTo>
                <a:lnTo>
                  <a:pt x="2750502" y="212153"/>
                </a:lnTo>
                <a:close/>
              </a:path>
              <a:path w="5184775" h="715010">
                <a:moveTo>
                  <a:pt x="3053867" y="400888"/>
                </a:moveTo>
                <a:lnTo>
                  <a:pt x="3030474" y="377520"/>
                </a:lnTo>
                <a:lnTo>
                  <a:pt x="1728965" y="377520"/>
                </a:lnTo>
                <a:lnTo>
                  <a:pt x="1705584" y="400888"/>
                </a:lnTo>
                <a:lnTo>
                  <a:pt x="1705584" y="498868"/>
                </a:lnTo>
                <a:lnTo>
                  <a:pt x="1705584" y="502424"/>
                </a:lnTo>
                <a:lnTo>
                  <a:pt x="1728965" y="525805"/>
                </a:lnTo>
                <a:lnTo>
                  <a:pt x="3030474" y="525805"/>
                </a:lnTo>
                <a:lnTo>
                  <a:pt x="3053867" y="502424"/>
                </a:lnTo>
                <a:lnTo>
                  <a:pt x="3053867" y="400888"/>
                </a:lnTo>
                <a:close/>
              </a:path>
              <a:path w="5184775" h="715010">
                <a:moveTo>
                  <a:pt x="3714521" y="400888"/>
                </a:moveTo>
                <a:lnTo>
                  <a:pt x="3691140" y="377520"/>
                </a:lnTo>
                <a:lnTo>
                  <a:pt x="3131185" y="377520"/>
                </a:lnTo>
                <a:lnTo>
                  <a:pt x="3107804" y="400888"/>
                </a:lnTo>
                <a:lnTo>
                  <a:pt x="3107804" y="498868"/>
                </a:lnTo>
                <a:lnTo>
                  <a:pt x="3107804" y="502424"/>
                </a:lnTo>
                <a:lnTo>
                  <a:pt x="3131185" y="525805"/>
                </a:lnTo>
                <a:lnTo>
                  <a:pt x="3691140" y="525805"/>
                </a:lnTo>
                <a:lnTo>
                  <a:pt x="3714521" y="502424"/>
                </a:lnTo>
                <a:lnTo>
                  <a:pt x="3714521" y="400888"/>
                </a:lnTo>
                <a:close/>
              </a:path>
              <a:path w="5184775" h="715010">
                <a:moveTo>
                  <a:pt x="4402150" y="212153"/>
                </a:moveTo>
                <a:lnTo>
                  <a:pt x="4378769" y="188760"/>
                </a:lnTo>
                <a:lnTo>
                  <a:pt x="2827820" y="188760"/>
                </a:lnTo>
                <a:lnTo>
                  <a:pt x="2804439" y="212153"/>
                </a:lnTo>
                <a:lnTo>
                  <a:pt x="2804439" y="310108"/>
                </a:lnTo>
                <a:lnTo>
                  <a:pt x="2804439" y="313664"/>
                </a:lnTo>
                <a:lnTo>
                  <a:pt x="2827820" y="337045"/>
                </a:lnTo>
                <a:lnTo>
                  <a:pt x="4378769" y="337045"/>
                </a:lnTo>
                <a:lnTo>
                  <a:pt x="4402150" y="313664"/>
                </a:lnTo>
                <a:lnTo>
                  <a:pt x="4402150" y="212153"/>
                </a:lnTo>
                <a:close/>
              </a:path>
              <a:path w="5184775" h="715010">
                <a:moveTo>
                  <a:pt x="4685296" y="400888"/>
                </a:moveTo>
                <a:lnTo>
                  <a:pt x="4661903" y="377520"/>
                </a:lnTo>
                <a:lnTo>
                  <a:pt x="3791851" y="377520"/>
                </a:lnTo>
                <a:lnTo>
                  <a:pt x="3768458" y="400888"/>
                </a:lnTo>
                <a:lnTo>
                  <a:pt x="3768458" y="498868"/>
                </a:lnTo>
                <a:lnTo>
                  <a:pt x="3768458" y="502424"/>
                </a:lnTo>
                <a:lnTo>
                  <a:pt x="3791851" y="525805"/>
                </a:lnTo>
                <a:lnTo>
                  <a:pt x="4661903" y="525805"/>
                </a:lnTo>
                <a:lnTo>
                  <a:pt x="4685296" y="502424"/>
                </a:lnTo>
                <a:lnTo>
                  <a:pt x="4685296" y="400888"/>
                </a:lnTo>
                <a:close/>
              </a:path>
              <a:path w="5184775" h="715010">
                <a:moveTo>
                  <a:pt x="4806645" y="23368"/>
                </a:moveTo>
                <a:lnTo>
                  <a:pt x="4783252" y="0"/>
                </a:lnTo>
                <a:lnTo>
                  <a:pt x="4041279" y="0"/>
                </a:lnTo>
                <a:lnTo>
                  <a:pt x="4017886" y="23368"/>
                </a:lnTo>
                <a:lnTo>
                  <a:pt x="4017886" y="121348"/>
                </a:lnTo>
                <a:lnTo>
                  <a:pt x="4017886" y="124904"/>
                </a:lnTo>
                <a:lnTo>
                  <a:pt x="4041279" y="148323"/>
                </a:lnTo>
                <a:lnTo>
                  <a:pt x="4783252" y="148323"/>
                </a:lnTo>
                <a:lnTo>
                  <a:pt x="4806645" y="124904"/>
                </a:lnTo>
                <a:lnTo>
                  <a:pt x="4806645" y="23368"/>
                </a:lnTo>
                <a:close/>
              </a:path>
              <a:path w="5184775" h="715010">
                <a:moveTo>
                  <a:pt x="5184165" y="212153"/>
                </a:moveTo>
                <a:lnTo>
                  <a:pt x="5160772" y="188760"/>
                </a:lnTo>
                <a:lnTo>
                  <a:pt x="4479480" y="188760"/>
                </a:lnTo>
                <a:lnTo>
                  <a:pt x="4456087" y="212153"/>
                </a:lnTo>
                <a:lnTo>
                  <a:pt x="4456087" y="310108"/>
                </a:lnTo>
                <a:lnTo>
                  <a:pt x="4456087" y="313664"/>
                </a:lnTo>
                <a:lnTo>
                  <a:pt x="4479480" y="337045"/>
                </a:lnTo>
                <a:lnTo>
                  <a:pt x="5160772" y="337045"/>
                </a:lnTo>
                <a:lnTo>
                  <a:pt x="5184165" y="313664"/>
                </a:lnTo>
                <a:lnTo>
                  <a:pt x="5184165" y="212153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667402" y="1116282"/>
            <a:ext cx="5242560" cy="7816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9370" marR="5080" indent="-27305">
              <a:lnSpc>
                <a:spcPct val="123900"/>
              </a:lnSpc>
              <a:spcBef>
                <a:spcPts val="100"/>
              </a:spcBef>
            </a:pPr>
            <a:r>
              <a:rPr dirty="0" sz="1000" spc="-85" b="1">
                <a:solidFill>
                  <a:srgbClr val="111726"/>
                </a:solidFill>
                <a:latin typeface="Source Han Sans JP"/>
                <a:cs typeface="Source Han Sans JP"/>
              </a:rPr>
              <a:t>Actual</a:t>
            </a:r>
            <a:r>
              <a:rPr dirty="0" sz="1000" spc="-10" b="1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100" b="1">
                <a:solidFill>
                  <a:srgbClr val="111726"/>
                </a:solidFill>
                <a:latin typeface="Source Han Sans JP"/>
                <a:cs typeface="Source Han Sans JP"/>
              </a:rPr>
              <a:t>captured</a:t>
            </a:r>
            <a:r>
              <a:rPr dirty="0" sz="1000" spc="-10" b="1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90" b="1">
                <a:solidFill>
                  <a:srgbClr val="111726"/>
                </a:solidFill>
                <a:latin typeface="Source Han Sans JP"/>
                <a:cs typeface="Source Han Sans JP"/>
              </a:rPr>
              <a:t>output:</a:t>
            </a:r>
            <a:r>
              <a:rPr dirty="0" sz="1000" spc="-20" b="1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90">
                <a:solidFill>
                  <a:srgbClr val="111726"/>
                </a:solidFill>
                <a:latin typeface="Source Han Sans JP"/>
                <a:cs typeface="Source Han Sans JP"/>
              </a:rPr>
              <a:t>a</a:t>
            </a:r>
            <a:r>
              <a:rPr dirty="0" sz="1000" spc="-10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75">
                <a:solidFill>
                  <a:srgbClr val="111726"/>
                </a:solidFill>
                <a:latin typeface="Source Han Sans JP"/>
                <a:cs typeface="Source Han Sans JP"/>
              </a:rPr>
              <a:t>series</a:t>
            </a:r>
            <a:r>
              <a:rPr dirty="0" sz="1000" spc="-10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75">
                <a:solidFill>
                  <a:srgbClr val="111726"/>
                </a:solidFill>
                <a:latin typeface="Source Han Sans JP"/>
                <a:cs typeface="Source Han Sans JP"/>
              </a:rPr>
              <a:t>of</a:t>
            </a:r>
            <a:r>
              <a:rPr dirty="0" sz="1000" spc="-10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90">
                <a:solidFill>
                  <a:srgbClr val="111726"/>
                </a:solidFill>
                <a:latin typeface="Source Han Sans JP"/>
                <a:cs typeface="Source Han Sans JP"/>
              </a:rPr>
              <a:t>Hugging</a:t>
            </a:r>
            <a:r>
              <a:rPr dirty="0" sz="1000" spc="-10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105">
                <a:solidFill>
                  <a:srgbClr val="111726"/>
                </a:solidFill>
                <a:latin typeface="Source Han Sans JP"/>
                <a:cs typeface="Source Han Sans JP"/>
              </a:rPr>
              <a:t>Face</a:t>
            </a:r>
            <a:r>
              <a:rPr dirty="0" sz="1000" spc="-10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110">
                <a:solidFill>
                  <a:srgbClr val="111726"/>
                </a:solidFill>
                <a:latin typeface="Source Han Sans JP"/>
                <a:cs typeface="Source Han Sans JP"/>
              </a:rPr>
              <a:t>Hub</a:t>
            </a:r>
            <a:r>
              <a:rPr dirty="0" sz="1000" spc="-10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100">
                <a:solidFill>
                  <a:srgbClr val="111726"/>
                </a:solidFill>
                <a:latin typeface="Source Han Sans JP"/>
                <a:cs typeface="Source Han Sans JP"/>
              </a:rPr>
              <a:t>download</a:t>
            </a:r>
            <a:r>
              <a:rPr dirty="0" sz="1000" spc="-10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85">
                <a:solidFill>
                  <a:srgbClr val="111726"/>
                </a:solidFill>
                <a:latin typeface="Source Han Sans JP"/>
                <a:cs typeface="Source Han Sans JP"/>
              </a:rPr>
              <a:t>progress</a:t>
            </a:r>
            <a:r>
              <a:rPr dirty="0" sz="1000" spc="-10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85">
                <a:solidFill>
                  <a:srgbClr val="111726"/>
                </a:solidFill>
                <a:latin typeface="Source Han Sans JP"/>
                <a:cs typeface="Source Han Sans JP"/>
              </a:rPr>
              <a:t>bars</a:t>
            </a:r>
            <a:r>
              <a:rPr dirty="0" sz="1000" spc="-10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60">
                <a:solidFill>
                  <a:srgbClr val="111726"/>
                </a:solidFill>
                <a:latin typeface="Source Han Sans JP"/>
                <a:cs typeface="Source Han Sans JP"/>
              </a:rPr>
              <a:t>(</a:t>
            </a:r>
            <a:r>
              <a:rPr dirty="0" sz="1000" spc="1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800">
                <a:solidFill>
                  <a:srgbClr val="111726"/>
                </a:solidFill>
                <a:latin typeface="Courier New"/>
                <a:cs typeface="Courier New"/>
              </a:rPr>
              <a:t>modules.json</a:t>
            </a:r>
            <a:r>
              <a:rPr dirty="0" sz="800" spc="-245">
                <a:solidFill>
                  <a:srgbClr val="111726"/>
                </a:solidFill>
                <a:latin typeface="Courier New"/>
                <a:cs typeface="Courier New"/>
              </a:rPr>
              <a:t> </a:t>
            </a:r>
            <a:r>
              <a:rPr dirty="0" sz="1000" spc="-50">
                <a:solidFill>
                  <a:srgbClr val="111726"/>
                </a:solidFill>
                <a:latin typeface="Source Han Sans JP"/>
                <a:cs typeface="Source Han Sans JP"/>
              </a:rPr>
              <a:t>,</a:t>
            </a:r>
            <a:r>
              <a:rPr dirty="0" sz="1000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800">
                <a:solidFill>
                  <a:srgbClr val="111726"/>
                </a:solidFill>
                <a:latin typeface="Courier New"/>
                <a:cs typeface="Courier New"/>
              </a:rPr>
              <a:t>config_sentence_transformers.json</a:t>
            </a:r>
            <a:r>
              <a:rPr dirty="0" sz="800" spc="-250">
                <a:solidFill>
                  <a:srgbClr val="111726"/>
                </a:solidFill>
                <a:latin typeface="Courier New"/>
                <a:cs typeface="Courier New"/>
              </a:rPr>
              <a:t> </a:t>
            </a:r>
            <a:r>
              <a:rPr dirty="0" sz="1000">
                <a:solidFill>
                  <a:srgbClr val="111726"/>
                </a:solidFill>
                <a:latin typeface="Source Han Sans JP"/>
                <a:cs typeface="Source Han Sans JP"/>
              </a:rPr>
              <a:t>,</a:t>
            </a:r>
            <a:r>
              <a:rPr dirty="0" sz="1000" spc="229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800">
                <a:solidFill>
                  <a:srgbClr val="111726"/>
                </a:solidFill>
                <a:latin typeface="Courier New"/>
                <a:cs typeface="Courier New"/>
              </a:rPr>
              <a:t>README.md</a:t>
            </a:r>
            <a:r>
              <a:rPr dirty="0" sz="800" spc="-245">
                <a:solidFill>
                  <a:srgbClr val="111726"/>
                </a:solidFill>
                <a:latin typeface="Courier New"/>
                <a:cs typeface="Courier New"/>
              </a:rPr>
              <a:t> </a:t>
            </a:r>
            <a:r>
              <a:rPr dirty="0" sz="1000">
                <a:solidFill>
                  <a:srgbClr val="111726"/>
                </a:solidFill>
                <a:latin typeface="Source Han Sans JP"/>
                <a:cs typeface="Source Han Sans JP"/>
              </a:rPr>
              <a:t>,</a:t>
            </a:r>
            <a:r>
              <a:rPr dirty="0" sz="1000" spc="22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800">
                <a:solidFill>
                  <a:srgbClr val="111726"/>
                </a:solidFill>
                <a:latin typeface="Courier New"/>
                <a:cs typeface="Courier New"/>
              </a:rPr>
              <a:t>sentence_bert_config.json</a:t>
            </a:r>
            <a:r>
              <a:rPr dirty="0" sz="800" spc="-245">
                <a:solidFill>
                  <a:srgbClr val="111726"/>
                </a:solidFill>
                <a:latin typeface="Courier New"/>
                <a:cs typeface="Courier New"/>
              </a:rPr>
              <a:t> </a:t>
            </a:r>
            <a:r>
              <a:rPr dirty="0" sz="1000">
                <a:solidFill>
                  <a:srgbClr val="111726"/>
                </a:solidFill>
                <a:latin typeface="Source Han Sans JP"/>
                <a:cs typeface="Source Han Sans JP"/>
              </a:rPr>
              <a:t>,</a:t>
            </a:r>
            <a:r>
              <a:rPr dirty="0" sz="1000" spc="22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800">
                <a:solidFill>
                  <a:srgbClr val="111726"/>
                </a:solidFill>
                <a:latin typeface="Courier New"/>
                <a:cs typeface="Courier New"/>
              </a:rPr>
              <a:t>config.json</a:t>
            </a:r>
            <a:r>
              <a:rPr dirty="0" sz="800" spc="-245">
                <a:solidFill>
                  <a:srgbClr val="111726"/>
                </a:solidFill>
                <a:latin typeface="Courier New"/>
                <a:cs typeface="Courier New"/>
              </a:rPr>
              <a:t> </a:t>
            </a:r>
            <a:r>
              <a:rPr dirty="0" sz="1000" spc="-50">
                <a:solidFill>
                  <a:srgbClr val="111726"/>
                </a:solidFill>
                <a:latin typeface="Source Han Sans JP"/>
                <a:cs typeface="Source Han Sans JP"/>
              </a:rPr>
              <a:t>,</a:t>
            </a:r>
            <a:r>
              <a:rPr dirty="0" sz="1000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800">
                <a:solidFill>
                  <a:srgbClr val="111726"/>
                </a:solidFill>
                <a:latin typeface="Courier New"/>
                <a:cs typeface="Courier New"/>
              </a:rPr>
              <a:t>model.safetensors</a:t>
            </a:r>
            <a:r>
              <a:rPr dirty="0" sz="800" spc="-60">
                <a:solidFill>
                  <a:srgbClr val="111726"/>
                </a:solidFill>
                <a:latin typeface="Courier New"/>
                <a:cs typeface="Courier New"/>
              </a:rPr>
              <a:t> </a:t>
            </a:r>
            <a:r>
              <a:rPr dirty="0" sz="1000" spc="-55">
                <a:solidFill>
                  <a:srgbClr val="111726"/>
                </a:solidFill>
                <a:latin typeface="Source Han Sans JP"/>
                <a:cs typeface="Source Han Sans JP"/>
              </a:rPr>
              <a:t>[~</a:t>
            </a:r>
            <a:r>
              <a:rPr dirty="0" sz="900" spc="-55">
                <a:solidFill>
                  <a:srgbClr val="111726"/>
                </a:solidFill>
                <a:latin typeface="Arial"/>
                <a:cs typeface="Arial"/>
              </a:rPr>
              <a:t>90</a:t>
            </a:r>
            <a:r>
              <a:rPr dirty="0" sz="1000" spc="-55">
                <a:solidFill>
                  <a:srgbClr val="111726"/>
                </a:solidFill>
                <a:latin typeface="Source Han Sans JP"/>
                <a:cs typeface="Source Han Sans JP"/>
              </a:rPr>
              <a:t>.</a:t>
            </a:r>
            <a:r>
              <a:rPr dirty="0" sz="900" spc="-55">
                <a:solidFill>
                  <a:srgbClr val="111726"/>
                </a:solidFill>
                <a:latin typeface="Arial"/>
                <a:cs typeface="Arial"/>
              </a:rPr>
              <a:t>9</a:t>
            </a:r>
            <a:r>
              <a:rPr dirty="0" sz="900" spc="-50">
                <a:solidFill>
                  <a:srgbClr val="111726"/>
                </a:solidFill>
                <a:latin typeface="Arial"/>
                <a:cs typeface="Arial"/>
              </a:rPr>
              <a:t> </a:t>
            </a:r>
            <a:r>
              <a:rPr dirty="0" sz="1000" spc="-55">
                <a:solidFill>
                  <a:srgbClr val="111726"/>
                </a:solidFill>
                <a:latin typeface="Source Han Sans JP"/>
                <a:cs typeface="Source Han Sans JP"/>
              </a:rPr>
              <a:t>MB],</a:t>
            </a:r>
            <a:r>
              <a:rPr dirty="0" sz="1000" spc="204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800">
                <a:solidFill>
                  <a:srgbClr val="111726"/>
                </a:solidFill>
                <a:latin typeface="Courier New"/>
                <a:cs typeface="Courier New"/>
              </a:rPr>
              <a:t>tokenizer_config.json</a:t>
            </a:r>
            <a:r>
              <a:rPr dirty="0" sz="800" spc="-260">
                <a:solidFill>
                  <a:srgbClr val="111726"/>
                </a:solidFill>
                <a:latin typeface="Courier New"/>
                <a:cs typeface="Courier New"/>
              </a:rPr>
              <a:t> </a:t>
            </a:r>
            <a:r>
              <a:rPr dirty="0" sz="1000">
                <a:solidFill>
                  <a:srgbClr val="111726"/>
                </a:solidFill>
                <a:latin typeface="Source Han Sans JP"/>
                <a:cs typeface="Source Han Sans JP"/>
              </a:rPr>
              <a:t>,</a:t>
            </a:r>
            <a:r>
              <a:rPr dirty="0" sz="1000" spc="204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800">
                <a:solidFill>
                  <a:srgbClr val="111726"/>
                </a:solidFill>
                <a:latin typeface="Courier New"/>
                <a:cs typeface="Courier New"/>
              </a:rPr>
              <a:t>vocab.txt</a:t>
            </a:r>
            <a:r>
              <a:rPr dirty="0" sz="800" spc="-260">
                <a:solidFill>
                  <a:srgbClr val="111726"/>
                </a:solidFill>
                <a:latin typeface="Courier New"/>
                <a:cs typeface="Courier New"/>
              </a:rPr>
              <a:t> </a:t>
            </a:r>
            <a:r>
              <a:rPr dirty="0" sz="1000">
                <a:solidFill>
                  <a:srgbClr val="111726"/>
                </a:solidFill>
                <a:latin typeface="Source Han Sans JP"/>
                <a:cs typeface="Source Han Sans JP"/>
              </a:rPr>
              <a:t>,</a:t>
            </a:r>
            <a:r>
              <a:rPr dirty="0" sz="1000" spc="204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800">
                <a:solidFill>
                  <a:srgbClr val="111726"/>
                </a:solidFill>
                <a:latin typeface="Courier New"/>
                <a:cs typeface="Courier New"/>
              </a:rPr>
              <a:t>tokenizer.json</a:t>
            </a:r>
            <a:r>
              <a:rPr dirty="0" sz="800" spc="-260">
                <a:solidFill>
                  <a:srgbClr val="111726"/>
                </a:solidFill>
                <a:latin typeface="Courier New"/>
                <a:cs typeface="Courier New"/>
              </a:rPr>
              <a:t> </a:t>
            </a:r>
            <a:r>
              <a:rPr dirty="0" sz="1000" spc="-50">
                <a:solidFill>
                  <a:srgbClr val="111726"/>
                </a:solidFill>
                <a:latin typeface="Source Han Sans JP"/>
                <a:cs typeface="Source Han Sans JP"/>
              </a:rPr>
              <a:t>,</a:t>
            </a:r>
            <a:r>
              <a:rPr dirty="0" sz="1000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800">
                <a:solidFill>
                  <a:srgbClr val="111726"/>
                </a:solidFill>
                <a:latin typeface="Courier New"/>
                <a:cs typeface="Courier New"/>
              </a:rPr>
              <a:t>special_tokens_map.json</a:t>
            </a:r>
            <a:r>
              <a:rPr dirty="0" sz="800" spc="-240">
                <a:solidFill>
                  <a:srgbClr val="111726"/>
                </a:solidFill>
                <a:latin typeface="Courier New"/>
                <a:cs typeface="Courier New"/>
              </a:rPr>
              <a:t> </a:t>
            </a:r>
            <a:r>
              <a:rPr dirty="0" sz="1000" spc="-55">
                <a:solidFill>
                  <a:srgbClr val="111726"/>
                </a:solidFill>
                <a:latin typeface="Source Han Sans JP"/>
                <a:cs typeface="Source Han Sans JP"/>
              </a:rPr>
              <a:t>),</a:t>
            </a:r>
            <a:r>
              <a:rPr dirty="0" sz="1000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90">
                <a:solidFill>
                  <a:srgbClr val="111726"/>
                </a:solidFill>
                <a:latin typeface="Source Han Sans JP"/>
                <a:cs typeface="Source Han Sans JP"/>
              </a:rPr>
              <a:t>a</a:t>
            </a:r>
            <a:r>
              <a:rPr dirty="0" sz="1000" spc="-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80">
                <a:solidFill>
                  <a:srgbClr val="111726"/>
                </a:solidFill>
                <a:latin typeface="Source Han Sans JP"/>
                <a:cs typeface="Source Han Sans JP"/>
              </a:rPr>
              <a:t>rate-</a:t>
            </a:r>
            <a:r>
              <a:rPr dirty="0" sz="1000" spc="-70">
                <a:solidFill>
                  <a:srgbClr val="111726"/>
                </a:solidFill>
                <a:latin typeface="Source Han Sans JP"/>
                <a:cs typeface="Source Han Sans JP"/>
              </a:rPr>
              <a:t>limit</a:t>
            </a:r>
            <a:r>
              <a:rPr dirty="0" sz="1000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85">
                <a:solidFill>
                  <a:srgbClr val="111726"/>
                </a:solidFill>
                <a:latin typeface="Source Han Sans JP"/>
                <a:cs typeface="Source Han Sans JP"/>
              </a:rPr>
              <a:t>notice,</a:t>
            </a:r>
            <a:r>
              <a:rPr dirty="0" sz="1000" spc="-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20">
                <a:solidFill>
                  <a:srgbClr val="111726"/>
                </a:solidFill>
                <a:latin typeface="Source Han Sans JP"/>
                <a:cs typeface="Source Han Sans JP"/>
              </a:rPr>
              <a:t>then:</a:t>
            </a:r>
            <a:endParaRPr sz="1000">
              <a:latin typeface="Source Han Sans JP"/>
              <a:cs typeface="Source Han Sans JP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61782" y="2069154"/>
            <a:ext cx="5943600" cy="7334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43800"/>
              </a:lnSpc>
              <a:spcBef>
                <a:spcPts val="95"/>
              </a:spcBef>
            </a:pP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Warning:</a:t>
            </a:r>
            <a:r>
              <a:rPr dirty="0" sz="800" spc="2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You</a:t>
            </a:r>
            <a:r>
              <a:rPr dirty="0" sz="800" spc="3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are</a:t>
            </a:r>
            <a:r>
              <a:rPr dirty="0" sz="800" spc="2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sending</a:t>
            </a:r>
            <a:r>
              <a:rPr dirty="0" sz="800" spc="3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unauthenticated</a:t>
            </a:r>
            <a:r>
              <a:rPr dirty="0" sz="800" spc="2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requests</a:t>
            </a:r>
            <a:r>
              <a:rPr dirty="0" sz="800" spc="3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to</a:t>
            </a:r>
            <a:r>
              <a:rPr dirty="0" sz="800" spc="2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the</a:t>
            </a:r>
            <a:r>
              <a:rPr dirty="0" sz="800" spc="3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HF</a:t>
            </a:r>
            <a:r>
              <a:rPr dirty="0" sz="800" spc="2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Hub.</a:t>
            </a:r>
            <a:r>
              <a:rPr dirty="0" sz="800" spc="3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Please</a:t>
            </a:r>
            <a:r>
              <a:rPr dirty="0" sz="800" spc="2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set</a:t>
            </a:r>
            <a:r>
              <a:rPr dirty="0" sz="800" spc="3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a</a:t>
            </a:r>
            <a:r>
              <a:rPr dirty="0" sz="800" spc="2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HF_TOKEN</a:t>
            </a:r>
            <a:r>
              <a:rPr dirty="0" sz="800" spc="3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to</a:t>
            </a:r>
            <a:r>
              <a:rPr dirty="0" sz="800" spc="2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 spc="-10">
                <a:solidFill>
                  <a:srgbClr val="E4E7EB"/>
                </a:solidFill>
                <a:latin typeface="Courier New"/>
                <a:cs typeface="Courier New"/>
              </a:rPr>
              <a:t>enable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higher</a:t>
            </a:r>
            <a:r>
              <a:rPr dirty="0" sz="800" spc="2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rate</a:t>
            </a:r>
            <a:r>
              <a:rPr dirty="0" sz="800" spc="3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limits</a:t>
            </a:r>
            <a:r>
              <a:rPr dirty="0" sz="800" spc="2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and</a:t>
            </a:r>
            <a:r>
              <a:rPr dirty="0" sz="800" spc="3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faster</a:t>
            </a:r>
            <a:r>
              <a:rPr dirty="0" sz="800" spc="2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 spc="-10">
                <a:solidFill>
                  <a:srgbClr val="E4E7EB"/>
                </a:solidFill>
                <a:latin typeface="Courier New"/>
                <a:cs typeface="Courier New"/>
              </a:rPr>
              <a:t>downloads.</a:t>
            </a:r>
            <a:endParaRPr sz="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475"/>
              </a:spcBef>
            </a:pPr>
            <a:r>
              <a:rPr dirty="0" sz="800" spc="-25">
                <a:solidFill>
                  <a:srgbClr val="E4E7EB"/>
                </a:solidFill>
                <a:latin typeface="Courier New"/>
                <a:cs typeface="Courier New"/>
              </a:rPr>
              <a:t>...</a:t>
            </a:r>
            <a:endParaRPr sz="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420"/>
              </a:spcBef>
            </a:pP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Embedding</a:t>
            </a:r>
            <a:r>
              <a:rPr dirty="0" sz="800" spc="3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model</a:t>
            </a:r>
            <a:r>
              <a:rPr dirty="0" sz="800" spc="3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loaded</a:t>
            </a:r>
            <a:r>
              <a:rPr dirty="0" sz="800" spc="3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 spc="-10">
                <a:solidFill>
                  <a:srgbClr val="E4E7EB"/>
                </a:solidFill>
                <a:latin typeface="Courier New"/>
                <a:cs typeface="Courier New"/>
              </a:rPr>
              <a:t>successfully!</a:t>
            </a:r>
            <a:endParaRPr sz="800"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67402" y="3213911"/>
            <a:ext cx="2661920" cy="24511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450" spc="-130" b="1">
                <a:solidFill>
                  <a:srgbClr val="111726"/>
                </a:solidFill>
                <a:latin typeface="Source Han Sans JP"/>
                <a:cs typeface="Source Han Sans JP"/>
              </a:rPr>
              <a:t>Cell</a:t>
            </a:r>
            <a:r>
              <a:rPr dirty="0" sz="1450" spc="-50" b="1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300" spc="-75" b="1">
                <a:solidFill>
                  <a:srgbClr val="111726"/>
                </a:solidFill>
                <a:latin typeface="Trebuchet MS"/>
                <a:cs typeface="Trebuchet MS"/>
              </a:rPr>
              <a:t>7</a:t>
            </a:r>
            <a:r>
              <a:rPr dirty="0" sz="1300" spc="-114" b="1">
                <a:solidFill>
                  <a:srgbClr val="111726"/>
                </a:solidFill>
                <a:latin typeface="Trebuchet MS"/>
                <a:cs typeface="Trebuchet MS"/>
              </a:rPr>
              <a:t> </a:t>
            </a:r>
            <a:r>
              <a:rPr dirty="0" sz="1350" spc="-285" b="1">
                <a:solidFill>
                  <a:srgbClr val="111726"/>
                </a:solidFill>
                <a:latin typeface="Arial"/>
                <a:cs typeface="Arial"/>
              </a:rPr>
              <a:t>—</a:t>
            </a:r>
            <a:r>
              <a:rPr dirty="0" sz="1350" spc="-100" b="1">
                <a:solidFill>
                  <a:srgbClr val="111726"/>
                </a:solidFill>
                <a:latin typeface="Arial"/>
                <a:cs typeface="Arial"/>
              </a:rPr>
              <a:t> </a:t>
            </a:r>
            <a:r>
              <a:rPr dirty="0" sz="1450" spc="-160" b="1">
                <a:solidFill>
                  <a:srgbClr val="111726"/>
                </a:solidFill>
                <a:latin typeface="Source Han Sans JP"/>
                <a:cs typeface="Source Han Sans JP"/>
              </a:rPr>
              <a:t>Create</a:t>
            </a:r>
            <a:r>
              <a:rPr dirty="0" sz="1450" spc="-50" b="1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450" spc="-185" b="1">
                <a:solidFill>
                  <a:srgbClr val="111726"/>
                </a:solidFill>
                <a:latin typeface="Source Han Sans JP"/>
                <a:cs typeface="Source Han Sans JP"/>
              </a:rPr>
              <a:t>Chroma</a:t>
            </a:r>
            <a:r>
              <a:rPr dirty="0" sz="1450" spc="-50" b="1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450" spc="-155" b="1">
                <a:solidFill>
                  <a:srgbClr val="111726"/>
                </a:solidFill>
                <a:latin typeface="Source Han Sans JP"/>
                <a:cs typeface="Source Han Sans JP"/>
              </a:rPr>
              <a:t>vector</a:t>
            </a:r>
            <a:r>
              <a:rPr dirty="0" sz="1450" spc="-50" b="1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450" spc="-110" b="1">
                <a:solidFill>
                  <a:srgbClr val="111726"/>
                </a:solidFill>
                <a:latin typeface="Source Han Sans JP"/>
                <a:cs typeface="Source Han Sans JP"/>
              </a:rPr>
              <a:t>store</a:t>
            </a:r>
            <a:endParaRPr sz="1450">
              <a:latin typeface="Source Han Sans JP"/>
              <a:cs typeface="Source Han Sans JP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61782" y="3585978"/>
            <a:ext cx="3724275" cy="2169795"/>
          </a:xfrm>
          <a:prstGeom prst="rect">
            <a:avLst/>
          </a:prstGeom>
        </p:spPr>
        <p:txBody>
          <a:bodyPr wrap="square" lIns="0" tIns="7239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70"/>
              </a:spcBef>
            </a:pP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#</a:t>
            </a:r>
            <a:r>
              <a:rPr dirty="0" sz="800" spc="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 spc="-10">
                <a:solidFill>
                  <a:srgbClr val="E4E7EB"/>
                </a:solidFill>
                <a:latin typeface="Courier New"/>
                <a:cs typeface="Courier New"/>
              </a:rPr>
              <a:t>======================================</a:t>
            </a:r>
            <a:endParaRPr sz="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475"/>
              </a:spcBef>
            </a:pP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#</a:t>
            </a:r>
            <a:r>
              <a:rPr dirty="0" sz="800" spc="2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Create</a:t>
            </a:r>
            <a:r>
              <a:rPr dirty="0" sz="800" spc="2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Chroma</a:t>
            </a:r>
            <a:r>
              <a:rPr dirty="0" sz="800" spc="2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Vector</a:t>
            </a:r>
            <a:r>
              <a:rPr dirty="0" sz="800" spc="3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 spc="-10">
                <a:solidFill>
                  <a:srgbClr val="E4E7EB"/>
                </a:solidFill>
                <a:latin typeface="Courier New"/>
                <a:cs typeface="Courier New"/>
              </a:rPr>
              <a:t>Store</a:t>
            </a:r>
            <a:endParaRPr sz="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420"/>
              </a:spcBef>
            </a:pP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#</a:t>
            </a:r>
            <a:r>
              <a:rPr dirty="0" sz="800" spc="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 spc="-10">
                <a:solidFill>
                  <a:srgbClr val="E4E7EB"/>
                </a:solidFill>
                <a:latin typeface="Courier New"/>
                <a:cs typeface="Courier New"/>
              </a:rPr>
              <a:t>======================================</a:t>
            </a:r>
            <a:endParaRPr sz="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500"/>
              </a:spcBef>
            </a:pPr>
            <a:endParaRPr sz="800">
              <a:latin typeface="Courier New"/>
              <a:cs typeface="Courier New"/>
            </a:endParaRPr>
          </a:p>
          <a:p>
            <a:pPr marL="259079" marR="1607185" indent="-247015">
              <a:lnSpc>
                <a:spcPct val="146500"/>
              </a:lnSpc>
            </a:pP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vector_db</a:t>
            </a:r>
            <a:r>
              <a:rPr dirty="0" sz="800" spc="2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=</a:t>
            </a:r>
            <a:r>
              <a:rPr dirty="0" sz="800" spc="3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 spc="-10">
                <a:solidFill>
                  <a:srgbClr val="E4E7EB"/>
                </a:solidFill>
                <a:latin typeface="Courier New"/>
                <a:cs typeface="Courier New"/>
              </a:rPr>
              <a:t>Chroma.from_documents( documents=chunks, embedding=embedding_model</a:t>
            </a:r>
            <a:endParaRPr sz="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420"/>
              </a:spcBef>
            </a:pPr>
            <a:r>
              <a:rPr dirty="0" sz="800" spc="-50">
                <a:solidFill>
                  <a:srgbClr val="E4E7EB"/>
                </a:solidFill>
                <a:latin typeface="Courier New"/>
                <a:cs typeface="Courier New"/>
              </a:rPr>
              <a:t>)</a:t>
            </a:r>
            <a:endParaRPr sz="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endParaRPr sz="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print("Vector</a:t>
            </a:r>
            <a:r>
              <a:rPr dirty="0" sz="800" spc="5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database</a:t>
            </a:r>
            <a:r>
              <a:rPr dirty="0" sz="800" spc="5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 spc="-10">
                <a:solidFill>
                  <a:srgbClr val="E4E7EB"/>
                </a:solidFill>
                <a:latin typeface="Courier New"/>
                <a:cs typeface="Courier New"/>
              </a:rPr>
              <a:t>created!")</a:t>
            </a:r>
            <a:endParaRPr sz="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endParaRPr sz="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print("Total</a:t>
            </a:r>
            <a:r>
              <a:rPr dirty="0" sz="800" spc="4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Stored</a:t>
            </a:r>
            <a:r>
              <a:rPr dirty="0" sz="800" spc="4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Chunks:",</a:t>
            </a:r>
            <a:r>
              <a:rPr dirty="0" sz="800" spc="4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 spc="-10">
                <a:solidFill>
                  <a:srgbClr val="E4E7EB"/>
                </a:solidFill>
                <a:latin typeface="Courier New"/>
                <a:cs typeface="Courier New"/>
              </a:rPr>
              <a:t>vector_db._collection.count())</a:t>
            </a:r>
            <a:endParaRPr sz="800">
              <a:latin typeface="Courier New"/>
              <a:cs typeface="Courier New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754257" y="6342185"/>
            <a:ext cx="2063114" cy="141605"/>
          </a:xfrm>
          <a:custGeom>
            <a:avLst/>
            <a:gdLst/>
            <a:ahLst/>
            <a:cxnLst/>
            <a:rect l="l" t="t" r="r" b="b"/>
            <a:pathLst>
              <a:path w="2063114" h="141604">
                <a:moveTo>
                  <a:pt x="2039488" y="141543"/>
                </a:moveTo>
                <a:lnTo>
                  <a:pt x="23389" y="141543"/>
                </a:lnTo>
                <a:lnTo>
                  <a:pt x="19950" y="140862"/>
                </a:lnTo>
                <a:lnTo>
                  <a:pt x="0" y="118157"/>
                </a:lnTo>
                <a:lnTo>
                  <a:pt x="0" y="114604"/>
                </a:lnTo>
                <a:lnTo>
                  <a:pt x="0" y="23359"/>
                </a:lnTo>
                <a:lnTo>
                  <a:pt x="23389" y="0"/>
                </a:lnTo>
                <a:lnTo>
                  <a:pt x="2039488" y="0"/>
                </a:lnTo>
                <a:lnTo>
                  <a:pt x="2062878" y="23359"/>
                </a:lnTo>
                <a:lnTo>
                  <a:pt x="2062878" y="118157"/>
                </a:lnTo>
                <a:lnTo>
                  <a:pt x="2042928" y="140862"/>
                </a:lnTo>
                <a:lnTo>
                  <a:pt x="2039488" y="141543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754257" y="6800603"/>
            <a:ext cx="1058545" cy="141605"/>
          </a:xfrm>
          <a:custGeom>
            <a:avLst/>
            <a:gdLst/>
            <a:ahLst/>
            <a:cxnLst/>
            <a:rect l="l" t="t" r="r" b="b"/>
            <a:pathLst>
              <a:path w="1058545" h="141604">
                <a:moveTo>
                  <a:pt x="1035015" y="141543"/>
                </a:moveTo>
                <a:lnTo>
                  <a:pt x="23389" y="141543"/>
                </a:lnTo>
                <a:lnTo>
                  <a:pt x="19950" y="140862"/>
                </a:lnTo>
                <a:lnTo>
                  <a:pt x="0" y="118157"/>
                </a:lnTo>
                <a:lnTo>
                  <a:pt x="0" y="114604"/>
                </a:lnTo>
                <a:lnTo>
                  <a:pt x="0" y="23359"/>
                </a:lnTo>
                <a:lnTo>
                  <a:pt x="23389" y="0"/>
                </a:lnTo>
                <a:lnTo>
                  <a:pt x="1035015" y="0"/>
                </a:lnTo>
                <a:lnTo>
                  <a:pt x="1058405" y="23359"/>
                </a:lnTo>
                <a:lnTo>
                  <a:pt x="1058405" y="118157"/>
                </a:lnTo>
                <a:lnTo>
                  <a:pt x="1038454" y="140862"/>
                </a:lnTo>
                <a:lnTo>
                  <a:pt x="1035015" y="141543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4003628" y="6800603"/>
            <a:ext cx="532765" cy="141605"/>
          </a:xfrm>
          <a:custGeom>
            <a:avLst/>
            <a:gdLst/>
            <a:ahLst/>
            <a:cxnLst/>
            <a:rect l="l" t="t" r="r" b="b"/>
            <a:pathLst>
              <a:path w="532764" h="141604">
                <a:moveTo>
                  <a:pt x="509183" y="141543"/>
                </a:moveTo>
                <a:lnTo>
                  <a:pt x="23390" y="141543"/>
                </a:lnTo>
                <a:lnTo>
                  <a:pt x="19949" y="140862"/>
                </a:lnTo>
                <a:lnTo>
                  <a:pt x="0" y="118157"/>
                </a:lnTo>
                <a:lnTo>
                  <a:pt x="0" y="114604"/>
                </a:lnTo>
                <a:lnTo>
                  <a:pt x="0" y="23359"/>
                </a:lnTo>
                <a:lnTo>
                  <a:pt x="23390" y="0"/>
                </a:lnTo>
                <a:lnTo>
                  <a:pt x="509183" y="0"/>
                </a:lnTo>
                <a:lnTo>
                  <a:pt x="532573" y="23359"/>
                </a:lnTo>
                <a:lnTo>
                  <a:pt x="532573" y="118157"/>
                </a:lnTo>
                <a:lnTo>
                  <a:pt x="512623" y="140862"/>
                </a:lnTo>
                <a:lnTo>
                  <a:pt x="509183" y="141543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754257" y="7090485"/>
            <a:ext cx="1530350" cy="141605"/>
          </a:xfrm>
          <a:custGeom>
            <a:avLst/>
            <a:gdLst/>
            <a:ahLst/>
            <a:cxnLst/>
            <a:rect l="l" t="t" r="r" b="b"/>
            <a:pathLst>
              <a:path w="1530350" h="141604">
                <a:moveTo>
                  <a:pt x="1506915" y="141543"/>
                </a:moveTo>
                <a:lnTo>
                  <a:pt x="23389" y="141543"/>
                </a:lnTo>
                <a:lnTo>
                  <a:pt x="19950" y="140862"/>
                </a:lnTo>
                <a:lnTo>
                  <a:pt x="0" y="118157"/>
                </a:lnTo>
                <a:lnTo>
                  <a:pt x="0" y="114604"/>
                </a:lnTo>
                <a:lnTo>
                  <a:pt x="0" y="23359"/>
                </a:lnTo>
                <a:lnTo>
                  <a:pt x="23389" y="0"/>
                </a:lnTo>
                <a:lnTo>
                  <a:pt x="1506915" y="0"/>
                </a:lnTo>
                <a:lnTo>
                  <a:pt x="1530305" y="23359"/>
                </a:lnTo>
                <a:lnTo>
                  <a:pt x="1530305" y="118157"/>
                </a:lnTo>
                <a:lnTo>
                  <a:pt x="1510355" y="140862"/>
                </a:lnTo>
                <a:lnTo>
                  <a:pt x="1506915" y="141543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7" name="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54257" y="7548902"/>
            <a:ext cx="114604" cy="141543"/>
          </a:xfrm>
          <a:prstGeom prst="rect">
            <a:avLst/>
          </a:prstGeom>
        </p:spPr>
      </p:pic>
      <p:sp>
        <p:nvSpPr>
          <p:cNvPr id="18" name="object 18"/>
          <p:cNvSpPr/>
          <p:nvPr/>
        </p:nvSpPr>
        <p:spPr>
          <a:xfrm>
            <a:off x="754257" y="7838784"/>
            <a:ext cx="2009139" cy="141605"/>
          </a:xfrm>
          <a:custGeom>
            <a:avLst/>
            <a:gdLst/>
            <a:ahLst/>
            <a:cxnLst/>
            <a:rect l="l" t="t" r="r" b="b"/>
            <a:pathLst>
              <a:path w="2009139" h="141604">
                <a:moveTo>
                  <a:pt x="1985557" y="141543"/>
                </a:moveTo>
                <a:lnTo>
                  <a:pt x="23389" y="141543"/>
                </a:lnTo>
                <a:lnTo>
                  <a:pt x="19950" y="140862"/>
                </a:lnTo>
                <a:lnTo>
                  <a:pt x="0" y="118157"/>
                </a:lnTo>
                <a:lnTo>
                  <a:pt x="0" y="114604"/>
                </a:lnTo>
                <a:lnTo>
                  <a:pt x="0" y="23359"/>
                </a:lnTo>
                <a:lnTo>
                  <a:pt x="23389" y="0"/>
                </a:lnTo>
                <a:lnTo>
                  <a:pt x="1985557" y="0"/>
                </a:lnTo>
                <a:lnTo>
                  <a:pt x="2008947" y="23359"/>
                </a:lnTo>
                <a:lnTo>
                  <a:pt x="2008947" y="118157"/>
                </a:lnTo>
                <a:lnTo>
                  <a:pt x="1988997" y="140862"/>
                </a:lnTo>
                <a:lnTo>
                  <a:pt x="1985557" y="141543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754253" y="8128621"/>
            <a:ext cx="1800225" cy="316865"/>
          </a:xfrm>
          <a:custGeom>
            <a:avLst/>
            <a:gdLst/>
            <a:ahLst/>
            <a:cxnLst/>
            <a:rect l="l" t="t" r="r" b="b"/>
            <a:pathLst>
              <a:path w="1800225" h="316865">
                <a:moveTo>
                  <a:pt x="1746034" y="0"/>
                </a:moveTo>
                <a:lnTo>
                  <a:pt x="23393" y="0"/>
                </a:lnTo>
                <a:lnTo>
                  <a:pt x="19951" y="723"/>
                </a:lnTo>
                <a:lnTo>
                  <a:pt x="13335" y="3429"/>
                </a:lnTo>
                <a:lnTo>
                  <a:pt x="10426" y="5384"/>
                </a:lnTo>
                <a:lnTo>
                  <a:pt x="7899" y="7937"/>
                </a:lnTo>
                <a:lnTo>
                  <a:pt x="5372" y="10439"/>
                </a:lnTo>
                <a:lnTo>
                  <a:pt x="3416" y="13360"/>
                </a:lnTo>
                <a:lnTo>
                  <a:pt x="685" y="19939"/>
                </a:lnTo>
                <a:lnTo>
                  <a:pt x="0" y="23393"/>
                </a:lnTo>
                <a:lnTo>
                  <a:pt x="0" y="118186"/>
                </a:lnTo>
                <a:lnTo>
                  <a:pt x="23393" y="141592"/>
                </a:lnTo>
                <a:lnTo>
                  <a:pt x="1746034" y="141592"/>
                </a:lnTo>
                <a:lnTo>
                  <a:pt x="1746034" y="0"/>
                </a:lnTo>
                <a:close/>
              </a:path>
              <a:path w="1800225" h="316865">
                <a:moveTo>
                  <a:pt x="1799958" y="198666"/>
                </a:moveTo>
                <a:lnTo>
                  <a:pt x="1776577" y="175285"/>
                </a:lnTo>
                <a:lnTo>
                  <a:pt x="0" y="175285"/>
                </a:lnTo>
                <a:lnTo>
                  <a:pt x="0" y="316852"/>
                </a:lnTo>
                <a:lnTo>
                  <a:pt x="1776577" y="316852"/>
                </a:lnTo>
                <a:lnTo>
                  <a:pt x="1799958" y="293471"/>
                </a:lnTo>
                <a:lnTo>
                  <a:pt x="1799958" y="198666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4522719" y="8128665"/>
            <a:ext cx="708025" cy="141605"/>
          </a:xfrm>
          <a:custGeom>
            <a:avLst/>
            <a:gdLst/>
            <a:ahLst/>
            <a:cxnLst/>
            <a:rect l="l" t="t" r="r" b="b"/>
            <a:pathLst>
              <a:path w="708025" h="141604">
                <a:moveTo>
                  <a:pt x="684461" y="141543"/>
                </a:moveTo>
                <a:lnTo>
                  <a:pt x="23390" y="141543"/>
                </a:lnTo>
                <a:lnTo>
                  <a:pt x="19950" y="140862"/>
                </a:lnTo>
                <a:lnTo>
                  <a:pt x="0" y="118157"/>
                </a:lnTo>
                <a:lnTo>
                  <a:pt x="0" y="114604"/>
                </a:lnTo>
                <a:lnTo>
                  <a:pt x="0" y="23359"/>
                </a:lnTo>
                <a:lnTo>
                  <a:pt x="23390" y="0"/>
                </a:lnTo>
                <a:lnTo>
                  <a:pt x="684461" y="0"/>
                </a:lnTo>
                <a:lnTo>
                  <a:pt x="707850" y="23359"/>
                </a:lnTo>
                <a:lnTo>
                  <a:pt x="707850" y="118157"/>
                </a:lnTo>
                <a:lnTo>
                  <a:pt x="687900" y="140862"/>
                </a:lnTo>
                <a:lnTo>
                  <a:pt x="684461" y="141543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4799117" y="8472478"/>
            <a:ext cx="526415" cy="141605"/>
          </a:xfrm>
          <a:custGeom>
            <a:avLst/>
            <a:gdLst/>
            <a:ahLst/>
            <a:cxnLst/>
            <a:rect l="l" t="t" r="r" b="b"/>
            <a:pathLst>
              <a:path w="526414" h="141604">
                <a:moveTo>
                  <a:pt x="502442" y="141543"/>
                </a:moveTo>
                <a:lnTo>
                  <a:pt x="23390" y="141543"/>
                </a:lnTo>
                <a:lnTo>
                  <a:pt x="19949" y="140862"/>
                </a:lnTo>
                <a:lnTo>
                  <a:pt x="0" y="118157"/>
                </a:lnTo>
                <a:lnTo>
                  <a:pt x="0" y="114604"/>
                </a:lnTo>
                <a:lnTo>
                  <a:pt x="0" y="23359"/>
                </a:lnTo>
                <a:lnTo>
                  <a:pt x="23390" y="0"/>
                </a:lnTo>
                <a:lnTo>
                  <a:pt x="502442" y="0"/>
                </a:lnTo>
                <a:lnTo>
                  <a:pt x="525831" y="23359"/>
                </a:lnTo>
                <a:lnTo>
                  <a:pt x="525831" y="118157"/>
                </a:lnTo>
                <a:lnTo>
                  <a:pt x="505881" y="140862"/>
                </a:lnTo>
                <a:lnTo>
                  <a:pt x="502442" y="141543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graphicFrame>
        <p:nvGraphicFramePr>
          <p:cNvPr id="22" name="object 22"/>
          <p:cNvGraphicFramePr>
            <a:graphicFrameLocks noGrp="1"/>
          </p:cNvGraphicFramePr>
          <p:nvPr/>
        </p:nvGraphicFramePr>
        <p:xfrm>
          <a:off x="680102" y="5978148"/>
          <a:ext cx="6278880" cy="28752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40305"/>
                <a:gridCol w="3754754"/>
              </a:tblGrid>
              <a:tr h="282575">
                <a:tc>
                  <a:txBody>
                    <a:bodyPr/>
                    <a:lstStyle/>
                    <a:p>
                      <a:pPr marL="70485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950" spc="-20" b="1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Line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64769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950" spc="-10" b="1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Explanation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64769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  <a:solidFill>
                      <a:srgbClr val="F7FAFB"/>
                    </a:solidFill>
                  </a:tcPr>
                </a:tc>
              </a:tr>
              <a:tr h="457834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vector_db</a:t>
                      </a:r>
                      <a:r>
                        <a:rPr dirty="0" sz="750" spc="6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=</a:t>
                      </a:r>
                      <a:r>
                        <a:rPr dirty="0" sz="750" spc="65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 spc="-1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Chroma.from_documents(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90170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 marR="382270">
                        <a:lnSpc>
                          <a:spcPct val="121100"/>
                        </a:lnSpc>
                        <a:spcBef>
                          <a:spcPts val="270"/>
                        </a:spcBef>
                      </a:pPr>
                      <a:r>
                        <a:rPr dirty="0" sz="950" spc="-9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A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convenience</a:t>
                      </a:r>
                      <a:r>
                        <a:rPr dirty="0" sz="95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constructor</a:t>
                      </a:r>
                      <a:r>
                        <a:rPr dirty="0" sz="95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that</a:t>
                      </a:r>
                      <a:r>
                        <a:rPr dirty="0" sz="95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creates</a:t>
                      </a:r>
                      <a:r>
                        <a:rPr dirty="0" sz="95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9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a</a:t>
                      </a:r>
                      <a:r>
                        <a:rPr dirty="0" sz="95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9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new</a:t>
                      </a:r>
                      <a:r>
                        <a:rPr dirty="0" sz="95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9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Chroma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collection</a:t>
                      </a:r>
                      <a:r>
                        <a:rPr dirty="0" sz="950" spc="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25" b="1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and</a:t>
                      </a:r>
                      <a:r>
                        <a:rPr dirty="0" sz="950" spc="500" b="1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embeds/inserts</a:t>
                      </a:r>
                      <a:r>
                        <a:rPr dirty="0" sz="95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every</a:t>
                      </a:r>
                      <a:r>
                        <a:rPr dirty="0" sz="95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chunk</a:t>
                      </a:r>
                      <a:r>
                        <a:rPr dirty="0" sz="95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in</a:t>
                      </a:r>
                      <a:r>
                        <a:rPr dirty="0" sz="95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one</a:t>
                      </a:r>
                      <a:r>
                        <a:rPr dirty="0" sz="950" spc="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2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call.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34290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dirty="0" sz="750" spc="-1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documents=chunks,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90170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950" spc="-9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The</a:t>
                      </a:r>
                      <a:r>
                        <a:rPr dirty="0" sz="950" spc="-2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6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list</a:t>
                      </a:r>
                      <a:r>
                        <a:rPr dirty="0" sz="950" spc="-2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of</a:t>
                      </a:r>
                      <a:r>
                        <a:rPr dirty="0" sz="950" spc="-2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6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chunk</a:t>
                      </a:r>
                      <a:r>
                        <a:rPr dirty="0" sz="950" spc="19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Document</a:t>
                      </a:r>
                      <a:r>
                        <a:rPr dirty="0" sz="750" spc="-4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objects</a:t>
                      </a:r>
                      <a:r>
                        <a:rPr dirty="0" sz="950" spc="-2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to</a:t>
                      </a:r>
                      <a:r>
                        <a:rPr dirty="0" sz="950" spc="-2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9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embed</a:t>
                      </a:r>
                      <a:r>
                        <a:rPr dirty="0" sz="950" spc="-2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and</a:t>
                      </a:r>
                      <a:r>
                        <a:rPr dirty="0" sz="950" spc="-2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store.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64769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</a:tr>
              <a:tr h="457834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dirty="0" sz="750" spc="-1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embedding=embedding_model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90170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 marR="125095">
                        <a:lnSpc>
                          <a:spcPct val="121100"/>
                        </a:lnSpc>
                        <a:spcBef>
                          <a:spcPts val="270"/>
                        </a:spcBef>
                      </a:pPr>
                      <a:r>
                        <a:rPr dirty="0" sz="950" spc="-9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The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9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embedding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function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9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Chroma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6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will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use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both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9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now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(to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index)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and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later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2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(to</a:t>
                      </a:r>
                      <a:r>
                        <a:rPr dirty="0" sz="950" spc="50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9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embed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queries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at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search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time).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34290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dirty="0" sz="750" spc="-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)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90170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Closes</a:t>
                      </a:r>
                      <a:r>
                        <a:rPr dirty="0" sz="950" spc="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the</a:t>
                      </a:r>
                      <a:r>
                        <a:rPr dirty="0" sz="950" spc="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constructor</a:t>
                      </a:r>
                      <a:r>
                        <a:rPr dirty="0" sz="950" spc="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2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call.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64769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print("Vector</a:t>
                      </a:r>
                      <a:r>
                        <a:rPr dirty="0" sz="750" spc="105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database</a:t>
                      </a:r>
                      <a:r>
                        <a:rPr dirty="0" sz="750" spc="11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 spc="-1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created!")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90170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950" spc="-7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Con</a:t>
                      </a:r>
                      <a:r>
                        <a:rPr dirty="0" sz="900" spc="-70">
                          <a:solidFill>
                            <a:srgbClr val="111726"/>
                          </a:solidFill>
                          <a:latin typeface="Arial"/>
                          <a:cs typeface="Arial"/>
                        </a:rPr>
                        <a:t>ﬁ</a:t>
                      </a:r>
                      <a:r>
                        <a:rPr dirty="0" sz="950" spc="-7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rms</a:t>
                      </a:r>
                      <a:r>
                        <a:rPr dirty="0" sz="950" spc="-2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creation.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64769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</a:tr>
              <a:tr h="808355">
                <a:tc>
                  <a:txBody>
                    <a:bodyPr/>
                    <a:lstStyle/>
                    <a:p>
                      <a:pPr marL="70485" marR="586740" indent="26670">
                        <a:lnSpc>
                          <a:spcPct val="153300"/>
                        </a:lnSpc>
                        <a:spcBef>
                          <a:spcPts val="229"/>
                        </a:spcBef>
                      </a:pP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print("Total</a:t>
                      </a:r>
                      <a:r>
                        <a:rPr dirty="0" sz="750" spc="95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Stored</a:t>
                      </a:r>
                      <a:r>
                        <a:rPr dirty="0" sz="750" spc="95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 spc="-1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Chunks:", vector_db._collection.count())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29209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 marR="137795">
                        <a:lnSpc>
                          <a:spcPct val="119500"/>
                        </a:lnSpc>
                        <a:spcBef>
                          <a:spcPts val="285"/>
                        </a:spcBef>
                      </a:pP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Accesses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9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Chroma's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5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internal</a:t>
                      </a:r>
                      <a:r>
                        <a:rPr dirty="0" sz="950" spc="22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_collection</a:t>
                      </a:r>
                      <a:r>
                        <a:rPr dirty="0" sz="750" spc="-1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object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(an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underscore-</a:t>
                      </a:r>
                      <a:r>
                        <a:rPr dirty="0" sz="950" spc="-3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pre</a:t>
                      </a:r>
                      <a:r>
                        <a:rPr dirty="0" sz="900" spc="-30">
                          <a:solidFill>
                            <a:srgbClr val="111726"/>
                          </a:solidFill>
                          <a:latin typeface="Arial"/>
                          <a:cs typeface="Arial"/>
                        </a:rPr>
                        <a:t>ﬁ</a:t>
                      </a:r>
                      <a:r>
                        <a:rPr dirty="0" sz="950" spc="-3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xed</a:t>
                      </a:r>
                      <a:r>
                        <a:rPr dirty="0" sz="950" spc="50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attribute</a:t>
                      </a:r>
                      <a:r>
                        <a:rPr dirty="0" sz="95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00" spc="-180">
                          <a:solidFill>
                            <a:srgbClr val="111726"/>
                          </a:solidFill>
                          <a:latin typeface="Arial"/>
                          <a:cs typeface="Arial"/>
                        </a:rPr>
                        <a:t>—</a:t>
                      </a:r>
                      <a:r>
                        <a:rPr dirty="0" sz="900" spc="-30">
                          <a:solidFill>
                            <a:srgbClr val="111726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technically</a:t>
                      </a:r>
                      <a:r>
                        <a:rPr dirty="0" sz="95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9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a</a:t>
                      </a:r>
                      <a:r>
                        <a:rPr dirty="0" sz="950" spc="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"private"</a:t>
                      </a:r>
                      <a:r>
                        <a:rPr dirty="0" sz="95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implementation</a:t>
                      </a:r>
                      <a:r>
                        <a:rPr dirty="0" sz="95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detail</a:t>
                      </a:r>
                      <a:r>
                        <a:rPr dirty="0" sz="950" spc="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rather</a:t>
                      </a:r>
                      <a:r>
                        <a:rPr dirty="0" sz="95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than</a:t>
                      </a:r>
                      <a:r>
                        <a:rPr dirty="0" sz="950" spc="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2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part</a:t>
                      </a:r>
                      <a:r>
                        <a:rPr dirty="0" sz="950" spc="50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of</a:t>
                      </a:r>
                      <a:r>
                        <a:rPr dirty="0" sz="950" spc="-2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the</a:t>
                      </a:r>
                      <a:r>
                        <a:rPr dirty="0" sz="950" spc="-2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stable</a:t>
                      </a:r>
                      <a:r>
                        <a:rPr dirty="0" sz="950" spc="-2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public</a:t>
                      </a:r>
                      <a:r>
                        <a:rPr dirty="0" sz="950" spc="-2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API)</a:t>
                      </a:r>
                      <a:r>
                        <a:rPr dirty="0" sz="950" spc="-2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and</a:t>
                      </a:r>
                      <a:r>
                        <a:rPr dirty="0" sz="950" spc="-2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4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calls</a:t>
                      </a:r>
                      <a:r>
                        <a:rPr dirty="0" sz="950" spc="20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.count()</a:t>
                      </a:r>
                      <a:r>
                        <a:rPr dirty="0" sz="750" spc="-35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to</a:t>
                      </a:r>
                      <a:r>
                        <a:rPr dirty="0" sz="950" spc="-2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report</a:t>
                      </a:r>
                      <a:r>
                        <a:rPr dirty="0" sz="950" spc="-2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9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how</a:t>
                      </a:r>
                      <a:r>
                        <a:rPr dirty="0" sz="950" spc="-2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9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many</a:t>
                      </a:r>
                      <a:r>
                        <a:rPr dirty="0" sz="950" spc="-2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vectors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are</a:t>
                      </a:r>
                      <a:r>
                        <a:rPr dirty="0" sz="950" spc="-3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stored.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36195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3" name="object 23"/>
          <p:cNvSpPr txBox="1"/>
          <p:nvPr/>
        </p:nvSpPr>
        <p:spPr>
          <a:xfrm>
            <a:off x="667402" y="8969460"/>
            <a:ext cx="1289685" cy="18288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000" spc="-85" b="1">
                <a:solidFill>
                  <a:srgbClr val="111726"/>
                </a:solidFill>
                <a:latin typeface="Source Han Sans JP"/>
                <a:cs typeface="Source Han Sans JP"/>
              </a:rPr>
              <a:t>Actual</a:t>
            </a:r>
            <a:r>
              <a:rPr dirty="0" sz="1000" spc="-20" b="1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100" b="1">
                <a:solidFill>
                  <a:srgbClr val="111726"/>
                </a:solidFill>
                <a:latin typeface="Source Han Sans JP"/>
                <a:cs typeface="Source Han Sans JP"/>
              </a:rPr>
              <a:t>captured</a:t>
            </a:r>
            <a:r>
              <a:rPr dirty="0" sz="1000" spc="-20" b="1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70" b="1">
                <a:solidFill>
                  <a:srgbClr val="111726"/>
                </a:solidFill>
                <a:latin typeface="Source Han Sans JP"/>
                <a:cs typeface="Source Han Sans JP"/>
              </a:rPr>
              <a:t>output:</a:t>
            </a:r>
            <a:endParaRPr sz="1000">
              <a:latin typeface="Source Han Sans JP"/>
              <a:cs typeface="Source Han Sans JP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761782" y="9309455"/>
            <a:ext cx="1504950" cy="37655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43800"/>
              </a:lnSpc>
              <a:spcBef>
                <a:spcPts val="95"/>
              </a:spcBef>
            </a:pP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Vector</a:t>
            </a:r>
            <a:r>
              <a:rPr dirty="0" sz="800" spc="3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database</a:t>
            </a:r>
            <a:r>
              <a:rPr dirty="0" sz="800" spc="3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 spc="-10">
                <a:solidFill>
                  <a:srgbClr val="E4E7EB"/>
                </a:solidFill>
                <a:latin typeface="Courier New"/>
                <a:cs typeface="Courier New"/>
              </a:rPr>
              <a:t>created!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Total</a:t>
            </a:r>
            <a:r>
              <a:rPr dirty="0" sz="800" spc="3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Stored</a:t>
            </a:r>
            <a:r>
              <a:rPr dirty="0" sz="800" spc="3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Chunks:</a:t>
            </a:r>
            <a:r>
              <a:rPr dirty="0" sz="800" spc="3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 spc="-25">
                <a:solidFill>
                  <a:srgbClr val="E4E7EB"/>
                </a:solidFill>
                <a:latin typeface="Courier New"/>
                <a:cs typeface="Courier New"/>
              </a:rPr>
              <a:t>38</a:t>
            </a:r>
            <a:endParaRPr sz="800">
              <a:latin typeface="Courier New"/>
              <a:cs typeface="Courier New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667402" y="9907511"/>
            <a:ext cx="4819015" cy="18161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000" spc="-90">
                <a:solidFill>
                  <a:srgbClr val="111726"/>
                </a:solidFill>
                <a:latin typeface="Source Han Sans JP"/>
                <a:cs typeface="Source Han Sans JP"/>
              </a:rPr>
              <a:t>(Matches</a:t>
            </a:r>
            <a:r>
              <a:rPr dirty="0" sz="1000" spc="-1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90">
                <a:solidFill>
                  <a:srgbClr val="111726"/>
                </a:solidFill>
                <a:latin typeface="Source Han Sans JP"/>
                <a:cs typeface="Source Han Sans JP"/>
              </a:rPr>
              <a:t>the</a:t>
            </a:r>
            <a:r>
              <a:rPr dirty="0" sz="1000" spc="-1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900" spc="-40">
                <a:solidFill>
                  <a:srgbClr val="111726"/>
                </a:solidFill>
                <a:latin typeface="Arial"/>
                <a:cs typeface="Arial"/>
              </a:rPr>
              <a:t>38 </a:t>
            </a:r>
            <a:r>
              <a:rPr dirty="0" sz="1000" spc="-95">
                <a:solidFill>
                  <a:srgbClr val="111726"/>
                </a:solidFill>
                <a:latin typeface="Source Han Sans JP"/>
                <a:cs typeface="Source Han Sans JP"/>
              </a:rPr>
              <a:t>chunks</a:t>
            </a:r>
            <a:r>
              <a:rPr dirty="0" sz="1000" spc="-1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90">
                <a:solidFill>
                  <a:srgbClr val="111726"/>
                </a:solidFill>
                <a:latin typeface="Source Han Sans JP"/>
                <a:cs typeface="Source Han Sans JP"/>
              </a:rPr>
              <a:t>created</a:t>
            </a:r>
            <a:r>
              <a:rPr dirty="0" sz="1000" spc="-1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85">
                <a:solidFill>
                  <a:srgbClr val="111726"/>
                </a:solidFill>
                <a:latin typeface="Source Han Sans JP"/>
                <a:cs typeface="Source Han Sans JP"/>
              </a:rPr>
              <a:t>in</a:t>
            </a:r>
            <a:r>
              <a:rPr dirty="0" sz="1000" spc="-1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70">
                <a:solidFill>
                  <a:srgbClr val="111726"/>
                </a:solidFill>
                <a:latin typeface="Source Han Sans JP"/>
                <a:cs typeface="Source Han Sans JP"/>
              </a:rPr>
              <a:t>Cell</a:t>
            </a:r>
            <a:r>
              <a:rPr dirty="0" sz="1000" spc="-1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900" spc="-40">
                <a:solidFill>
                  <a:srgbClr val="111726"/>
                </a:solidFill>
                <a:latin typeface="Arial"/>
                <a:cs typeface="Arial"/>
              </a:rPr>
              <a:t>4 </a:t>
            </a:r>
            <a:r>
              <a:rPr dirty="0" sz="950" spc="-204">
                <a:solidFill>
                  <a:srgbClr val="111726"/>
                </a:solidFill>
                <a:latin typeface="Arial"/>
                <a:cs typeface="Arial"/>
              </a:rPr>
              <a:t>—</a:t>
            </a:r>
            <a:r>
              <a:rPr dirty="0" sz="950" spc="-55">
                <a:solidFill>
                  <a:srgbClr val="111726"/>
                </a:solidFill>
                <a:latin typeface="Arial"/>
                <a:cs typeface="Arial"/>
              </a:rPr>
              <a:t> </a:t>
            </a:r>
            <a:r>
              <a:rPr dirty="0" sz="1000" spc="-80">
                <a:solidFill>
                  <a:srgbClr val="111726"/>
                </a:solidFill>
                <a:latin typeface="Source Han Sans JP"/>
                <a:cs typeface="Source Han Sans JP"/>
              </a:rPr>
              <a:t>every</a:t>
            </a:r>
            <a:r>
              <a:rPr dirty="0" sz="1000" spc="-1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95">
                <a:solidFill>
                  <a:srgbClr val="111726"/>
                </a:solidFill>
                <a:latin typeface="Source Han Sans JP"/>
                <a:cs typeface="Source Han Sans JP"/>
              </a:rPr>
              <a:t>chunk</a:t>
            </a:r>
            <a:r>
              <a:rPr dirty="0" sz="1000" spc="-1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100">
                <a:solidFill>
                  <a:srgbClr val="111726"/>
                </a:solidFill>
                <a:latin typeface="Source Han Sans JP"/>
                <a:cs typeface="Source Han Sans JP"/>
              </a:rPr>
              <a:t>was</a:t>
            </a:r>
            <a:r>
              <a:rPr dirty="0" sz="1000" spc="-1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80">
                <a:solidFill>
                  <a:srgbClr val="111726"/>
                </a:solidFill>
                <a:latin typeface="Source Han Sans JP"/>
                <a:cs typeface="Source Han Sans JP"/>
              </a:rPr>
              <a:t>successfully</a:t>
            </a:r>
            <a:r>
              <a:rPr dirty="0" sz="1000" spc="-1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105">
                <a:solidFill>
                  <a:srgbClr val="111726"/>
                </a:solidFill>
                <a:latin typeface="Source Han Sans JP"/>
                <a:cs typeface="Source Han Sans JP"/>
              </a:rPr>
              <a:t>embedded</a:t>
            </a:r>
            <a:r>
              <a:rPr dirty="0" sz="1000" spc="-1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95">
                <a:solidFill>
                  <a:srgbClr val="111726"/>
                </a:solidFill>
                <a:latin typeface="Source Han Sans JP"/>
                <a:cs typeface="Source Han Sans JP"/>
              </a:rPr>
              <a:t>and</a:t>
            </a:r>
            <a:r>
              <a:rPr dirty="0" sz="1000" spc="-1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40">
                <a:solidFill>
                  <a:srgbClr val="111726"/>
                </a:solidFill>
                <a:latin typeface="Source Han Sans JP"/>
                <a:cs typeface="Source Han Sans JP"/>
              </a:rPr>
              <a:t>stored.)</a:t>
            </a:r>
            <a:endParaRPr sz="1000">
              <a:latin typeface="Source Han Sans JP"/>
              <a:cs typeface="Source Han Sans JP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80102" y="571528"/>
            <a:ext cx="6202680" cy="6985"/>
          </a:xfrm>
          <a:custGeom>
            <a:avLst/>
            <a:gdLst/>
            <a:ahLst/>
            <a:cxnLst/>
            <a:rect l="l" t="t" r="r" b="b"/>
            <a:pathLst>
              <a:path w="6202680" h="6984">
                <a:moveTo>
                  <a:pt x="6202119" y="6741"/>
                </a:moveTo>
                <a:lnTo>
                  <a:pt x="0" y="6741"/>
                </a:lnTo>
                <a:lnTo>
                  <a:pt x="0" y="0"/>
                </a:lnTo>
                <a:lnTo>
                  <a:pt x="6202119" y="0"/>
                </a:lnTo>
                <a:lnTo>
                  <a:pt x="6202119" y="6741"/>
                </a:lnTo>
                <a:close/>
              </a:path>
            </a:pathLst>
          </a:custGeom>
          <a:solidFill>
            <a:srgbClr val="E4E7E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680102" y="1036687"/>
            <a:ext cx="6202680" cy="1793239"/>
          </a:xfrm>
          <a:custGeom>
            <a:avLst/>
            <a:gdLst/>
            <a:ahLst/>
            <a:cxnLst/>
            <a:rect l="l" t="t" r="r" b="b"/>
            <a:pathLst>
              <a:path w="6202680" h="1793239">
                <a:moveTo>
                  <a:pt x="6151728" y="1793194"/>
                </a:moveTo>
                <a:lnTo>
                  <a:pt x="50390" y="1793194"/>
                </a:lnTo>
                <a:lnTo>
                  <a:pt x="46883" y="1792850"/>
                </a:lnTo>
                <a:lnTo>
                  <a:pt x="13292" y="1774864"/>
                </a:lnTo>
                <a:lnTo>
                  <a:pt x="0" y="1742815"/>
                </a:lnTo>
                <a:lnTo>
                  <a:pt x="0" y="1739289"/>
                </a:lnTo>
                <a:lnTo>
                  <a:pt x="0" y="50378"/>
                </a:lnTo>
                <a:lnTo>
                  <a:pt x="18300" y="13273"/>
                </a:lnTo>
                <a:lnTo>
                  <a:pt x="50390" y="0"/>
                </a:lnTo>
                <a:lnTo>
                  <a:pt x="6151728" y="0"/>
                </a:lnTo>
                <a:lnTo>
                  <a:pt x="6188826" y="18276"/>
                </a:lnTo>
                <a:lnTo>
                  <a:pt x="6202118" y="50378"/>
                </a:lnTo>
                <a:lnTo>
                  <a:pt x="6202118" y="1742815"/>
                </a:lnTo>
                <a:lnTo>
                  <a:pt x="6183818" y="1779893"/>
                </a:lnTo>
                <a:lnTo>
                  <a:pt x="6155235" y="1792850"/>
                </a:lnTo>
                <a:lnTo>
                  <a:pt x="6151728" y="1793194"/>
                </a:lnTo>
                <a:close/>
              </a:path>
            </a:pathLst>
          </a:custGeom>
          <a:solidFill>
            <a:srgbClr val="0E172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680102" y="4966943"/>
            <a:ext cx="6202680" cy="364490"/>
          </a:xfrm>
          <a:custGeom>
            <a:avLst/>
            <a:gdLst/>
            <a:ahLst/>
            <a:cxnLst/>
            <a:rect l="l" t="t" r="r" b="b"/>
            <a:pathLst>
              <a:path w="6202680" h="364489">
                <a:moveTo>
                  <a:pt x="6151728" y="364010"/>
                </a:moveTo>
                <a:lnTo>
                  <a:pt x="50390" y="364010"/>
                </a:lnTo>
                <a:lnTo>
                  <a:pt x="46883" y="363666"/>
                </a:lnTo>
                <a:lnTo>
                  <a:pt x="11056" y="342997"/>
                </a:lnTo>
                <a:lnTo>
                  <a:pt x="0" y="313631"/>
                </a:lnTo>
                <a:lnTo>
                  <a:pt x="0" y="310105"/>
                </a:lnTo>
                <a:lnTo>
                  <a:pt x="0" y="50378"/>
                </a:lnTo>
                <a:lnTo>
                  <a:pt x="18300" y="13273"/>
                </a:lnTo>
                <a:lnTo>
                  <a:pt x="50390" y="0"/>
                </a:lnTo>
                <a:lnTo>
                  <a:pt x="6151728" y="0"/>
                </a:lnTo>
                <a:lnTo>
                  <a:pt x="6188826" y="18276"/>
                </a:lnTo>
                <a:lnTo>
                  <a:pt x="6202118" y="50378"/>
                </a:lnTo>
                <a:lnTo>
                  <a:pt x="6202118" y="313631"/>
                </a:lnTo>
                <a:lnTo>
                  <a:pt x="6183818" y="350736"/>
                </a:lnTo>
                <a:lnTo>
                  <a:pt x="6155235" y="363666"/>
                </a:lnTo>
                <a:lnTo>
                  <a:pt x="6151728" y="364010"/>
                </a:lnTo>
                <a:close/>
              </a:path>
            </a:pathLst>
          </a:custGeom>
          <a:solidFill>
            <a:srgbClr val="0E172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680102" y="5492775"/>
            <a:ext cx="6202680" cy="6985"/>
          </a:xfrm>
          <a:custGeom>
            <a:avLst/>
            <a:gdLst/>
            <a:ahLst/>
            <a:cxnLst/>
            <a:rect l="l" t="t" r="r" b="b"/>
            <a:pathLst>
              <a:path w="6202680" h="6985">
                <a:moveTo>
                  <a:pt x="6202119" y="6741"/>
                </a:moveTo>
                <a:lnTo>
                  <a:pt x="0" y="6741"/>
                </a:lnTo>
                <a:lnTo>
                  <a:pt x="0" y="0"/>
                </a:lnTo>
                <a:lnTo>
                  <a:pt x="6202119" y="0"/>
                </a:lnTo>
                <a:lnTo>
                  <a:pt x="6202119" y="6741"/>
                </a:lnTo>
                <a:close/>
              </a:path>
            </a:pathLst>
          </a:custGeom>
          <a:solidFill>
            <a:srgbClr val="E4E7E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680102" y="5957934"/>
            <a:ext cx="6202680" cy="2326005"/>
          </a:xfrm>
          <a:custGeom>
            <a:avLst/>
            <a:gdLst/>
            <a:ahLst/>
            <a:cxnLst/>
            <a:rect l="l" t="t" r="r" b="b"/>
            <a:pathLst>
              <a:path w="6202680" h="2326004">
                <a:moveTo>
                  <a:pt x="6151728" y="2325767"/>
                </a:moveTo>
                <a:lnTo>
                  <a:pt x="50390" y="2325767"/>
                </a:lnTo>
                <a:lnTo>
                  <a:pt x="46883" y="2325423"/>
                </a:lnTo>
                <a:lnTo>
                  <a:pt x="11056" y="2304754"/>
                </a:lnTo>
                <a:lnTo>
                  <a:pt x="0" y="2275368"/>
                </a:lnTo>
                <a:lnTo>
                  <a:pt x="0" y="2271863"/>
                </a:lnTo>
                <a:lnTo>
                  <a:pt x="0" y="50378"/>
                </a:lnTo>
                <a:lnTo>
                  <a:pt x="18300" y="13273"/>
                </a:lnTo>
                <a:lnTo>
                  <a:pt x="50390" y="0"/>
                </a:lnTo>
                <a:lnTo>
                  <a:pt x="6151728" y="0"/>
                </a:lnTo>
                <a:lnTo>
                  <a:pt x="6188826" y="18276"/>
                </a:lnTo>
                <a:lnTo>
                  <a:pt x="6202118" y="50378"/>
                </a:lnTo>
                <a:lnTo>
                  <a:pt x="6202118" y="2275368"/>
                </a:lnTo>
                <a:lnTo>
                  <a:pt x="6183818" y="2312493"/>
                </a:lnTo>
                <a:lnTo>
                  <a:pt x="6155235" y="2325423"/>
                </a:lnTo>
                <a:lnTo>
                  <a:pt x="6151728" y="2325767"/>
                </a:lnTo>
                <a:close/>
              </a:path>
            </a:pathLst>
          </a:custGeom>
          <a:solidFill>
            <a:srgbClr val="0E172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667402" y="706108"/>
            <a:ext cx="1805305" cy="24511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450" spc="-130" b="1">
                <a:solidFill>
                  <a:srgbClr val="111726"/>
                </a:solidFill>
                <a:latin typeface="Source Han Sans JP"/>
                <a:cs typeface="Source Han Sans JP"/>
              </a:rPr>
              <a:t>Cell</a:t>
            </a:r>
            <a:r>
              <a:rPr dirty="0" sz="1450" spc="-55" b="1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300" spc="-75" b="1">
                <a:solidFill>
                  <a:srgbClr val="111726"/>
                </a:solidFill>
                <a:latin typeface="Trebuchet MS"/>
                <a:cs typeface="Trebuchet MS"/>
              </a:rPr>
              <a:t>8</a:t>
            </a:r>
            <a:r>
              <a:rPr dirty="0" sz="1300" spc="-120" b="1">
                <a:solidFill>
                  <a:srgbClr val="111726"/>
                </a:solidFill>
                <a:latin typeface="Trebuchet MS"/>
                <a:cs typeface="Trebuchet MS"/>
              </a:rPr>
              <a:t> </a:t>
            </a:r>
            <a:r>
              <a:rPr dirty="0" sz="1350" spc="-285" b="1">
                <a:solidFill>
                  <a:srgbClr val="111726"/>
                </a:solidFill>
                <a:latin typeface="Arial"/>
                <a:cs typeface="Arial"/>
              </a:rPr>
              <a:t>—</a:t>
            </a:r>
            <a:r>
              <a:rPr dirty="0" sz="1350" spc="-105" b="1">
                <a:solidFill>
                  <a:srgbClr val="111726"/>
                </a:solidFill>
                <a:latin typeface="Arial"/>
                <a:cs typeface="Arial"/>
              </a:rPr>
              <a:t> </a:t>
            </a:r>
            <a:r>
              <a:rPr dirty="0" sz="1450" spc="-160" b="1">
                <a:solidFill>
                  <a:srgbClr val="111726"/>
                </a:solidFill>
                <a:latin typeface="Source Han Sans JP"/>
                <a:cs typeface="Source Han Sans JP"/>
              </a:rPr>
              <a:t>Create</a:t>
            </a:r>
            <a:r>
              <a:rPr dirty="0" sz="1450" spc="-50" b="1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450" spc="-125" b="1">
                <a:solidFill>
                  <a:srgbClr val="111726"/>
                </a:solidFill>
                <a:latin typeface="Source Han Sans JP"/>
                <a:cs typeface="Source Han Sans JP"/>
              </a:rPr>
              <a:t>retriever</a:t>
            </a:r>
            <a:endParaRPr sz="1450">
              <a:latin typeface="Source Han Sans JP"/>
              <a:cs typeface="Source Han Sans JP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61782" y="1084916"/>
            <a:ext cx="2491105" cy="1623695"/>
          </a:xfrm>
          <a:prstGeom prst="rect">
            <a:avLst/>
          </a:prstGeom>
        </p:spPr>
        <p:txBody>
          <a:bodyPr wrap="square" lIns="0" tIns="654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15"/>
              </a:spcBef>
            </a:pP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#</a:t>
            </a:r>
            <a:r>
              <a:rPr dirty="0" sz="800" spc="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 spc="-10">
                <a:solidFill>
                  <a:srgbClr val="E4E7EB"/>
                </a:solidFill>
                <a:latin typeface="Courier New"/>
                <a:cs typeface="Courier New"/>
              </a:rPr>
              <a:t>======================================</a:t>
            </a:r>
            <a:endParaRPr sz="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420"/>
              </a:spcBef>
            </a:pP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#</a:t>
            </a:r>
            <a:r>
              <a:rPr dirty="0" sz="800" spc="2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Create</a:t>
            </a:r>
            <a:r>
              <a:rPr dirty="0" sz="800" spc="2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 spc="-10">
                <a:solidFill>
                  <a:srgbClr val="E4E7EB"/>
                </a:solidFill>
                <a:latin typeface="Courier New"/>
                <a:cs typeface="Courier New"/>
              </a:rPr>
              <a:t>Retriever</a:t>
            </a:r>
            <a:endParaRPr sz="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475"/>
              </a:spcBef>
            </a:pP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#</a:t>
            </a:r>
            <a:r>
              <a:rPr dirty="0" sz="800" spc="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 spc="-10">
                <a:solidFill>
                  <a:srgbClr val="E4E7EB"/>
                </a:solidFill>
                <a:latin typeface="Courier New"/>
                <a:cs typeface="Courier New"/>
              </a:rPr>
              <a:t>======================================</a:t>
            </a:r>
            <a:endParaRPr sz="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525"/>
              </a:spcBef>
            </a:pPr>
            <a:endParaRPr sz="800">
              <a:latin typeface="Courier New"/>
              <a:cs typeface="Courier New"/>
            </a:endParaRPr>
          </a:p>
          <a:p>
            <a:pPr marL="259079" marR="313055" indent="-247015">
              <a:lnSpc>
                <a:spcPct val="143800"/>
              </a:lnSpc>
            </a:pP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retriever</a:t>
            </a:r>
            <a:r>
              <a:rPr dirty="0" sz="800" spc="2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=</a:t>
            </a:r>
            <a:r>
              <a:rPr dirty="0" sz="800" spc="3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 spc="-10">
                <a:solidFill>
                  <a:srgbClr val="E4E7EB"/>
                </a:solidFill>
                <a:latin typeface="Courier New"/>
                <a:cs typeface="Courier New"/>
              </a:rPr>
              <a:t>vector_db.as_retriever( search_kwargs={"k":3}</a:t>
            </a:r>
            <a:endParaRPr sz="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420"/>
              </a:spcBef>
            </a:pPr>
            <a:r>
              <a:rPr dirty="0" sz="800" spc="-50">
                <a:solidFill>
                  <a:srgbClr val="E4E7EB"/>
                </a:solidFill>
                <a:latin typeface="Courier New"/>
                <a:cs typeface="Courier New"/>
              </a:rPr>
              <a:t>)</a:t>
            </a:r>
            <a:endParaRPr sz="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endParaRPr sz="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print("Retriever</a:t>
            </a:r>
            <a:r>
              <a:rPr dirty="0" sz="800" spc="4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is</a:t>
            </a:r>
            <a:r>
              <a:rPr dirty="0" sz="800" spc="4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 spc="-10">
                <a:solidFill>
                  <a:srgbClr val="E4E7EB"/>
                </a:solidFill>
                <a:latin typeface="Courier New"/>
                <a:cs typeface="Courier New"/>
              </a:rPr>
              <a:t>ready!")</a:t>
            </a:r>
            <a:endParaRPr sz="800">
              <a:latin typeface="Courier New"/>
              <a:cs typeface="Courier New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754253" y="3301783"/>
            <a:ext cx="1388745" cy="316865"/>
          </a:xfrm>
          <a:custGeom>
            <a:avLst/>
            <a:gdLst/>
            <a:ahLst/>
            <a:cxnLst/>
            <a:rect l="l" t="t" r="r" b="b"/>
            <a:pathLst>
              <a:path w="1388745" h="316864">
                <a:moveTo>
                  <a:pt x="680885" y="0"/>
                </a:moveTo>
                <a:lnTo>
                  <a:pt x="23393" y="0"/>
                </a:lnTo>
                <a:lnTo>
                  <a:pt x="19951" y="711"/>
                </a:lnTo>
                <a:lnTo>
                  <a:pt x="13335" y="3390"/>
                </a:lnTo>
                <a:lnTo>
                  <a:pt x="10426" y="5334"/>
                </a:lnTo>
                <a:lnTo>
                  <a:pt x="7899" y="7899"/>
                </a:lnTo>
                <a:lnTo>
                  <a:pt x="5372" y="10388"/>
                </a:lnTo>
                <a:lnTo>
                  <a:pt x="3416" y="13322"/>
                </a:lnTo>
                <a:lnTo>
                  <a:pt x="685" y="19926"/>
                </a:lnTo>
                <a:lnTo>
                  <a:pt x="0" y="23380"/>
                </a:lnTo>
                <a:lnTo>
                  <a:pt x="0" y="118173"/>
                </a:lnTo>
                <a:lnTo>
                  <a:pt x="23393" y="141566"/>
                </a:lnTo>
                <a:lnTo>
                  <a:pt x="680885" y="141566"/>
                </a:lnTo>
                <a:lnTo>
                  <a:pt x="680885" y="0"/>
                </a:lnTo>
                <a:close/>
              </a:path>
              <a:path w="1388745" h="316864">
                <a:moveTo>
                  <a:pt x="1388732" y="198678"/>
                </a:moveTo>
                <a:lnTo>
                  <a:pt x="1365338" y="175285"/>
                </a:lnTo>
                <a:lnTo>
                  <a:pt x="0" y="175285"/>
                </a:lnTo>
                <a:lnTo>
                  <a:pt x="0" y="316852"/>
                </a:lnTo>
                <a:lnTo>
                  <a:pt x="1365338" y="316852"/>
                </a:lnTo>
                <a:lnTo>
                  <a:pt x="1388732" y="293458"/>
                </a:lnTo>
                <a:lnTo>
                  <a:pt x="1388732" y="198678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4900239" y="3301809"/>
            <a:ext cx="586740" cy="141605"/>
          </a:xfrm>
          <a:custGeom>
            <a:avLst/>
            <a:gdLst/>
            <a:ahLst/>
            <a:cxnLst/>
            <a:rect l="l" t="t" r="r" b="b"/>
            <a:pathLst>
              <a:path w="586739" h="141604">
                <a:moveTo>
                  <a:pt x="563115" y="141543"/>
                </a:moveTo>
                <a:lnTo>
                  <a:pt x="23390" y="141543"/>
                </a:lnTo>
                <a:lnTo>
                  <a:pt x="19949" y="140835"/>
                </a:lnTo>
                <a:lnTo>
                  <a:pt x="0" y="118157"/>
                </a:lnTo>
                <a:lnTo>
                  <a:pt x="0" y="114604"/>
                </a:lnTo>
                <a:lnTo>
                  <a:pt x="0" y="23359"/>
                </a:lnTo>
                <a:lnTo>
                  <a:pt x="23390" y="0"/>
                </a:lnTo>
                <a:lnTo>
                  <a:pt x="563115" y="0"/>
                </a:lnTo>
                <a:lnTo>
                  <a:pt x="586504" y="23359"/>
                </a:lnTo>
                <a:lnTo>
                  <a:pt x="586504" y="118157"/>
                </a:lnTo>
                <a:lnTo>
                  <a:pt x="566554" y="140835"/>
                </a:lnTo>
                <a:lnTo>
                  <a:pt x="563115" y="141543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3032862" y="3477086"/>
            <a:ext cx="876935" cy="141605"/>
          </a:xfrm>
          <a:custGeom>
            <a:avLst/>
            <a:gdLst/>
            <a:ahLst/>
            <a:cxnLst/>
            <a:rect l="l" t="t" r="r" b="b"/>
            <a:pathLst>
              <a:path w="876935" h="141604">
                <a:moveTo>
                  <a:pt x="852996" y="141543"/>
                </a:moveTo>
                <a:lnTo>
                  <a:pt x="23389" y="141543"/>
                </a:lnTo>
                <a:lnTo>
                  <a:pt x="19950" y="140835"/>
                </a:lnTo>
                <a:lnTo>
                  <a:pt x="0" y="118157"/>
                </a:lnTo>
                <a:lnTo>
                  <a:pt x="0" y="114604"/>
                </a:lnTo>
                <a:lnTo>
                  <a:pt x="0" y="23386"/>
                </a:lnTo>
                <a:lnTo>
                  <a:pt x="23389" y="0"/>
                </a:lnTo>
                <a:lnTo>
                  <a:pt x="852996" y="0"/>
                </a:lnTo>
                <a:lnTo>
                  <a:pt x="876386" y="23386"/>
                </a:lnTo>
                <a:lnTo>
                  <a:pt x="876386" y="118157"/>
                </a:lnTo>
                <a:lnTo>
                  <a:pt x="856436" y="140835"/>
                </a:lnTo>
                <a:lnTo>
                  <a:pt x="852996" y="141543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754257" y="3766968"/>
            <a:ext cx="1294765" cy="141605"/>
          </a:xfrm>
          <a:custGeom>
            <a:avLst/>
            <a:gdLst/>
            <a:ahLst/>
            <a:cxnLst/>
            <a:rect l="l" t="t" r="r" b="b"/>
            <a:pathLst>
              <a:path w="1294764" h="141604">
                <a:moveTo>
                  <a:pt x="1270965" y="141543"/>
                </a:moveTo>
                <a:lnTo>
                  <a:pt x="23389" y="141543"/>
                </a:lnTo>
                <a:lnTo>
                  <a:pt x="19950" y="140835"/>
                </a:lnTo>
                <a:lnTo>
                  <a:pt x="0" y="118157"/>
                </a:lnTo>
                <a:lnTo>
                  <a:pt x="0" y="114604"/>
                </a:lnTo>
                <a:lnTo>
                  <a:pt x="0" y="23359"/>
                </a:lnTo>
                <a:lnTo>
                  <a:pt x="23389" y="0"/>
                </a:lnTo>
                <a:lnTo>
                  <a:pt x="1270965" y="0"/>
                </a:lnTo>
                <a:lnTo>
                  <a:pt x="1294355" y="23359"/>
                </a:lnTo>
                <a:lnTo>
                  <a:pt x="1294355" y="118157"/>
                </a:lnTo>
                <a:lnTo>
                  <a:pt x="1274405" y="140835"/>
                </a:lnTo>
                <a:lnTo>
                  <a:pt x="1270965" y="141543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54257" y="4056850"/>
            <a:ext cx="114604" cy="141543"/>
          </a:xfrm>
          <a:prstGeom prst="rect">
            <a:avLst/>
          </a:prstGeom>
        </p:spPr>
      </p:pic>
      <p:sp>
        <p:nvSpPr>
          <p:cNvPr id="14" name="object 14"/>
          <p:cNvSpPr/>
          <p:nvPr/>
        </p:nvSpPr>
        <p:spPr>
          <a:xfrm>
            <a:off x="754257" y="4346731"/>
            <a:ext cx="1712595" cy="141605"/>
          </a:xfrm>
          <a:custGeom>
            <a:avLst/>
            <a:gdLst/>
            <a:ahLst/>
            <a:cxnLst/>
            <a:rect l="l" t="t" r="r" b="b"/>
            <a:pathLst>
              <a:path w="1712595" h="141604">
                <a:moveTo>
                  <a:pt x="1688934" y="141543"/>
                </a:moveTo>
                <a:lnTo>
                  <a:pt x="23389" y="141543"/>
                </a:lnTo>
                <a:lnTo>
                  <a:pt x="19950" y="140835"/>
                </a:lnTo>
                <a:lnTo>
                  <a:pt x="0" y="118157"/>
                </a:lnTo>
                <a:lnTo>
                  <a:pt x="0" y="114604"/>
                </a:lnTo>
                <a:lnTo>
                  <a:pt x="0" y="23359"/>
                </a:lnTo>
                <a:lnTo>
                  <a:pt x="23389" y="0"/>
                </a:lnTo>
                <a:lnTo>
                  <a:pt x="1688934" y="0"/>
                </a:lnTo>
                <a:lnTo>
                  <a:pt x="1712324" y="23359"/>
                </a:lnTo>
                <a:lnTo>
                  <a:pt x="1712324" y="118157"/>
                </a:lnTo>
                <a:lnTo>
                  <a:pt x="1692373" y="140835"/>
                </a:lnTo>
                <a:lnTo>
                  <a:pt x="1688934" y="141543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graphicFrame>
        <p:nvGraphicFramePr>
          <p:cNvPr id="15" name="object 15"/>
          <p:cNvGraphicFramePr>
            <a:graphicFrameLocks noGrp="1"/>
          </p:cNvGraphicFramePr>
          <p:nvPr/>
        </p:nvGraphicFramePr>
        <p:xfrm>
          <a:off x="680102" y="2937771"/>
          <a:ext cx="6278880" cy="16160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67535"/>
                <a:gridCol w="4328160"/>
              </a:tblGrid>
              <a:tr h="282575">
                <a:tc>
                  <a:txBody>
                    <a:bodyPr/>
                    <a:lstStyle/>
                    <a:p>
                      <a:pPr marL="70485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950" spc="-20" b="1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Line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64769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marL="69850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950" spc="-10" b="1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Explanation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64769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  <a:solidFill>
                      <a:srgbClr val="F7FAFB"/>
                    </a:solidFill>
                  </a:tcPr>
                </a:tc>
              </a:tr>
              <a:tr h="464820">
                <a:tc>
                  <a:txBody>
                    <a:bodyPr/>
                    <a:lstStyle/>
                    <a:p>
                      <a:pPr marL="70485" marR="427990" indent="26670">
                        <a:lnSpc>
                          <a:spcPct val="153300"/>
                        </a:lnSpc>
                        <a:spcBef>
                          <a:spcPts val="229"/>
                        </a:spcBef>
                      </a:pP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retriever</a:t>
                      </a:r>
                      <a:r>
                        <a:rPr dirty="0" sz="750" spc="95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 spc="-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= </a:t>
                      </a:r>
                      <a:r>
                        <a:rPr dirty="0" sz="750" spc="-1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vector_db.as_retriever(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29209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0" marR="101600">
                        <a:lnSpc>
                          <a:spcPct val="121100"/>
                        </a:lnSpc>
                        <a:spcBef>
                          <a:spcPts val="270"/>
                        </a:spcBef>
                      </a:pPr>
                      <a:r>
                        <a:rPr dirty="0" sz="950" spc="-9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Wraps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the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vector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store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in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LangChain's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standard</a:t>
                      </a:r>
                      <a:r>
                        <a:rPr dirty="0" sz="950" spc="22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Retriever</a:t>
                      </a:r>
                      <a:r>
                        <a:rPr dirty="0" sz="750" spc="-1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interface,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which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exposes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5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a</a:t>
                      </a:r>
                      <a:r>
                        <a:rPr dirty="0" sz="950" spc="50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6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uniform</a:t>
                      </a:r>
                      <a:r>
                        <a:rPr dirty="0" sz="950" spc="229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.invoke(query)</a:t>
                      </a:r>
                      <a:r>
                        <a:rPr dirty="0" sz="750" spc="-5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950" spc="-9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method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usable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across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6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di</a:t>
                      </a:r>
                      <a:r>
                        <a:rPr dirty="0" sz="900" spc="-60">
                          <a:solidFill>
                            <a:srgbClr val="111726"/>
                          </a:solidFill>
                          <a:latin typeface="Arial"/>
                          <a:cs typeface="Arial"/>
                        </a:rPr>
                        <a:t>ﬀ</a:t>
                      </a:r>
                      <a:r>
                        <a:rPr dirty="0" sz="950" spc="-6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erent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vector-store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backends.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34290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dirty="0" sz="750" spc="-1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search_kwargs={"k":3}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90170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0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950" spc="-7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Con</a:t>
                      </a:r>
                      <a:r>
                        <a:rPr dirty="0" sz="900" spc="-70">
                          <a:solidFill>
                            <a:srgbClr val="111726"/>
                          </a:solidFill>
                          <a:latin typeface="Arial"/>
                          <a:cs typeface="Arial"/>
                        </a:rPr>
                        <a:t>ﬁ</a:t>
                      </a:r>
                      <a:r>
                        <a:rPr dirty="0" sz="950" spc="-7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gures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the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retriever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to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return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the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9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top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00" spc="-60" b="1">
                          <a:solidFill>
                            <a:srgbClr val="111726"/>
                          </a:solidFill>
                          <a:latin typeface="Trebuchet MS"/>
                          <a:cs typeface="Trebuchet MS"/>
                        </a:rPr>
                        <a:t>3 </a:t>
                      </a:r>
                      <a:r>
                        <a:rPr dirty="0" sz="950" spc="-9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most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similar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chunks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per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query.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64769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dirty="0" sz="750" spc="-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)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90170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0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Closes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the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call.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64769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print("Retriever</a:t>
                      </a:r>
                      <a:r>
                        <a:rPr dirty="0" sz="750" spc="95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is</a:t>
                      </a:r>
                      <a:r>
                        <a:rPr dirty="0" sz="750" spc="95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 spc="-1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ready!")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90170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0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950" spc="-7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Con</a:t>
                      </a:r>
                      <a:r>
                        <a:rPr dirty="0" sz="900" spc="-70">
                          <a:solidFill>
                            <a:srgbClr val="111726"/>
                          </a:solidFill>
                          <a:latin typeface="Arial"/>
                          <a:cs typeface="Arial"/>
                        </a:rPr>
                        <a:t>ﬁ</a:t>
                      </a:r>
                      <a:r>
                        <a:rPr dirty="0" sz="950" spc="-7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rms</a:t>
                      </a:r>
                      <a:r>
                        <a:rPr dirty="0" sz="950" spc="-2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setup.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64769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6" name="object 16"/>
          <p:cNvSpPr txBox="1"/>
          <p:nvPr/>
        </p:nvSpPr>
        <p:spPr>
          <a:xfrm>
            <a:off x="667402" y="4668435"/>
            <a:ext cx="1289685" cy="18288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000" spc="-85" b="1">
                <a:solidFill>
                  <a:srgbClr val="111726"/>
                </a:solidFill>
                <a:latin typeface="Source Han Sans JP"/>
                <a:cs typeface="Source Han Sans JP"/>
              </a:rPr>
              <a:t>Actual</a:t>
            </a:r>
            <a:r>
              <a:rPr dirty="0" sz="1000" spc="-20" b="1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100" b="1">
                <a:solidFill>
                  <a:srgbClr val="111726"/>
                </a:solidFill>
                <a:latin typeface="Source Han Sans JP"/>
                <a:cs typeface="Source Han Sans JP"/>
              </a:rPr>
              <a:t>captured</a:t>
            </a:r>
            <a:r>
              <a:rPr dirty="0" sz="1000" spc="-20" b="1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70" b="1">
                <a:solidFill>
                  <a:srgbClr val="111726"/>
                </a:solidFill>
                <a:latin typeface="Source Han Sans JP"/>
                <a:cs typeface="Source Han Sans JP"/>
              </a:rPr>
              <a:t>output:</a:t>
            </a:r>
            <a:endParaRPr sz="1000">
              <a:latin typeface="Source Han Sans JP"/>
              <a:cs typeface="Source Han Sans JP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61782" y="5067485"/>
            <a:ext cx="1196975" cy="1485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Retriever</a:t>
            </a:r>
            <a:r>
              <a:rPr dirty="0" sz="800" spc="2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is</a:t>
            </a:r>
            <a:r>
              <a:rPr dirty="0" sz="800" spc="3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 spc="-10">
                <a:solidFill>
                  <a:srgbClr val="E4E7EB"/>
                </a:solidFill>
                <a:latin typeface="Courier New"/>
                <a:cs typeface="Courier New"/>
              </a:rPr>
              <a:t>ready!</a:t>
            </a:r>
            <a:endParaRPr sz="800">
              <a:latin typeface="Courier New"/>
              <a:cs typeface="Courier New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67402" y="5627354"/>
            <a:ext cx="2192655" cy="24511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450" spc="-130" b="1">
                <a:solidFill>
                  <a:srgbClr val="111726"/>
                </a:solidFill>
                <a:latin typeface="Source Han Sans JP"/>
                <a:cs typeface="Source Han Sans JP"/>
              </a:rPr>
              <a:t>Cell</a:t>
            </a:r>
            <a:r>
              <a:rPr dirty="0" sz="1450" spc="-50" b="1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300" spc="-75" b="1">
                <a:solidFill>
                  <a:srgbClr val="111726"/>
                </a:solidFill>
                <a:latin typeface="Trebuchet MS"/>
                <a:cs typeface="Trebuchet MS"/>
              </a:rPr>
              <a:t>9</a:t>
            </a:r>
            <a:r>
              <a:rPr dirty="0" sz="1300" spc="-114" b="1">
                <a:solidFill>
                  <a:srgbClr val="111726"/>
                </a:solidFill>
                <a:latin typeface="Trebuchet MS"/>
                <a:cs typeface="Trebuchet MS"/>
              </a:rPr>
              <a:t> </a:t>
            </a:r>
            <a:r>
              <a:rPr dirty="0" sz="1350" spc="-285" b="1">
                <a:solidFill>
                  <a:srgbClr val="111726"/>
                </a:solidFill>
                <a:latin typeface="Arial"/>
                <a:cs typeface="Arial"/>
              </a:rPr>
              <a:t>—</a:t>
            </a:r>
            <a:r>
              <a:rPr dirty="0" sz="1350" spc="-95" b="1">
                <a:solidFill>
                  <a:srgbClr val="111726"/>
                </a:solidFill>
                <a:latin typeface="Arial"/>
                <a:cs typeface="Arial"/>
              </a:rPr>
              <a:t> </a:t>
            </a:r>
            <a:r>
              <a:rPr dirty="0" sz="1450" spc="-185" b="1">
                <a:solidFill>
                  <a:srgbClr val="111726"/>
                </a:solidFill>
                <a:latin typeface="Source Han Sans JP"/>
                <a:cs typeface="Source Han Sans JP"/>
              </a:rPr>
              <a:t>Run</a:t>
            </a:r>
            <a:r>
              <a:rPr dirty="0" sz="1450" spc="-50" b="1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450" spc="-165" b="1">
                <a:solidFill>
                  <a:srgbClr val="111726"/>
                </a:solidFill>
                <a:latin typeface="Source Han Sans JP"/>
                <a:cs typeface="Source Han Sans JP"/>
              </a:rPr>
              <a:t>a</a:t>
            </a:r>
            <a:r>
              <a:rPr dirty="0" sz="1450" spc="-45" b="1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450" spc="-140" b="1">
                <a:solidFill>
                  <a:srgbClr val="111726"/>
                </a:solidFill>
                <a:latin typeface="Source Han Sans JP"/>
                <a:cs typeface="Source Han Sans JP"/>
              </a:rPr>
              <a:t>retrieval</a:t>
            </a:r>
            <a:r>
              <a:rPr dirty="0" sz="1450" spc="-50" b="1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450" spc="-114" b="1">
                <a:solidFill>
                  <a:srgbClr val="111726"/>
                </a:solidFill>
                <a:latin typeface="Source Han Sans JP"/>
                <a:cs typeface="Source Han Sans JP"/>
              </a:rPr>
              <a:t>query</a:t>
            </a:r>
            <a:endParaRPr sz="1450">
              <a:latin typeface="Source Han Sans JP"/>
              <a:cs typeface="Source Han Sans JP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61782" y="6058475"/>
            <a:ext cx="2738120" cy="210375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query</a:t>
            </a:r>
            <a:r>
              <a:rPr dirty="0" sz="800" spc="2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=</a:t>
            </a:r>
            <a:r>
              <a:rPr dirty="0" sz="800" spc="3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"How</a:t>
            </a:r>
            <a:r>
              <a:rPr dirty="0" sz="800" spc="3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is</a:t>
            </a:r>
            <a:r>
              <a:rPr dirty="0" sz="800" spc="2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authentication</a:t>
            </a:r>
            <a:r>
              <a:rPr dirty="0" sz="800" spc="3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 spc="-10">
                <a:solidFill>
                  <a:srgbClr val="E4E7EB"/>
                </a:solidFill>
                <a:latin typeface="Courier New"/>
                <a:cs typeface="Courier New"/>
              </a:rPr>
              <a:t>handled?"</a:t>
            </a:r>
            <a:endParaRPr sz="800">
              <a:latin typeface="Courier New"/>
              <a:cs typeface="Courier New"/>
            </a:endParaRPr>
          </a:p>
          <a:p>
            <a:pPr marL="12700" marR="5080">
              <a:lnSpc>
                <a:spcPct val="287500"/>
              </a:lnSpc>
              <a:spcBef>
                <a:spcPts val="55"/>
              </a:spcBef>
            </a:pP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results</a:t>
            </a:r>
            <a:r>
              <a:rPr dirty="0" sz="800" spc="2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=</a:t>
            </a:r>
            <a:r>
              <a:rPr dirty="0" sz="800" spc="2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 spc="-10">
                <a:solidFill>
                  <a:srgbClr val="E4E7EB"/>
                </a:solidFill>
                <a:latin typeface="Courier New"/>
                <a:cs typeface="Courier New"/>
              </a:rPr>
              <a:t>retriever.invoke(query)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print(f"Retrieved</a:t>
            </a:r>
            <a:r>
              <a:rPr dirty="0" sz="800" spc="7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{len(results)}</a:t>
            </a:r>
            <a:r>
              <a:rPr dirty="0" sz="800" spc="7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 spc="-10">
                <a:solidFill>
                  <a:srgbClr val="E4E7EB"/>
                </a:solidFill>
                <a:latin typeface="Courier New"/>
                <a:cs typeface="Courier New"/>
              </a:rPr>
              <a:t>chunks.\n")</a:t>
            </a:r>
            <a:endParaRPr sz="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470"/>
              </a:spcBef>
            </a:pPr>
            <a:endParaRPr sz="800">
              <a:latin typeface="Courier New"/>
              <a:cs typeface="Courier New"/>
            </a:endParaRPr>
          </a:p>
          <a:p>
            <a:pPr marL="259079" marR="128270" indent="-247015">
              <a:lnSpc>
                <a:spcPct val="149300"/>
              </a:lnSpc>
              <a:spcBef>
                <a:spcPts val="5"/>
              </a:spcBef>
            </a:pP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for</a:t>
            </a:r>
            <a:r>
              <a:rPr dirty="0" sz="800" spc="3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i,</a:t>
            </a:r>
            <a:r>
              <a:rPr dirty="0" sz="800" spc="3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doc</a:t>
            </a:r>
            <a:r>
              <a:rPr dirty="0" sz="800" spc="3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in</a:t>
            </a:r>
            <a:r>
              <a:rPr dirty="0" sz="800" spc="3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enumerate(results,</a:t>
            </a:r>
            <a:r>
              <a:rPr dirty="0" sz="800" spc="3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 spc="-10">
                <a:solidFill>
                  <a:srgbClr val="E4E7EB"/>
                </a:solidFill>
                <a:latin typeface="Courier New"/>
                <a:cs typeface="Courier New"/>
              </a:rPr>
              <a:t>start=1):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print("="</a:t>
            </a:r>
            <a:r>
              <a:rPr dirty="0" sz="800" spc="2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*</a:t>
            </a:r>
            <a:r>
              <a:rPr dirty="0" sz="800" spc="3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 spc="-25">
                <a:solidFill>
                  <a:srgbClr val="E4E7EB"/>
                </a:solidFill>
                <a:latin typeface="Courier New"/>
                <a:cs typeface="Courier New"/>
              </a:rPr>
              <a:t>70)</a:t>
            </a:r>
            <a:endParaRPr sz="800">
              <a:latin typeface="Courier New"/>
              <a:cs typeface="Courier New"/>
            </a:endParaRPr>
          </a:p>
          <a:p>
            <a:pPr marL="259079" marR="1299210">
              <a:lnSpc>
                <a:spcPct val="143800"/>
              </a:lnSpc>
            </a:pP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print(f"Chunk</a:t>
            </a:r>
            <a:r>
              <a:rPr dirty="0" sz="800" spc="6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 spc="-10">
                <a:solidFill>
                  <a:srgbClr val="E4E7EB"/>
                </a:solidFill>
                <a:latin typeface="Courier New"/>
                <a:cs typeface="Courier New"/>
              </a:rPr>
              <a:t>{i}")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print("="</a:t>
            </a:r>
            <a:r>
              <a:rPr dirty="0" sz="800" spc="2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*</a:t>
            </a:r>
            <a:r>
              <a:rPr dirty="0" sz="800" spc="3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 spc="-25">
                <a:solidFill>
                  <a:srgbClr val="E4E7EB"/>
                </a:solidFill>
                <a:latin typeface="Courier New"/>
                <a:cs typeface="Courier New"/>
              </a:rPr>
              <a:t>70)</a:t>
            </a:r>
            <a:endParaRPr sz="800">
              <a:latin typeface="Courier New"/>
              <a:cs typeface="Courier New"/>
            </a:endParaRPr>
          </a:p>
          <a:p>
            <a:pPr marL="259079" marR="1052830">
              <a:lnSpc>
                <a:spcPct val="143800"/>
              </a:lnSpc>
              <a:spcBef>
                <a:spcPts val="50"/>
              </a:spcBef>
            </a:pPr>
            <a:r>
              <a:rPr dirty="0" sz="800" spc="-10">
                <a:solidFill>
                  <a:srgbClr val="E4E7EB"/>
                </a:solidFill>
                <a:latin typeface="Courier New"/>
                <a:cs typeface="Courier New"/>
              </a:rPr>
              <a:t>print(doc.page_content) print()</a:t>
            </a:r>
            <a:endParaRPr sz="800">
              <a:latin typeface="Courier New"/>
              <a:cs typeface="Courier New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754253" y="8755608"/>
            <a:ext cx="1800225" cy="316865"/>
          </a:xfrm>
          <a:custGeom>
            <a:avLst/>
            <a:gdLst/>
            <a:ahLst/>
            <a:cxnLst/>
            <a:rect l="l" t="t" r="r" b="b"/>
            <a:pathLst>
              <a:path w="1800225" h="316865">
                <a:moveTo>
                  <a:pt x="559536" y="198653"/>
                </a:moveTo>
                <a:lnTo>
                  <a:pt x="536143" y="175260"/>
                </a:lnTo>
                <a:lnTo>
                  <a:pt x="0" y="175260"/>
                </a:lnTo>
                <a:lnTo>
                  <a:pt x="0" y="316852"/>
                </a:lnTo>
                <a:lnTo>
                  <a:pt x="536143" y="316852"/>
                </a:lnTo>
                <a:lnTo>
                  <a:pt x="559536" y="293446"/>
                </a:lnTo>
                <a:lnTo>
                  <a:pt x="559536" y="198653"/>
                </a:lnTo>
                <a:close/>
              </a:path>
              <a:path w="1800225" h="316865">
                <a:moveTo>
                  <a:pt x="1799958" y="0"/>
                </a:moveTo>
                <a:lnTo>
                  <a:pt x="23393" y="0"/>
                </a:lnTo>
                <a:lnTo>
                  <a:pt x="19951" y="698"/>
                </a:lnTo>
                <a:lnTo>
                  <a:pt x="0" y="23368"/>
                </a:lnTo>
                <a:lnTo>
                  <a:pt x="0" y="118173"/>
                </a:lnTo>
                <a:lnTo>
                  <a:pt x="23393" y="141566"/>
                </a:lnTo>
                <a:lnTo>
                  <a:pt x="1799958" y="141566"/>
                </a:lnTo>
                <a:lnTo>
                  <a:pt x="1799958" y="0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754257" y="9220788"/>
            <a:ext cx="2009139" cy="141605"/>
          </a:xfrm>
          <a:custGeom>
            <a:avLst/>
            <a:gdLst/>
            <a:ahLst/>
            <a:cxnLst/>
            <a:rect l="l" t="t" r="r" b="b"/>
            <a:pathLst>
              <a:path w="2009139" h="141604">
                <a:moveTo>
                  <a:pt x="1985557" y="141543"/>
                </a:moveTo>
                <a:lnTo>
                  <a:pt x="23389" y="141543"/>
                </a:lnTo>
                <a:lnTo>
                  <a:pt x="19950" y="140862"/>
                </a:lnTo>
                <a:lnTo>
                  <a:pt x="0" y="118157"/>
                </a:lnTo>
                <a:lnTo>
                  <a:pt x="0" y="114604"/>
                </a:lnTo>
                <a:lnTo>
                  <a:pt x="0" y="23359"/>
                </a:lnTo>
                <a:lnTo>
                  <a:pt x="23389" y="0"/>
                </a:lnTo>
                <a:lnTo>
                  <a:pt x="1985557" y="0"/>
                </a:lnTo>
                <a:lnTo>
                  <a:pt x="2008947" y="23359"/>
                </a:lnTo>
                <a:lnTo>
                  <a:pt x="2008947" y="118157"/>
                </a:lnTo>
                <a:lnTo>
                  <a:pt x="1988997" y="140862"/>
                </a:lnTo>
                <a:lnTo>
                  <a:pt x="1985557" y="141543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4158681" y="9220788"/>
            <a:ext cx="937260" cy="141605"/>
          </a:xfrm>
          <a:custGeom>
            <a:avLst/>
            <a:gdLst/>
            <a:ahLst/>
            <a:cxnLst/>
            <a:rect l="l" t="t" r="r" b="b"/>
            <a:pathLst>
              <a:path w="937260" h="141604">
                <a:moveTo>
                  <a:pt x="913669" y="141543"/>
                </a:moveTo>
                <a:lnTo>
                  <a:pt x="23390" y="141543"/>
                </a:lnTo>
                <a:lnTo>
                  <a:pt x="19949" y="140862"/>
                </a:lnTo>
                <a:lnTo>
                  <a:pt x="0" y="118157"/>
                </a:lnTo>
                <a:lnTo>
                  <a:pt x="0" y="114604"/>
                </a:lnTo>
                <a:lnTo>
                  <a:pt x="0" y="23359"/>
                </a:lnTo>
                <a:lnTo>
                  <a:pt x="23390" y="0"/>
                </a:lnTo>
                <a:lnTo>
                  <a:pt x="913669" y="0"/>
                </a:lnTo>
                <a:lnTo>
                  <a:pt x="937059" y="23359"/>
                </a:lnTo>
                <a:lnTo>
                  <a:pt x="937059" y="118157"/>
                </a:lnTo>
                <a:lnTo>
                  <a:pt x="917109" y="140862"/>
                </a:lnTo>
                <a:lnTo>
                  <a:pt x="913669" y="141543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3019379" y="9396065"/>
            <a:ext cx="526415" cy="141605"/>
          </a:xfrm>
          <a:custGeom>
            <a:avLst/>
            <a:gdLst/>
            <a:ahLst/>
            <a:cxnLst/>
            <a:rect l="l" t="t" r="r" b="b"/>
            <a:pathLst>
              <a:path w="526414" h="141604">
                <a:moveTo>
                  <a:pt x="502442" y="141543"/>
                </a:moveTo>
                <a:lnTo>
                  <a:pt x="23389" y="141543"/>
                </a:lnTo>
                <a:lnTo>
                  <a:pt x="19950" y="140862"/>
                </a:lnTo>
                <a:lnTo>
                  <a:pt x="0" y="118157"/>
                </a:lnTo>
                <a:lnTo>
                  <a:pt x="0" y="114604"/>
                </a:lnTo>
                <a:lnTo>
                  <a:pt x="0" y="23359"/>
                </a:lnTo>
                <a:lnTo>
                  <a:pt x="23389" y="0"/>
                </a:lnTo>
                <a:lnTo>
                  <a:pt x="502442" y="0"/>
                </a:lnTo>
                <a:lnTo>
                  <a:pt x="525831" y="23359"/>
                </a:lnTo>
                <a:lnTo>
                  <a:pt x="525831" y="118157"/>
                </a:lnTo>
                <a:lnTo>
                  <a:pt x="505881" y="140862"/>
                </a:lnTo>
                <a:lnTo>
                  <a:pt x="502442" y="141543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754253" y="9685921"/>
            <a:ext cx="1921510" cy="316865"/>
          </a:xfrm>
          <a:custGeom>
            <a:avLst/>
            <a:gdLst/>
            <a:ahLst/>
            <a:cxnLst/>
            <a:rect l="l" t="t" r="r" b="b"/>
            <a:pathLst>
              <a:path w="1921510" h="316865">
                <a:moveTo>
                  <a:pt x="680885" y="198653"/>
                </a:moveTo>
                <a:lnTo>
                  <a:pt x="657491" y="175285"/>
                </a:lnTo>
                <a:lnTo>
                  <a:pt x="0" y="175285"/>
                </a:lnTo>
                <a:lnTo>
                  <a:pt x="0" y="316852"/>
                </a:lnTo>
                <a:lnTo>
                  <a:pt x="657491" y="316852"/>
                </a:lnTo>
                <a:lnTo>
                  <a:pt x="680885" y="293420"/>
                </a:lnTo>
                <a:lnTo>
                  <a:pt x="680885" y="198653"/>
                </a:lnTo>
                <a:close/>
              </a:path>
              <a:path w="1921510" h="316865">
                <a:moveTo>
                  <a:pt x="1921306" y="0"/>
                </a:moveTo>
                <a:lnTo>
                  <a:pt x="23393" y="0"/>
                </a:lnTo>
                <a:lnTo>
                  <a:pt x="19951" y="711"/>
                </a:lnTo>
                <a:lnTo>
                  <a:pt x="13335" y="3390"/>
                </a:lnTo>
                <a:lnTo>
                  <a:pt x="10426" y="5334"/>
                </a:lnTo>
                <a:lnTo>
                  <a:pt x="7899" y="7899"/>
                </a:lnTo>
                <a:lnTo>
                  <a:pt x="5372" y="10388"/>
                </a:lnTo>
                <a:lnTo>
                  <a:pt x="3416" y="13322"/>
                </a:lnTo>
                <a:lnTo>
                  <a:pt x="685" y="19951"/>
                </a:lnTo>
                <a:lnTo>
                  <a:pt x="0" y="23406"/>
                </a:lnTo>
                <a:lnTo>
                  <a:pt x="0" y="118173"/>
                </a:lnTo>
                <a:lnTo>
                  <a:pt x="23393" y="141566"/>
                </a:lnTo>
                <a:lnTo>
                  <a:pt x="1921306" y="141566"/>
                </a:lnTo>
                <a:lnTo>
                  <a:pt x="1921306" y="0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25" name="object 2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972127" y="9685947"/>
            <a:ext cx="114604" cy="141543"/>
          </a:xfrm>
          <a:prstGeom prst="rect">
            <a:avLst/>
          </a:prstGeom>
        </p:spPr>
      </p:pic>
      <p:sp>
        <p:nvSpPr>
          <p:cNvPr id="26" name="object 26"/>
          <p:cNvSpPr/>
          <p:nvPr/>
        </p:nvSpPr>
        <p:spPr>
          <a:xfrm>
            <a:off x="3019379" y="9861224"/>
            <a:ext cx="1173480" cy="141605"/>
          </a:xfrm>
          <a:custGeom>
            <a:avLst/>
            <a:gdLst/>
            <a:ahLst/>
            <a:cxnLst/>
            <a:rect l="l" t="t" r="r" b="b"/>
            <a:pathLst>
              <a:path w="1173479" h="141604">
                <a:moveTo>
                  <a:pt x="1149619" y="141543"/>
                </a:moveTo>
                <a:lnTo>
                  <a:pt x="23389" y="141543"/>
                </a:lnTo>
                <a:lnTo>
                  <a:pt x="19950" y="140835"/>
                </a:lnTo>
                <a:lnTo>
                  <a:pt x="0" y="118130"/>
                </a:lnTo>
                <a:lnTo>
                  <a:pt x="0" y="114604"/>
                </a:lnTo>
                <a:lnTo>
                  <a:pt x="0" y="23359"/>
                </a:lnTo>
                <a:lnTo>
                  <a:pt x="23389" y="0"/>
                </a:lnTo>
                <a:lnTo>
                  <a:pt x="1149619" y="0"/>
                </a:lnTo>
                <a:lnTo>
                  <a:pt x="1173009" y="23359"/>
                </a:lnTo>
                <a:lnTo>
                  <a:pt x="1173009" y="118130"/>
                </a:lnTo>
                <a:lnTo>
                  <a:pt x="1153059" y="140835"/>
                </a:lnTo>
                <a:lnTo>
                  <a:pt x="1149619" y="141543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graphicFrame>
        <p:nvGraphicFramePr>
          <p:cNvPr id="27" name="object 27"/>
          <p:cNvGraphicFramePr>
            <a:graphicFrameLocks noGrp="1"/>
          </p:cNvGraphicFramePr>
          <p:nvPr/>
        </p:nvGraphicFramePr>
        <p:xfrm>
          <a:off x="680102" y="8391591"/>
          <a:ext cx="6278880" cy="16770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265045"/>
                <a:gridCol w="3930014"/>
              </a:tblGrid>
              <a:tr h="282575">
                <a:tc>
                  <a:txBody>
                    <a:bodyPr/>
                    <a:lstStyle/>
                    <a:p>
                      <a:pPr marL="70485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950" spc="-20" b="1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Line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64769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950" spc="-10" b="1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Explanation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64769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  <a:solidFill>
                      <a:srgbClr val="F7FAFB"/>
                    </a:solidFill>
                  </a:tcPr>
                </a:tc>
              </a:tr>
              <a:tr h="464820">
                <a:tc>
                  <a:txBody>
                    <a:bodyPr/>
                    <a:lstStyle/>
                    <a:p>
                      <a:pPr marL="70485" marR="384175" indent="26670">
                        <a:lnSpc>
                          <a:spcPct val="153300"/>
                        </a:lnSpc>
                        <a:spcBef>
                          <a:spcPts val="229"/>
                        </a:spcBef>
                      </a:pP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query</a:t>
                      </a:r>
                      <a:r>
                        <a:rPr dirty="0" sz="750" spc="45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=</a:t>
                      </a:r>
                      <a:r>
                        <a:rPr dirty="0" sz="750" spc="45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"How</a:t>
                      </a:r>
                      <a:r>
                        <a:rPr dirty="0" sz="750" spc="45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is</a:t>
                      </a:r>
                      <a:r>
                        <a:rPr dirty="0" sz="750" spc="45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 spc="-1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authentication handled?"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29209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 marR="252095">
                        <a:lnSpc>
                          <a:spcPct val="116399"/>
                        </a:lnSpc>
                        <a:spcBef>
                          <a:spcPts val="320"/>
                        </a:spcBef>
                      </a:pPr>
                      <a:r>
                        <a:rPr dirty="0" sz="950" spc="-9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A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9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hardcoded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example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question,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testing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the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retrieval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step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in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isolation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4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before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generation.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40640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</a:tr>
              <a:tr h="464820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results</a:t>
                      </a:r>
                      <a:r>
                        <a:rPr dirty="0" sz="750" spc="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=</a:t>
                      </a:r>
                      <a:r>
                        <a:rPr dirty="0" sz="750" spc="55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 spc="-1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retriever.invoke(query)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90170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950" spc="-9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Embeds</a:t>
                      </a:r>
                      <a:r>
                        <a:rPr dirty="0" sz="950" spc="-2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the</a:t>
                      </a:r>
                      <a:r>
                        <a:rPr dirty="0" sz="950" spc="-2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query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4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with</a:t>
                      </a:r>
                      <a:r>
                        <a:rPr dirty="0" sz="950" spc="2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embedding_model</a:t>
                      </a:r>
                      <a:r>
                        <a:rPr dirty="0" sz="750" spc="-25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and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returns</a:t>
                      </a:r>
                      <a:r>
                        <a:rPr dirty="0" sz="950" spc="-2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the</a:t>
                      </a:r>
                      <a:r>
                        <a:rPr dirty="0" sz="950" spc="-2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850" spc="-30">
                          <a:solidFill>
                            <a:srgbClr val="111726"/>
                          </a:solidFill>
                          <a:latin typeface="Arial"/>
                          <a:cs typeface="Arial"/>
                        </a:rPr>
                        <a:t>3</a:t>
                      </a:r>
                      <a:r>
                        <a:rPr dirty="0" sz="850" spc="-35">
                          <a:solidFill>
                            <a:srgbClr val="111726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nearest</a:t>
                      </a:r>
                      <a:r>
                        <a:rPr dirty="0" sz="950" spc="-2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chunk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  <a:p>
                      <a:pPr marL="9525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Document</a:t>
                      </a:r>
                      <a:r>
                        <a:rPr dirty="0" sz="750" spc="1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objects</a:t>
                      </a:r>
                      <a:r>
                        <a:rPr dirty="0" sz="95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from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Chroma.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64769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</a:tr>
              <a:tr h="464820">
                <a:tc>
                  <a:txBody>
                    <a:bodyPr/>
                    <a:lstStyle/>
                    <a:p>
                      <a:pPr marL="70485" marR="266065" indent="26670">
                        <a:lnSpc>
                          <a:spcPct val="153300"/>
                        </a:lnSpc>
                        <a:spcBef>
                          <a:spcPts val="229"/>
                        </a:spcBef>
                      </a:pP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print(f"Retrieved</a:t>
                      </a:r>
                      <a:r>
                        <a:rPr dirty="0" sz="750" spc="16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 spc="-1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{len(results)} chunks.\n")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29209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Reports</a:t>
                      </a:r>
                      <a:r>
                        <a:rPr dirty="0" sz="950" spc="-3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9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how</a:t>
                      </a:r>
                      <a:r>
                        <a:rPr dirty="0" sz="950" spc="-2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9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many</a:t>
                      </a:r>
                      <a:r>
                        <a:rPr dirty="0" sz="950" spc="-3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chunks</a:t>
                      </a:r>
                      <a:r>
                        <a:rPr dirty="0" sz="950" spc="-2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9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came</a:t>
                      </a:r>
                      <a:r>
                        <a:rPr dirty="0" sz="950" spc="-3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9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back</a:t>
                      </a:r>
                      <a:r>
                        <a:rPr dirty="0" sz="950" spc="-2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(should</a:t>
                      </a:r>
                      <a:r>
                        <a:rPr dirty="0" sz="950" spc="-3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9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be</a:t>
                      </a:r>
                      <a:r>
                        <a:rPr dirty="0" sz="950" spc="-2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850" spc="-45">
                          <a:solidFill>
                            <a:srgbClr val="111726"/>
                          </a:solidFill>
                          <a:latin typeface="Arial"/>
                          <a:cs typeface="Arial"/>
                        </a:rPr>
                        <a:t>3</a:t>
                      </a:r>
                      <a:r>
                        <a:rPr dirty="0" sz="950" spc="-4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,</a:t>
                      </a:r>
                      <a:r>
                        <a:rPr dirty="0" sz="950" spc="-2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matching</a:t>
                      </a:r>
                      <a:r>
                        <a:rPr dirty="0" sz="950" spc="19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k</a:t>
                      </a:r>
                      <a:r>
                        <a:rPr dirty="0" sz="750" spc="-229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950" spc="-5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).</a:t>
                      </a:r>
                      <a:r>
                        <a:rPr dirty="0" sz="950" spc="-2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10" b="1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Output: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  <a:p>
                      <a:pPr marL="9525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Retrieved</a:t>
                      </a:r>
                      <a:r>
                        <a:rPr dirty="0" sz="750" spc="7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3</a:t>
                      </a:r>
                      <a:r>
                        <a:rPr dirty="0" sz="750" spc="75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chunks.</a:t>
                      </a:r>
                      <a:r>
                        <a:rPr dirty="0" sz="750" spc="-15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followed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by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9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a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blank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2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line.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64769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54253" y="652411"/>
            <a:ext cx="1921510" cy="316865"/>
          </a:xfrm>
          <a:custGeom>
            <a:avLst/>
            <a:gdLst/>
            <a:ahLst/>
            <a:cxnLst/>
            <a:rect l="l" t="t" r="r" b="b"/>
            <a:pathLst>
              <a:path w="1921510" h="316865">
                <a:moveTo>
                  <a:pt x="559536" y="198666"/>
                </a:moveTo>
                <a:lnTo>
                  <a:pt x="536143" y="175285"/>
                </a:lnTo>
                <a:lnTo>
                  <a:pt x="0" y="175285"/>
                </a:lnTo>
                <a:lnTo>
                  <a:pt x="0" y="316852"/>
                </a:lnTo>
                <a:lnTo>
                  <a:pt x="536143" y="316852"/>
                </a:lnTo>
                <a:lnTo>
                  <a:pt x="559536" y="293458"/>
                </a:lnTo>
                <a:lnTo>
                  <a:pt x="559536" y="198666"/>
                </a:lnTo>
                <a:close/>
              </a:path>
              <a:path w="1921510" h="316865">
                <a:moveTo>
                  <a:pt x="1921306" y="0"/>
                </a:moveTo>
                <a:lnTo>
                  <a:pt x="23393" y="0"/>
                </a:lnTo>
                <a:lnTo>
                  <a:pt x="19951" y="711"/>
                </a:lnTo>
                <a:lnTo>
                  <a:pt x="13335" y="3416"/>
                </a:lnTo>
                <a:lnTo>
                  <a:pt x="10426" y="5372"/>
                </a:lnTo>
                <a:lnTo>
                  <a:pt x="7899" y="7924"/>
                </a:lnTo>
                <a:lnTo>
                  <a:pt x="5372" y="10426"/>
                </a:lnTo>
                <a:lnTo>
                  <a:pt x="3416" y="13347"/>
                </a:lnTo>
                <a:lnTo>
                  <a:pt x="685" y="19926"/>
                </a:lnTo>
                <a:lnTo>
                  <a:pt x="0" y="23380"/>
                </a:lnTo>
                <a:lnTo>
                  <a:pt x="0" y="118186"/>
                </a:lnTo>
                <a:lnTo>
                  <a:pt x="23393" y="141566"/>
                </a:lnTo>
                <a:lnTo>
                  <a:pt x="1921306" y="141566"/>
                </a:lnTo>
                <a:lnTo>
                  <a:pt x="1921306" y="0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754257" y="1117594"/>
            <a:ext cx="944244" cy="141605"/>
          </a:xfrm>
          <a:custGeom>
            <a:avLst/>
            <a:gdLst/>
            <a:ahLst/>
            <a:cxnLst/>
            <a:rect l="l" t="t" r="r" b="b"/>
            <a:pathLst>
              <a:path w="944244" h="141605">
                <a:moveTo>
                  <a:pt x="920410" y="141543"/>
                </a:moveTo>
                <a:lnTo>
                  <a:pt x="23389" y="141543"/>
                </a:lnTo>
                <a:lnTo>
                  <a:pt x="19950" y="140862"/>
                </a:lnTo>
                <a:lnTo>
                  <a:pt x="0" y="118157"/>
                </a:lnTo>
                <a:lnTo>
                  <a:pt x="0" y="114604"/>
                </a:lnTo>
                <a:lnTo>
                  <a:pt x="0" y="23359"/>
                </a:lnTo>
                <a:lnTo>
                  <a:pt x="23389" y="0"/>
                </a:lnTo>
                <a:lnTo>
                  <a:pt x="920410" y="0"/>
                </a:lnTo>
                <a:lnTo>
                  <a:pt x="943800" y="23359"/>
                </a:lnTo>
                <a:lnTo>
                  <a:pt x="943800" y="118157"/>
                </a:lnTo>
                <a:lnTo>
                  <a:pt x="923850" y="140862"/>
                </a:lnTo>
                <a:lnTo>
                  <a:pt x="920410" y="141543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754257" y="1407476"/>
            <a:ext cx="1179830" cy="141605"/>
          </a:xfrm>
          <a:custGeom>
            <a:avLst/>
            <a:gdLst/>
            <a:ahLst/>
            <a:cxnLst/>
            <a:rect l="l" t="t" r="r" b="b"/>
            <a:pathLst>
              <a:path w="1179830" h="141605">
                <a:moveTo>
                  <a:pt x="1156360" y="141543"/>
                </a:moveTo>
                <a:lnTo>
                  <a:pt x="23389" y="141543"/>
                </a:lnTo>
                <a:lnTo>
                  <a:pt x="19950" y="140862"/>
                </a:lnTo>
                <a:lnTo>
                  <a:pt x="0" y="118157"/>
                </a:lnTo>
                <a:lnTo>
                  <a:pt x="0" y="114604"/>
                </a:lnTo>
                <a:lnTo>
                  <a:pt x="0" y="23359"/>
                </a:lnTo>
                <a:lnTo>
                  <a:pt x="23389" y="0"/>
                </a:lnTo>
                <a:lnTo>
                  <a:pt x="1156360" y="0"/>
                </a:lnTo>
                <a:lnTo>
                  <a:pt x="1179750" y="23359"/>
                </a:lnTo>
                <a:lnTo>
                  <a:pt x="1179750" y="118157"/>
                </a:lnTo>
                <a:lnTo>
                  <a:pt x="1159800" y="140862"/>
                </a:lnTo>
                <a:lnTo>
                  <a:pt x="1156360" y="141543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3963180" y="1407476"/>
            <a:ext cx="465455" cy="141605"/>
          </a:xfrm>
          <a:custGeom>
            <a:avLst/>
            <a:gdLst/>
            <a:ahLst/>
            <a:cxnLst/>
            <a:rect l="l" t="t" r="r" b="b"/>
            <a:pathLst>
              <a:path w="465454" h="141605">
                <a:moveTo>
                  <a:pt x="441769" y="141543"/>
                </a:moveTo>
                <a:lnTo>
                  <a:pt x="23390" y="141543"/>
                </a:lnTo>
                <a:lnTo>
                  <a:pt x="19949" y="140862"/>
                </a:lnTo>
                <a:lnTo>
                  <a:pt x="0" y="118157"/>
                </a:lnTo>
                <a:lnTo>
                  <a:pt x="0" y="114604"/>
                </a:lnTo>
                <a:lnTo>
                  <a:pt x="0" y="23359"/>
                </a:lnTo>
                <a:lnTo>
                  <a:pt x="23390" y="0"/>
                </a:lnTo>
                <a:lnTo>
                  <a:pt x="441769" y="0"/>
                </a:lnTo>
                <a:lnTo>
                  <a:pt x="465158" y="23359"/>
                </a:lnTo>
                <a:lnTo>
                  <a:pt x="465158" y="118157"/>
                </a:lnTo>
                <a:lnTo>
                  <a:pt x="445208" y="140862"/>
                </a:lnTo>
                <a:lnTo>
                  <a:pt x="441769" y="141543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4482270" y="1407476"/>
            <a:ext cx="465455" cy="141605"/>
          </a:xfrm>
          <a:custGeom>
            <a:avLst/>
            <a:gdLst/>
            <a:ahLst/>
            <a:cxnLst/>
            <a:rect l="l" t="t" r="r" b="b"/>
            <a:pathLst>
              <a:path w="465454" h="141605">
                <a:moveTo>
                  <a:pt x="441769" y="141543"/>
                </a:moveTo>
                <a:lnTo>
                  <a:pt x="23390" y="141543"/>
                </a:lnTo>
                <a:lnTo>
                  <a:pt x="19949" y="140862"/>
                </a:lnTo>
                <a:lnTo>
                  <a:pt x="0" y="118157"/>
                </a:lnTo>
                <a:lnTo>
                  <a:pt x="0" y="114604"/>
                </a:lnTo>
                <a:lnTo>
                  <a:pt x="0" y="23359"/>
                </a:lnTo>
                <a:lnTo>
                  <a:pt x="23390" y="0"/>
                </a:lnTo>
                <a:lnTo>
                  <a:pt x="441769" y="0"/>
                </a:lnTo>
                <a:lnTo>
                  <a:pt x="465159" y="23359"/>
                </a:lnTo>
                <a:lnTo>
                  <a:pt x="465159" y="118157"/>
                </a:lnTo>
                <a:lnTo>
                  <a:pt x="445209" y="140862"/>
                </a:lnTo>
                <a:lnTo>
                  <a:pt x="441769" y="141543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5001361" y="1407476"/>
            <a:ext cx="465455" cy="141605"/>
          </a:xfrm>
          <a:custGeom>
            <a:avLst/>
            <a:gdLst/>
            <a:ahLst/>
            <a:cxnLst/>
            <a:rect l="l" t="t" r="r" b="b"/>
            <a:pathLst>
              <a:path w="465454" h="141605">
                <a:moveTo>
                  <a:pt x="441769" y="141543"/>
                </a:moveTo>
                <a:lnTo>
                  <a:pt x="23390" y="141543"/>
                </a:lnTo>
                <a:lnTo>
                  <a:pt x="19950" y="140862"/>
                </a:lnTo>
                <a:lnTo>
                  <a:pt x="0" y="118157"/>
                </a:lnTo>
                <a:lnTo>
                  <a:pt x="0" y="114604"/>
                </a:lnTo>
                <a:lnTo>
                  <a:pt x="0" y="23359"/>
                </a:lnTo>
                <a:lnTo>
                  <a:pt x="23390" y="0"/>
                </a:lnTo>
                <a:lnTo>
                  <a:pt x="441769" y="0"/>
                </a:lnTo>
                <a:lnTo>
                  <a:pt x="465158" y="23359"/>
                </a:lnTo>
                <a:lnTo>
                  <a:pt x="465158" y="118157"/>
                </a:lnTo>
                <a:lnTo>
                  <a:pt x="445209" y="140862"/>
                </a:lnTo>
                <a:lnTo>
                  <a:pt x="441769" y="141543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754257" y="1697358"/>
            <a:ext cx="944244" cy="141605"/>
          </a:xfrm>
          <a:custGeom>
            <a:avLst/>
            <a:gdLst/>
            <a:ahLst/>
            <a:cxnLst/>
            <a:rect l="l" t="t" r="r" b="b"/>
            <a:pathLst>
              <a:path w="944244" h="141605">
                <a:moveTo>
                  <a:pt x="920410" y="141543"/>
                </a:moveTo>
                <a:lnTo>
                  <a:pt x="23389" y="141543"/>
                </a:lnTo>
                <a:lnTo>
                  <a:pt x="19950" y="140862"/>
                </a:lnTo>
                <a:lnTo>
                  <a:pt x="0" y="118157"/>
                </a:lnTo>
                <a:lnTo>
                  <a:pt x="0" y="114604"/>
                </a:lnTo>
                <a:lnTo>
                  <a:pt x="0" y="23359"/>
                </a:lnTo>
                <a:lnTo>
                  <a:pt x="23389" y="0"/>
                </a:lnTo>
                <a:lnTo>
                  <a:pt x="920410" y="0"/>
                </a:lnTo>
                <a:lnTo>
                  <a:pt x="943800" y="23359"/>
                </a:lnTo>
                <a:lnTo>
                  <a:pt x="943800" y="118157"/>
                </a:lnTo>
                <a:lnTo>
                  <a:pt x="923850" y="140862"/>
                </a:lnTo>
                <a:lnTo>
                  <a:pt x="920410" y="141543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754257" y="1987239"/>
            <a:ext cx="1416050" cy="141605"/>
          </a:xfrm>
          <a:custGeom>
            <a:avLst/>
            <a:gdLst/>
            <a:ahLst/>
            <a:cxnLst/>
            <a:rect l="l" t="t" r="r" b="b"/>
            <a:pathLst>
              <a:path w="1416050" h="141605">
                <a:moveTo>
                  <a:pt x="1392311" y="141543"/>
                </a:moveTo>
                <a:lnTo>
                  <a:pt x="23389" y="141543"/>
                </a:lnTo>
                <a:lnTo>
                  <a:pt x="19950" y="140862"/>
                </a:lnTo>
                <a:lnTo>
                  <a:pt x="0" y="118157"/>
                </a:lnTo>
                <a:lnTo>
                  <a:pt x="0" y="114604"/>
                </a:lnTo>
                <a:lnTo>
                  <a:pt x="0" y="23359"/>
                </a:lnTo>
                <a:lnTo>
                  <a:pt x="23389" y="0"/>
                </a:lnTo>
                <a:lnTo>
                  <a:pt x="1392311" y="0"/>
                </a:lnTo>
                <a:lnTo>
                  <a:pt x="1415700" y="23359"/>
                </a:lnTo>
                <a:lnTo>
                  <a:pt x="1415700" y="118157"/>
                </a:lnTo>
                <a:lnTo>
                  <a:pt x="1395750" y="140862"/>
                </a:lnTo>
                <a:lnTo>
                  <a:pt x="1392311" y="141543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754257" y="2277121"/>
            <a:ext cx="465455" cy="141605"/>
          </a:xfrm>
          <a:custGeom>
            <a:avLst/>
            <a:gdLst/>
            <a:ahLst/>
            <a:cxnLst/>
            <a:rect l="l" t="t" r="r" b="b"/>
            <a:pathLst>
              <a:path w="465455" h="141605">
                <a:moveTo>
                  <a:pt x="441769" y="141543"/>
                </a:moveTo>
                <a:lnTo>
                  <a:pt x="23389" y="141543"/>
                </a:lnTo>
                <a:lnTo>
                  <a:pt x="19950" y="140862"/>
                </a:lnTo>
                <a:lnTo>
                  <a:pt x="0" y="118157"/>
                </a:lnTo>
                <a:lnTo>
                  <a:pt x="0" y="114604"/>
                </a:lnTo>
                <a:lnTo>
                  <a:pt x="0" y="23359"/>
                </a:lnTo>
                <a:lnTo>
                  <a:pt x="23389" y="0"/>
                </a:lnTo>
                <a:lnTo>
                  <a:pt x="441769" y="0"/>
                </a:lnTo>
                <a:lnTo>
                  <a:pt x="465158" y="23359"/>
                </a:lnTo>
                <a:lnTo>
                  <a:pt x="465158" y="118157"/>
                </a:lnTo>
                <a:lnTo>
                  <a:pt x="445208" y="140862"/>
                </a:lnTo>
                <a:lnTo>
                  <a:pt x="441769" y="141543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graphicFrame>
        <p:nvGraphicFramePr>
          <p:cNvPr id="11" name="object 11"/>
          <p:cNvGraphicFramePr>
            <a:graphicFrameLocks noGrp="1"/>
          </p:cNvGraphicFramePr>
          <p:nvPr/>
        </p:nvGraphicFramePr>
        <p:xfrm>
          <a:off x="680102" y="571538"/>
          <a:ext cx="6278880" cy="19126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265045"/>
                <a:gridCol w="3930014"/>
              </a:tblGrid>
              <a:tr h="464820">
                <a:tc>
                  <a:txBody>
                    <a:bodyPr/>
                    <a:lstStyle/>
                    <a:p>
                      <a:pPr marL="70485" marR="266065" indent="26670">
                        <a:lnSpc>
                          <a:spcPct val="153300"/>
                        </a:lnSpc>
                        <a:spcBef>
                          <a:spcPts val="229"/>
                        </a:spcBef>
                      </a:pP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for</a:t>
                      </a:r>
                      <a:r>
                        <a:rPr dirty="0" sz="750" spc="4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i,</a:t>
                      </a:r>
                      <a:r>
                        <a:rPr dirty="0" sz="750" spc="4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doc</a:t>
                      </a:r>
                      <a:r>
                        <a:rPr dirty="0" sz="750" spc="4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in</a:t>
                      </a:r>
                      <a:r>
                        <a:rPr dirty="0" sz="750" spc="45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 spc="-1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enumerate(results, start=1):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29209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 marR="121920">
                        <a:lnSpc>
                          <a:spcPct val="116399"/>
                        </a:lnSpc>
                        <a:spcBef>
                          <a:spcPts val="320"/>
                        </a:spcBef>
                      </a:pP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Iterates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over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the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results,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numbering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them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starting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at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850" spc="-30">
                          <a:solidFill>
                            <a:srgbClr val="111726"/>
                          </a:solidFill>
                          <a:latin typeface="Arial"/>
                          <a:cs typeface="Arial"/>
                        </a:rPr>
                        <a:t>1</a:t>
                      </a:r>
                      <a:r>
                        <a:rPr dirty="0" sz="850" spc="-25">
                          <a:solidFill>
                            <a:srgbClr val="111726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(rather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than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the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5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default</a:t>
                      </a:r>
                      <a:r>
                        <a:rPr dirty="0" sz="950" spc="50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850" spc="-50">
                          <a:solidFill>
                            <a:srgbClr val="111726"/>
                          </a:solidFill>
                          <a:latin typeface="Arial"/>
                          <a:cs typeface="Arial"/>
                        </a:rPr>
                        <a:t>0</a:t>
                      </a:r>
                      <a:r>
                        <a:rPr dirty="0" sz="950" spc="-5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)</a:t>
                      </a:r>
                      <a:r>
                        <a:rPr dirty="0" sz="950" spc="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for</a:t>
                      </a:r>
                      <a:r>
                        <a:rPr dirty="0" sz="950" spc="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9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human-</a:t>
                      </a:r>
                      <a:r>
                        <a:rPr dirty="0" sz="950" spc="-7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friendly</a:t>
                      </a:r>
                      <a:r>
                        <a:rPr dirty="0" sz="950" spc="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display.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40640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print("="</a:t>
                      </a:r>
                      <a:r>
                        <a:rPr dirty="0" sz="750" spc="6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*</a:t>
                      </a:r>
                      <a:r>
                        <a:rPr dirty="0" sz="750" spc="65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 spc="-25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70)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90170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950" spc="-7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Prints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9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a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850" spc="-40">
                          <a:solidFill>
                            <a:srgbClr val="111726"/>
                          </a:solidFill>
                          <a:latin typeface="Arial"/>
                          <a:cs typeface="Arial"/>
                        </a:rPr>
                        <a:t>70</a:t>
                      </a:r>
                      <a:r>
                        <a:rPr dirty="0" sz="950" spc="-4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-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character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divider.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64769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print(f"Chunk</a:t>
                      </a:r>
                      <a:r>
                        <a:rPr dirty="0" sz="750" spc="13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 spc="-1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{i}")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90170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950" spc="-7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Prints</a:t>
                      </a:r>
                      <a:r>
                        <a:rPr dirty="0" sz="950" spc="-3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9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a</a:t>
                      </a:r>
                      <a:r>
                        <a:rPr dirty="0" sz="950" spc="-3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header</a:t>
                      </a:r>
                      <a:r>
                        <a:rPr dirty="0" sz="950" spc="-3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like</a:t>
                      </a:r>
                      <a:r>
                        <a:rPr dirty="0" sz="950" spc="1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Chunk</a:t>
                      </a:r>
                      <a:r>
                        <a:rPr dirty="0" sz="750" spc="25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1</a:t>
                      </a:r>
                      <a:r>
                        <a:rPr dirty="0" sz="750" spc="-235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95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,</a:t>
                      </a:r>
                      <a:r>
                        <a:rPr dirty="0" sz="950" spc="1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Chunk</a:t>
                      </a:r>
                      <a:r>
                        <a:rPr dirty="0" sz="750" spc="2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2</a:t>
                      </a:r>
                      <a:r>
                        <a:rPr dirty="0" sz="750" spc="-235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95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,</a:t>
                      </a:r>
                      <a:r>
                        <a:rPr dirty="0" sz="950" spc="1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Chunk</a:t>
                      </a:r>
                      <a:r>
                        <a:rPr dirty="0" sz="750" spc="25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3</a:t>
                      </a:r>
                      <a:r>
                        <a:rPr dirty="0" sz="750" spc="-24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950" spc="-5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.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64769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print("="</a:t>
                      </a:r>
                      <a:r>
                        <a:rPr dirty="0" sz="750" spc="6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*</a:t>
                      </a:r>
                      <a:r>
                        <a:rPr dirty="0" sz="750" spc="65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 spc="-25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70)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90170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Another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divider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below</a:t>
                      </a:r>
                      <a:r>
                        <a:rPr dirty="0" sz="95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the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header.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64769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dirty="0" sz="750" spc="-1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print(doc.page_content)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90170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950" spc="-7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Prints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the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5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full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text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of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that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retrieved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chunk.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64769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dirty="0" sz="750" spc="-1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print()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90170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950" spc="-7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Prints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9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a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blank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6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line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to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separate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6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this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chunk's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block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from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the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2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next.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64769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2" name="object 12"/>
          <p:cNvSpPr txBox="1"/>
          <p:nvPr/>
        </p:nvSpPr>
        <p:spPr>
          <a:xfrm>
            <a:off x="667402" y="2598825"/>
            <a:ext cx="1289685" cy="18288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000" spc="-85" b="1">
                <a:solidFill>
                  <a:srgbClr val="111726"/>
                </a:solidFill>
                <a:latin typeface="Source Han Sans JP"/>
                <a:cs typeface="Source Han Sans JP"/>
              </a:rPr>
              <a:t>Actual</a:t>
            </a:r>
            <a:r>
              <a:rPr dirty="0" sz="1000" spc="-20" b="1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100" b="1">
                <a:solidFill>
                  <a:srgbClr val="111726"/>
                </a:solidFill>
                <a:latin typeface="Source Han Sans JP"/>
                <a:cs typeface="Source Han Sans JP"/>
              </a:rPr>
              <a:t>captured</a:t>
            </a:r>
            <a:r>
              <a:rPr dirty="0" sz="1000" spc="-20" b="1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70" b="1">
                <a:solidFill>
                  <a:srgbClr val="111726"/>
                </a:solidFill>
                <a:latin typeface="Source Han Sans JP"/>
                <a:cs typeface="Source Han Sans JP"/>
              </a:rPr>
              <a:t>output:</a:t>
            </a:r>
            <a:endParaRPr sz="1000">
              <a:latin typeface="Source Han Sans JP"/>
              <a:cs typeface="Source Han Sans JP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80102" y="571487"/>
            <a:ext cx="6202680" cy="9540240"/>
          </a:xfrm>
          <a:custGeom>
            <a:avLst/>
            <a:gdLst/>
            <a:ahLst/>
            <a:cxnLst/>
            <a:rect l="l" t="t" r="r" b="b"/>
            <a:pathLst>
              <a:path w="6202680" h="9540240">
                <a:moveTo>
                  <a:pt x="6202118" y="9539882"/>
                </a:moveTo>
                <a:lnTo>
                  <a:pt x="0" y="9539882"/>
                </a:lnTo>
                <a:lnTo>
                  <a:pt x="0" y="50406"/>
                </a:lnTo>
                <a:lnTo>
                  <a:pt x="18300" y="13301"/>
                </a:lnTo>
                <a:lnTo>
                  <a:pt x="50390" y="0"/>
                </a:lnTo>
                <a:lnTo>
                  <a:pt x="6151728" y="0"/>
                </a:lnTo>
                <a:lnTo>
                  <a:pt x="6188826" y="18303"/>
                </a:lnTo>
                <a:lnTo>
                  <a:pt x="6202118" y="9539882"/>
                </a:lnTo>
                <a:close/>
              </a:path>
            </a:pathLst>
          </a:custGeom>
          <a:solidFill>
            <a:srgbClr val="0E172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761782" y="672068"/>
            <a:ext cx="6005195" cy="513080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Retrieved</a:t>
            </a:r>
            <a:r>
              <a:rPr dirty="0" sz="800" spc="2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3</a:t>
            </a:r>
            <a:r>
              <a:rPr dirty="0" sz="800" spc="3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 spc="-10">
                <a:solidFill>
                  <a:srgbClr val="E4E7EB"/>
                </a:solidFill>
                <a:latin typeface="Courier New"/>
                <a:cs typeface="Courier New"/>
              </a:rPr>
              <a:t>chunks.</a:t>
            </a:r>
            <a:endParaRPr sz="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endParaRPr sz="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dirty="0" sz="800" spc="-10">
                <a:solidFill>
                  <a:srgbClr val="E4E7EB"/>
                </a:solidFill>
                <a:latin typeface="Courier New"/>
                <a:cs typeface="Courier New"/>
              </a:rPr>
              <a:t>======================================================================</a:t>
            </a:r>
            <a:endParaRPr sz="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420"/>
              </a:spcBef>
            </a:pP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Chunk</a:t>
            </a:r>
            <a:r>
              <a:rPr dirty="0" sz="800" spc="2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 spc="-50">
                <a:solidFill>
                  <a:srgbClr val="E4E7EB"/>
                </a:solidFill>
                <a:latin typeface="Courier New"/>
                <a:cs typeface="Courier New"/>
              </a:rPr>
              <a:t>1</a:t>
            </a:r>
            <a:endParaRPr sz="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475"/>
              </a:spcBef>
            </a:pPr>
            <a:r>
              <a:rPr dirty="0" sz="800" spc="-10">
                <a:solidFill>
                  <a:srgbClr val="E4E7EB"/>
                </a:solidFill>
                <a:latin typeface="Courier New"/>
                <a:cs typeface="Courier New"/>
              </a:rPr>
              <a:t>======================================================================</a:t>
            </a:r>
            <a:endParaRPr sz="800">
              <a:latin typeface="Courier New"/>
              <a:cs typeface="Courier New"/>
            </a:endParaRPr>
          </a:p>
          <a:p>
            <a:pPr marL="12700" marR="3703320">
              <a:lnSpc>
                <a:spcPct val="143800"/>
              </a:lnSpc>
            </a:pP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Module</a:t>
            </a:r>
            <a:r>
              <a:rPr dirty="0" sz="800" spc="15">
                <a:solidFill>
                  <a:srgbClr val="E4E7EB"/>
                </a:solidFill>
                <a:latin typeface="Courier New"/>
                <a:cs typeface="Courier New"/>
              </a:rPr>
              <a:t> 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1</a:t>
            </a:r>
            <a:r>
              <a:rPr dirty="0" sz="800" spc="20">
                <a:solidFill>
                  <a:srgbClr val="E4E7EB"/>
                </a:solidFill>
                <a:latin typeface="Courier New"/>
                <a:cs typeface="Courier New"/>
              </a:rPr>
              <a:t> 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–</a:t>
            </a:r>
            <a:r>
              <a:rPr dirty="0" sz="800" spc="15">
                <a:solidFill>
                  <a:srgbClr val="E4E7EB"/>
                </a:solidFill>
                <a:latin typeface="Courier New"/>
                <a:cs typeface="Courier New"/>
              </a:rPr>
              <a:t> 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Authentication</a:t>
            </a:r>
            <a:r>
              <a:rPr dirty="0" sz="800" spc="20">
                <a:solidFill>
                  <a:srgbClr val="E4E7EB"/>
                </a:solidFill>
                <a:latin typeface="Courier New"/>
                <a:cs typeface="Courier New"/>
              </a:rPr>
              <a:t> 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&amp;</a:t>
            </a:r>
            <a:r>
              <a:rPr dirty="0" sz="800" spc="15">
                <a:solidFill>
                  <a:srgbClr val="E4E7EB"/>
                </a:solidFill>
                <a:latin typeface="Courier New"/>
                <a:cs typeface="Courier New"/>
              </a:rPr>
              <a:t>  </a:t>
            </a:r>
            <a:r>
              <a:rPr dirty="0" sz="800" spc="-20">
                <a:solidFill>
                  <a:srgbClr val="E4E7EB"/>
                </a:solidFill>
                <a:latin typeface="Courier New"/>
                <a:cs typeface="Courier New"/>
              </a:rPr>
              <a:t>User </a:t>
            </a:r>
            <a:r>
              <a:rPr dirty="0" sz="800" spc="-10">
                <a:solidFill>
                  <a:srgbClr val="E4E7EB"/>
                </a:solidFill>
                <a:latin typeface="Courier New"/>
                <a:cs typeface="Courier New"/>
              </a:rPr>
              <a:t>Management-</a:t>
            </a:r>
            <a:endParaRPr sz="800">
              <a:latin typeface="Courier New"/>
              <a:cs typeface="Courier New"/>
            </a:endParaRPr>
          </a:p>
          <a:p>
            <a:pPr marL="12700" marR="5737225">
              <a:lnSpc>
                <a:spcPct val="293100"/>
              </a:lnSpc>
            </a:pPr>
            <a:r>
              <a:rPr dirty="0" sz="800" spc="-20">
                <a:solidFill>
                  <a:srgbClr val="E4E7EB"/>
                </a:solidFill>
                <a:latin typeface="Courier New"/>
                <a:cs typeface="Courier New"/>
              </a:rPr>
              <a:t>Said </a:t>
            </a:r>
            <a:r>
              <a:rPr dirty="0" sz="800" spc="-25">
                <a:solidFill>
                  <a:srgbClr val="E4E7EB"/>
                </a:solidFill>
                <a:latin typeface="Courier New"/>
                <a:cs typeface="Courier New"/>
              </a:rPr>
              <a:t>Ali</a:t>
            </a:r>
            <a:endParaRPr sz="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endParaRPr sz="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This</a:t>
            </a:r>
            <a:r>
              <a:rPr dirty="0" sz="800" spc="15">
                <a:solidFill>
                  <a:srgbClr val="E4E7EB"/>
                </a:solidFill>
                <a:latin typeface="Courier New"/>
                <a:cs typeface="Courier New"/>
              </a:rPr>
              <a:t> 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module</a:t>
            </a:r>
            <a:r>
              <a:rPr dirty="0" sz="800" spc="20">
                <a:solidFill>
                  <a:srgbClr val="E4E7EB"/>
                </a:solidFill>
                <a:latin typeface="Courier New"/>
                <a:cs typeface="Courier New"/>
              </a:rPr>
              <a:t> 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is</a:t>
            </a:r>
            <a:r>
              <a:rPr dirty="0" sz="800" spc="15">
                <a:solidFill>
                  <a:srgbClr val="E4E7EB"/>
                </a:solidFill>
                <a:latin typeface="Courier New"/>
                <a:cs typeface="Courier New"/>
              </a:rPr>
              <a:t> 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the</a:t>
            </a:r>
            <a:r>
              <a:rPr dirty="0" sz="800" spc="20">
                <a:solidFill>
                  <a:srgbClr val="E4E7EB"/>
                </a:solidFill>
                <a:latin typeface="Courier New"/>
                <a:cs typeface="Courier New"/>
              </a:rPr>
              <a:t> 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foundation</a:t>
            </a:r>
            <a:r>
              <a:rPr dirty="0" sz="800" spc="15">
                <a:solidFill>
                  <a:srgbClr val="E4E7EB"/>
                </a:solidFill>
                <a:latin typeface="Courier New"/>
                <a:cs typeface="Courier New"/>
              </a:rPr>
              <a:t> 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of</a:t>
            </a:r>
            <a:r>
              <a:rPr dirty="0" sz="800" spc="20">
                <a:solidFill>
                  <a:srgbClr val="E4E7EB"/>
                </a:solidFill>
                <a:latin typeface="Courier New"/>
                <a:cs typeface="Courier New"/>
              </a:rPr>
              <a:t> 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the</a:t>
            </a:r>
            <a:r>
              <a:rPr dirty="0" sz="800" spc="15">
                <a:solidFill>
                  <a:srgbClr val="E4E7EB"/>
                </a:solidFill>
                <a:latin typeface="Courier New"/>
                <a:cs typeface="Courier New"/>
              </a:rPr>
              <a:t> 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entire</a:t>
            </a:r>
            <a:r>
              <a:rPr dirty="0" sz="800" spc="20">
                <a:solidFill>
                  <a:srgbClr val="E4E7EB"/>
                </a:solidFill>
                <a:latin typeface="Courier New"/>
                <a:cs typeface="Courier New"/>
              </a:rPr>
              <a:t>  </a:t>
            </a:r>
            <a:r>
              <a:rPr dirty="0" sz="800" spc="-10">
                <a:solidFill>
                  <a:srgbClr val="E4E7EB"/>
                </a:solidFill>
                <a:latin typeface="Courier New"/>
                <a:cs typeface="Courier New"/>
              </a:rPr>
              <a:t>system.</a:t>
            </a:r>
            <a:endParaRPr sz="800">
              <a:latin typeface="Courier New"/>
              <a:cs typeface="Courier New"/>
            </a:endParaRPr>
          </a:p>
          <a:p>
            <a:pPr marL="12700" marR="1360805">
              <a:lnSpc>
                <a:spcPct val="143800"/>
              </a:lnSpc>
            </a:pP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Every</a:t>
            </a:r>
            <a:r>
              <a:rPr dirty="0" sz="800" spc="15">
                <a:solidFill>
                  <a:srgbClr val="E4E7EB"/>
                </a:solidFill>
                <a:latin typeface="Courier New"/>
                <a:cs typeface="Courier New"/>
              </a:rPr>
              <a:t> 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user</a:t>
            </a:r>
            <a:r>
              <a:rPr dirty="0" sz="800" spc="15">
                <a:solidFill>
                  <a:srgbClr val="E4E7EB"/>
                </a:solidFill>
                <a:latin typeface="Courier New"/>
                <a:cs typeface="Courier New"/>
              </a:rPr>
              <a:t> 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must</a:t>
            </a:r>
            <a:r>
              <a:rPr dirty="0" sz="800" spc="20">
                <a:solidFill>
                  <a:srgbClr val="E4E7EB"/>
                </a:solidFill>
                <a:latin typeface="Courier New"/>
                <a:cs typeface="Courier New"/>
              </a:rPr>
              <a:t> 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exist</a:t>
            </a:r>
            <a:r>
              <a:rPr dirty="0" sz="800" spc="15">
                <a:solidFill>
                  <a:srgbClr val="E4E7EB"/>
                </a:solidFill>
                <a:latin typeface="Courier New"/>
                <a:cs typeface="Courier New"/>
              </a:rPr>
              <a:t> 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here</a:t>
            </a:r>
            <a:r>
              <a:rPr dirty="0" sz="800" spc="15">
                <a:solidFill>
                  <a:srgbClr val="E4E7EB"/>
                </a:solidFill>
                <a:latin typeface="Courier New"/>
                <a:cs typeface="Courier New"/>
              </a:rPr>
              <a:t> 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before</a:t>
            </a:r>
            <a:r>
              <a:rPr dirty="0" sz="800" spc="20">
                <a:solidFill>
                  <a:srgbClr val="E4E7EB"/>
                </a:solidFill>
                <a:latin typeface="Courier New"/>
                <a:cs typeface="Courier New"/>
              </a:rPr>
              <a:t> 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they</a:t>
            </a:r>
            <a:r>
              <a:rPr dirty="0" sz="800" spc="15">
                <a:solidFill>
                  <a:srgbClr val="E4E7EB"/>
                </a:solidFill>
                <a:latin typeface="Courier New"/>
                <a:cs typeface="Courier New"/>
              </a:rPr>
              <a:t> 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can</a:t>
            </a:r>
            <a:r>
              <a:rPr dirty="0" sz="800" spc="20">
                <a:solidFill>
                  <a:srgbClr val="E4E7EB"/>
                </a:solidFill>
                <a:latin typeface="Courier New"/>
                <a:cs typeface="Courier New"/>
              </a:rPr>
              <a:t> 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use</a:t>
            </a:r>
            <a:r>
              <a:rPr dirty="0" sz="800" spc="15">
                <a:solidFill>
                  <a:srgbClr val="E4E7EB"/>
                </a:solidFill>
                <a:latin typeface="Courier New"/>
                <a:cs typeface="Courier New"/>
              </a:rPr>
              <a:t> 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any</a:t>
            </a:r>
            <a:r>
              <a:rPr dirty="0" sz="800" spc="15">
                <a:solidFill>
                  <a:srgbClr val="E4E7EB"/>
                </a:solidFill>
                <a:latin typeface="Courier New"/>
                <a:cs typeface="Courier New"/>
              </a:rPr>
              <a:t> 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other</a:t>
            </a:r>
            <a:r>
              <a:rPr dirty="0" sz="800" spc="20">
                <a:solidFill>
                  <a:srgbClr val="E4E7EB"/>
                </a:solidFill>
                <a:latin typeface="Courier New"/>
                <a:cs typeface="Courier New"/>
              </a:rPr>
              <a:t>  </a:t>
            </a:r>
            <a:r>
              <a:rPr dirty="0" sz="800" spc="-10">
                <a:solidFill>
                  <a:srgbClr val="E4E7EB"/>
                </a:solidFill>
                <a:latin typeface="Courier New"/>
                <a:cs typeface="Courier New"/>
              </a:rPr>
              <a:t>module. Responsibilities</a:t>
            </a:r>
            <a:endParaRPr sz="800">
              <a:latin typeface="Courier New"/>
              <a:cs typeface="Courier New"/>
            </a:endParaRPr>
          </a:p>
          <a:p>
            <a:pPr marL="196215" indent="-183515">
              <a:lnSpc>
                <a:spcPct val="100000"/>
              </a:lnSpc>
              <a:spcBef>
                <a:spcPts val="475"/>
              </a:spcBef>
              <a:buChar char="●"/>
              <a:tabLst>
                <a:tab pos="196215" algn="l"/>
                <a:tab pos="3463925" algn="l"/>
              </a:tabLst>
            </a:pP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Login</a:t>
            </a:r>
            <a:r>
              <a:rPr dirty="0" sz="800" spc="15">
                <a:solidFill>
                  <a:srgbClr val="E4E7EB"/>
                </a:solidFill>
                <a:latin typeface="Courier New"/>
                <a:cs typeface="Courier New"/>
              </a:rPr>
              <a:t> 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●</a:t>
            </a:r>
            <a:r>
              <a:rPr dirty="0" sz="800" spc="20">
                <a:solidFill>
                  <a:srgbClr val="E4E7EB"/>
                </a:solidFill>
                <a:latin typeface="Courier New"/>
                <a:cs typeface="Courier New"/>
              </a:rPr>
              <a:t> 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JWT</a:t>
            </a:r>
            <a:r>
              <a:rPr dirty="0" sz="800" spc="15">
                <a:solidFill>
                  <a:srgbClr val="E4E7EB"/>
                </a:solidFill>
                <a:latin typeface="Courier New"/>
                <a:cs typeface="Courier New"/>
              </a:rPr>
              <a:t> 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Authentication</a:t>
            </a:r>
            <a:r>
              <a:rPr dirty="0" sz="800" spc="20">
                <a:solidFill>
                  <a:srgbClr val="E4E7EB"/>
                </a:solidFill>
                <a:latin typeface="Courier New"/>
                <a:cs typeface="Courier New"/>
              </a:rPr>
              <a:t> 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●</a:t>
            </a:r>
            <a:r>
              <a:rPr dirty="0" sz="800" spc="20">
                <a:solidFill>
                  <a:srgbClr val="E4E7EB"/>
                </a:solidFill>
                <a:latin typeface="Courier New"/>
                <a:cs typeface="Courier New"/>
              </a:rPr>
              <a:t> 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User</a:t>
            </a:r>
            <a:r>
              <a:rPr dirty="0" sz="800" spc="15">
                <a:solidFill>
                  <a:srgbClr val="E4E7EB"/>
                </a:solidFill>
                <a:latin typeface="Courier New"/>
                <a:cs typeface="Courier New"/>
              </a:rPr>
              <a:t>  </a:t>
            </a:r>
            <a:r>
              <a:rPr dirty="0" sz="800" spc="-10">
                <a:solidFill>
                  <a:srgbClr val="E4E7EB"/>
                </a:solidFill>
                <a:latin typeface="Courier New"/>
                <a:cs typeface="Courier New"/>
              </a:rPr>
              <a:t>Management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	●</a:t>
            </a:r>
            <a:r>
              <a:rPr dirty="0" sz="800" spc="10">
                <a:solidFill>
                  <a:srgbClr val="E4E7EB"/>
                </a:solidFill>
                <a:latin typeface="Courier New"/>
                <a:cs typeface="Courier New"/>
              </a:rPr>
              <a:t> 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Role</a:t>
            </a:r>
            <a:r>
              <a:rPr dirty="0" sz="800" spc="15">
                <a:solidFill>
                  <a:srgbClr val="E4E7EB"/>
                </a:solidFill>
                <a:latin typeface="Courier New"/>
                <a:cs typeface="Courier New"/>
              </a:rPr>
              <a:t>  </a:t>
            </a:r>
            <a:r>
              <a:rPr dirty="0" sz="800" spc="-10">
                <a:solidFill>
                  <a:srgbClr val="E4E7EB"/>
                </a:solidFill>
                <a:latin typeface="Courier New"/>
                <a:cs typeface="Courier New"/>
              </a:rPr>
              <a:t>Management</a:t>
            </a:r>
            <a:endParaRPr sz="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endParaRPr sz="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800" spc="-10">
                <a:solidFill>
                  <a:srgbClr val="E4E7EB"/>
                </a:solidFill>
                <a:latin typeface="Courier New"/>
                <a:cs typeface="Courier New"/>
              </a:rPr>
              <a:t>======================================================================</a:t>
            </a:r>
            <a:endParaRPr sz="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420"/>
              </a:spcBef>
            </a:pP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Chunk</a:t>
            </a:r>
            <a:r>
              <a:rPr dirty="0" sz="800" spc="2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 spc="-50">
                <a:solidFill>
                  <a:srgbClr val="E4E7EB"/>
                </a:solidFill>
                <a:latin typeface="Courier New"/>
                <a:cs typeface="Courier New"/>
              </a:rPr>
              <a:t>2</a:t>
            </a:r>
            <a:endParaRPr sz="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420"/>
              </a:spcBef>
            </a:pPr>
            <a:r>
              <a:rPr dirty="0" sz="800" spc="-10">
                <a:solidFill>
                  <a:srgbClr val="E4E7EB"/>
                </a:solidFill>
                <a:latin typeface="Courier New"/>
                <a:cs typeface="Courier New"/>
              </a:rPr>
              <a:t>======================================================================</a:t>
            </a:r>
            <a:endParaRPr sz="800">
              <a:latin typeface="Courier New"/>
              <a:cs typeface="Courier New"/>
            </a:endParaRPr>
          </a:p>
          <a:p>
            <a:pPr marL="12700" marR="3764915">
              <a:lnSpc>
                <a:spcPct val="143800"/>
              </a:lnSpc>
              <a:spcBef>
                <a:spcPts val="50"/>
              </a:spcBef>
            </a:pP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HSE</a:t>
            </a:r>
            <a:r>
              <a:rPr dirty="0" sz="800" spc="5">
                <a:solidFill>
                  <a:srgbClr val="E4E7EB"/>
                </a:solidFill>
                <a:latin typeface="Courier New"/>
                <a:cs typeface="Courier New"/>
              </a:rPr>
              <a:t> 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Management</a:t>
            </a:r>
            <a:r>
              <a:rPr dirty="0" sz="800" spc="20">
                <a:solidFill>
                  <a:srgbClr val="E4E7EB"/>
                </a:solidFill>
                <a:latin typeface="Courier New"/>
                <a:cs typeface="Courier New"/>
              </a:rPr>
              <a:t> 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System</a:t>
            </a:r>
            <a:r>
              <a:rPr dirty="0" sz="800" spc="20">
                <a:solidFill>
                  <a:srgbClr val="E4E7EB"/>
                </a:solidFill>
                <a:latin typeface="Courier New"/>
                <a:cs typeface="Courier New"/>
              </a:rPr>
              <a:t> 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–</a:t>
            </a:r>
            <a:r>
              <a:rPr dirty="0" sz="800" spc="20">
                <a:solidFill>
                  <a:srgbClr val="E4E7EB"/>
                </a:solidFill>
                <a:latin typeface="Courier New"/>
                <a:cs typeface="Courier New"/>
              </a:rPr>
              <a:t>  </a:t>
            </a:r>
            <a:r>
              <a:rPr dirty="0" sz="800" spc="-10">
                <a:solidFill>
                  <a:srgbClr val="E4E7EB"/>
                </a:solidFill>
                <a:latin typeface="Courier New"/>
                <a:cs typeface="Courier New"/>
              </a:rPr>
              <a:t>Complete Technical</a:t>
            </a:r>
            <a:endParaRPr sz="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endParaRPr sz="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dirty="0" sz="800" spc="-20">
                <a:solidFill>
                  <a:srgbClr val="E4E7EB"/>
                </a:solidFill>
                <a:latin typeface="Courier New"/>
                <a:cs typeface="Courier New"/>
              </a:rPr>
              <a:t>Flow</a:t>
            </a:r>
            <a:endParaRPr sz="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530"/>
              </a:spcBef>
            </a:pPr>
            <a:endParaRPr sz="800">
              <a:latin typeface="Courier New"/>
              <a:cs typeface="Courier New"/>
            </a:endParaRPr>
          </a:p>
          <a:p>
            <a:pPr marL="12700" marR="5080">
              <a:lnSpc>
                <a:spcPct val="143800"/>
              </a:lnSpc>
            </a:pP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The</a:t>
            </a:r>
            <a:r>
              <a:rPr dirty="0" sz="800" spc="20">
                <a:solidFill>
                  <a:srgbClr val="E4E7EB"/>
                </a:solidFill>
                <a:latin typeface="Courier New"/>
                <a:cs typeface="Courier New"/>
              </a:rPr>
              <a:t> 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application</a:t>
            </a:r>
            <a:r>
              <a:rPr dirty="0" sz="800" spc="20">
                <a:solidFill>
                  <a:srgbClr val="E4E7EB"/>
                </a:solidFill>
                <a:latin typeface="Courier New"/>
                <a:cs typeface="Courier New"/>
              </a:rPr>
              <a:t> 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is</a:t>
            </a:r>
            <a:r>
              <a:rPr dirty="0" sz="800" spc="20">
                <a:solidFill>
                  <a:srgbClr val="E4E7EB"/>
                </a:solidFill>
                <a:latin typeface="Courier New"/>
                <a:cs typeface="Courier New"/>
              </a:rPr>
              <a:t> 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a</a:t>
            </a:r>
            <a:r>
              <a:rPr dirty="0" sz="800" spc="25">
                <a:solidFill>
                  <a:srgbClr val="E4E7EB"/>
                </a:solidFill>
                <a:latin typeface="Courier New"/>
                <a:cs typeface="Courier New"/>
              </a:rPr>
              <a:t> 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centralized</a:t>
            </a:r>
            <a:r>
              <a:rPr dirty="0" sz="800" spc="20">
                <a:solidFill>
                  <a:srgbClr val="E4E7EB"/>
                </a:solidFill>
                <a:latin typeface="Courier New"/>
                <a:cs typeface="Courier New"/>
              </a:rPr>
              <a:t> 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HSE</a:t>
            </a:r>
            <a:r>
              <a:rPr dirty="0" sz="800" spc="20">
                <a:solidFill>
                  <a:srgbClr val="E4E7EB"/>
                </a:solidFill>
                <a:latin typeface="Courier New"/>
                <a:cs typeface="Courier New"/>
              </a:rPr>
              <a:t> 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(Health,</a:t>
            </a:r>
            <a:r>
              <a:rPr dirty="0" sz="800" spc="20">
                <a:solidFill>
                  <a:srgbClr val="E4E7EB"/>
                </a:solidFill>
                <a:latin typeface="Courier New"/>
                <a:cs typeface="Courier New"/>
              </a:rPr>
              <a:t> 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Safety</a:t>
            </a:r>
            <a:r>
              <a:rPr dirty="0" sz="800" spc="25">
                <a:solidFill>
                  <a:srgbClr val="E4E7EB"/>
                </a:solidFill>
                <a:latin typeface="Courier New"/>
                <a:cs typeface="Courier New"/>
              </a:rPr>
              <a:t> 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&amp;</a:t>
            </a:r>
            <a:r>
              <a:rPr dirty="0" sz="800" spc="20">
                <a:solidFill>
                  <a:srgbClr val="E4E7EB"/>
                </a:solidFill>
                <a:latin typeface="Courier New"/>
                <a:cs typeface="Courier New"/>
              </a:rPr>
              <a:t> 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Environment)</a:t>
            </a:r>
            <a:r>
              <a:rPr dirty="0" sz="800" spc="20">
                <a:solidFill>
                  <a:srgbClr val="E4E7EB"/>
                </a:solidFill>
                <a:latin typeface="Courier New"/>
                <a:cs typeface="Courier New"/>
              </a:rPr>
              <a:t> 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Management</a:t>
            </a:r>
            <a:r>
              <a:rPr dirty="0" sz="800" spc="25">
                <a:solidFill>
                  <a:srgbClr val="E4E7EB"/>
                </a:solidFill>
                <a:latin typeface="Courier New"/>
                <a:cs typeface="Courier New"/>
              </a:rPr>
              <a:t>  </a:t>
            </a:r>
            <a:r>
              <a:rPr dirty="0" sz="800" spc="-10">
                <a:solidFill>
                  <a:srgbClr val="E4E7EB"/>
                </a:solidFill>
                <a:latin typeface="Courier New"/>
                <a:cs typeface="Courier New"/>
              </a:rPr>
              <a:t>System.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Technology</a:t>
            </a:r>
            <a:r>
              <a:rPr dirty="0" sz="800" spc="30">
                <a:solidFill>
                  <a:srgbClr val="E4E7EB"/>
                </a:solidFill>
                <a:latin typeface="Courier New"/>
                <a:cs typeface="Courier New"/>
              </a:rPr>
              <a:t>  </a:t>
            </a:r>
            <a:r>
              <a:rPr dirty="0" sz="800" spc="-20">
                <a:solidFill>
                  <a:srgbClr val="E4E7EB"/>
                </a:solidFill>
                <a:latin typeface="Courier New"/>
                <a:cs typeface="Courier New"/>
              </a:rPr>
              <a:t>stack</a:t>
            </a:r>
            <a:endParaRPr sz="800">
              <a:latin typeface="Courier New"/>
              <a:cs typeface="Courier New"/>
            </a:endParaRPr>
          </a:p>
          <a:p>
            <a:pPr marL="12700" marR="559435">
              <a:lnSpc>
                <a:spcPct val="143800"/>
              </a:lnSpc>
              <a:spcBef>
                <a:spcPts val="50"/>
              </a:spcBef>
              <a:tabLst>
                <a:tab pos="2231390" algn="l"/>
                <a:tab pos="4018915" algn="l"/>
              </a:tabLst>
            </a:pP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Frontend</a:t>
            </a:r>
            <a:r>
              <a:rPr dirty="0" sz="800" spc="25">
                <a:solidFill>
                  <a:srgbClr val="E4E7EB"/>
                </a:solidFill>
                <a:latin typeface="Courier New"/>
                <a:cs typeface="Courier New"/>
              </a:rPr>
              <a:t> 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(React/HTML</a:t>
            </a:r>
            <a:r>
              <a:rPr dirty="0" sz="800" spc="30">
                <a:solidFill>
                  <a:srgbClr val="E4E7EB"/>
                </a:solidFill>
                <a:latin typeface="Courier New"/>
                <a:cs typeface="Courier New"/>
              </a:rPr>
              <a:t>  </a:t>
            </a:r>
            <a:r>
              <a:rPr dirty="0" sz="800" spc="-25">
                <a:solidFill>
                  <a:srgbClr val="E4E7EB"/>
                </a:solidFill>
                <a:latin typeface="Courier New"/>
                <a:cs typeface="Courier New"/>
              </a:rPr>
              <a:t>UI)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	↓</a:t>
            </a:r>
            <a:r>
              <a:rPr dirty="0" sz="800" spc="15">
                <a:solidFill>
                  <a:srgbClr val="E4E7EB"/>
                </a:solidFill>
                <a:latin typeface="Courier New"/>
                <a:cs typeface="Courier New"/>
              </a:rPr>
              <a:t> 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FastAPI</a:t>
            </a:r>
            <a:r>
              <a:rPr dirty="0" sz="800" spc="15">
                <a:solidFill>
                  <a:srgbClr val="E4E7EB"/>
                </a:solidFill>
                <a:latin typeface="Courier New"/>
                <a:cs typeface="Courier New"/>
              </a:rPr>
              <a:t>  </a:t>
            </a:r>
            <a:r>
              <a:rPr dirty="0" sz="800" spc="-10">
                <a:solidFill>
                  <a:srgbClr val="E4E7EB"/>
                </a:solidFill>
                <a:latin typeface="Courier New"/>
                <a:cs typeface="Courier New"/>
              </a:rPr>
              <a:t>Backend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	↓</a:t>
            </a:r>
            <a:r>
              <a:rPr dirty="0" sz="800" spc="15">
                <a:solidFill>
                  <a:srgbClr val="E4E7EB"/>
                </a:solidFill>
                <a:latin typeface="Courier New"/>
                <a:cs typeface="Courier New"/>
              </a:rPr>
              <a:t> 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PostgreSQL</a:t>
            </a:r>
            <a:r>
              <a:rPr dirty="0" sz="800" spc="20">
                <a:solidFill>
                  <a:srgbClr val="E4E7EB"/>
                </a:solidFill>
                <a:latin typeface="Courier New"/>
                <a:cs typeface="Courier New"/>
              </a:rPr>
              <a:t>  </a:t>
            </a:r>
            <a:r>
              <a:rPr dirty="0" sz="800" spc="-10">
                <a:solidFill>
                  <a:srgbClr val="E4E7EB"/>
                </a:solidFill>
                <a:latin typeface="Courier New"/>
                <a:cs typeface="Courier New"/>
              </a:rPr>
              <a:t>Database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Authentication</a:t>
            </a:r>
            <a:r>
              <a:rPr dirty="0" sz="800" spc="20">
                <a:solidFill>
                  <a:srgbClr val="E4E7EB"/>
                </a:solidFill>
                <a:latin typeface="Courier New"/>
                <a:cs typeface="Courier New"/>
              </a:rPr>
              <a:t> 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is</a:t>
            </a:r>
            <a:r>
              <a:rPr dirty="0" sz="800" spc="25">
                <a:solidFill>
                  <a:srgbClr val="E4E7EB"/>
                </a:solidFill>
                <a:latin typeface="Courier New"/>
                <a:cs typeface="Courier New"/>
              </a:rPr>
              <a:t> 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handled</a:t>
            </a:r>
            <a:r>
              <a:rPr dirty="0" sz="800" spc="20">
                <a:solidFill>
                  <a:srgbClr val="E4E7EB"/>
                </a:solidFill>
                <a:latin typeface="Courier New"/>
                <a:cs typeface="Courier New"/>
              </a:rPr>
              <a:t> 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using</a:t>
            </a:r>
            <a:r>
              <a:rPr dirty="0" sz="800" spc="25">
                <a:solidFill>
                  <a:srgbClr val="E4E7EB"/>
                </a:solidFill>
                <a:latin typeface="Courier New"/>
                <a:cs typeface="Courier New"/>
              </a:rPr>
              <a:t>  </a:t>
            </a:r>
            <a:r>
              <a:rPr dirty="0" sz="800" spc="-20">
                <a:solidFill>
                  <a:srgbClr val="E4E7EB"/>
                </a:solidFill>
                <a:latin typeface="Courier New"/>
                <a:cs typeface="Courier New"/>
              </a:rPr>
              <a:t>JWT.</a:t>
            </a:r>
            <a:endParaRPr sz="80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624760" y="5770210"/>
            <a:ext cx="5142230" cy="389890"/>
          </a:xfrm>
          <a:prstGeom prst="rect">
            <a:avLst/>
          </a:prstGeom>
        </p:spPr>
        <p:txBody>
          <a:bodyPr wrap="square" lIns="0" tIns="7239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70"/>
              </a:spcBef>
            </a:pP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share</a:t>
            </a:r>
            <a:r>
              <a:rPr dirty="0" sz="800" spc="15">
                <a:solidFill>
                  <a:srgbClr val="E4E7EB"/>
                </a:solidFill>
                <a:latin typeface="Courier New"/>
                <a:cs typeface="Courier New"/>
              </a:rPr>
              <a:t> 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a</a:t>
            </a:r>
            <a:r>
              <a:rPr dirty="0" sz="800" spc="20">
                <a:solidFill>
                  <a:srgbClr val="E4E7EB"/>
                </a:solidFill>
                <a:latin typeface="Courier New"/>
                <a:cs typeface="Courier New"/>
              </a:rPr>
              <a:t> 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single</a:t>
            </a:r>
            <a:r>
              <a:rPr dirty="0" sz="800" spc="20">
                <a:solidFill>
                  <a:srgbClr val="E4E7EB"/>
                </a:solidFill>
                <a:latin typeface="Courier New"/>
                <a:cs typeface="Courier New"/>
              </a:rPr>
              <a:t> 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PostgreSQL</a:t>
            </a:r>
            <a:r>
              <a:rPr dirty="0" sz="800" spc="20">
                <a:solidFill>
                  <a:srgbClr val="E4E7EB"/>
                </a:solidFill>
                <a:latin typeface="Courier New"/>
                <a:cs typeface="Courier New"/>
              </a:rPr>
              <a:t>  </a:t>
            </a:r>
            <a:r>
              <a:rPr dirty="0" sz="800" spc="-10">
                <a:solidFill>
                  <a:srgbClr val="E4E7EB"/>
                </a:solidFill>
                <a:latin typeface="Courier New"/>
                <a:cs typeface="Courier New"/>
              </a:rPr>
              <a:t>database.</a:t>
            </a:r>
            <a:endParaRPr sz="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475"/>
              </a:spcBef>
            </a:pP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owns</a:t>
            </a:r>
            <a:r>
              <a:rPr dirty="0" sz="800" spc="15">
                <a:solidFill>
                  <a:srgbClr val="E4E7EB"/>
                </a:solidFill>
                <a:latin typeface="Courier New"/>
                <a:cs typeface="Courier New"/>
              </a:rPr>
              <a:t> 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its</a:t>
            </a:r>
            <a:r>
              <a:rPr dirty="0" sz="800" spc="15">
                <a:solidFill>
                  <a:srgbClr val="E4E7EB"/>
                </a:solidFill>
                <a:latin typeface="Courier New"/>
                <a:cs typeface="Courier New"/>
              </a:rPr>
              <a:t> 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own</a:t>
            </a:r>
            <a:r>
              <a:rPr dirty="0" sz="800" spc="20">
                <a:solidFill>
                  <a:srgbClr val="E4E7EB"/>
                </a:solidFill>
                <a:latin typeface="Courier New"/>
                <a:cs typeface="Courier New"/>
              </a:rPr>
              <a:t> 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tables</a:t>
            </a:r>
            <a:r>
              <a:rPr dirty="0" sz="800" spc="15">
                <a:solidFill>
                  <a:srgbClr val="E4E7EB"/>
                </a:solidFill>
                <a:latin typeface="Courier New"/>
                <a:cs typeface="Courier New"/>
              </a:rPr>
              <a:t> 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and</a:t>
            </a:r>
            <a:r>
              <a:rPr dirty="0" sz="800" spc="15">
                <a:solidFill>
                  <a:srgbClr val="E4E7EB"/>
                </a:solidFill>
                <a:latin typeface="Courier New"/>
                <a:cs typeface="Courier New"/>
              </a:rPr>
              <a:t> 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APIs</a:t>
            </a:r>
            <a:r>
              <a:rPr dirty="0" sz="800" spc="20">
                <a:solidFill>
                  <a:srgbClr val="E4E7EB"/>
                </a:solidFill>
                <a:latin typeface="Courier New"/>
                <a:cs typeface="Courier New"/>
              </a:rPr>
              <a:t> 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but</a:t>
            </a:r>
            <a:r>
              <a:rPr dirty="0" sz="800" spc="15">
                <a:solidFill>
                  <a:srgbClr val="E4E7EB"/>
                </a:solidFill>
                <a:latin typeface="Courier New"/>
                <a:cs typeface="Courier New"/>
              </a:rPr>
              <a:t> 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can</a:t>
            </a:r>
            <a:r>
              <a:rPr dirty="0" sz="800" spc="15">
                <a:solidFill>
                  <a:srgbClr val="E4E7EB"/>
                </a:solidFill>
                <a:latin typeface="Courier New"/>
                <a:cs typeface="Courier New"/>
              </a:rPr>
              <a:t> 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read</a:t>
            </a:r>
            <a:r>
              <a:rPr dirty="0" sz="800" spc="20">
                <a:solidFill>
                  <a:srgbClr val="E4E7EB"/>
                </a:solidFill>
                <a:latin typeface="Courier New"/>
                <a:cs typeface="Courier New"/>
              </a:rPr>
              <a:t> 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data</a:t>
            </a:r>
            <a:r>
              <a:rPr dirty="0" sz="800" spc="15">
                <a:solidFill>
                  <a:srgbClr val="E4E7EB"/>
                </a:solidFill>
                <a:latin typeface="Courier New"/>
                <a:cs typeface="Courier New"/>
              </a:rPr>
              <a:t> 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from</a:t>
            </a:r>
            <a:r>
              <a:rPr dirty="0" sz="800" spc="15">
                <a:solidFill>
                  <a:srgbClr val="E4E7EB"/>
                </a:solidFill>
                <a:latin typeface="Courier New"/>
                <a:cs typeface="Courier New"/>
              </a:rPr>
              <a:t> 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other</a:t>
            </a:r>
            <a:r>
              <a:rPr dirty="0" sz="800" spc="20">
                <a:solidFill>
                  <a:srgbClr val="E4E7EB"/>
                </a:solidFill>
                <a:latin typeface="Courier New"/>
                <a:cs typeface="Courier New"/>
              </a:rPr>
              <a:t> 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modules</a:t>
            </a:r>
            <a:r>
              <a:rPr dirty="0" sz="800" spc="15">
                <a:solidFill>
                  <a:srgbClr val="E4E7EB"/>
                </a:solidFill>
                <a:latin typeface="Courier New"/>
                <a:cs typeface="Courier New"/>
              </a:rPr>
              <a:t>  </a:t>
            </a:r>
            <a:r>
              <a:rPr dirty="0" sz="800" spc="-20">
                <a:solidFill>
                  <a:srgbClr val="E4E7EB"/>
                </a:solidFill>
                <a:latin typeface="Courier New"/>
                <a:cs typeface="Courier New"/>
              </a:rPr>
              <a:t>when</a:t>
            </a:r>
            <a:endParaRPr sz="8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61782" y="5770210"/>
            <a:ext cx="765175" cy="56515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algn="just" marL="12700" marR="5080">
              <a:lnSpc>
                <a:spcPct val="146500"/>
              </a:lnSpc>
              <a:spcBef>
                <a:spcPts val="125"/>
              </a:spcBef>
            </a:pP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All</a:t>
            </a:r>
            <a:r>
              <a:rPr dirty="0" sz="800" spc="10">
                <a:solidFill>
                  <a:srgbClr val="E4E7EB"/>
                </a:solidFill>
                <a:latin typeface="Courier New"/>
                <a:cs typeface="Courier New"/>
              </a:rPr>
              <a:t>  </a:t>
            </a:r>
            <a:r>
              <a:rPr dirty="0" sz="800" spc="-10">
                <a:solidFill>
                  <a:srgbClr val="E4E7EB"/>
                </a:solidFill>
                <a:latin typeface="Courier New"/>
                <a:cs typeface="Courier New"/>
              </a:rPr>
              <a:t>modules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Each</a:t>
            </a:r>
            <a:r>
              <a:rPr dirty="0" sz="800" spc="15">
                <a:solidFill>
                  <a:srgbClr val="E4E7EB"/>
                </a:solidFill>
                <a:latin typeface="Courier New"/>
                <a:cs typeface="Courier New"/>
              </a:rPr>
              <a:t>  </a:t>
            </a:r>
            <a:r>
              <a:rPr dirty="0" sz="800" spc="-10">
                <a:solidFill>
                  <a:srgbClr val="E4E7EB"/>
                </a:solidFill>
                <a:latin typeface="Courier New"/>
                <a:cs typeface="Courier New"/>
              </a:rPr>
              <a:t>module required.</a:t>
            </a:r>
            <a:endParaRPr sz="8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61782" y="6848839"/>
            <a:ext cx="5943600" cy="287083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3641725">
              <a:lnSpc>
                <a:spcPct val="143800"/>
              </a:lnSpc>
              <a:spcBef>
                <a:spcPts val="95"/>
              </a:spcBef>
            </a:pP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Module</a:t>
            </a:r>
            <a:r>
              <a:rPr dirty="0" sz="800" spc="15">
                <a:solidFill>
                  <a:srgbClr val="E4E7EB"/>
                </a:solidFill>
                <a:latin typeface="Courier New"/>
                <a:cs typeface="Courier New"/>
              </a:rPr>
              <a:t> 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1</a:t>
            </a:r>
            <a:r>
              <a:rPr dirty="0" sz="800" spc="20">
                <a:solidFill>
                  <a:srgbClr val="E4E7EB"/>
                </a:solidFill>
                <a:latin typeface="Courier New"/>
                <a:cs typeface="Courier New"/>
              </a:rPr>
              <a:t> 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–</a:t>
            </a:r>
            <a:r>
              <a:rPr dirty="0" sz="800" spc="15">
                <a:solidFill>
                  <a:srgbClr val="E4E7EB"/>
                </a:solidFill>
                <a:latin typeface="Courier New"/>
                <a:cs typeface="Courier New"/>
              </a:rPr>
              <a:t> 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Authentication</a:t>
            </a:r>
            <a:r>
              <a:rPr dirty="0" sz="800" spc="20">
                <a:solidFill>
                  <a:srgbClr val="E4E7EB"/>
                </a:solidFill>
                <a:latin typeface="Courier New"/>
                <a:cs typeface="Courier New"/>
              </a:rPr>
              <a:t> 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&amp;</a:t>
            </a:r>
            <a:r>
              <a:rPr dirty="0" sz="800" spc="15">
                <a:solidFill>
                  <a:srgbClr val="E4E7EB"/>
                </a:solidFill>
                <a:latin typeface="Courier New"/>
                <a:cs typeface="Courier New"/>
              </a:rPr>
              <a:t>  </a:t>
            </a:r>
            <a:r>
              <a:rPr dirty="0" sz="800" spc="-20">
                <a:solidFill>
                  <a:srgbClr val="E4E7EB"/>
                </a:solidFill>
                <a:latin typeface="Courier New"/>
                <a:cs typeface="Courier New"/>
              </a:rPr>
              <a:t>User </a:t>
            </a:r>
            <a:r>
              <a:rPr dirty="0" sz="800" spc="-10">
                <a:solidFill>
                  <a:srgbClr val="E4E7EB"/>
                </a:solidFill>
                <a:latin typeface="Courier New"/>
                <a:cs typeface="Courier New"/>
              </a:rPr>
              <a:t>Management-</a:t>
            </a:r>
            <a:endParaRPr sz="800">
              <a:latin typeface="Courier New"/>
              <a:cs typeface="Courier New"/>
            </a:endParaRPr>
          </a:p>
          <a:p>
            <a:pPr marL="12700" marR="5675630">
              <a:lnSpc>
                <a:spcPct val="293100"/>
              </a:lnSpc>
            </a:pPr>
            <a:r>
              <a:rPr dirty="0" sz="800" spc="-20">
                <a:solidFill>
                  <a:srgbClr val="E4E7EB"/>
                </a:solidFill>
                <a:latin typeface="Courier New"/>
                <a:cs typeface="Courier New"/>
              </a:rPr>
              <a:t>Said </a:t>
            </a:r>
            <a:r>
              <a:rPr dirty="0" sz="800" spc="-25">
                <a:solidFill>
                  <a:srgbClr val="E4E7EB"/>
                </a:solidFill>
                <a:latin typeface="Courier New"/>
                <a:cs typeface="Courier New"/>
              </a:rPr>
              <a:t>Ali</a:t>
            </a:r>
            <a:endParaRPr sz="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894"/>
              </a:spcBef>
            </a:pPr>
            <a:endParaRPr sz="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dirty="0" sz="800" spc="-10">
                <a:solidFill>
                  <a:srgbClr val="E4E7EB"/>
                </a:solidFill>
                <a:latin typeface="Courier New"/>
                <a:cs typeface="Courier New"/>
              </a:rPr>
              <a:t>======================================================================</a:t>
            </a:r>
            <a:endParaRPr sz="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475"/>
              </a:spcBef>
            </a:pP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Chunk</a:t>
            </a:r>
            <a:r>
              <a:rPr dirty="0" sz="800" spc="2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 spc="-50">
                <a:solidFill>
                  <a:srgbClr val="E4E7EB"/>
                </a:solidFill>
                <a:latin typeface="Courier New"/>
                <a:cs typeface="Courier New"/>
              </a:rPr>
              <a:t>3</a:t>
            </a:r>
            <a:endParaRPr sz="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420"/>
              </a:spcBef>
            </a:pPr>
            <a:r>
              <a:rPr dirty="0" sz="800" spc="-10">
                <a:solidFill>
                  <a:srgbClr val="E4E7EB"/>
                </a:solidFill>
                <a:latin typeface="Courier New"/>
                <a:cs typeface="Courier New"/>
              </a:rPr>
              <a:t>======================================================================</a:t>
            </a:r>
            <a:endParaRPr sz="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470"/>
              </a:spcBef>
            </a:pP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Complete</a:t>
            </a:r>
            <a:r>
              <a:rPr dirty="0" sz="800" spc="25">
                <a:solidFill>
                  <a:srgbClr val="E4E7EB"/>
                </a:solidFill>
                <a:latin typeface="Courier New"/>
                <a:cs typeface="Courier New"/>
              </a:rPr>
              <a:t> 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End-to-End</a:t>
            </a:r>
            <a:r>
              <a:rPr dirty="0" sz="800" spc="25">
                <a:solidFill>
                  <a:srgbClr val="E4E7EB"/>
                </a:solidFill>
                <a:latin typeface="Courier New"/>
                <a:cs typeface="Courier New"/>
              </a:rPr>
              <a:t> 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System</a:t>
            </a:r>
            <a:r>
              <a:rPr dirty="0" sz="800" spc="25">
                <a:solidFill>
                  <a:srgbClr val="E4E7EB"/>
                </a:solidFill>
                <a:latin typeface="Courier New"/>
                <a:cs typeface="Courier New"/>
              </a:rPr>
              <a:t>  </a:t>
            </a:r>
            <a:r>
              <a:rPr dirty="0" sz="800" spc="-20">
                <a:solidFill>
                  <a:srgbClr val="E4E7EB"/>
                </a:solidFill>
                <a:latin typeface="Courier New"/>
                <a:cs typeface="Courier New"/>
              </a:rPr>
              <a:t>Flow</a:t>
            </a:r>
            <a:endParaRPr sz="800">
              <a:latin typeface="Courier New"/>
              <a:cs typeface="Courier New"/>
            </a:endParaRPr>
          </a:p>
          <a:p>
            <a:pPr marL="12700" marR="5080">
              <a:lnSpc>
                <a:spcPct val="143800"/>
              </a:lnSpc>
            </a:pP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1.</a:t>
            </a:r>
            <a:r>
              <a:rPr dirty="0" sz="800" spc="15">
                <a:solidFill>
                  <a:srgbClr val="E4E7EB"/>
                </a:solidFill>
                <a:latin typeface="Courier New"/>
                <a:cs typeface="Courier New"/>
              </a:rPr>
              <a:t> 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User</a:t>
            </a:r>
            <a:r>
              <a:rPr dirty="0" sz="800" spc="15">
                <a:solidFill>
                  <a:srgbClr val="E4E7EB"/>
                </a:solidFill>
                <a:latin typeface="Courier New"/>
                <a:cs typeface="Courier New"/>
              </a:rPr>
              <a:t> 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logs</a:t>
            </a:r>
            <a:r>
              <a:rPr dirty="0" sz="800" spc="20">
                <a:solidFill>
                  <a:srgbClr val="E4E7EB"/>
                </a:solidFill>
                <a:latin typeface="Courier New"/>
                <a:cs typeface="Courier New"/>
              </a:rPr>
              <a:t> 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in</a:t>
            </a:r>
            <a:r>
              <a:rPr dirty="0" sz="800" spc="15">
                <a:solidFill>
                  <a:srgbClr val="E4E7EB"/>
                </a:solidFill>
                <a:latin typeface="Courier New"/>
                <a:cs typeface="Courier New"/>
              </a:rPr>
              <a:t> 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through</a:t>
            </a:r>
            <a:r>
              <a:rPr dirty="0" sz="800" spc="15">
                <a:solidFill>
                  <a:srgbClr val="E4E7EB"/>
                </a:solidFill>
                <a:latin typeface="Courier New"/>
                <a:cs typeface="Courier New"/>
              </a:rPr>
              <a:t> 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Module</a:t>
            </a:r>
            <a:r>
              <a:rPr dirty="0" sz="800" spc="20">
                <a:solidFill>
                  <a:srgbClr val="E4E7EB"/>
                </a:solidFill>
                <a:latin typeface="Courier New"/>
                <a:cs typeface="Courier New"/>
              </a:rPr>
              <a:t> 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1.</a:t>
            </a:r>
            <a:r>
              <a:rPr dirty="0" sz="800" spc="15">
                <a:solidFill>
                  <a:srgbClr val="E4E7EB"/>
                </a:solidFill>
                <a:latin typeface="Courier New"/>
                <a:cs typeface="Courier New"/>
              </a:rPr>
              <a:t> 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2.</a:t>
            </a:r>
            <a:r>
              <a:rPr dirty="0" sz="800" spc="20">
                <a:solidFill>
                  <a:srgbClr val="E4E7EB"/>
                </a:solidFill>
                <a:latin typeface="Courier New"/>
                <a:cs typeface="Courier New"/>
              </a:rPr>
              <a:t> 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JWT</a:t>
            </a:r>
            <a:r>
              <a:rPr dirty="0" sz="800" spc="15">
                <a:solidFill>
                  <a:srgbClr val="E4E7EB"/>
                </a:solidFill>
                <a:latin typeface="Courier New"/>
                <a:cs typeface="Courier New"/>
              </a:rPr>
              <a:t> 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token</a:t>
            </a:r>
            <a:r>
              <a:rPr dirty="0" sz="800" spc="15">
                <a:solidFill>
                  <a:srgbClr val="E4E7EB"/>
                </a:solidFill>
                <a:latin typeface="Courier New"/>
                <a:cs typeface="Courier New"/>
              </a:rPr>
              <a:t> 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is</a:t>
            </a:r>
            <a:r>
              <a:rPr dirty="0" sz="800" spc="20">
                <a:solidFill>
                  <a:srgbClr val="E4E7EB"/>
                </a:solidFill>
                <a:latin typeface="Courier New"/>
                <a:cs typeface="Courier New"/>
              </a:rPr>
              <a:t> 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generated.</a:t>
            </a:r>
            <a:r>
              <a:rPr dirty="0" sz="800" spc="15">
                <a:solidFill>
                  <a:srgbClr val="E4E7EB"/>
                </a:solidFill>
                <a:latin typeface="Courier New"/>
                <a:cs typeface="Courier New"/>
              </a:rPr>
              <a:t> 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3.</a:t>
            </a:r>
            <a:r>
              <a:rPr dirty="0" sz="800" spc="20">
                <a:solidFill>
                  <a:srgbClr val="E4E7EB"/>
                </a:solidFill>
                <a:latin typeface="Courier New"/>
                <a:cs typeface="Courier New"/>
              </a:rPr>
              <a:t> 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User</a:t>
            </a:r>
            <a:r>
              <a:rPr dirty="0" sz="800" spc="15">
                <a:solidFill>
                  <a:srgbClr val="E4E7EB"/>
                </a:solidFill>
                <a:latin typeface="Courier New"/>
                <a:cs typeface="Courier New"/>
              </a:rPr>
              <a:t> 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accesses</a:t>
            </a:r>
            <a:r>
              <a:rPr dirty="0" sz="800" spc="15">
                <a:solidFill>
                  <a:srgbClr val="E4E7EB"/>
                </a:solidFill>
                <a:latin typeface="Courier New"/>
                <a:cs typeface="Courier New"/>
              </a:rPr>
              <a:t>  </a:t>
            </a:r>
            <a:r>
              <a:rPr dirty="0" sz="800" spc="-25">
                <a:solidFill>
                  <a:srgbClr val="E4E7EB"/>
                </a:solidFill>
                <a:latin typeface="Courier New"/>
                <a:cs typeface="Courier New"/>
              </a:rPr>
              <a:t>the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application.</a:t>
            </a:r>
            <a:r>
              <a:rPr dirty="0" sz="800" spc="15">
                <a:solidFill>
                  <a:srgbClr val="E4E7EB"/>
                </a:solidFill>
                <a:latin typeface="Courier New"/>
                <a:cs typeface="Courier New"/>
              </a:rPr>
              <a:t> 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4.</a:t>
            </a:r>
            <a:r>
              <a:rPr dirty="0" sz="800" spc="20">
                <a:solidFill>
                  <a:srgbClr val="E4E7EB"/>
                </a:solidFill>
                <a:latin typeface="Courier New"/>
                <a:cs typeface="Courier New"/>
              </a:rPr>
              <a:t> 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Incident</a:t>
            </a:r>
            <a:r>
              <a:rPr dirty="0" sz="800" spc="20">
                <a:solidFill>
                  <a:srgbClr val="E4E7EB"/>
                </a:solidFill>
                <a:latin typeface="Courier New"/>
                <a:cs typeface="Courier New"/>
              </a:rPr>
              <a:t> 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reports</a:t>
            </a:r>
            <a:r>
              <a:rPr dirty="0" sz="800" spc="20">
                <a:solidFill>
                  <a:srgbClr val="E4E7EB"/>
                </a:solidFill>
                <a:latin typeface="Courier New"/>
                <a:cs typeface="Courier New"/>
              </a:rPr>
              <a:t> 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are</a:t>
            </a:r>
            <a:r>
              <a:rPr dirty="0" sz="800" spc="20">
                <a:solidFill>
                  <a:srgbClr val="E4E7EB"/>
                </a:solidFill>
                <a:latin typeface="Courier New"/>
                <a:cs typeface="Courier New"/>
              </a:rPr>
              <a:t> 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managed</a:t>
            </a:r>
            <a:r>
              <a:rPr dirty="0" sz="800" spc="20">
                <a:solidFill>
                  <a:srgbClr val="E4E7EB"/>
                </a:solidFill>
                <a:latin typeface="Courier New"/>
                <a:cs typeface="Courier New"/>
              </a:rPr>
              <a:t> 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through</a:t>
            </a:r>
            <a:r>
              <a:rPr dirty="0" sz="800" spc="20">
                <a:solidFill>
                  <a:srgbClr val="E4E7EB"/>
                </a:solidFill>
                <a:latin typeface="Courier New"/>
                <a:cs typeface="Courier New"/>
              </a:rPr>
              <a:t> 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Module</a:t>
            </a:r>
            <a:r>
              <a:rPr dirty="0" sz="800" spc="20">
                <a:solidFill>
                  <a:srgbClr val="E4E7EB"/>
                </a:solidFill>
                <a:latin typeface="Courier New"/>
                <a:cs typeface="Courier New"/>
              </a:rPr>
              <a:t> 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2.</a:t>
            </a:r>
            <a:r>
              <a:rPr dirty="0" sz="800" spc="20">
                <a:solidFill>
                  <a:srgbClr val="E4E7EB"/>
                </a:solidFill>
                <a:latin typeface="Courier New"/>
                <a:cs typeface="Courier New"/>
              </a:rPr>
              <a:t> 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5.</a:t>
            </a:r>
            <a:r>
              <a:rPr dirty="0" sz="800" spc="20">
                <a:solidFill>
                  <a:srgbClr val="E4E7EB"/>
                </a:solidFill>
                <a:latin typeface="Courier New"/>
                <a:cs typeface="Courier New"/>
              </a:rPr>
              <a:t> 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Tasks</a:t>
            </a:r>
            <a:r>
              <a:rPr dirty="0" sz="800" spc="15">
                <a:solidFill>
                  <a:srgbClr val="E4E7EB"/>
                </a:solidFill>
                <a:latin typeface="Courier New"/>
                <a:cs typeface="Courier New"/>
              </a:rPr>
              <a:t> 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are</a:t>
            </a:r>
            <a:r>
              <a:rPr dirty="0" sz="800" spc="20">
                <a:solidFill>
                  <a:srgbClr val="E4E7EB"/>
                </a:solidFill>
                <a:latin typeface="Courier New"/>
                <a:cs typeface="Courier New"/>
              </a:rPr>
              <a:t>  </a:t>
            </a:r>
            <a:r>
              <a:rPr dirty="0" sz="800" spc="-10">
                <a:solidFill>
                  <a:srgbClr val="E4E7EB"/>
                </a:solidFill>
                <a:latin typeface="Courier New"/>
                <a:cs typeface="Courier New"/>
              </a:rPr>
              <a:t>managed</a:t>
            </a:r>
            <a:endParaRPr sz="800">
              <a:latin typeface="Courier New"/>
              <a:cs typeface="Courier New"/>
            </a:endParaRPr>
          </a:p>
          <a:p>
            <a:pPr marL="12700" marR="251460">
              <a:lnSpc>
                <a:spcPct val="146500"/>
              </a:lnSpc>
              <a:spcBef>
                <a:spcPts val="30"/>
              </a:spcBef>
            </a:pP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through</a:t>
            </a:r>
            <a:r>
              <a:rPr dirty="0" sz="800" spc="15">
                <a:solidFill>
                  <a:srgbClr val="E4E7EB"/>
                </a:solidFill>
                <a:latin typeface="Courier New"/>
                <a:cs typeface="Courier New"/>
              </a:rPr>
              <a:t> 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Module</a:t>
            </a:r>
            <a:r>
              <a:rPr dirty="0" sz="800" spc="20">
                <a:solidFill>
                  <a:srgbClr val="E4E7EB"/>
                </a:solidFill>
                <a:latin typeface="Courier New"/>
                <a:cs typeface="Courier New"/>
              </a:rPr>
              <a:t> 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3.</a:t>
            </a:r>
            <a:r>
              <a:rPr dirty="0" sz="800" spc="20">
                <a:solidFill>
                  <a:srgbClr val="E4E7EB"/>
                </a:solidFill>
                <a:latin typeface="Courier New"/>
                <a:cs typeface="Courier New"/>
              </a:rPr>
              <a:t> 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6.</a:t>
            </a:r>
            <a:r>
              <a:rPr dirty="0" sz="800" spc="20">
                <a:solidFill>
                  <a:srgbClr val="E4E7EB"/>
                </a:solidFill>
                <a:latin typeface="Courier New"/>
                <a:cs typeface="Courier New"/>
              </a:rPr>
              <a:t> 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Approval</a:t>
            </a:r>
            <a:r>
              <a:rPr dirty="0" sz="800" spc="15">
                <a:solidFill>
                  <a:srgbClr val="E4E7EB"/>
                </a:solidFill>
                <a:latin typeface="Courier New"/>
                <a:cs typeface="Courier New"/>
              </a:rPr>
              <a:t> 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requests</a:t>
            </a:r>
            <a:r>
              <a:rPr dirty="0" sz="800" spc="20">
                <a:solidFill>
                  <a:srgbClr val="E4E7EB"/>
                </a:solidFill>
                <a:latin typeface="Courier New"/>
                <a:cs typeface="Courier New"/>
              </a:rPr>
              <a:t> 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are</a:t>
            </a:r>
            <a:r>
              <a:rPr dirty="0" sz="800" spc="20">
                <a:solidFill>
                  <a:srgbClr val="E4E7EB"/>
                </a:solidFill>
                <a:latin typeface="Courier New"/>
                <a:cs typeface="Courier New"/>
              </a:rPr>
              <a:t> 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handled</a:t>
            </a:r>
            <a:r>
              <a:rPr dirty="0" sz="800" spc="20">
                <a:solidFill>
                  <a:srgbClr val="E4E7EB"/>
                </a:solidFill>
                <a:latin typeface="Courier New"/>
                <a:cs typeface="Courier New"/>
              </a:rPr>
              <a:t> 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through</a:t>
            </a:r>
            <a:r>
              <a:rPr dirty="0" sz="800" spc="15">
                <a:solidFill>
                  <a:srgbClr val="E4E7EB"/>
                </a:solidFill>
                <a:latin typeface="Courier New"/>
                <a:cs typeface="Courier New"/>
              </a:rPr>
              <a:t> 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Module</a:t>
            </a:r>
            <a:r>
              <a:rPr dirty="0" sz="800" spc="20">
                <a:solidFill>
                  <a:srgbClr val="E4E7EB"/>
                </a:solidFill>
                <a:latin typeface="Courier New"/>
                <a:cs typeface="Courier New"/>
              </a:rPr>
              <a:t> 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4.</a:t>
            </a:r>
            <a:r>
              <a:rPr dirty="0" sz="800" spc="20">
                <a:solidFill>
                  <a:srgbClr val="E4E7EB"/>
                </a:solidFill>
                <a:latin typeface="Courier New"/>
                <a:cs typeface="Courier New"/>
              </a:rPr>
              <a:t> 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7.</a:t>
            </a:r>
            <a:r>
              <a:rPr dirty="0" sz="800" spc="20">
                <a:solidFill>
                  <a:srgbClr val="E4E7EB"/>
                </a:solidFill>
                <a:latin typeface="Courier New"/>
                <a:cs typeface="Courier New"/>
              </a:rPr>
              <a:t>  </a:t>
            </a:r>
            <a:r>
              <a:rPr dirty="0" sz="800" spc="-10">
                <a:solidFill>
                  <a:srgbClr val="E4E7EB"/>
                </a:solidFill>
                <a:latin typeface="Courier New"/>
                <a:cs typeface="Courier New"/>
              </a:rPr>
              <a:t>Employee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training</a:t>
            </a:r>
            <a:r>
              <a:rPr dirty="0" sz="800" spc="15">
                <a:solidFill>
                  <a:srgbClr val="E4E7EB"/>
                </a:solidFill>
                <a:latin typeface="Courier New"/>
                <a:cs typeface="Courier New"/>
              </a:rPr>
              <a:t> 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is</a:t>
            </a:r>
            <a:r>
              <a:rPr dirty="0" sz="800" spc="20">
                <a:solidFill>
                  <a:srgbClr val="E4E7EB"/>
                </a:solidFill>
                <a:latin typeface="Courier New"/>
                <a:cs typeface="Courier New"/>
              </a:rPr>
              <a:t> 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managed</a:t>
            </a:r>
            <a:r>
              <a:rPr dirty="0" sz="800" spc="20">
                <a:solidFill>
                  <a:srgbClr val="E4E7EB"/>
                </a:solidFill>
                <a:latin typeface="Courier New"/>
                <a:cs typeface="Courier New"/>
              </a:rPr>
              <a:t> 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through</a:t>
            </a:r>
            <a:r>
              <a:rPr dirty="0" sz="800" spc="20">
                <a:solidFill>
                  <a:srgbClr val="E4E7EB"/>
                </a:solidFill>
                <a:latin typeface="Courier New"/>
                <a:cs typeface="Courier New"/>
              </a:rPr>
              <a:t> 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Module</a:t>
            </a:r>
            <a:r>
              <a:rPr dirty="0" sz="800" spc="20">
                <a:solidFill>
                  <a:srgbClr val="E4E7EB"/>
                </a:solidFill>
                <a:latin typeface="Courier New"/>
                <a:cs typeface="Courier New"/>
              </a:rPr>
              <a:t> 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5.</a:t>
            </a:r>
            <a:r>
              <a:rPr dirty="0" sz="800" spc="20">
                <a:solidFill>
                  <a:srgbClr val="E4E7EB"/>
                </a:solidFill>
                <a:latin typeface="Courier New"/>
                <a:cs typeface="Courier New"/>
              </a:rPr>
              <a:t> 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8.</a:t>
            </a:r>
            <a:r>
              <a:rPr dirty="0" sz="800" spc="20">
                <a:solidFill>
                  <a:srgbClr val="E4E7EB"/>
                </a:solidFill>
                <a:latin typeface="Courier New"/>
                <a:cs typeface="Courier New"/>
              </a:rPr>
              <a:t> 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Dashboard</a:t>
            </a:r>
            <a:r>
              <a:rPr dirty="0" sz="800" spc="20">
                <a:solidFill>
                  <a:srgbClr val="E4E7EB"/>
                </a:solidFill>
                <a:latin typeface="Courier New"/>
                <a:cs typeface="Courier New"/>
              </a:rPr>
              <a:t> 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module</a:t>
            </a:r>
            <a:r>
              <a:rPr dirty="0" sz="800" spc="20">
                <a:solidFill>
                  <a:srgbClr val="E4E7EB"/>
                </a:solidFill>
                <a:latin typeface="Courier New"/>
                <a:cs typeface="Courier New"/>
              </a:rPr>
              <a:t> 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reads</a:t>
            </a:r>
            <a:r>
              <a:rPr dirty="0" sz="800" spc="20">
                <a:solidFill>
                  <a:srgbClr val="E4E7EB"/>
                </a:solidFill>
                <a:latin typeface="Courier New"/>
                <a:cs typeface="Courier New"/>
              </a:rPr>
              <a:t> 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all</a:t>
            </a:r>
            <a:r>
              <a:rPr dirty="0" sz="800" spc="15">
                <a:solidFill>
                  <a:srgbClr val="E4E7EB"/>
                </a:solidFill>
                <a:latin typeface="Courier New"/>
                <a:cs typeface="Courier New"/>
              </a:rPr>
              <a:t> 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modules</a:t>
            </a:r>
            <a:r>
              <a:rPr dirty="0" sz="800" spc="20">
                <a:solidFill>
                  <a:srgbClr val="E4E7EB"/>
                </a:solidFill>
                <a:latin typeface="Courier New"/>
                <a:cs typeface="Courier New"/>
              </a:rPr>
              <a:t>  </a:t>
            </a:r>
            <a:r>
              <a:rPr dirty="0" sz="800" spc="-25">
                <a:solidFill>
                  <a:srgbClr val="E4E7EB"/>
                </a:solidFill>
                <a:latin typeface="Courier New"/>
                <a:cs typeface="Courier New"/>
              </a:rPr>
              <a:t>and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generates</a:t>
            </a:r>
            <a:r>
              <a:rPr dirty="0" sz="800" spc="20">
                <a:solidFill>
                  <a:srgbClr val="E4E7EB"/>
                </a:solidFill>
                <a:latin typeface="Courier New"/>
                <a:cs typeface="Courier New"/>
              </a:rPr>
              <a:t> 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analytics.</a:t>
            </a:r>
            <a:r>
              <a:rPr dirty="0" sz="800" spc="25">
                <a:solidFill>
                  <a:srgbClr val="E4E7EB"/>
                </a:solidFill>
                <a:latin typeface="Courier New"/>
                <a:cs typeface="Courier New"/>
              </a:rPr>
              <a:t> 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9.</a:t>
            </a:r>
            <a:r>
              <a:rPr dirty="0" sz="800" spc="25">
                <a:solidFill>
                  <a:srgbClr val="E4E7EB"/>
                </a:solidFill>
                <a:latin typeface="Courier New"/>
                <a:cs typeface="Courier New"/>
              </a:rPr>
              <a:t> 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Frontend</a:t>
            </a:r>
            <a:r>
              <a:rPr dirty="0" sz="800" spc="25">
                <a:solidFill>
                  <a:srgbClr val="E4E7EB"/>
                </a:solidFill>
                <a:latin typeface="Courier New"/>
                <a:cs typeface="Courier New"/>
              </a:rPr>
              <a:t> 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displays</a:t>
            </a:r>
            <a:r>
              <a:rPr dirty="0" sz="800" spc="20">
                <a:solidFill>
                  <a:srgbClr val="E4E7EB"/>
                </a:solidFill>
                <a:latin typeface="Courier New"/>
                <a:cs typeface="Courier New"/>
              </a:rPr>
              <a:t> 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statistics,</a:t>
            </a:r>
            <a:r>
              <a:rPr dirty="0" sz="800" spc="25">
                <a:solidFill>
                  <a:srgbClr val="E4E7EB"/>
                </a:solidFill>
                <a:latin typeface="Courier New"/>
                <a:cs typeface="Courier New"/>
              </a:rPr>
              <a:t> 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charts,</a:t>
            </a:r>
            <a:r>
              <a:rPr dirty="0" sz="800" spc="25">
                <a:solidFill>
                  <a:srgbClr val="E4E7EB"/>
                </a:solidFill>
                <a:latin typeface="Courier New"/>
                <a:cs typeface="Courier New"/>
              </a:rPr>
              <a:t> 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and</a:t>
            </a:r>
            <a:r>
              <a:rPr dirty="0" sz="800" spc="25">
                <a:solidFill>
                  <a:srgbClr val="E4E7EB"/>
                </a:solidFill>
                <a:latin typeface="Courier New"/>
                <a:cs typeface="Courier New"/>
              </a:rPr>
              <a:t>  </a:t>
            </a:r>
            <a:r>
              <a:rPr dirty="0" sz="800" spc="-10">
                <a:solidFill>
                  <a:srgbClr val="E4E7EB"/>
                </a:solidFill>
                <a:latin typeface="Courier New"/>
                <a:cs typeface="Courier New"/>
              </a:rPr>
              <a:t>reports.</a:t>
            </a:r>
            <a:endParaRPr sz="8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80102" y="571513"/>
            <a:ext cx="6202680" cy="452120"/>
          </a:xfrm>
          <a:custGeom>
            <a:avLst/>
            <a:gdLst/>
            <a:ahLst/>
            <a:cxnLst/>
            <a:rect l="l" t="t" r="r" b="b"/>
            <a:pathLst>
              <a:path w="6202680" h="452119">
                <a:moveTo>
                  <a:pt x="6151728" y="451649"/>
                </a:moveTo>
                <a:lnTo>
                  <a:pt x="50390" y="451649"/>
                </a:lnTo>
                <a:lnTo>
                  <a:pt x="46883" y="451305"/>
                </a:lnTo>
                <a:lnTo>
                  <a:pt x="11056" y="430609"/>
                </a:lnTo>
                <a:lnTo>
                  <a:pt x="0" y="401270"/>
                </a:lnTo>
                <a:lnTo>
                  <a:pt x="0" y="397744"/>
                </a:lnTo>
                <a:lnTo>
                  <a:pt x="0" y="0"/>
                </a:lnTo>
                <a:lnTo>
                  <a:pt x="6202119" y="0"/>
                </a:lnTo>
                <a:lnTo>
                  <a:pt x="6202118" y="401270"/>
                </a:lnTo>
                <a:lnTo>
                  <a:pt x="6183818" y="438348"/>
                </a:lnTo>
                <a:lnTo>
                  <a:pt x="6155235" y="451305"/>
                </a:lnTo>
                <a:lnTo>
                  <a:pt x="6151728" y="451649"/>
                </a:lnTo>
                <a:close/>
              </a:path>
            </a:pathLst>
          </a:custGeom>
          <a:solidFill>
            <a:srgbClr val="0E172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680102" y="1650142"/>
            <a:ext cx="6202680" cy="6985"/>
          </a:xfrm>
          <a:custGeom>
            <a:avLst/>
            <a:gdLst/>
            <a:ahLst/>
            <a:cxnLst/>
            <a:rect l="l" t="t" r="r" b="b"/>
            <a:pathLst>
              <a:path w="6202680" h="6985">
                <a:moveTo>
                  <a:pt x="6202119" y="6741"/>
                </a:moveTo>
                <a:lnTo>
                  <a:pt x="0" y="6741"/>
                </a:lnTo>
                <a:lnTo>
                  <a:pt x="0" y="0"/>
                </a:lnTo>
                <a:lnTo>
                  <a:pt x="6202119" y="0"/>
                </a:lnTo>
                <a:lnTo>
                  <a:pt x="6202119" y="6741"/>
                </a:lnTo>
                <a:close/>
              </a:path>
            </a:pathLst>
          </a:custGeom>
          <a:solidFill>
            <a:srgbClr val="E4E7E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680102" y="2115301"/>
            <a:ext cx="6202680" cy="1611630"/>
          </a:xfrm>
          <a:custGeom>
            <a:avLst/>
            <a:gdLst/>
            <a:ahLst/>
            <a:cxnLst/>
            <a:rect l="l" t="t" r="r" b="b"/>
            <a:pathLst>
              <a:path w="6202680" h="1611629">
                <a:moveTo>
                  <a:pt x="6151728" y="1611175"/>
                </a:moveTo>
                <a:lnTo>
                  <a:pt x="50390" y="1611175"/>
                </a:lnTo>
                <a:lnTo>
                  <a:pt x="46883" y="1610831"/>
                </a:lnTo>
                <a:lnTo>
                  <a:pt x="11056" y="1590162"/>
                </a:lnTo>
                <a:lnTo>
                  <a:pt x="0" y="1560823"/>
                </a:lnTo>
                <a:lnTo>
                  <a:pt x="0" y="1557271"/>
                </a:lnTo>
                <a:lnTo>
                  <a:pt x="0" y="50378"/>
                </a:lnTo>
                <a:lnTo>
                  <a:pt x="18300" y="13300"/>
                </a:lnTo>
                <a:lnTo>
                  <a:pt x="50390" y="0"/>
                </a:lnTo>
                <a:lnTo>
                  <a:pt x="6151728" y="0"/>
                </a:lnTo>
                <a:lnTo>
                  <a:pt x="6188826" y="18302"/>
                </a:lnTo>
                <a:lnTo>
                  <a:pt x="6202118" y="50378"/>
                </a:lnTo>
                <a:lnTo>
                  <a:pt x="6202118" y="1560823"/>
                </a:lnTo>
                <a:lnTo>
                  <a:pt x="6183818" y="1597901"/>
                </a:lnTo>
                <a:lnTo>
                  <a:pt x="6155235" y="1610831"/>
                </a:lnTo>
                <a:lnTo>
                  <a:pt x="6151728" y="1611175"/>
                </a:lnTo>
                <a:close/>
              </a:path>
            </a:pathLst>
          </a:custGeom>
          <a:solidFill>
            <a:srgbClr val="0E172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680102" y="7339913"/>
            <a:ext cx="6202680" cy="370840"/>
          </a:xfrm>
          <a:custGeom>
            <a:avLst/>
            <a:gdLst/>
            <a:ahLst/>
            <a:cxnLst/>
            <a:rect l="l" t="t" r="r" b="b"/>
            <a:pathLst>
              <a:path w="6202680" h="370840">
                <a:moveTo>
                  <a:pt x="6151728" y="370751"/>
                </a:moveTo>
                <a:lnTo>
                  <a:pt x="50390" y="370751"/>
                </a:lnTo>
                <a:lnTo>
                  <a:pt x="46883" y="370408"/>
                </a:lnTo>
                <a:lnTo>
                  <a:pt x="11056" y="349711"/>
                </a:lnTo>
                <a:lnTo>
                  <a:pt x="0" y="320352"/>
                </a:lnTo>
                <a:lnTo>
                  <a:pt x="0" y="316847"/>
                </a:lnTo>
                <a:lnTo>
                  <a:pt x="0" y="50378"/>
                </a:lnTo>
                <a:lnTo>
                  <a:pt x="18300" y="13246"/>
                </a:lnTo>
                <a:lnTo>
                  <a:pt x="50390" y="0"/>
                </a:lnTo>
                <a:lnTo>
                  <a:pt x="6151728" y="0"/>
                </a:lnTo>
                <a:lnTo>
                  <a:pt x="6188826" y="18249"/>
                </a:lnTo>
                <a:lnTo>
                  <a:pt x="6202118" y="50378"/>
                </a:lnTo>
                <a:lnTo>
                  <a:pt x="6202118" y="320352"/>
                </a:lnTo>
                <a:lnTo>
                  <a:pt x="6183818" y="357451"/>
                </a:lnTo>
                <a:lnTo>
                  <a:pt x="6155235" y="370408"/>
                </a:lnTo>
                <a:lnTo>
                  <a:pt x="6151728" y="370751"/>
                </a:lnTo>
                <a:close/>
              </a:path>
            </a:pathLst>
          </a:custGeom>
          <a:solidFill>
            <a:srgbClr val="0E172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680102" y="7872486"/>
            <a:ext cx="6202680" cy="6985"/>
          </a:xfrm>
          <a:custGeom>
            <a:avLst/>
            <a:gdLst/>
            <a:ahLst/>
            <a:cxnLst/>
            <a:rect l="l" t="t" r="r" b="b"/>
            <a:pathLst>
              <a:path w="6202680" h="6984">
                <a:moveTo>
                  <a:pt x="6202119" y="6741"/>
                </a:moveTo>
                <a:lnTo>
                  <a:pt x="0" y="6741"/>
                </a:lnTo>
                <a:lnTo>
                  <a:pt x="0" y="0"/>
                </a:lnTo>
                <a:lnTo>
                  <a:pt x="6202119" y="0"/>
                </a:lnTo>
                <a:lnTo>
                  <a:pt x="6202119" y="6741"/>
                </a:lnTo>
                <a:close/>
              </a:path>
            </a:pathLst>
          </a:custGeom>
          <a:solidFill>
            <a:srgbClr val="E4E7E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761782" y="752951"/>
            <a:ext cx="889000" cy="1485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So</a:t>
            </a:r>
            <a:r>
              <a:rPr dirty="0" sz="800" spc="49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in</a:t>
            </a:r>
            <a:r>
              <a:rPr dirty="0" sz="800" spc="10">
                <a:solidFill>
                  <a:srgbClr val="E4E7EB"/>
                </a:solidFill>
                <a:latin typeface="Courier New"/>
                <a:cs typeface="Courier New"/>
              </a:rPr>
              <a:t>  </a:t>
            </a:r>
            <a:r>
              <a:rPr dirty="0" sz="800" spc="-10">
                <a:solidFill>
                  <a:srgbClr val="E4E7EB"/>
                </a:solidFill>
                <a:latin typeface="Courier New"/>
                <a:cs typeface="Courier New"/>
              </a:rPr>
              <a:t>short,</a:t>
            </a:r>
            <a:endParaRPr sz="8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67402" y="1103837"/>
            <a:ext cx="6200140" cy="9264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14999"/>
              </a:lnSpc>
              <a:spcBef>
                <a:spcPts val="95"/>
              </a:spcBef>
            </a:pPr>
            <a:r>
              <a:rPr dirty="0" sz="1000" spc="-60">
                <a:solidFill>
                  <a:srgbClr val="111726"/>
                </a:solidFill>
                <a:latin typeface="Source Han Sans JP"/>
                <a:cs typeface="Source Han Sans JP"/>
              </a:rPr>
              <a:t>All</a:t>
            </a:r>
            <a:r>
              <a:rPr dirty="0" sz="1000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900" spc="-40">
                <a:solidFill>
                  <a:srgbClr val="111726"/>
                </a:solidFill>
                <a:latin typeface="Arial"/>
                <a:cs typeface="Arial"/>
              </a:rPr>
              <a:t>3</a:t>
            </a:r>
            <a:r>
              <a:rPr dirty="0" sz="900" spc="-20">
                <a:solidFill>
                  <a:srgbClr val="111726"/>
                </a:solidFill>
                <a:latin typeface="Arial"/>
                <a:cs typeface="Arial"/>
              </a:rPr>
              <a:t> </a:t>
            </a:r>
            <a:r>
              <a:rPr dirty="0" sz="1000" spc="-80">
                <a:solidFill>
                  <a:srgbClr val="111726"/>
                </a:solidFill>
                <a:latin typeface="Source Han Sans JP"/>
                <a:cs typeface="Source Han Sans JP"/>
              </a:rPr>
              <a:t>retrieved</a:t>
            </a:r>
            <a:r>
              <a:rPr dirty="0" sz="1000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95">
                <a:solidFill>
                  <a:srgbClr val="111726"/>
                </a:solidFill>
                <a:latin typeface="Source Han Sans JP"/>
                <a:cs typeface="Source Han Sans JP"/>
              </a:rPr>
              <a:t>chunks</a:t>
            </a:r>
            <a:r>
              <a:rPr dirty="0" sz="1000" spc="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80">
                <a:solidFill>
                  <a:srgbClr val="111726"/>
                </a:solidFill>
                <a:latin typeface="Source Han Sans JP"/>
                <a:cs typeface="Source Han Sans JP"/>
              </a:rPr>
              <a:t>are,</a:t>
            </a:r>
            <a:r>
              <a:rPr dirty="0" sz="1000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80">
                <a:solidFill>
                  <a:srgbClr val="111726"/>
                </a:solidFill>
                <a:latin typeface="Source Han Sans JP"/>
                <a:cs typeface="Source Han Sans JP"/>
              </a:rPr>
              <a:t>sensibly,</a:t>
            </a:r>
            <a:r>
              <a:rPr dirty="0" sz="1000" spc="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90">
                <a:solidFill>
                  <a:srgbClr val="111726"/>
                </a:solidFill>
                <a:latin typeface="Source Han Sans JP"/>
                <a:cs typeface="Source Han Sans JP"/>
              </a:rPr>
              <a:t>the</a:t>
            </a:r>
            <a:r>
              <a:rPr dirty="0" sz="1000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90">
                <a:solidFill>
                  <a:srgbClr val="111726"/>
                </a:solidFill>
                <a:latin typeface="Source Han Sans JP"/>
                <a:cs typeface="Source Han Sans JP"/>
              </a:rPr>
              <a:t>ones</a:t>
            </a:r>
            <a:r>
              <a:rPr dirty="0" sz="1000" spc="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100">
                <a:solidFill>
                  <a:srgbClr val="111726"/>
                </a:solidFill>
                <a:latin typeface="Source Han Sans JP"/>
                <a:cs typeface="Source Han Sans JP"/>
              </a:rPr>
              <a:t>most</a:t>
            </a:r>
            <a:r>
              <a:rPr dirty="0" sz="1000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75">
                <a:solidFill>
                  <a:srgbClr val="111726"/>
                </a:solidFill>
                <a:latin typeface="Source Han Sans JP"/>
                <a:cs typeface="Source Han Sans JP"/>
              </a:rPr>
              <a:t>directly</a:t>
            </a:r>
            <a:r>
              <a:rPr dirty="0" sz="1000" spc="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85">
                <a:solidFill>
                  <a:srgbClr val="111726"/>
                </a:solidFill>
                <a:latin typeface="Source Han Sans JP"/>
                <a:cs typeface="Source Han Sans JP"/>
              </a:rPr>
              <a:t>discussing</a:t>
            </a:r>
            <a:r>
              <a:rPr dirty="0" sz="1000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95">
                <a:solidFill>
                  <a:srgbClr val="111726"/>
                </a:solidFill>
                <a:latin typeface="Source Han Sans JP"/>
                <a:cs typeface="Source Han Sans JP"/>
              </a:rPr>
              <a:t>authentication/JWT/login</a:t>
            </a:r>
            <a:r>
              <a:rPr dirty="0" sz="1000" spc="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950" spc="-204">
                <a:solidFill>
                  <a:srgbClr val="111726"/>
                </a:solidFill>
                <a:latin typeface="Arial"/>
                <a:cs typeface="Arial"/>
              </a:rPr>
              <a:t>—</a:t>
            </a:r>
            <a:r>
              <a:rPr dirty="0" sz="950" spc="-40">
                <a:solidFill>
                  <a:srgbClr val="111726"/>
                </a:solidFill>
                <a:latin typeface="Arial"/>
                <a:cs typeface="Arial"/>
              </a:rPr>
              <a:t> </a:t>
            </a:r>
            <a:r>
              <a:rPr dirty="0" sz="1000" spc="-85">
                <a:solidFill>
                  <a:srgbClr val="111726"/>
                </a:solidFill>
                <a:latin typeface="Source Han Sans JP"/>
                <a:cs typeface="Source Han Sans JP"/>
              </a:rPr>
              <a:t>con</a:t>
            </a:r>
            <a:r>
              <a:rPr dirty="0" sz="950" spc="-85">
                <a:solidFill>
                  <a:srgbClr val="111726"/>
                </a:solidFill>
                <a:latin typeface="Arial"/>
                <a:cs typeface="Arial"/>
              </a:rPr>
              <a:t>ﬁ</a:t>
            </a:r>
            <a:r>
              <a:rPr dirty="0" sz="1000" spc="-85">
                <a:solidFill>
                  <a:srgbClr val="111726"/>
                </a:solidFill>
                <a:latin typeface="Source Han Sans JP"/>
                <a:cs typeface="Source Han Sans JP"/>
              </a:rPr>
              <a:t>rming</a:t>
            </a:r>
            <a:r>
              <a:rPr dirty="0" sz="1000" spc="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90">
                <a:solidFill>
                  <a:srgbClr val="111726"/>
                </a:solidFill>
                <a:latin typeface="Source Han Sans JP"/>
                <a:cs typeface="Source Han Sans JP"/>
              </a:rPr>
              <a:t>the</a:t>
            </a:r>
            <a:r>
              <a:rPr dirty="0" sz="1000" spc="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75">
                <a:solidFill>
                  <a:srgbClr val="111726"/>
                </a:solidFill>
                <a:latin typeface="Source Han Sans JP"/>
                <a:cs typeface="Source Han Sans JP"/>
              </a:rPr>
              <a:t>retriever</a:t>
            </a:r>
            <a:r>
              <a:rPr dirty="0" sz="1000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25">
                <a:solidFill>
                  <a:srgbClr val="111726"/>
                </a:solidFill>
                <a:latin typeface="Source Han Sans JP"/>
                <a:cs typeface="Source Han Sans JP"/>
              </a:rPr>
              <a:t>is</a:t>
            </a:r>
            <a:r>
              <a:rPr dirty="0" sz="1000" spc="500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90">
                <a:solidFill>
                  <a:srgbClr val="111726"/>
                </a:solidFill>
                <a:latin typeface="Source Han Sans JP"/>
                <a:cs typeface="Source Han Sans JP"/>
              </a:rPr>
              <a:t>working</a:t>
            </a:r>
            <a:r>
              <a:rPr dirty="0" sz="1000" spc="-20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80">
                <a:solidFill>
                  <a:srgbClr val="111726"/>
                </a:solidFill>
                <a:latin typeface="Source Han Sans JP"/>
                <a:cs typeface="Source Han Sans JP"/>
              </a:rPr>
              <a:t>correctly</a:t>
            </a:r>
            <a:r>
              <a:rPr dirty="0" sz="1000" spc="-1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70">
                <a:solidFill>
                  <a:srgbClr val="111726"/>
                </a:solidFill>
                <a:latin typeface="Source Han Sans JP"/>
                <a:cs typeface="Source Han Sans JP"/>
              </a:rPr>
              <a:t>for</a:t>
            </a:r>
            <a:r>
              <a:rPr dirty="0" sz="1000" spc="-1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70">
                <a:solidFill>
                  <a:srgbClr val="111726"/>
                </a:solidFill>
                <a:latin typeface="Source Han Sans JP"/>
                <a:cs typeface="Source Han Sans JP"/>
              </a:rPr>
              <a:t>this</a:t>
            </a:r>
            <a:r>
              <a:rPr dirty="0" sz="1000" spc="-1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10">
                <a:solidFill>
                  <a:srgbClr val="111726"/>
                </a:solidFill>
                <a:latin typeface="Source Han Sans JP"/>
                <a:cs typeface="Source Han Sans JP"/>
              </a:rPr>
              <a:t>query.</a:t>
            </a:r>
            <a:endParaRPr sz="1000">
              <a:latin typeface="Source Han Sans JP"/>
              <a:cs typeface="Source Han Sans JP"/>
            </a:endParaRPr>
          </a:p>
          <a:p>
            <a:pPr>
              <a:lnSpc>
                <a:spcPct val="100000"/>
              </a:lnSpc>
              <a:spcBef>
                <a:spcPts val="994"/>
              </a:spcBef>
            </a:pPr>
            <a:endParaRPr sz="850">
              <a:latin typeface="Source Han Sans JP"/>
              <a:cs typeface="Source Han Sans JP"/>
            </a:endParaRPr>
          </a:p>
          <a:p>
            <a:pPr marL="12700">
              <a:lnSpc>
                <a:spcPct val="100000"/>
              </a:lnSpc>
            </a:pPr>
            <a:r>
              <a:rPr dirty="0" sz="1450" spc="-130" b="1">
                <a:solidFill>
                  <a:srgbClr val="111726"/>
                </a:solidFill>
                <a:latin typeface="Source Han Sans JP"/>
                <a:cs typeface="Source Han Sans JP"/>
              </a:rPr>
              <a:t>Cell</a:t>
            </a:r>
            <a:r>
              <a:rPr dirty="0" sz="1450" spc="-50" b="1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300" spc="-80" b="1">
                <a:solidFill>
                  <a:srgbClr val="111726"/>
                </a:solidFill>
                <a:latin typeface="Trebuchet MS"/>
                <a:cs typeface="Trebuchet MS"/>
              </a:rPr>
              <a:t>10</a:t>
            </a:r>
            <a:r>
              <a:rPr dirty="0" sz="1300" spc="-110" b="1">
                <a:solidFill>
                  <a:srgbClr val="111726"/>
                </a:solidFill>
                <a:latin typeface="Trebuchet MS"/>
                <a:cs typeface="Trebuchet MS"/>
              </a:rPr>
              <a:t> </a:t>
            </a:r>
            <a:r>
              <a:rPr dirty="0" sz="1350" spc="-285" b="1">
                <a:solidFill>
                  <a:srgbClr val="111726"/>
                </a:solidFill>
                <a:latin typeface="Arial"/>
                <a:cs typeface="Arial"/>
              </a:rPr>
              <a:t>—</a:t>
            </a:r>
            <a:r>
              <a:rPr dirty="0" sz="1350" spc="-100" b="1">
                <a:solidFill>
                  <a:srgbClr val="111726"/>
                </a:solidFill>
                <a:latin typeface="Arial"/>
                <a:cs typeface="Arial"/>
              </a:rPr>
              <a:t> </a:t>
            </a:r>
            <a:r>
              <a:rPr dirty="0" sz="1450" spc="-175" b="1">
                <a:solidFill>
                  <a:srgbClr val="111726"/>
                </a:solidFill>
                <a:latin typeface="Source Han Sans JP"/>
                <a:cs typeface="Source Han Sans JP"/>
              </a:rPr>
              <a:t>Load</a:t>
            </a:r>
            <a:r>
              <a:rPr dirty="0" sz="1450" spc="-45" b="1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450" spc="-160" b="1">
                <a:solidFill>
                  <a:srgbClr val="111726"/>
                </a:solidFill>
                <a:latin typeface="Source Han Sans JP"/>
                <a:cs typeface="Source Han Sans JP"/>
              </a:rPr>
              <a:t>the</a:t>
            </a:r>
            <a:r>
              <a:rPr dirty="0" sz="1450" spc="-50" b="1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450" spc="-200" b="1">
                <a:solidFill>
                  <a:srgbClr val="111726"/>
                </a:solidFill>
                <a:latin typeface="Source Han Sans JP"/>
                <a:cs typeface="Source Han Sans JP"/>
              </a:rPr>
              <a:t>Qwen</a:t>
            </a:r>
            <a:r>
              <a:rPr dirty="0" sz="1450" spc="-45" b="1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450" spc="-25" b="1">
                <a:solidFill>
                  <a:srgbClr val="111726"/>
                </a:solidFill>
                <a:latin typeface="Source Han Sans JP"/>
                <a:cs typeface="Source Han Sans JP"/>
              </a:rPr>
              <a:t>LLM</a:t>
            </a:r>
            <a:endParaRPr sz="1450">
              <a:latin typeface="Source Han Sans JP"/>
              <a:cs typeface="Source Han Sans JP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61782" y="2215842"/>
            <a:ext cx="2355215" cy="138938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from</a:t>
            </a:r>
            <a:r>
              <a:rPr dirty="0" sz="800" spc="3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transformers</a:t>
            </a:r>
            <a:r>
              <a:rPr dirty="0" sz="800" spc="4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import</a:t>
            </a:r>
            <a:r>
              <a:rPr dirty="0" sz="800" spc="3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 spc="-10">
                <a:solidFill>
                  <a:srgbClr val="E4E7EB"/>
                </a:solidFill>
                <a:latin typeface="Courier New"/>
                <a:cs typeface="Courier New"/>
              </a:rPr>
              <a:t>pipeline</a:t>
            </a:r>
            <a:endParaRPr sz="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420"/>
              </a:spcBef>
            </a:pPr>
            <a:endParaRPr sz="800">
              <a:latin typeface="Courier New"/>
              <a:cs typeface="Courier New"/>
            </a:endParaRPr>
          </a:p>
          <a:p>
            <a:pPr marL="259079" marR="978535" indent="-247015">
              <a:lnSpc>
                <a:spcPct val="149300"/>
              </a:lnSpc>
            </a:pP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generator</a:t>
            </a:r>
            <a:r>
              <a:rPr dirty="0" sz="800" spc="2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=</a:t>
            </a:r>
            <a:r>
              <a:rPr dirty="0" sz="800" spc="3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 spc="-10">
                <a:solidFill>
                  <a:srgbClr val="E4E7EB"/>
                </a:solidFill>
                <a:latin typeface="Courier New"/>
                <a:cs typeface="Courier New"/>
              </a:rPr>
              <a:t>pipeline(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"text-</a:t>
            </a:r>
            <a:r>
              <a:rPr dirty="0" sz="800" spc="-10">
                <a:solidFill>
                  <a:srgbClr val="E4E7EB"/>
                </a:solidFill>
                <a:latin typeface="Courier New"/>
                <a:cs typeface="Courier New"/>
              </a:rPr>
              <a:t>generation",</a:t>
            </a:r>
            <a:endParaRPr sz="800">
              <a:latin typeface="Courier New"/>
              <a:cs typeface="Courier New"/>
            </a:endParaRPr>
          </a:p>
          <a:p>
            <a:pPr marL="259079">
              <a:lnSpc>
                <a:spcPct val="100000"/>
              </a:lnSpc>
              <a:spcBef>
                <a:spcPts val="420"/>
              </a:spcBef>
            </a:pP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model="Qwen/Qwen2.5-0.5B-</a:t>
            </a:r>
            <a:r>
              <a:rPr dirty="0" sz="800" spc="-10">
                <a:solidFill>
                  <a:srgbClr val="E4E7EB"/>
                </a:solidFill>
                <a:latin typeface="Courier New"/>
                <a:cs typeface="Courier New"/>
              </a:rPr>
              <a:t>Instruct"</a:t>
            </a:r>
            <a:endParaRPr sz="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475"/>
              </a:spcBef>
            </a:pPr>
            <a:r>
              <a:rPr dirty="0" sz="800" spc="-50">
                <a:solidFill>
                  <a:srgbClr val="E4E7EB"/>
                </a:solidFill>
                <a:latin typeface="Courier New"/>
                <a:cs typeface="Courier New"/>
              </a:rPr>
              <a:t>)</a:t>
            </a:r>
            <a:endParaRPr sz="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894"/>
              </a:spcBef>
            </a:pPr>
            <a:endParaRPr sz="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print("LLM</a:t>
            </a:r>
            <a:r>
              <a:rPr dirty="0" sz="800" spc="4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loaded</a:t>
            </a:r>
            <a:r>
              <a:rPr dirty="0" sz="800" spc="4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 spc="-10">
                <a:solidFill>
                  <a:srgbClr val="E4E7EB"/>
                </a:solidFill>
                <a:latin typeface="Courier New"/>
                <a:cs typeface="Courier New"/>
              </a:rPr>
              <a:t>successfully!")</a:t>
            </a:r>
            <a:endParaRPr sz="800">
              <a:latin typeface="Courier New"/>
              <a:cs typeface="Courier New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754253" y="4198340"/>
            <a:ext cx="1031875" cy="316865"/>
          </a:xfrm>
          <a:custGeom>
            <a:avLst/>
            <a:gdLst/>
            <a:ahLst/>
            <a:cxnLst/>
            <a:rect l="l" t="t" r="r" b="b"/>
            <a:pathLst>
              <a:path w="1031875" h="316864">
                <a:moveTo>
                  <a:pt x="916838" y="198666"/>
                </a:moveTo>
                <a:lnTo>
                  <a:pt x="893445" y="175285"/>
                </a:lnTo>
                <a:lnTo>
                  <a:pt x="0" y="175285"/>
                </a:lnTo>
                <a:lnTo>
                  <a:pt x="0" y="316852"/>
                </a:lnTo>
                <a:lnTo>
                  <a:pt x="893445" y="316852"/>
                </a:lnTo>
                <a:lnTo>
                  <a:pt x="916838" y="293458"/>
                </a:lnTo>
                <a:lnTo>
                  <a:pt x="916838" y="198666"/>
                </a:lnTo>
                <a:close/>
              </a:path>
              <a:path w="1031875" h="316864">
                <a:moveTo>
                  <a:pt x="1031443" y="0"/>
                </a:moveTo>
                <a:lnTo>
                  <a:pt x="23393" y="0"/>
                </a:lnTo>
                <a:lnTo>
                  <a:pt x="19951" y="685"/>
                </a:lnTo>
                <a:lnTo>
                  <a:pt x="13335" y="3403"/>
                </a:lnTo>
                <a:lnTo>
                  <a:pt x="10426" y="5346"/>
                </a:lnTo>
                <a:lnTo>
                  <a:pt x="7899" y="7899"/>
                </a:lnTo>
                <a:lnTo>
                  <a:pt x="5372" y="10401"/>
                </a:lnTo>
                <a:lnTo>
                  <a:pt x="3416" y="13322"/>
                </a:lnTo>
                <a:lnTo>
                  <a:pt x="685" y="19939"/>
                </a:lnTo>
                <a:lnTo>
                  <a:pt x="0" y="23380"/>
                </a:lnTo>
                <a:lnTo>
                  <a:pt x="0" y="118186"/>
                </a:lnTo>
                <a:lnTo>
                  <a:pt x="23393" y="141566"/>
                </a:lnTo>
                <a:lnTo>
                  <a:pt x="1031443" y="141566"/>
                </a:lnTo>
                <a:lnTo>
                  <a:pt x="1031443" y="0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754257" y="4663563"/>
            <a:ext cx="1294765" cy="141605"/>
          </a:xfrm>
          <a:custGeom>
            <a:avLst/>
            <a:gdLst/>
            <a:ahLst/>
            <a:cxnLst/>
            <a:rect l="l" t="t" r="r" b="b"/>
            <a:pathLst>
              <a:path w="1294764" h="141604">
                <a:moveTo>
                  <a:pt x="1270965" y="141543"/>
                </a:moveTo>
                <a:lnTo>
                  <a:pt x="23389" y="141543"/>
                </a:lnTo>
                <a:lnTo>
                  <a:pt x="19950" y="140835"/>
                </a:lnTo>
                <a:lnTo>
                  <a:pt x="0" y="118157"/>
                </a:lnTo>
                <a:lnTo>
                  <a:pt x="0" y="114604"/>
                </a:lnTo>
                <a:lnTo>
                  <a:pt x="0" y="23359"/>
                </a:lnTo>
                <a:lnTo>
                  <a:pt x="23389" y="0"/>
                </a:lnTo>
                <a:lnTo>
                  <a:pt x="1270965" y="0"/>
                </a:lnTo>
                <a:lnTo>
                  <a:pt x="1294355" y="23359"/>
                </a:lnTo>
                <a:lnTo>
                  <a:pt x="1294355" y="118157"/>
                </a:lnTo>
                <a:lnTo>
                  <a:pt x="1274405" y="140835"/>
                </a:lnTo>
                <a:lnTo>
                  <a:pt x="1270965" y="141543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754257" y="4953445"/>
            <a:ext cx="1119505" cy="141605"/>
          </a:xfrm>
          <a:custGeom>
            <a:avLst/>
            <a:gdLst/>
            <a:ahLst/>
            <a:cxnLst/>
            <a:rect l="l" t="t" r="r" b="b"/>
            <a:pathLst>
              <a:path w="1119505" h="141604">
                <a:moveTo>
                  <a:pt x="1095688" y="141543"/>
                </a:moveTo>
                <a:lnTo>
                  <a:pt x="23389" y="141543"/>
                </a:lnTo>
                <a:lnTo>
                  <a:pt x="19950" y="140835"/>
                </a:lnTo>
                <a:lnTo>
                  <a:pt x="0" y="118157"/>
                </a:lnTo>
                <a:lnTo>
                  <a:pt x="0" y="114604"/>
                </a:lnTo>
                <a:lnTo>
                  <a:pt x="0" y="23359"/>
                </a:lnTo>
                <a:lnTo>
                  <a:pt x="23389" y="0"/>
                </a:lnTo>
                <a:lnTo>
                  <a:pt x="1095688" y="0"/>
                </a:lnTo>
                <a:lnTo>
                  <a:pt x="1119077" y="23359"/>
                </a:lnTo>
                <a:lnTo>
                  <a:pt x="1119077" y="118157"/>
                </a:lnTo>
                <a:lnTo>
                  <a:pt x="1099127" y="140835"/>
                </a:lnTo>
                <a:lnTo>
                  <a:pt x="1095688" y="141543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754253" y="5243257"/>
            <a:ext cx="1213485" cy="316865"/>
          </a:xfrm>
          <a:custGeom>
            <a:avLst/>
            <a:gdLst/>
            <a:ahLst/>
            <a:cxnLst/>
            <a:rect l="l" t="t" r="r" b="b"/>
            <a:pathLst>
              <a:path w="1213485" h="316864">
                <a:moveTo>
                  <a:pt x="856157" y="198666"/>
                </a:moveTo>
                <a:lnTo>
                  <a:pt x="832764" y="175285"/>
                </a:lnTo>
                <a:lnTo>
                  <a:pt x="0" y="175285"/>
                </a:lnTo>
                <a:lnTo>
                  <a:pt x="0" y="316852"/>
                </a:lnTo>
                <a:lnTo>
                  <a:pt x="832764" y="316852"/>
                </a:lnTo>
                <a:lnTo>
                  <a:pt x="856157" y="293471"/>
                </a:lnTo>
                <a:lnTo>
                  <a:pt x="856157" y="198666"/>
                </a:lnTo>
                <a:close/>
              </a:path>
              <a:path w="1213485" h="316864">
                <a:moveTo>
                  <a:pt x="1213459" y="0"/>
                </a:moveTo>
                <a:lnTo>
                  <a:pt x="23393" y="0"/>
                </a:lnTo>
                <a:lnTo>
                  <a:pt x="19951" y="723"/>
                </a:lnTo>
                <a:lnTo>
                  <a:pt x="0" y="23393"/>
                </a:lnTo>
                <a:lnTo>
                  <a:pt x="0" y="118160"/>
                </a:lnTo>
                <a:lnTo>
                  <a:pt x="23393" y="141592"/>
                </a:lnTo>
                <a:lnTo>
                  <a:pt x="1213459" y="141592"/>
                </a:lnTo>
                <a:lnTo>
                  <a:pt x="1213459" y="0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5453036" y="5243327"/>
            <a:ext cx="829310" cy="141605"/>
          </a:xfrm>
          <a:custGeom>
            <a:avLst/>
            <a:gdLst/>
            <a:ahLst/>
            <a:cxnLst/>
            <a:rect l="l" t="t" r="r" b="b"/>
            <a:pathLst>
              <a:path w="829310" h="141604">
                <a:moveTo>
                  <a:pt x="805806" y="141543"/>
                </a:moveTo>
                <a:lnTo>
                  <a:pt x="23389" y="141543"/>
                </a:lnTo>
                <a:lnTo>
                  <a:pt x="19949" y="140835"/>
                </a:lnTo>
                <a:lnTo>
                  <a:pt x="0" y="118130"/>
                </a:lnTo>
                <a:lnTo>
                  <a:pt x="0" y="114604"/>
                </a:lnTo>
                <a:lnTo>
                  <a:pt x="0" y="23359"/>
                </a:lnTo>
                <a:lnTo>
                  <a:pt x="23389" y="0"/>
                </a:lnTo>
                <a:lnTo>
                  <a:pt x="805806" y="0"/>
                </a:lnTo>
                <a:lnTo>
                  <a:pt x="829196" y="23359"/>
                </a:lnTo>
                <a:lnTo>
                  <a:pt x="829196" y="118130"/>
                </a:lnTo>
                <a:lnTo>
                  <a:pt x="809246" y="140835"/>
                </a:lnTo>
                <a:lnTo>
                  <a:pt x="805806" y="141543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2311527" y="5418594"/>
            <a:ext cx="1240790" cy="316865"/>
          </a:xfrm>
          <a:custGeom>
            <a:avLst/>
            <a:gdLst/>
            <a:ahLst/>
            <a:cxnLst/>
            <a:rect l="l" t="t" r="r" b="b"/>
            <a:pathLst>
              <a:path w="1240789" h="316864">
                <a:moveTo>
                  <a:pt x="647179" y="198628"/>
                </a:moveTo>
                <a:lnTo>
                  <a:pt x="623785" y="175272"/>
                </a:lnTo>
                <a:lnTo>
                  <a:pt x="23380" y="175272"/>
                </a:lnTo>
                <a:lnTo>
                  <a:pt x="0" y="198628"/>
                </a:lnTo>
                <a:lnTo>
                  <a:pt x="0" y="289877"/>
                </a:lnTo>
                <a:lnTo>
                  <a:pt x="0" y="293433"/>
                </a:lnTo>
                <a:lnTo>
                  <a:pt x="23380" y="316814"/>
                </a:lnTo>
                <a:lnTo>
                  <a:pt x="623785" y="316814"/>
                </a:lnTo>
                <a:lnTo>
                  <a:pt x="647179" y="293433"/>
                </a:lnTo>
                <a:lnTo>
                  <a:pt x="647179" y="198628"/>
                </a:lnTo>
                <a:close/>
              </a:path>
              <a:path w="1240789" h="316864">
                <a:moveTo>
                  <a:pt x="1240421" y="23355"/>
                </a:moveTo>
                <a:lnTo>
                  <a:pt x="1217028" y="0"/>
                </a:lnTo>
                <a:lnTo>
                  <a:pt x="23380" y="0"/>
                </a:lnTo>
                <a:lnTo>
                  <a:pt x="0" y="23355"/>
                </a:lnTo>
                <a:lnTo>
                  <a:pt x="0" y="114604"/>
                </a:lnTo>
                <a:lnTo>
                  <a:pt x="0" y="118160"/>
                </a:lnTo>
                <a:lnTo>
                  <a:pt x="23380" y="141541"/>
                </a:lnTo>
                <a:lnTo>
                  <a:pt x="1217028" y="141541"/>
                </a:lnTo>
                <a:lnTo>
                  <a:pt x="1240421" y="118160"/>
                </a:lnTo>
                <a:lnTo>
                  <a:pt x="1240421" y="23355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6" name="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54257" y="6059040"/>
            <a:ext cx="114604" cy="141543"/>
          </a:xfrm>
          <a:prstGeom prst="rect">
            <a:avLst/>
          </a:prstGeom>
        </p:spPr>
      </p:pic>
      <p:sp>
        <p:nvSpPr>
          <p:cNvPr id="17" name="object 17"/>
          <p:cNvSpPr/>
          <p:nvPr/>
        </p:nvSpPr>
        <p:spPr>
          <a:xfrm>
            <a:off x="754253" y="6348869"/>
            <a:ext cx="1031875" cy="316865"/>
          </a:xfrm>
          <a:custGeom>
            <a:avLst/>
            <a:gdLst/>
            <a:ahLst/>
            <a:cxnLst/>
            <a:rect l="l" t="t" r="r" b="b"/>
            <a:pathLst>
              <a:path w="1031875" h="316865">
                <a:moveTo>
                  <a:pt x="916838" y="198653"/>
                </a:moveTo>
                <a:lnTo>
                  <a:pt x="893445" y="175260"/>
                </a:lnTo>
                <a:lnTo>
                  <a:pt x="0" y="175260"/>
                </a:lnTo>
                <a:lnTo>
                  <a:pt x="0" y="316826"/>
                </a:lnTo>
                <a:lnTo>
                  <a:pt x="893445" y="316826"/>
                </a:lnTo>
                <a:lnTo>
                  <a:pt x="896886" y="316153"/>
                </a:lnTo>
                <a:lnTo>
                  <a:pt x="900188" y="314756"/>
                </a:lnTo>
                <a:lnTo>
                  <a:pt x="903490" y="313410"/>
                </a:lnTo>
                <a:lnTo>
                  <a:pt x="916838" y="293446"/>
                </a:lnTo>
                <a:lnTo>
                  <a:pt x="916838" y="198653"/>
                </a:lnTo>
                <a:close/>
              </a:path>
              <a:path w="1031875" h="316865">
                <a:moveTo>
                  <a:pt x="1031443" y="0"/>
                </a:moveTo>
                <a:lnTo>
                  <a:pt x="23393" y="0"/>
                </a:lnTo>
                <a:lnTo>
                  <a:pt x="19951" y="673"/>
                </a:lnTo>
                <a:lnTo>
                  <a:pt x="16649" y="2019"/>
                </a:lnTo>
                <a:lnTo>
                  <a:pt x="13335" y="3416"/>
                </a:lnTo>
                <a:lnTo>
                  <a:pt x="10426" y="5359"/>
                </a:lnTo>
                <a:lnTo>
                  <a:pt x="7899" y="7912"/>
                </a:lnTo>
                <a:lnTo>
                  <a:pt x="5372" y="10414"/>
                </a:lnTo>
                <a:lnTo>
                  <a:pt x="3416" y="13309"/>
                </a:lnTo>
                <a:lnTo>
                  <a:pt x="685" y="19926"/>
                </a:lnTo>
                <a:lnTo>
                  <a:pt x="0" y="23368"/>
                </a:lnTo>
                <a:lnTo>
                  <a:pt x="0" y="118173"/>
                </a:lnTo>
                <a:lnTo>
                  <a:pt x="23393" y="141566"/>
                </a:lnTo>
                <a:lnTo>
                  <a:pt x="1031443" y="141566"/>
                </a:lnTo>
                <a:lnTo>
                  <a:pt x="1031443" y="0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graphicFrame>
        <p:nvGraphicFramePr>
          <p:cNvPr id="18" name="object 18"/>
          <p:cNvGraphicFramePr>
            <a:graphicFrameLocks noGrp="1"/>
          </p:cNvGraphicFramePr>
          <p:nvPr/>
        </p:nvGraphicFramePr>
        <p:xfrm>
          <a:off x="680102" y="3834367"/>
          <a:ext cx="6278880" cy="28962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57020"/>
                <a:gridCol w="4638039"/>
              </a:tblGrid>
              <a:tr h="282575">
                <a:tc>
                  <a:txBody>
                    <a:bodyPr/>
                    <a:lstStyle/>
                    <a:p>
                      <a:pPr marL="70485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950" spc="-20" b="1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Line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64769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marL="72390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950" spc="-10" b="1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Explanation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64769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  <a:solidFill>
                      <a:srgbClr val="F7FAFB"/>
                    </a:solidFill>
                  </a:tcPr>
                </a:tc>
              </a:tr>
              <a:tr h="464820">
                <a:tc>
                  <a:txBody>
                    <a:bodyPr/>
                    <a:lstStyle/>
                    <a:p>
                      <a:pPr marL="70485" marR="445770" indent="26670">
                        <a:lnSpc>
                          <a:spcPct val="153300"/>
                        </a:lnSpc>
                        <a:spcBef>
                          <a:spcPts val="229"/>
                        </a:spcBef>
                      </a:pP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from</a:t>
                      </a:r>
                      <a:r>
                        <a:rPr dirty="0" sz="750" spc="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 spc="-1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transformers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import</a:t>
                      </a:r>
                      <a:r>
                        <a:rPr dirty="0" sz="750" spc="7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 spc="-1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pipeline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29209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2390" marR="167005">
                        <a:lnSpc>
                          <a:spcPct val="116399"/>
                        </a:lnSpc>
                        <a:spcBef>
                          <a:spcPts val="320"/>
                        </a:spcBef>
                      </a:pP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Re-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imported</a:t>
                      </a:r>
                      <a:r>
                        <a:rPr dirty="0" sz="950" spc="-2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here</a:t>
                      </a:r>
                      <a:r>
                        <a:rPr dirty="0" sz="950" spc="-2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(redundant</a:t>
                      </a:r>
                      <a:r>
                        <a:rPr dirty="0" sz="950" spc="-2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with</a:t>
                      </a:r>
                      <a:r>
                        <a:rPr dirty="0" sz="950" spc="-2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6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Cell</a:t>
                      </a:r>
                      <a:r>
                        <a:rPr dirty="0" sz="950" spc="-2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850" spc="-45">
                          <a:solidFill>
                            <a:srgbClr val="111726"/>
                          </a:solidFill>
                          <a:latin typeface="Arial"/>
                          <a:cs typeface="Arial"/>
                        </a:rPr>
                        <a:t>2</a:t>
                      </a:r>
                      <a:r>
                        <a:rPr dirty="0" sz="950" spc="-4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,</a:t>
                      </a:r>
                      <a:r>
                        <a:rPr dirty="0" sz="950" spc="-2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but</a:t>
                      </a:r>
                      <a:r>
                        <a:rPr dirty="0" sz="950" spc="-2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harmless</a:t>
                      </a:r>
                      <a:r>
                        <a:rPr dirty="0" sz="950" spc="-2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00" spc="-180">
                          <a:solidFill>
                            <a:srgbClr val="111726"/>
                          </a:solidFill>
                          <a:latin typeface="Arial"/>
                          <a:cs typeface="Arial"/>
                        </a:rPr>
                        <a:t>—</a:t>
                      </a:r>
                      <a:r>
                        <a:rPr dirty="0" sz="900" spc="-60">
                          <a:solidFill>
                            <a:srgbClr val="111726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Python</a:t>
                      </a:r>
                      <a:r>
                        <a:rPr dirty="0" sz="950" spc="-2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simply</a:t>
                      </a:r>
                      <a:r>
                        <a:rPr dirty="0" sz="950" spc="-2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reuses</a:t>
                      </a:r>
                      <a:r>
                        <a:rPr dirty="0" sz="950" spc="-2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the</a:t>
                      </a:r>
                      <a:r>
                        <a:rPr dirty="0" sz="950" spc="-2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4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already-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imported</a:t>
                      </a:r>
                      <a:r>
                        <a:rPr dirty="0" sz="950" spc="2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module).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40640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generator</a:t>
                      </a:r>
                      <a:r>
                        <a:rPr dirty="0" sz="750" spc="6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=</a:t>
                      </a:r>
                      <a:r>
                        <a:rPr dirty="0" sz="750" spc="65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 spc="-1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pipeline(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90170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2390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Creates</a:t>
                      </a:r>
                      <a:r>
                        <a:rPr dirty="0" sz="950" spc="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9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a</a:t>
                      </a:r>
                      <a:r>
                        <a:rPr dirty="0" sz="950" spc="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text-generation</a:t>
                      </a:r>
                      <a:r>
                        <a:rPr dirty="0" sz="950" spc="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pipeline.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64769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"text-</a:t>
                      </a:r>
                      <a:r>
                        <a:rPr dirty="0" sz="750" spc="-1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generation",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90170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2390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950" spc="-7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Pipeline</a:t>
                      </a:r>
                      <a:r>
                        <a:rPr dirty="0" sz="950" spc="-2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task</a:t>
                      </a:r>
                      <a:r>
                        <a:rPr dirty="0" sz="950" spc="-2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type.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64769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</a:tr>
              <a:tr h="815340">
                <a:tc>
                  <a:txBody>
                    <a:bodyPr/>
                    <a:lstStyle/>
                    <a:p>
                      <a:pPr marL="70485" marR="267970" indent="26670">
                        <a:lnSpc>
                          <a:spcPct val="153300"/>
                        </a:lnSpc>
                        <a:spcBef>
                          <a:spcPts val="229"/>
                        </a:spcBef>
                      </a:pPr>
                      <a:r>
                        <a:rPr dirty="0" sz="750" spc="-1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model="Qwen/Qwen2.5-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0.5B-</a:t>
                      </a:r>
                      <a:r>
                        <a:rPr dirty="0" sz="750" spc="-1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Instruct"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29209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2390" marR="382270">
                        <a:lnSpc>
                          <a:spcPct val="122600"/>
                        </a:lnSpc>
                        <a:spcBef>
                          <a:spcPts val="250"/>
                        </a:spcBef>
                      </a:pP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Unlike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the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9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PostgreSQL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project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(which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6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explicitly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loaded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9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a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separate</a:t>
                      </a:r>
                      <a:r>
                        <a:rPr dirty="0" sz="950" spc="23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AutoTokenizer </a:t>
                      </a:r>
                      <a:r>
                        <a:rPr dirty="0" sz="950" spc="-2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and</a:t>
                      </a:r>
                      <a:r>
                        <a:rPr dirty="0" sz="95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AutoModelForCausalLM</a:t>
                      </a:r>
                      <a:r>
                        <a:rPr dirty="0" sz="750" spc="-195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950" spc="-5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),</a:t>
                      </a:r>
                      <a:r>
                        <a:rPr dirty="0" sz="950" spc="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6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this</a:t>
                      </a:r>
                      <a:r>
                        <a:rPr dirty="0" sz="95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9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notebook</a:t>
                      </a:r>
                      <a:r>
                        <a:rPr dirty="0" sz="950" spc="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passes</a:t>
                      </a:r>
                      <a:r>
                        <a:rPr dirty="0" sz="950" spc="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the</a:t>
                      </a:r>
                      <a:r>
                        <a:rPr dirty="0" sz="950" spc="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model</a:t>
                      </a:r>
                      <a:r>
                        <a:rPr dirty="0" sz="95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9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name</a:t>
                      </a:r>
                      <a:r>
                        <a:rPr dirty="0" sz="950" spc="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string</a:t>
                      </a:r>
                      <a:r>
                        <a:rPr dirty="0" sz="950" spc="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directly</a:t>
                      </a:r>
                      <a:r>
                        <a:rPr dirty="0" sz="950" spc="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2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to</a:t>
                      </a:r>
                      <a:r>
                        <a:rPr dirty="0" sz="95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pipeline()</a:t>
                      </a:r>
                      <a:r>
                        <a:rPr dirty="0" sz="750" spc="-19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950" spc="-5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,</a:t>
                      </a:r>
                      <a:r>
                        <a:rPr dirty="0" sz="950" spc="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letting</a:t>
                      </a:r>
                      <a:r>
                        <a:rPr dirty="0" sz="950" spc="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5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it</a:t>
                      </a:r>
                      <a:r>
                        <a:rPr dirty="0" sz="950" spc="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handle</a:t>
                      </a:r>
                      <a:r>
                        <a:rPr dirty="0" sz="950" spc="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tokenizer/model</a:t>
                      </a:r>
                      <a:r>
                        <a:rPr dirty="0" sz="950" spc="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loading,</a:t>
                      </a:r>
                      <a:r>
                        <a:rPr dirty="0" sz="950" spc="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device</a:t>
                      </a:r>
                      <a:r>
                        <a:rPr dirty="0" sz="950" spc="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placement,</a:t>
                      </a:r>
                      <a:r>
                        <a:rPr dirty="0" sz="950" spc="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and</a:t>
                      </a:r>
                      <a:r>
                        <a:rPr dirty="0" sz="950" spc="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dtype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selection</a:t>
                      </a:r>
                      <a:r>
                        <a:rPr dirty="0" sz="95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automatically</a:t>
                      </a:r>
                      <a:r>
                        <a:rPr dirty="0" sz="95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with</a:t>
                      </a:r>
                      <a:r>
                        <a:rPr dirty="0" sz="95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6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its</a:t>
                      </a:r>
                      <a:r>
                        <a:rPr dirty="0" sz="95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9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own</a:t>
                      </a:r>
                      <a:r>
                        <a:rPr dirty="0" sz="95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defaults.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31750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dirty="0" sz="750" spc="-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)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90170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2390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Closes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the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call.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64769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</a:tr>
              <a:tr h="464820">
                <a:tc>
                  <a:txBody>
                    <a:bodyPr/>
                    <a:lstStyle/>
                    <a:p>
                      <a:pPr marL="70485" marR="445770" indent="26670">
                        <a:lnSpc>
                          <a:spcPct val="153300"/>
                        </a:lnSpc>
                        <a:spcBef>
                          <a:spcPts val="229"/>
                        </a:spcBef>
                      </a:pP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print("LLM</a:t>
                      </a:r>
                      <a:r>
                        <a:rPr dirty="0" sz="750" spc="105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 spc="-1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loaded successfully!")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29209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2390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950" spc="-7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Con</a:t>
                      </a:r>
                      <a:r>
                        <a:rPr dirty="0" sz="900" spc="-70">
                          <a:solidFill>
                            <a:srgbClr val="111726"/>
                          </a:solidFill>
                          <a:latin typeface="Arial"/>
                          <a:cs typeface="Arial"/>
                        </a:rPr>
                        <a:t>ﬁ</a:t>
                      </a:r>
                      <a:r>
                        <a:rPr dirty="0" sz="950" spc="-7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rms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the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model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9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downloaded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and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loaded.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64769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9" name="object 19"/>
          <p:cNvSpPr/>
          <p:nvPr/>
        </p:nvSpPr>
        <p:spPr>
          <a:xfrm>
            <a:off x="2142985" y="6881482"/>
            <a:ext cx="3768725" cy="337185"/>
          </a:xfrm>
          <a:custGeom>
            <a:avLst/>
            <a:gdLst/>
            <a:ahLst/>
            <a:cxnLst/>
            <a:rect l="l" t="t" r="r" b="b"/>
            <a:pathLst>
              <a:path w="3768725" h="337184">
                <a:moveTo>
                  <a:pt x="1348282" y="212115"/>
                </a:moveTo>
                <a:lnTo>
                  <a:pt x="1324902" y="188760"/>
                </a:lnTo>
                <a:lnTo>
                  <a:pt x="23393" y="188760"/>
                </a:lnTo>
                <a:lnTo>
                  <a:pt x="0" y="212115"/>
                </a:lnTo>
                <a:lnTo>
                  <a:pt x="0" y="310108"/>
                </a:lnTo>
                <a:lnTo>
                  <a:pt x="0" y="313664"/>
                </a:lnTo>
                <a:lnTo>
                  <a:pt x="23393" y="337045"/>
                </a:lnTo>
                <a:lnTo>
                  <a:pt x="1324902" y="337045"/>
                </a:lnTo>
                <a:lnTo>
                  <a:pt x="1348282" y="313664"/>
                </a:lnTo>
                <a:lnTo>
                  <a:pt x="1348282" y="212115"/>
                </a:lnTo>
                <a:close/>
              </a:path>
              <a:path w="3768725" h="337184">
                <a:moveTo>
                  <a:pt x="1955012" y="23355"/>
                </a:moveTo>
                <a:lnTo>
                  <a:pt x="1931631" y="0"/>
                </a:lnTo>
                <a:lnTo>
                  <a:pt x="1243596" y="0"/>
                </a:lnTo>
                <a:lnTo>
                  <a:pt x="1220203" y="23355"/>
                </a:lnTo>
                <a:lnTo>
                  <a:pt x="1220203" y="121348"/>
                </a:lnTo>
                <a:lnTo>
                  <a:pt x="1220203" y="124904"/>
                </a:lnTo>
                <a:lnTo>
                  <a:pt x="1243596" y="148285"/>
                </a:lnTo>
                <a:lnTo>
                  <a:pt x="1931631" y="148285"/>
                </a:lnTo>
                <a:lnTo>
                  <a:pt x="1955012" y="124904"/>
                </a:lnTo>
                <a:lnTo>
                  <a:pt x="1955012" y="23355"/>
                </a:lnTo>
                <a:close/>
              </a:path>
              <a:path w="3768725" h="337184">
                <a:moveTo>
                  <a:pt x="2076361" y="212115"/>
                </a:moveTo>
                <a:lnTo>
                  <a:pt x="2052967" y="188760"/>
                </a:lnTo>
                <a:lnTo>
                  <a:pt x="1425613" y="188760"/>
                </a:lnTo>
                <a:lnTo>
                  <a:pt x="1402219" y="212115"/>
                </a:lnTo>
                <a:lnTo>
                  <a:pt x="1402219" y="310108"/>
                </a:lnTo>
                <a:lnTo>
                  <a:pt x="1402219" y="313664"/>
                </a:lnTo>
                <a:lnTo>
                  <a:pt x="1425613" y="337045"/>
                </a:lnTo>
                <a:lnTo>
                  <a:pt x="2052967" y="337045"/>
                </a:lnTo>
                <a:lnTo>
                  <a:pt x="2076361" y="313664"/>
                </a:lnTo>
                <a:lnTo>
                  <a:pt x="2076361" y="212115"/>
                </a:lnTo>
                <a:close/>
              </a:path>
              <a:path w="3768725" h="337184">
                <a:moveTo>
                  <a:pt x="2797695" y="212115"/>
                </a:moveTo>
                <a:lnTo>
                  <a:pt x="2774302" y="188760"/>
                </a:lnTo>
                <a:lnTo>
                  <a:pt x="2153678" y="188760"/>
                </a:lnTo>
                <a:lnTo>
                  <a:pt x="2130298" y="212115"/>
                </a:lnTo>
                <a:lnTo>
                  <a:pt x="2130298" y="310108"/>
                </a:lnTo>
                <a:lnTo>
                  <a:pt x="2130298" y="313664"/>
                </a:lnTo>
                <a:lnTo>
                  <a:pt x="2153678" y="337045"/>
                </a:lnTo>
                <a:lnTo>
                  <a:pt x="2774302" y="337045"/>
                </a:lnTo>
                <a:lnTo>
                  <a:pt x="2797695" y="313664"/>
                </a:lnTo>
                <a:lnTo>
                  <a:pt x="2797695" y="212115"/>
                </a:lnTo>
                <a:close/>
              </a:path>
              <a:path w="3768725" h="337184">
                <a:moveTo>
                  <a:pt x="3107804" y="23355"/>
                </a:moveTo>
                <a:lnTo>
                  <a:pt x="3084411" y="0"/>
                </a:lnTo>
                <a:lnTo>
                  <a:pt x="2032342" y="0"/>
                </a:lnTo>
                <a:lnTo>
                  <a:pt x="2008949" y="23355"/>
                </a:lnTo>
                <a:lnTo>
                  <a:pt x="2008949" y="121348"/>
                </a:lnTo>
                <a:lnTo>
                  <a:pt x="2008949" y="124904"/>
                </a:lnTo>
                <a:lnTo>
                  <a:pt x="2032342" y="148285"/>
                </a:lnTo>
                <a:lnTo>
                  <a:pt x="3084411" y="148285"/>
                </a:lnTo>
                <a:lnTo>
                  <a:pt x="3107804" y="124904"/>
                </a:lnTo>
                <a:lnTo>
                  <a:pt x="3107804" y="23355"/>
                </a:lnTo>
                <a:close/>
              </a:path>
              <a:path w="3768725" h="337184">
                <a:moveTo>
                  <a:pt x="3768458" y="212115"/>
                </a:moveTo>
                <a:lnTo>
                  <a:pt x="3745077" y="188760"/>
                </a:lnTo>
                <a:lnTo>
                  <a:pt x="2875013" y="188760"/>
                </a:lnTo>
                <a:lnTo>
                  <a:pt x="2851632" y="212115"/>
                </a:lnTo>
                <a:lnTo>
                  <a:pt x="2851632" y="310108"/>
                </a:lnTo>
                <a:lnTo>
                  <a:pt x="2851632" y="313664"/>
                </a:lnTo>
                <a:lnTo>
                  <a:pt x="2875013" y="337045"/>
                </a:lnTo>
                <a:lnTo>
                  <a:pt x="3745077" y="337045"/>
                </a:lnTo>
                <a:lnTo>
                  <a:pt x="3768458" y="313664"/>
                </a:lnTo>
                <a:lnTo>
                  <a:pt x="3768458" y="212115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680102" y="7070256"/>
            <a:ext cx="1409065" cy="148590"/>
          </a:xfrm>
          <a:custGeom>
            <a:avLst/>
            <a:gdLst/>
            <a:ahLst/>
            <a:cxnLst/>
            <a:rect l="l" t="t" r="r" b="b"/>
            <a:pathLst>
              <a:path w="1409064" h="148590">
                <a:moveTo>
                  <a:pt x="1385569" y="148284"/>
                </a:moveTo>
                <a:lnTo>
                  <a:pt x="23389" y="148284"/>
                </a:lnTo>
                <a:lnTo>
                  <a:pt x="19950" y="147576"/>
                </a:lnTo>
                <a:lnTo>
                  <a:pt x="0" y="124898"/>
                </a:lnTo>
                <a:lnTo>
                  <a:pt x="0" y="121345"/>
                </a:lnTo>
                <a:lnTo>
                  <a:pt x="0" y="23359"/>
                </a:lnTo>
                <a:lnTo>
                  <a:pt x="23389" y="0"/>
                </a:lnTo>
                <a:lnTo>
                  <a:pt x="1385569" y="0"/>
                </a:lnTo>
                <a:lnTo>
                  <a:pt x="1408959" y="23359"/>
                </a:lnTo>
                <a:lnTo>
                  <a:pt x="1408959" y="124898"/>
                </a:lnTo>
                <a:lnTo>
                  <a:pt x="1389009" y="147576"/>
                </a:lnTo>
                <a:lnTo>
                  <a:pt x="1385569" y="148284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 txBox="1"/>
          <p:nvPr/>
        </p:nvSpPr>
        <p:spPr>
          <a:xfrm>
            <a:off x="667402" y="6812787"/>
            <a:ext cx="5574665" cy="404495"/>
          </a:xfrm>
          <a:prstGeom prst="rect">
            <a:avLst/>
          </a:prstGeom>
        </p:spPr>
        <p:txBody>
          <a:bodyPr wrap="square" lIns="0" tIns="495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90"/>
              </a:spcBef>
            </a:pPr>
            <a:r>
              <a:rPr dirty="0" sz="1000" spc="-85" b="1">
                <a:solidFill>
                  <a:srgbClr val="111726"/>
                </a:solidFill>
                <a:latin typeface="Source Han Sans JP"/>
                <a:cs typeface="Source Han Sans JP"/>
              </a:rPr>
              <a:t>Actual</a:t>
            </a:r>
            <a:r>
              <a:rPr dirty="0" sz="1000" spc="-25" b="1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100" b="1">
                <a:solidFill>
                  <a:srgbClr val="111726"/>
                </a:solidFill>
                <a:latin typeface="Source Han Sans JP"/>
                <a:cs typeface="Source Han Sans JP"/>
              </a:rPr>
              <a:t>captured</a:t>
            </a:r>
            <a:r>
              <a:rPr dirty="0" sz="1000" spc="-20" b="1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90" b="1">
                <a:solidFill>
                  <a:srgbClr val="111726"/>
                </a:solidFill>
                <a:latin typeface="Source Han Sans JP"/>
                <a:cs typeface="Source Han Sans JP"/>
              </a:rPr>
              <a:t>output:</a:t>
            </a:r>
            <a:r>
              <a:rPr dirty="0" sz="1000" spc="-25" b="1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100">
                <a:solidFill>
                  <a:srgbClr val="111726"/>
                </a:solidFill>
                <a:latin typeface="Source Han Sans JP"/>
                <a:cs typeface="Source Han Sans JP"/>
              </a:rPr>
              <a:t>download</a:t>
            </a:r>
            <a:r>
              <a:rPr dirty="0" sz="1000" spc="-20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85">
                <a:solidFill>
                  <a:srgbClr val="111726"/>
                </a:solidFill>
                <a:latin typeface="Source Han Sans JP"/>
                <a:cs typeface="Source Han Sans JP"/>
              </a:rPr>
              <a:t>progress</a:t>
            </a:r>
            <a:r>
              <a:rPr dirty="0" sz="1000" spc="-2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85">
                <a:solidFill>
                  <a:srgbClr val="111726"/>
                </a:solidFill>
                <a:latin typeface="Source Han Sans JP"/>
                <a:cs typeface="Source Han Sans JP"/>
              </a:rPr>
              <a:t>bars</a:t>
            </a:r>
            <a:r>
              <a:rPr dirty="0" sz="1000" spc="-20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30">
                <a:solidFill>
                  <a:srgbClr val="111726"/>
                </a:solidFill>
                <a:latin typeface="Source Han Sans JP"/>
                <a:cs typeface="Source Han Sans JP"/>
              </a:rPr>
              <a:t>for</a:t>
            </a:r>
            <a:r>
              <a:rPr dirty="0" sz="1000" spc="210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800">
                <a:solidFill>
                  <a:srgbClr val="111726"/>
                </a:solidFill>
                <a:latin typeface="Courier New"/>
                <a:cs typeface="Courier New"/>
              </a:rPr>
              <a:t>config.json</a:t>
            </a:r>
            <a:r>
              <a:rPr dirty="0" sz="800" spc="-254">
                <a:solidFill>
                  <a:srgbClr val="111726"/>
                </a:solidFill>
                <a:latin typeface="Courier New"/>
                <a:cs typeface="Courier New"/>
              </a:rPr>
              <a:t> </a:t>
            </a:r>
            <a:r>
              <a:rPr dirty="0" sz="1000">
                <a:solidFill>
                  <a:srgbClr val="111726"/>
                </a:solidFill>
                <a:latin typeface="Source Han Sans JP"/>
                <a:cs typeface="Source Han Sans JP"/>
              </a:rPr>
              <a:t>,</a:t>
            </a:r>
            <a:r>
              <a:rPr dirty="0" sz="1000" spc="210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800">
                <a:solidFill>
                  <a:srgbClr val="111726"/>
                </a:solidFill>
                <a:latin typeface="Courier New"/>
                <a:cs typeface="Courier New"/>
              </a:rPr>
              <a:t>model.safetensors</a:t>
            </a:r>
            <a:r>
              <a:rPr dirty="0" sz="800" spc="-50">
                <a:solidFill>
                  <a:srgbClr val="111726"/>
                </a:solidFill>
                <a:latin typeface="Courier New"/>
                <a:cs typeface="Courier New"/>
              </a:rPr>
              <a:t> </a:t>
            </a:r>
            <a:r>
              <a:rPr dirty="0" sz="1000" spc="-55">
                <a:solidFill>
                  <a:srgbClr val="111726"/>
                </a:solidFill>
                <a:latin typeface="Source Han Sans JP"/>
                <a:cs typeface="Source Han Sans JP"/>
              </a:rPr>
              <a:t>(~</a:t>
            </a:r>
            <a:r>
              <a:rPr dirty="0" sz="900" spc="-55">
                <a:solidFill>
                  <a:srgbClr val="111726"/>
                </a:solidFill>
                <a:latin typeface="Arial"/>
                <a:cs typeface="Arial"/>
              </a:rPr>
              <a:t>988</a:t>
            </a:r>
            <a:r>
              <a:rPr dirty="0" sz="900" spc="-45">
                <a:solidFill>
                  <a:srgbClr val="111726"/>
                </a:solidFill>
                <a:latin typeface="Arial"/>
                <a:cs typeface="Arial"/>
              </a:rPr>
              <a:t> </a:t>
            </a:r>
            <a:r>
              <a:rPr dirty="0" sz="1000" spc="-20">
                <a:solidFill>
                  <a:srgbClr val="111726"/>
                </a:solidFill>
                <a:latin typeface="Source Han Sans JP"/>
                <a:cs typeface="Source Han Sans JP"/>
              </a:rPr>
              <a:t>MB),</a:t>
            </a:r>
            <a:endParaRPr sz="1000">
              <a:latin typeface="Source Han Sans JP"/>
              <a:cs typeface="Source Han Sans JP"/>
            </a:endParaRPr>
          </a:p>
          <a:p>
            <a:pPr marL="39370">
              <a:lnSpc>
                <a:spcPct val="100000"/>
              </a:lnSpc>
              <a:spcBef>
                <a:spcPts val="285"/>
              </a:spcBef>
            </a:pPr>
            <a:r>
              <a:rPr dirty="0" sz="800">
                <a:solidFill>
                  <a:srgbClr val="111726"/>
                </a:solidFill>
                <a:latin typeface="Courier New"/>
                <a:cs typeface="Courier New"/>
              </a:rPr>
              <a:t>generation_config.json</a:t>
            </a:r>
            <a:r>
              <a:rPr dirty="0" sz="800" spc="-260">
                <a:solidFill>
                  <a:srgbClr val="111726"/>
                </a:solidFill>
                <a:latin typeface="Courier New"/>
                <a:cs typeface="Courier New"/>
              </a:rPr>
              <a:t> </a:t>
            </a:r>
            <a:r>
              <a:rPr dirty="0" sz="1000">
                <a:solidFill>
                  <a:srgbClr val="111726"/>
                </a:solidFill>
                <a:latin typeface="Source Han Sans JP"/>
                <a:cs typeface="Source Han Sans JP"/>
              </a:rPr>
              <a:t>,</a:t>
            </a:r>
            <a:r>
              <a:rPr dirty="0" sz="1000" spc="210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800">
                <a:solidFill>
                  <a:srgbClr val="111726"/>
                </a:solidFill>
                <a:latin typeface="Courier New"/>
                <a:cs typeface="Courier New"/>
              </a:rPr>
              <a:t>tokenizer_config.json</a:t>
            </a:r>
            <a:r>
              <a:rPr dirty="0" sz="800" spc="-254">
                <a:solidFill>
                  <a:srgbClr val="111726"/>
                </a:solidFill>
                <a:latin typeface="Courier New"/>
                <a:cs typeface="Courier New"/>
              </a:rPr>
              <a:t> </a:t>
            </a:r>
            <a:r>
              <a:rPr dirty="0" sz="1000">
                <a:solidFill>
                  <a:srgbClr val="111726"/>
                </a:solidFill>
                <a:latin typeface="Source Han Sans JP"/>
                <a:cs typeface="Source Han Sans JP"/>
              </a:rPr>
              <a:t>,</a:t>
            </a:r>
            <a:r>
              <a:rPr dirty="0" sz="1000" spc="210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800">
                <a:solidFill>
                  <a:srgbClr val="111726"/>
                </a:solidFill>
                <a:latin typeface="Courier New"/>
                <a:cs typeface="Courier New"/>
              </a:rPr>
              <a:t>vocab.json</a:t>
            </a:r>
            <a:r>
              <a:rPr dirty="0" sz="800" spc="-254">
                <a:solidFill>
                  <a:srgbClr val="111726"/>
                </a:solidFill>
                <a:latin typeface="Courier New"/>
                <a:cs typeface="Courier New"/>
              </a:rPr>
              <a:t> </a:t>
            </a:r>
            <a:r>
              <a:rPr dirty="0" sz="1000">
                <a:solidFill>
                  <a:srgbClr val="111726"/>
                </a:solidFill>
                <a:latin typeface="Source Han Sans JP"/>
                <a:cs typeface="Source Han Sans JP"/>
              </a:rPr>
              <a:t>,</a:t>
            </a:r>
            <a:r>
              <a:rPr dirty="0" sz="1000" spc="210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800">
                <a:solidFill>
                  <a:srgbClr val="111726"/>
                </a:solidFill>
                <a:latin typeface="Courier New"/>
                <a:cs typeface="Courier New"/>
              </a:rPr>
              <a:t>merges.txt</a:t>
            </a:r>
            <a:r>
              <a:rPr dirty="0" sz="800" spc="-260">
                <a:solidFill>
                  <a:srgbClr val="111726"/>
                </a:solidFill>
                <a:latin typeface="Courier New"/>
                <a:cs typeface="Courier New"/>
              </a:rPr>
              <a:t> </a:t>
            </a:r>
            <a:r>
              <a:rPr dirty="0" sz="1000">
                <a:solidFill>
                  <a:srgbClr val="111726"/>
                </a:solidFill>
                <a:latin typeface="Source Han Sans JP"/>
                <a:cs typeface="Source Han Sans JP"/>
              </a:rPr>
              <a:t>,</a:t>
            </a:r>
            <a:r>
              <a:rPr dirty="0" sz="1000" spc="210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800">
                <a:solidFill>
                  <a:srgbClr val="111726"/>
                </a:solidFill>
                <a:latin typeface="Courier New"/>
                <a:cs typeface="Courier New"/>
              </a:rPr>
              <a:t>tokenizer.json</a:t>
            </a:r>
            <a:r>
              <a:rPr dirty="0" sz="800" spc="-254">
                <a:solidFill>
                  <a:srgbClr val="111726"/>
                </a:solidFill>
                <a:latin typeface="Courier New"/>
                <a:cs typeface="Courier New"/>
              </a:rPr>
              <a:t> </a:t>
            </a:r>
            <a:r>
              <a:rPr dirty="0" sz="1000" spc="-50">
                <a:solidFill>
                  <a:srgbClr val="111726"/>
                </a:solidFill>
                <a:latin typeface="Source Han Sans JP"/>
                <a:cs typeface="Source Han Sans JP"/>
              </a:rPr>
              <a:t>,</a:t>
            </a:r>
            <a:r>
              <a:rPr dirty="0" sz="1000" spc="-20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10">
                <a:solidFill>
                  <a:srgbClr val="111726"/>
                </a:solidFill>
                <a:latin typeface="Source Han Sans JP"/>
                <a:cs typeface="Source Han Sans JP"/>
              </a:rPr>
              <a:t>then:</a:t>
            </a:r>
            <a:endParaRPr sz="1000">
              <a:latin typeface="Source Han Sans JP"/>
              <a:cs typeface="Source Han Sans JP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761782" y="7440453"/>
            <a:ext cx="1504950" cy="1485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LLM</a:t>
            </a:r>
            <a:r>
              <a:rPr dirty="0" sz="800" spc="2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loaded</a:t>
            </a:r>
            <a:r>
              <a:rPr dirty="0" sz="800" spc="2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 spc="-10">
                <a:solidFill>
                  <a:srgbClr val="E4E7EB"/>
                </a:solidFill>
                <a:latin typeface="Courier New"/>
                <a:cs typeface="Courier New"/>
              </a:rPr>
              <a:t>successfully!</a:t>
            </a:r>
            <a:endParaRPr sz="800">
              <a:latin typeface="Courier New"/>
              <a:cs typeface="Courier New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667402" y="8007063"/>
            <a:ext cx="1989455" cy="24511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450" spc="-130" b="1">
                <a:solidFill>
                  <a:srgbClr val="111726"/>
                </a:solidFill>
                <a:latin typeface="Source Han Sans JP"/>
                <a:cs typeface="Source Han Sans JP"/>
              </a:rPr>
              <a:t>Cell</a:t>
            </a:r>
            <a:r>
              <a:rPr dirty="0" sz="1450" spc="-45" b="1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300" spc="-80" b="1">
                <a:solidFill>
                  <a:srgbClr val="111726"/>
                </a:solidFill>
                <a:latin typeface="Trebuchet MS"/>
                <a:cs typeface="Trebuchet MS"/>
              </a:rPr>
              <a:t>11</a:t>
            </a:r>
            <a:r>
              <a:rPr dirty="0" sz="1300" spc="-110" b="1">
                <a:solidFill>
                  <a:srgbClr val="111726"/>
                </a:solidFill>
                <a:latin typeface="Trebuchet MS"/>
                <a:cs typeface="Trebuchet MS"/>
              </a:rPr>
              <a:t> </a:t>
            </a:r>
            <a:r>
              <a:rPr dirty="0" sz="1350" spc="-285" b="1">
                <a:solidFill>
                  <a:srgbClr val="111726"/>
                </a:solidFill>
                <a:latin typeface="Arial"/>
                <a:cs typeface="Arial"/>
              </a:rPr>
              <a:t>—</a:t>
            </a:r>
            <a:r>
              <a:rPr dirty="0" sz="1350" spc="-95" b="1">
                <a:solidFill>
                  <a:srgbClr val="111726"/>
                </a:solidFill>
                <a:latin typeface="Arial"/>
                <a:cs typeface="Arial"/>
              </a:rPr>
              <a:t> </a:t>
            </a:r>
            <a:r>
              <a:rPr dirty="0" sz="1450" spc="-150" b="1">
                <a:solidFill>
                  <a:srgbClr val="111726"/>
                </a:solidFill>
                <a:latin typeface="Source Han Sans JP"/>
                <a:cs typeface="Source Han Sans JP"/>
              </a:rPr>
              <a:t>Build</a:t>
            </a:r>
            <a:r>
              <a:rPr dirty="0" sz="1450" spc="-45" b="1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450" spc="-160" b="1">
                <a:solidFill>
                  <a:srgbClr val="111726"/>
                </a:solidFill>
                <a:latin typeface="Source Han Sans JP"/>
                <a:cs typeface="Source Han Sans JP"/>
              </a:rPr>
              <a:t>the</a:t>
            </a:r>
            <a:r>
              <a:rPr dirty="0" sz="1450" spc="-40" b="1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450" spc="-150" b="1">
                <a:solidFill>
                  <a:srgbClr val="111726"/>
                </a:solidFill>
                <a:latin typeface="Source Han Sans JP"/>
                <a:cs typeface="Source Han Sans JP"/>
              </a:rPr>
              <a:t>prompt</a:t>
            </a:r>
            <a:endParaRPr sz="1450">
              <a:latin typeface="Source Han Sans JP"/>
              <a:cs typeface="Source Han Sans JP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80102" y="571523"/>
            <a:ext cx="6202680" cy="3923665"/>
          </a:xfrm>
          <a:custGeom>
            <a:avLst/>
            <a:gdLst/>
            <a:ahLst/>
            <a:cxnLst/>
            <a:rect l="l" t="t" r="r" b="b"/>
            <a:pathLst>
              <a:path w="6202680" h="3923665">
                <a:moveTo>
                  <a:pt x="6151728" y="3923487"/>
                </a:moveTo>
                <a:lnTo>
                  <a:pt x="50390" y="3923487"/>
                </a:lnTo>
                <a:lnTo>
                  <a:pt x="46883" y="3923143"/>
                </a:lnTo>
                <a:lnTo>
                  <a:pt x="13292" y="3905157"/>
                </a:lnTo>
                <a:lnTo>
                  <a:pt x="0" y="3873108"/>
                </a:lnTo>
                <a:lnTo>
                  <a:pt x="0" y="3869583"/>
                </a:lnTo>
                <a:lnTo>
                  <a:pt x="0" y="50378"/>
                </a:lnTo>
                <a:lnTo>
                  <a:pt x="18300" y="13246"/>
                </a:lnTo>
                <a:lnTo>
                  <a:pt x="50390" y="0"/>
                </a:lnTo>
                <a:lnTo>
                  <a:pt x="6151728" y="0"/>
                </a:lnTo>
                <a:lnTo>
                  <a:pt x="6188826" y="18249"/>
                </a:lnTo>
                <a:lnTo>
                  <a:pt x="6202118" y="50378"/>
                </a:lnTo>
                <a:lnTo>
                  <a:pt x="6202118" y="3873108"/>
                </a:lnTo>
                <a:lnTo>
                  <a:pt x="6183818" y="3910186"/>
                </a:lnTo>
                <a:lnTo>
                  <a:pt x="6155235" y="3923143"/>
                </a:lnTo>
                <a:lnTo>
                  <a:pt x="6151728" y="3923487"/>
                </a:lnTo>
                <a:close/>
              </a:path>
            </a:pathLst>
          </a:custGeom>
          <a:solidFill>
            <a:srgbClr val="0E172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680102" y="9726390"/>
            <a:ext cx="6202680" cy="6985"/>
          </a:xfrm>
          <a:custGeom>
            <a:avLst/>
            <a:gdLst/>
            <a:ahLst/>
            <a:cxnLst/>
            <a:rect l="l" t="t" r="r" b="b"/>
            <a:pathLst>
              <a:path w="6202680" h="6984">
                <a:moveTo>
                  <a:pt x="6202119" y="6741"/>
                </a:moveTo>
                <a:lnTo>
                  <a:pt x="0" y="6741"/>
                </a:lnTo>
                <a:lnTo>
                  <a:pt x="0" y="0"/>
                </a:lnTo>
                <a:lnTo>
                  <a:pt x="6202119" y="0"/>
                </a:lnTo>
                <a:lnTo>
                  <a:pt x="6202119" y="6741"/>
                </a:lnTo>
                <a:close/>
              </a:path>
            </a:pathLst>
          </a:custGeom>
          <a:solidFill>
            <a:srgbClr val="E4E7E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761782" y="672063"/>
            <a:ext cx="3724275" cy="370840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context</a:t>
            </a:r>
            <a:r>
              <a:rPr dirty="0" sz="800" spc="3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=</a:t>
            </a:r>
            <a:r>
              <a:rPr dirty="0" sz="800" spc="4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"\n\n".join([doc.page_content</a:t>
            </a:r>
            <a:r>
              <a:rPr dirty="0" sz="800" spc="4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for</a:t>
            </a:r>
            <a:r>
              <a:rPr dirty="0" sz="800" spc="4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doc</a:t>
            </a:r>
            <a:r>
              <a:rPr dirty="0" sz="800" spc="3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in</a:t>
            </a:r>
            <a:r>
              <a:rPr dirty="0" sz="800" spc="4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 spc="-10">
                <a:solidFill>
                  <a:srgbClr val="E4E7EB"/>
                </a:solidFill>
                <a:latin typeface="Courier New"/>
                <a:cs typeface="Courier New"/>
              </a:rPr>
              <a:t>results])</a:t>
            </a:r>
            <a:endParaRPr sz="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endParaRPr sz="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prompt</a:t>
            </a:r>
            <a:r>
              <a:rPr dirty="0" sz="800" spc="2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=</a:t>
            </a:r>
            <a:r>
              <a:rPr dirty="0" sz="800" spc="2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 spc="-20">
                <a:solidFill>
                  <a:srgbClr val="E4E7EB"/>
                </a:solidFill>
                <a:latin typeface="Courier New"/>
                <a:cs typeface="Courier New"/>
              </a:rPr>
              <a:t>f"""</a:t>
            </a:r>
            <a:endParaRPr sz="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420"/>
              </a:spcBef>
            </a:pP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You</a:t>
            </a:r>
            <a:r>
              <a:rPr dirty="0" sz="800" spc="3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are</a:t>
            </a:r>
            <a:r>
              <a:rPr dirty="0" sz="800" spc="3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a</a:t>
            </a:r>
            <a:r>
              <a:rPr dirty="0" sz="800" spc="3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question-answering</a:t>
            </a:r>
            <a:r>
              <a:rPr dirty="0" sz="800" spc="3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 spc="-10">
                <a:solidFill>
                  <a:srgbClr val="E4E7EB"/>
                </a:solidFill>
                <a:latin typeface="Courier New"/>
                <a:cs typeface="Courier New"/>
              </a:rPr>
              <a:t>assistant.</a:t>
            </a:r>
            <a:endParaRPr sz="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endParaRPr sz="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Answer</a:t>
            </a:r>
            <a:r>
              <a:rPr dirty="0" sz="800" spc="2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ONLY</a:t>
            </a:r>
            <a:r>
              <a:rPr dirty="0" sz="800" spc="3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using</a:t>
            </a:r>
            <a:r>
              <a:rPr dirty="0" sz="800" spc="3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the</a:t>
            </a:r>
            <a:r>
              <a:rPr dirty="0" sz="800" spc="2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provided</a:t>
            </a:r>
            <a:r>
              <a:rPr dirty="0" sz="800" spc="3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 spc="-10">
                <a:solidFill>
                  <a:srgbClr val="E4E7EB"/>
                </a:solidFill>
                <a:latin typeface="Courier New"/>
                <a:cs typeface="Courier New"/>
              </a:rPr>
              <a:t>context.</a:t>
            </a:r>
            <a:endParaRPr sz="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530"/>
              </a:spcBef>
            </a:pPr>
            <a:endParaRPr sz="800">
              <a:latin typeface="Courier New"/>
              <a:cs typeface="Courier New"/>
            </a:endParaRPr>
          </a:p>
          <a:p>
            <a:pPr marL="12700" marR="497840">
              <a:lnSpc>
                <a:spcPct val="143800"/>
              </a:lnSpc>
            </a:pP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If</a:t>
            </a:r>
            <a:r>
              <a:rPr dirty="0" sz="800" spc="2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the</a:t>
            </a:r>
            <a:r>
              <a:rPr dirty="0" sz="800" spc="2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answer</a:t>
            </a:r>
            <a:r>
              <a:rPr dirty="0" sz="800" spc="2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is</a:t>
            </a:r>
            <a:r>
              <a:rPr dirty="0" sz="800" spc="2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not</a:t>
            </a:r>
            <a:r>
              <a:rPr dirty="0" sz="800" spc="2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present</a:t>
            </a:r>
            <a:r>
              <a:rPr dirty="0" sz="800" spc="2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in</a:t>
            </a:r>
            <a:r>
              <a:rPr dirty="0" sz="800" spc="2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the</a:t>
            </a:r>
            <a:r>
              <a:rPr dirty="0" sz="800" spc="2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context,</a:t>
            </a:r>
            <a:r>
              <a:rPr dirty="0" sz="800" spc="2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 spc="-10">
                <a:solidFill>
                  <a:srgbClr val="E4E7EB"/>
                </a:solidFill>
                <a:latin typeface="Courier New"/>
                <a:cs typeface="Courier New"/>
              </a:rPr>
              <a:t>reply: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"I</a:t>
            </a:r>
            <a:r>
              <a:rPr dirty="0" sz="800" spc="2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don't</a:t>
            </a:r>
            <a:r>
              <a:rPr dirty="0" sz="800" spc="3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have</a:t>
            </a:r>
            <a:r>
              <a:rPr dirty="0" sz="800" spc="2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enough</a:t>
            </a:r>
            <a:r>
              <a:rPr dirty="0" sz="800" spc="3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information</a:t>
            </a:r>
            <a:r>
              <a:rPr dirty="0" sz="800" spc="2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from</a:t>
            </a:r>
            <a:r>
              <a:rPr dirty="0" sz="800" spc="3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the</a:t>
            </a:r>
            <a:r>
              <a:rPr dirty="0" sz="800" spc="2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 spc="-10">
                <a:solidFill>
                  <a:srgbClr val="E4E7EB"/>
                </a:solidFill>
                <a:latin typeface="Courier New"/>
                <a:cs typeface="Courier New"/>
              </a:rPr>
              <a:t>document."</a:t>
            </a:r>
            <a:endParaRPr sz="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525"/>
              </a:spcBef>
            </a:pPr>
            <a:endParaRPr sz="800">
              <a:latin typeface="Courier New"/>
              <a:cs typeface="Courier New"/>
            </a:endParaRPr>
          </a:p>
          <a:p>
            <a:pPr marL="12700" marR="1915795">
              <a:lnSpc>
                <a:spcPct val="143800"/>
              </a:lnSpc>
            </a:pP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Do</a:t>
            </a:r>
            <a:r>
              <a:rPr dirty="0" sz="800" spc="1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not</a:t>
            </a:r>
            <a:r>
              <a:rPr dirty="0" sz="800" spc="2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add</a:t>
            </a:r>
            <a:r>
              <a:rPr dirty="0" sz="800" spc="2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extra</a:t>
            </a:r>
            <a:r>
              <a:rPr dirty="0" sz="800" spc="2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 spc="-10">
                <a:solidFill>
                  <a:srgbClr val="E4E7EB"/>
                </a:solidFill>
                <a:latin typeface="Courier New"/>
                <a:cs typeface="Courier New"/>
              </a:rPr>
              <a:t>information.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Do</a:t>
            </a:r>
            <a:r>
              <a:rPr dirty="0" sz="800" spc="1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not</a:t>
            </a:r>
            <a:r>
              <a:rPr dirty="0" sz="800" spc="2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make</a:t>
            </a:r>
            <a:r>
              <a:rPr dirty="0" sz="800" spc="2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 spc="-10">
                <a:solidFill>
                  <a:srgbClr val="E4E7EB"/>
                </a:solidFill>
                <a:latin typeface="Courier New"/>
                <a:cs typeface="Courier New"/>
              </a:rPr>
              <a:t>assumptions.</a:t>
            </a:r>
            <a:endParaRPr sz="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endParaRPr sz="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dirty="0" sz="800" spc="-10">
                <a:solidFill>
                  <a:srgbClr val="E4E7EB"/>
                </a:solidFill>
                <a:latin typeface="Courier New"/>
                <a:cs typeface="Courier New"/>
              </a:rPr>
              <a:t>Context:</a:t>
            </a:r>
            <a:endParaRPr sz="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420"/>
              </a:spcBef>
            </a:pPr>
            <a:r>
              <a:rPr dirty="0" sz="800" spc="-10">
                <a:solidFill>
                  <a:srgbClr val="E4E7EB"/>
                </a:solidFill>
                <a:latin typeface="Courier New"/>
                <a:cs typeface="Courier New"/>
              </a:rPr>
              <a:t>{context}</a:t>
            </a:r>
            <a:endParaRPr sz="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endParaRPr sz="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dirty="0" sz="800" spc="-10">
                <a:solidFill>
                  <a:srgbClr val="E4E7EB"/>
                </a:solidFill>
                <a:latin typeface="Courier New"/>
                <a:cs typeface="Courier New"/>
              </a:rPr>
              <a:t>Question:</a:t>
            </a:r>
            <a:endParaRPr sz="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475"/>
              </a:spcBef>
            </a:pPr>
            <a:r>
              <a:rPr dirty="0" sz="800" spc="-10">
                <a:solidFill>
                  <a:srgbClr val="E4E7EB"/>
                </a:solidFill>
                <a:latin typeface="Courier New"/>
                <a:cs typeface="Courier New"/>
              </a:rPr>
              <a:t>{query}</a:t>
            </a:r>
            <a:endParaRPr sz="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420"/>
              </a:spcBef>
            </a:pPr>
            <a:endParaRPr sz="800">
              <a:latin typeface="Courier New"/>
              <a:cs typeface="Courier New"/>
            </a:endParaRPr>
          </a:p>
          <a:p>
            <a:pPr marL="12700" marR="3271520">
              <a:lnSpc>
                <a:spcPct val="149300"/>
              </a:lnSpc>
            </a:pPr>
            <a:r>
              <a:rPr dirty="0" sz="800" spc="-10">
                <a:solidFill>
                  <a:srgbClr val="E4E7EB"/>
                </a:solidFill>
                <a:latin typeface="Courier New"/>
                <a:cs typeface="Courier New"/>
              </a:rPr>
              <a:t>Answer: </a:t>
            </a:r>
            <a:r>
              <a:rPr dirty="0" sz="800" spc="-25">
                <a:solidFill>
                  <a:srgbClr val="E4E7EB"/>
                </a:solidFill>
                <a:latin typeface="Courier New"/>
                <a:cs typeface="Courier New"/>
              </a:rPr>
              <a:t>"""</a:t>
            </a:r>
            <a:endParaRPr sz="800">
              <a:latin typeface="Courier New"/>
              <a:cs typeface="Courier New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54253" y="4973637"/>
            <a:ext cx="2568575" cy="316865"/>
          </a:xfrm>
          <a:custGeom>
            <a:avLst/>
            <a:gdLst/>
            <a:ahLst/>
            <a:cxnLst/>
            <a:rect l="l" t="t" r="r" b="b"/>
            <a:pathLst>
              <a:path w="2568575" h="316864">
                <a:moveTo>
                  <a:pt x="970762" y="198640"/>
                </a:moveTo>
                <a:lnTo>
                  <a:pt x="947369" y="175260"/>
                </a:lnTo>
                <a:lnTo>
                  <a:pt x="0" y="175260"/>
                </a:lnTo>
                <a:lnTo>
                  <a:pt x="0" y="316852"/>
                </a:lnTo>
                <a:lnTo>
                  <a:pt x="947369" y="316852"/>
                </a:lnTo>
                <a:lnTo>
                  <a:pt x="970762" y="293446"/>
                </a:lnTo>
                <a:lnTo>
                  <a:pt x="970762" y="198640"/>
                </a:lnTo>
                <a:close/>
              </a:path>
              <a:path w="2568575" h="316864">
                <a:moveTo>
                  <a:pt x="2568486" y="0"/>
                </a:moveTo>
                <a:lnTo>
                  <a:pt x="23393" y="0"/>
                </a:lnTo>
                <a:lnTo>
                  <a:pt x="19951" y="698"/>
                </a:lnTo>
                <a:lnTo>
                  <a:pt x="13335" y="3403"/>
                </a:lnTo>
                <a:lnTo>
                  <a:pt x="10426" y="5359"/>
                </a:lnTo>
                <a:lnTo>
                  <a:pt x="7899" y="7912"/>
                </a:lnTo>
                <a:lnTo>
                  <a:pt x="5372" y="10414"/>
                </a:lnTo>
                <a:lnTo>
                  <a:pt x="3416" y="13335"/>
                </a:lnTo>
                <a:lnTo>
                  <a:pt x="685" y="19939"/>
                </a:lnTo>
                <a:lnTo>
                  <a:pt x="0" y="23393"/>
                </a:lnTo>
                <a:lnTo>
                  <a:pt x="0" y="118160"/>
                </a:lnTo>
                <a:lnTo>
                  <a:pt x="23393" y="141566"/>
                </a:lnTo>
                <a:lnTo>
                  <a:pt x="2568486" y="141566"/>
                </a:lnTo>
                <a:lnTo>
                  <a:pt x="2568486" y="0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5176634" y="4973662"/>
            <a:ext cx="1146175" cy="316865"/>
          </a:xfrm>
          <a:custGeom>
            <a:avLst/>
            <a:gdLst/>
            <a:ahLst/>
            <a:cxnLst/>
            <a:rect l="l" t="t" r="r" b="b"/>
            <a:pathLst>
              <a:path w="1146175" h="316864">
                <a:moveTo>
                  <a:pt x="465150" y="198640"/>
                </a:moveTo>
                <a:lnTo>
                  <a:pt x="441769" y="175285"/>
                </a:lnTo>
                <a:lnTo>
                  <a:pt x="23393" y="175285"/>
                </a:lnTo>
                <a:lnTo>
                  <a:pt x="0" y="198640"/>
                </a:lnTo>
                <a:lnTo>
                  <a:pt x="0" y="289890"/>
                </a:lnTo>
                <a:lnTo>
                  <a:pt x="0" y="293433"/>
                </a:lnTo>
                <a:lnTo>
                  <a:pt x="23393" y="316826"/>
                </a:lnTo>
                <a:lnTo>
                  <a:pt x="441769" y="316826"/>
                </a:lnTo>
                <a:lnTo>
                  <a:pt x="465150" y="293433"/>
                </a:lnTo>
                <a:lnTo>
                  <a:pt x="465150" y="198640"/>
                </a:lnTo>
                <a:close/>
              </a:path>
              <a:path w="1146175" h="316864">
                <a:moveTo>
                  <a:pt x="1146035" y="23393"/>
                </a:moveTo>
                <a:lnTo>
                  <a:pt x="1122654" y="0"/>
                </a:lnTo>
                <a:lnTo>
                  <a:pt x="407644" y="0"/>
                </a:lnTo>
                <a:lnTo>
                  <a:pt x="384263" y="23393"/>
                </a:lnTo>
                <a:lnTo>
                  <a:pt x="384263" y="114604"/>
                </a:lnTo>
                <a:lnTo>
                  <a:pt x="384263" y="118160"/>
                </a:lnTo>
                <a:lnTo>
                  <a:pt x="407644" y="141541"/>
                </a:lnTo>
                <a:lnTo>
                  <a:pt x="1122654" y="141541"/>
                </a:lnTo>
                <a:lnTo>
                  <a:pt x="1146035" y="118160"/>
                </a:lnTo>
                <a:lnTo>
                  <a:pt x="1146035" y="23393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3518243" y="5148947"/>
            <a:ext cx="984250" cy="492125"/>
          </a:xfrm>
          <a:custGeom>
            <a:avLst/>
            <a:gdLst/>
            <a:ahLst/>
            <a:cxnLst/>
            <a:rect l="l" t="t" r="r" b="b"/>
            <a:pathLst>
              <a:path w="984250" h="492125">
                <a:moveTo>
                  <a:pt x="525830" y="373913"/>
                </a:moveTo>
                <a:lnTo>
                  <a:pt x="502437" y="350545"/>
                </a:lnTo>
                <a:lnTo>
                  <a:pt x="23380" y="350545"/>
                </a:lnTo>
                <a:lnTo>
                  <a:pt x="0" y="373913"/>
                </a:lnTo>
                <a:lnTo>
                  <a:pt x="0" y="465150"/>
                </a:lnTo>
                <a:lnTo>
                  <a:pt x="0" y="468706"/>
                </a:lnTo>
                <a:lnTo>
                  <a:pt x="23380" y="492099"/>
                </a:lnTo>
                <a:lnTo>
                  <a:pt x="502437" y="492099"/>
                </a:lnTo>
                <a:lnTo>
                  <a:pt x="525830" y="468706"/>
                </a:lnTo>
                <a:lnTo>
                  <a:pt x="525830" y="373913"/>
                </a:lnTo>
                <a:close/>
              </a:path>
              <a:path w="984250" h="492125">
                <a:moveTo>
                  <a:pt x="903351" y="198628"/>
                </a:moveTo>
                <a:lnTo>
                  <a:pt x="879957" y="175272"/>
                </a:lnTo>
                <a:lnTo>
                  <a:pt x="636854" y="175272"/>
                </a:lnTo>
                <a:lnTo>
                  <a:pt x="613460" y="198628"/>
                </a:lnTo>
                <a:lnTo>
                  <a:pt x="613460" y="289877"/>
                </a:lnTo>
                <a:lnTo>
                  <a:pt x="613460" y="293433"/>
                </a:lnTo>
                <a:lnTo>
                  <a:pt x="636854" y="316814"/>
                </a:lnTo>
                <a:lnTo>
                  <a:pt x="879957" y="316814"/>
                </a:lnTo>
                <a:lnTo>
                  <a:pt x="903351" y="293433"/>
                </a:lnTo>
                <a:lnTo>
                  <a:pt x="903351" y="198628"/>
                </a:lnTo>
                <a:close/>
              </a:path>
              <a:path w="984250" h="492125">
                <a:moveTo>
                  <a:pt x="984250" y="23355"/>
                </a:moveTo>
                <a:lnTo>
                  <a:pt x="960856" y="0"/>
                </a:lnTo>
                <a:lnTo>
                  <a:pt x="481799" y="0"/>
                </a:lnTo>
                <a:lnTo>
                  <a:pt x="458419" y="23355"/>
                </a:lnTo>
                <a:lnTo>
                  <a:pt x="458419" y="114604"/>
                </a:lnTo>
                <a:lnTo>
                  <a:pt x="458419" y="118148"/>
                </a:lnTo>
                <a:lnTo>
                  <a:pt x="481799" y="141541"/>
                </a:lnTo>
                <a:lnTo>
                  <a:pt x="960856" y="141541"/>
                </a:lnTo>
                <a:lnTo>
                  <a:pt x="984250" y="118148"/>
                </a:lnTo>
                <a:lnTo>
                  <a:pt x="984250" y="23355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754257" y="5957929"/>
            <a:ext cx="1179830" cy="141605"/>
          </a:xfrm>
          <a:custGeom>
            <a:avLst/>
            <a:gdLst/>
            <a:ahLst/>
            <a:cxnLst/>
            <a:rect l="l" t="t" r="r" b="b"/>
            <a:pathLst>
              <a:path w="1179830" h="141604">
                <a:moveTo>
                  <a:pt x="1156360" y="141543"/>
                </a:moveTo>
                <a:lnTo>
                  <a:pt x="23389" y="141543"/>
                </a:lnTo>
                <a:lnTo>
                  <a:pt x="19950" y="140862"/>
                </a:lnTo>
                <a:lnTo>
                  <a:pt x="0" y="118157"/>
                </a:lnTo>
                <a:lnTo>
                  <a:pt x="0" y="114604"/>
                </a:lnTo>
                <a:lnTo>
                  <a:pt x="0" y="23359"/>
                </a:lnTo>
                <a:lnTo>
                  <a:pt x="23389" y="0"/>
                </a:lnTo>
                <a:lnTo>
                  <a:pt x="1156360" y="0"/>
                </a:lnTo>
                <a:lnTo>
                  <a:pt x="1179750" y="23359"/>
                </a:lnTo>
                <a:lnTo>
                  <a:pt x="1179750" y="118157"/>
                </a:lnTo>
                <a:lnTo>
                  <a:pt x="1159800" y="140862"/>
                </a:lnTo>
                <a:lnTo>
                  <a:pt x="1156360" y="141543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754257" y="6247810"/>
            <a:ext cx="2359660" cy="141605"/>
          </a:xfrm>
          <a:custGeom>
            <a:avLst/>
            <a:gdLst/>
            <a:ahLst/>
            <a:cxnLst/>
            <a:rect l="l" t="t" r="r" b="b"/>
            <a:pathLst>
              <a:path w="2359660" h="141604">
                <a:moveTo>
                  <a:pt x="2336111" y="141543"/>
                </a:moveTo>
                <a:lnTo>
                  <a:pt x="23389" y="141543"/>
                </a:lnTo>
                <a:lnTo>
                  <a:pt x="19950" y="140862"/>
                </a:lnTo>
                <a:lnTo>
                  <a:pt x="0" y="118157"/>
                </a:lnTo>
                <a:lnTo>
                  <a:pt x="0" y="114604"/>
                </a:lnTo>
                <a:lnTo>
                  <a:pt x="0" y="23359"/>
                </a:lnTo>
                <a:lnTo>
                  <a:pt x="23389" y="0"/>
                </a:lnTo>
                <a:lnTo>
                  <a:pt x="2336111" y="0"/>
                </a:lnTo>
                <a:lnTo>
                  <a:pt x="2359501" y="23359"/>
                </a:lnTo>
                <a:lnTo>
                  <a:pt x="2359501" y="118157"/>
                </a:lnTo>
                <a:lnTo>
                  <a:pt x="2339551" y="140862"/>
                </a:lnTo>
                <a:lnTo>
                  <a:pt x="2336111" y="141543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754257" y="6537692"/>
            <a:ext cx="2359660" cy="141605"/>
          </a:xfrm>
          <a:custGeom>
            <a:avLst/>
            <a:gdLst/>
            <a:ahLst/>
            <a:cxnLst/>
            <a:rect l="l" t="t" r="r" b="b"/>
            <a:pathLst>
              <a:path w="2359660" h="141604">
                <a:moveTo>
                  <a:pt x="2336111" y="141543"/>
                </a:moveTo>
                <a:lnTo>
                  <a:pt x="23389" y="141543"/>
                </a:lnTo>
                <a:lnTo>
                  <a:pt x="19950" y="140862"/>
                </a:lnTo>
                <a:lnTo>
                  <a:pt x="0" y="118157"/>
                </a:lnTo>
                <a:lnTo>
                  <a:pt x="0" y="114604"/>
                </a:lnTo>
                <a:lnTo>
                  <a:pt x="0" y="23359"/>
                </a:lnTo>
                <a:lnTo>
                  <a:pt x="23389" y="0"/>
                </a:lnTo>
                <a:lnTo>
                  <a:pt x="2336111" y="0"/>
                </a:lnTo>
                <a:lnTo>
                  <a:pt x="2359501" y="23359"/>
                </a:lnTo>
                <a:lnTo>
                  <a:pt x="2359501" y="118157"/>
                </a:lnTo>
                <a:lnTo>
                  <a:pt x="2339551" y="140862"/>
                </a:lnTo>
                <a:lnTo>
                  <a:pt x="2336111" y="141543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754253" y="6827506"/>
            <a:ext cx="2130425" cy="499109"/>
          </a:xfrm>
          <a:custGeom>
            <a:avLst/>
            <a:gdLst/>
            <a:ahLst/>
            <a:cxnLst/>
            <a:rect l="l" t="t" r="r" b="b"/>
            <a:pathLst>
              <a:path w="2130425" h="499109">
                <a:moveTo>
                  <a:pt x="1860638" y="380695"/>
                </a:moveTo>
                <a:lnTo>
                  <a:pt x="1837245" y="357314"/>
                </a:lnTo>
                <a:lnTo>
                  <a:pt x="0" y="357314"/>
                </a:lnTo>
                <a:lnTo>
                  <a:pt x="0" y="498881"/>
                </a:lnTo>
                <a:lnTo>
                  <a:pt x="1837245" y="498881"/>
                </a:lnTo>
                <a:lnTo>
                  <a:pt x="1860638" y="475488"/>
                </a:lnTo>
                <a:lnTo>
                  <a:pt x="1860638" y="380695"/>
                </a:lnTo>
                <a:close/>
              </a:path>
              <a:path w="2130425" h="499109">
                <a:moveTo>
                  <a:pt x="2096579" y="0"/>
                </a:moveTo>
                <a:lnTo>
                  <a:pt x="23393" y="0"/>
                </a:lnTo>
                <a:lnTo>
                  <a:pt x="19951" y="723"/>
                </a:lnTo>
                <a:lnTo>
                  <a:pt x="13335" y="3429"/>
                </a:lnTo>
                <a:lnTo>
                  <a:pt x="10426" y="5384"/>
                </a:lnTo>
                <a:lnTo>
                  <a:pt x="7899" y="7937"/>
                </a:lnTo>
                <a:lnTo>
                  <a:pt x="5372" y="10439"/>
                </a:lnTo>
                <a:lnTo>
                  <a:pt x="3416" y="13360"/>
                </a:lnTo>
                <a:lnTo>
                  <a:pt x="685" y="19939"/>
                </a:lnTo>
                <a:lnTo>
                  <a:pt x="0" y="23393"/>
                </a:lnTo>
                <a:lnTo>
                  <a:pt x="0" y="118186"/>
                </a:lnTo>
                <a:lnTo>
                  <a:pt x="23393" y="141592"/>
                </a:lnTo>
                <a:lnTo>
                  <a:pt x="2096579" y="141592"/>
                </a:lnTo>
                <a:lnTo>
                  <a:pt x="2096579" y="0"/>
                </a:lnTo>
                <a:close/>
              </a:path>
              <a:path w="2130425" h="499109">
                <a:moveTo>
                  <a:pt x="2130285" y="175285"/>
                </a:moveTo>
                <a:lnTo>
                  <a:pt x="0" y="175285"/>
                </a:lnTo>
                <a:lnTo>
                  <a:pt x="0" y="316839"/>
                </a:lnTo>
                <a:lnTo>
                  <a:pt x="2130285" y="316839"/>
                </a:lnTo>
                <a:lnTo>
                  <a:pt x="2130285" y="175285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754253" y="7474736"/>
            <a:ext cx="1773555" cy="316865"/>
          </a:xfrm>
          <a:custGeom>
            <a:avLst/>
            <a:gdLst/>
            <a:ahLst/>
            <a:cxnLst/>
            <a:rect l="l" t="t" r="r" b="b"/>
            <a:pathLst>
              <a:path w="1773555" h="316865">
                <a:moveTo>
                  <a:pt x="734809" y="198615"/>
                </a:moveTo>
                <a:lnTo>
                  <a:pt x="711428" y="175234"/>
                </a:lnTo>
                <a:lnTo>
                  <a:pt x="0" y="175234"/>
                </a:lnTo>
                <a:lnTo>
                  <a:pt x="0" y="316801"/>
                </a:lnTo>
                <a:lnTo>
                  <a:pt x="711428" y="316801"/>
                </a:lnTo>
                <a:lnTo>
                  <a:pt x="734809" y="293420"/>
                </a:lnTo>
                <a:lnTo>
                  <a:pt x="734809" y="198615"/>
                </a:lnTo>
                <a:close/>
              </a:path>
              <a:path w="1773555" h="316865">
                <a:moveTo>
                  <a:pt x="1772996" y="23355"/>
                </a:moveTo>
                <a:lnTo>
                  <a:pt x="1749602" y="0"/>
                </a:lnTo>
                <a:lnTo>
                  <a:pt x="23393" y="0"/>
                </a:lnTo>
                <a:lnTo>
                  <a:pt x="0" y="23355"/>
                </a:lnTo>
                <a:lnTo>
                  <a:pt x="0" y="114604"/>
                </a:lnTo>
                <a:lnTo>
                  <a:pt x="0" y="118160"/>
                </a:lnTo>
                <a:lnTo>
                  <a:pt x="23393" y="141541"/>
                </a:lnTo>
                <a:lnTo>
                  <a:pt x="1749602" y="141541"/>
                </a:lnTo>
                <a:lnTo>
                  <a:pt x="1772996" y="118160"/>
                </a:lnTo>
                <a:lnTo>
                  <a:pt x="1772996" y="23355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2608152" y="7474699"/>
            <a:ext cx="681355" cy="141605"/>
          </a:xfrm>
          <a:custGeom>
            <a:avLst/>
            <a:gdLst/>
            <a:ahLst/>
            <a:cxnLst/>
            <a:rect l="l" t="t" r="r" b="b"/>
            <a:pathLst>
              <a:path w="681354" h="141604">
                <a:moveTo>
                  <a:pt x="680884" y="141589"/>
                </a:moveTo>
                <a:lnTo>
                  <a:pt x="23389" y="141589"/>
                </a:lnTo>
                <a:lnTo>
                  <a:pt x="19950" y="140867"/>
                </a:lnTo>
                <a:lnTo>
                  <a:pt x="0" y="118189"/>
                </a:lnTo>
                <a:lnTo>
                  <a:pt x="0" y="23391"/>
                </a:lnTo>
                <a:lnTo>
                  <a:pt x="684" y="19939"/>
                </a:lnTo>
                <a:lnTo>
                  <a:pt x="3420" y="13333"/>
                </a:lnTo>
                <a:lnTo>
                  <a:pt x="5369" y="10407"/>
                </a:lnTo>
                <a:lnTo>
                  <a:pt x="7898" y="7906"/>
                </a:lnTo>
                <a:lnTo>
                  <a:pt x="10426" y="5351"/>
                </a:lnTo>
                <a:lnTo>
                  <a:pt x="13342" y="3402"/>
                </a:lnTo>
                <a:lnTo>
                  <a:pt x="19950" y="692"/>
                </a:lnTo>
                <a:lnTo>
                  <a:pt x="23389" y="0"/>
                </a:lnTo>
                <a:lnTo>
                  <a:pt x="680884" y="0"/>
                </a:lnTo>
                <a:lnTo>
                  <a:pt x="680884" y="141589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754257" y="8101705"/>
            <a:ext cx="1179830" cy="141605"/>
          </a:xfrm>
          <a:custGeom>
            <a:avLst/>
            <a:gdLst/>
            <a:ahLst/>
            <a:cxnLst/>
            <a:rect l="l" t="t" r="r" b="b"/>
            <a:pathLst>
              <a:path w="1179830" h="141604">
                <a:moveTo>
                  <a:pt x="1156360" y="141543"/>
                </a:moveTo>
                <a:lnTo>
                  <a:pt x="23389" y="141543"/>
                </a:lnTo>
                <a:lnTo>
                  <a:pt x="19950" y="140835"/>
                </a:lnTo>
                <a:lnTo>
                  <a:pt x="0" y="118157"/>
                </a:lnTo>
                <a:lnTo>
                  <a:pt x="0" y="114604"/>
                </a:lnTo>
                <a:lnTo>
                  <a:pt x="0" y="23359"/>
                </a:lnTo>
                <a:lnTo>
                  <a:pt x="23389" y="0"/>
                </a:lnTo>
                <a:lnTo>
                  <a:pt x="1156360" y="0"/>
                </a:lnTo>
                <a:lnTo>
                  <a:pt x="1179750" y="23359"/>
                </a:lnTo>
                <a:lnTo>
                  <a:pt x="1179750" y="118157"/>
                </a:lnTo>
                <a:lnTo>
                  <a:pt x="1159800" y="140835"/>
                </a:lnTo>
                <a:lnTo>
                  <a:pt x="1156360" y="141543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754257" y="8391587"/>
            <a:ext cx="1119505" cy="141605"/>
          </a:xfrm>
          <a:custGeom>
            <a:avLst/>
            <a:gdLst/>
            <a:ahLst/>
            <a:cxnLst/>
            <a:rect l="l" t="t" r="r" b="b"/>
            <a:pathLst>
              <a:path w="1119505" h="141604">
                <a:moveTo>
                  <a:pt x="1095688" y="141543"/>
                </a:moveTo>
                <a:lnTo>
                  <a:pt x="23389" y="141543"/>
                </a:lnTo>
                <a:lnTo>
                  <a:pt x="19950" y="140862"/>
                </a:lnTo>
                <a:lnTo>
                  <a:pt x="0" y="118157"/>
                </a:lnTo>
                <a:lnTo>
                  <a:pt x="0" y="114604"/>
                </a:lnTo>
                <a:lnTo>
                  <a:pt x="0" y="23386"/>
                </a:lnTo>
                <a:lnTo>
                  <a:pt x="23389" y="0"/>
                </a:lnTo>
                <a:lnTo>
                  <a:pt x="1095688" y="0"/>
                </a:lnTo>
                <a:lnTo>
                  <a:pt x="1119077" y="23386"/>
                </a:lnTo>
                <a:lnTo>
                  <a:pt x="1119077" y="118157"/>
                </a:lnTo>
                <a:lnTo>
                  <a:pt x="1099127" y="140862"/>
                </a:lnTo>
                <a:lnTo>
                  <a:pt x="1095688" y="141543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754257" y="8681468"/>
            <a:ext cx="465455" cy="141605"/>
          </a:xfrm>
          <a:custGeom>
            <a:avLst/>
            <a:gdLst/>
            <a:ahLst/>
            <a:cxnLst/>
            <a:rect l="l" t="t" r="r" b="b"/>
            <a:pathLst>
              <a:path w="465455" h="141604">
                <a:moveTo>
                  <a:pt x="441769" y="141543"/>
                </a:moveTo>
                <a:lnTo>
                  <a:pt x="23389" y="141543"/>
                </a:lnTo>
                <a:lnTo>
                  <a:pt x="19950" y="140835"/>
                </a:lnTo>
                <a:lnTo>
                  <a:pt x="0" y="118157"/>
                </a:lnTo>
                <a:lnTo>
                  <a:pt x="0" y="114604"/>
                </a:lnTo>
                <a:lnTo>
                  <a:pt x="0" y="23359"/>
                </a:lnTo>
                <a:lnTo>
                  <a:pt x="23389" y="0"/>
                </a:lnTo>
                <a:lnTo>
                  <a:pt x="441769" y="0"/>
                </a:lnTo>
                <a:lnTo>
                  <a:pt x="465158" y="23359"/>
                </a:lnTo>
                <a:lnTo>
                  <a:pt x="465158" y="118157"/>
                </a:lnTo>
                <a:lnTo>
                  <a:pt x="445208" y="140835"/>
                </a:lnTo>
                <a:lnTo>
                  <a:pt x="441769" y="141543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graphicFrame>
        <p:nvGraphicFramePr>
          <p:cNvPr id="17" name="object 17"/>
          <p:cNvGraphicFramePr>
            <a:graphicFrameLocks noGrp="1"/>
          </p:cNvGraphicFramePr>
          <p:nvPr/>
        </p:nvGraphicFramePr>
        <p:xfrm>
          <a:off x="680102" y="4602901"/>
          <a:ext cx="6278880" cy="42843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764155"/>
                <a:gridCol w="3431540"/>
              </a:tblGrid>
              <a:tr h="289560">
                <a:tc>
                  <a:txBody>
                    <a:bodyPr/>
                    <a:lstStyle/>
                    <a:p>
                      <a:pPr marL="70485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950" spc="-20" b="1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Line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64769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950" spc="-10" b="1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Explanation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64769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  <a:solidFill>
                      <a:srgbClr val="F7FAFB"/>
                    </a:solidFill>
                  </a:tcPr>
                </a:tc>
              </a:tr>
              <a:tr h="983615">
                <a:tc>
                  <a:txBody>
                    <a:bodyPr/>
                    <a:lstStyle/>
                    <a:p>
                      <a:pPr marL="70485" marR="114300" indent="26670">
                        <a:lnSpc>
                          <a:spcPct val="153300"/>
                        </a:lnSpc>
                        <a:spcBef>
                          <a:spcPts val="229"/>
                        </a:spcBef>
                      </a:pP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context</a:t>
                      </a:r>
                      <a:r>
                        <a:rPr dirty="0" sz="750" spc="12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=</a:t>
                      </a:r>
                      <a:r>
                        <a:rPr dirty="0" sz="750" spc="125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"\n\n".join([doc.page_content</a:t>
                      </a:r>
                      <a:r>
                        <a:rPr dirty="0" sz="750" spc="125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 spc="-25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for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doc</a:t>
                      </a:r>
                      <a:r>
                        <a:rPr dirty="0" sz="750" spc="4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in</a:t>
                      </a:r>
                      <a:r>
                        <a:rPr dirty="0" sz="750" spc="4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 spc="-1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results])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29209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 marR="111125">
                        <a:lnSpc>
                          <a:spcPct val="121100"/>
                        </a:lnSpc>
                        <a:spcBef>
                          <a:spcPts val="270"/>
                        </a:spcBef>
                      </a:pP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Builds</a:t>
                      </a:r>
                      <a:r>
                        <a:rPr dirty="0" sz="950" spc="-2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9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a</a:t>
                      </a:r>
                      <a:r>
                        <a:rPr dirty="0" sz="950" spc="-2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single</a:t>
                      </a:r>
                      <a:r>
                        <a:rPr dirty="0" sz="950" spc="-2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context</a:t>
                      </a:r>
                      <a:r>
                        <a:rPr dirty="0" sz="950" spc="-2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string</a:t>
                      </a:r>
                      <a:r>
                        <a:rPr dirty="0" sz="950" spc="-2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by</a:t>
                      </a:r>
                      <a:r>
                        <a:rPr dirty="0" sz="950" spc="-2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taking</a:t>
                      </a:r>
                      <a:r>
                        <a:rPr dirty="0" sz="950" spc="-2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2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the</a:t>
                      </a:r>
                      <a:r>
                        <a:rPr dirty="0" sz="950" spc="19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page_content</a:t>
                      </a:r>
                      <a:r>
                        <a:rPr dirty="0" sz="750" spc="-35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of</a:t>
                      </a:r>
                      <a:r>
                        <a:rPr dirty="0" sz="950" spc="-2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2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every</a:t>
                      </a:r>
                      <a:r>
                        <a:rPr dirty="0" sz="950" spc="50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6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retrieved</a:t>
                      </a:r>
                      <a:r>
                        <a:rPr dirty="0" sz="950" spc="1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Document</a:t>
                      </a:r>
                      <a:r>
                        <a:rPr dirty="0" sz="750" spc="-55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(from</a:t>
                      </a:r>
                      <a:r>
                        <a:rPr dirty="0" sz="950" spc="-3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6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Cell</a:t>
                      </a:r>
                      <a:r>
                        <a:rPr dirty="0" sz="950" spc="-3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850" spc="-10">
                          <a:solidFill>
                            <a:srgbClr val="111726"/>
                          </a:solidFill>
                          <a:latin typeface="Arial"/>
                          <a:cs typeface="Arial"/>
                        </a:rPr>
                        <a:t>9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's</a:t>
                      </a:r>
                      <a:r>
                        <a:rPr dirty="0" sz="950" spc="1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results</a:t>
                      </a:r>
                      <a:r>
                        <a:rPr dirty="0" sz="750" spc="-24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950" spc="-6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)</a:t>
                      </a:r>
                      <a:r>
                        <a:rPr dirty="0" sz="950" spc="-3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and</a:t>
                      </a:r>
                      <a:r>
                        <a:rPr dirty="0" sz="950" spc="-3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joining</a:t>
                      </a:r>
                      <a:r>
                        <a:rPr dirty="0" sz="950" spc="-3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them</a:t>
                      </a:r>
                      <a:r>
                        <a:rPr dirty="0" sz="950" spc="-3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2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with</a:t>
                      </a:r>
                      <a:r>
                        <a:rPr dirty="0" sz="950" spc="50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9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a</a:t>
                      </a:r>
                      <a:r>
                        <a:rPr dirty="0" sz="950" spc="-2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blank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6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line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(</a:t>
                      </a:r>
                      <a:r>
                        <a:rPr dirty="0" sz="950" spc="2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\n\n</a:t>
                      </a:r>
                      <a:r>
                        <a:rPr dirty="0" sz="750" spc="-215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950" spc="-6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)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between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each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00" spc="-180">
                          <a:solidFill>
                            <a:srgbClr val="111726"/>
                          </a:solidFill>
                          <a:latin typeface="Arial"/>
                          <a:cs typeface="Arial"/>
                        </a:rPr>
                        <a:t>—</a:t>
                      </a:r>
                      <a:r>
                        <a:rPr dirty="0" sz="900" spc="-50">
                          <a:solidFill>
                            <a:srgbClr val="111726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50" spc="-9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a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6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list-</a:t>
                      </a:r>
                      <a:r>
                        <a:rPr dirty="0" sz="950" spc="-9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comprehension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5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+</a:t>
                      </a:r>
                      <a:r>
                        <a:rPr dirty="0" sz="95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str.join</a:t>
                      </a:r>
                      <a:r>
                        <a:rPr dirty="0" sz="750" spc="15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alternative</a:t>
                      </a:r>
                      <a:r>
                        <a:rPr dirty="0" sz="950" spc="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to</a:t>
                      </a:r>
                      <a:r>
                        <a:rPr dirty="0" sz="95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the</a:t>
                      </a:r>
                      <a:r>
                        <a:rPr dirty="0" sz="95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explicit</a:t>
                      </a:r>
                      <a:r>
                        <a:rPr dirty="0" sz="95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for-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loop</a:t>
                      </a:r>
                      <a:r>
                        <a:rPr dirty="0" sz="95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used</a:t>
                      </a:r>
                      <a:r>
                        <a:rPr dirty="0" sz="95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in</a:t>
                      </a:r>
                      <a:r>
                        <a:rPr dirty="0" sz="950" spc="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the</a:t>
                      </a:r>
                      <a:r>
                        <a:rPr dirty="0" sz="95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other</a:t>
                      </a:r>
                      <a:r>
                        <a:rPr dirty="0" sz="95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2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two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projects.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34290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prompt</a:t>
                      </a:r>
                      <a:r>
                        <a:rPr dirty="0" sz="750" spc="45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=</a:t>
                      </a:r>
                      <a:r>
                        <a:rPr dirty="0" sz="750" spc="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 spc="-1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f"""..."""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90170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Constructs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the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grounding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9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prompt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via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9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an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6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f-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string.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64769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You</a:t>
                      </a:r>
                      <a:r>
                        <a:rPr dirty="0" sz="750" spc="7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are</a:t>
                      </a:r>
                      <a:r>
                        <a:rPr dirty="0" sz="750" spc="75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a</a:t>
                      </a:r>
                      <a:r>
                        <a:rPr dirty="0" sz="750" spc="7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question-answering</a:t>
                      </a:r>
                      <a:r>
                        <a:rPr dirty="0" sz="750" spc="75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 spc="-1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assistant.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90170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Sets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the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assistant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persona.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64769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Answer</a:t>
                      </a:r>
                      <a:r>
                        <a:rPr dirty="0" sz="750" spc="6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ONLY</a:t>
                      </a:r>
                      <a:r>
                        <a:rPr dirty="0" sz="750" spc="65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using</a:t>
                      </a:r>
                      <a:r>
                        <a:rPr dirty="0" sz="750" spc="65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the</a:t>
                      </a:r>
                      <a:r>
                        <a:rPr dirty="0" sz="750" spc="65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provided</a:t>
                      </a:r>
                      <a:r>
                        <a:rPr dirty="0" sz="750" spc="65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 spc="-1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context.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90170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Grounding</a:t>
                      </a:r>
                      <a:r>
                        <a:rPr dirty="0" sz="950" spc="2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constraint.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64769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</a:tr>
              <a:tr h="647065">
                <a:tc>
                  <a:txBody>
                    <a:bodyPr/>
                    <a:lstStyle/>
                    <a:p>
                      <a:pPr marL="70485" marR="554990" indent="26670">
                        <a:lnSpc>
                          <a:spcPct val="156300"/>
                        </a:lnSpc>
                        <a:spcBef>
                          <a:spcPts val="200"/>
                        </a:spcBef>
                      </a:pP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If</a:t>
                      </a:r>
                      <a:r>
                        <a:rPr dirty="0" sz="750" spc="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the</a:t>
                      </a:r>
                      <a:r>
                        <a:rPr dirty="0" sz="750" spc="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answer</a:t>
                      </a:r>
                      <a:r>
                        <a:rPr dirty="0" sz="750" spc="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is</a:t>
                      </a:r>
                      <a:r>
                        <a:rPr dirty="0" sz="750" spc="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not</a:t>
                      </a:r>
                      <a:r>
                        <a:rPr dirty="0" sz="750" spc="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present</a:t>
                      </a:r>
                      <a:r>
                        <a:rPr dirty="0" sz="750" spc="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in</a:t>
                      </a:r>
                      <a:r>
                        <a:rPr dirty="0" sz="750" spc="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 spc="-25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the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context,</a:t>
                      </a:r>
                      <a:r>
                        <a:rPr dirty="0" sz="750" spc="6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reply:</a:t>
                      </a:r>
                      <a:r>
                        <a:rPr dirty="0" sz="750" spc="65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"I</a:t>
                      </a:r>
                      <a:r>
                        <a:rPr dirty="0" sz="750" spc="6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don't</a:t>
                      </a:r>
                      <a:r>
                        <a:rPr dirty="0" sz="750" spc="65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have</a:t>
                      </a:r>
                      <a:r>
                        <a:rPr dirty="0" sz="750" spc="6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 spc="-1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enough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information</a:t>
                      </a:r>
                      <a:r>
                        <a:rPr dirty="0" sz="750" spc="7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from</a:t>
                      </a:r>
                      <a:r>
                        <a:rPr dirty="0" sz="750" spc="7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the</a:t>
                      </a:r>
                      <a:r>
                        <a:rPr dirty="0" sz="750" spc="7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 spc="-1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document."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25400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950" spc="-7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Explicit</a:t>
                      </a:r>
                      <a:r>
                        <a:rPr dirty="0" sz="950" spc="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fallback</a:t>
                      </a:r>
                      <a:r>
                        <a:rPr dirty="0" sz="950" spc="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instruction</a:t>
                      </a:r>
                      <a:r>
                        <a:rPr dirty="0" sz="950" spc="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for</a:t>
                      </a:r>
                      <a:r>
                        <a:rPr dirty="0" sz="950" spc="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unanswerable</a:t>
                      </a:r>
                      <a:r>
                        <a:rPr dirty="0" sz="950" spc="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questions.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64769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</a:tr>
              <a:tr h="626745">
                <a:tc>
                  <a:txBody>
                    <a:bodyPr/>
                    <a:lstStyle/>
                    <a:p>
                      <a:pPr marL="70485" marR="150495" indent="26670">
                        <a:lnSpc>
                          <a:spcPct val="138600"/>
                        </a:lnSpc>
                        <a:spcBef>
                          <a:spcPts val="70"/>
                        </a:spcBef>
                      </a:pP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Do</a:t>
                      </a:r>
                      <a:r>
                        <a:rPr dirty="0" sz="750" spc="45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not</a:t>
                      </a:r>
                      <a:r>
                        <a:rPr dirty="0" sz="750" spc="45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add</a:t>
                      </a:r>
                      <a:r>
                        <a:rPr dirty="0" sz="750" spc="45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extra</a:t>
                      </a:r>
                      <a:r>
                        <a:rPr dirty="0" sz="750" spc="45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information.</a:t>
                      </a:r>
                      <a:r>
                        <a:rPr dirty="0" sz="750" spc="-35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95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/</a:t>
                      </a:r>
                      <a:r>
                        <a:rPr dirty="0" sz="950" spc="204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Do</a:t>
                      </a:r>
                      <a:r>
                        <a:rPr dirty="0" sz="750" spc="45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not</a:t>
                      </a:r>
                      <a:r>
                        <a:rPr dirty="0" sz="750" spc="45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 spc="-2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make </a:t>
                      </a:r>
                      <a:r>
                        <a:rPr dirty="0" sz="750" spc="-1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assumptions.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8890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 marR="144780">
                        <a:lnSpc>
                          <a:spcPct val="116399"/>
                        </a:lnSpc>
                        <a:spcBef>
                          <a:spcPts val="320"/>
                        </a:spcBef>
                      </a:pPr>
                      <a:r>
                        <a:rPr dirty="0" sz="950" spc="-9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Extra</a:t>
                      </a:r>
                      <a:r>
                        <a:rPr dirty="0" sz="950" spc="3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anti-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hallucination</a:t>
                      </a:r>
                      <a:r>
                        <a:rPr dirty="0" sz="950" spc="3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instructions</a:t>
                      </a:r>
                      <a:r>
                        <a:rPr dirty="0" sz="950" spc="3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(more</a:t>
                      </a:r>
                      <a:r>
                        <a:rPr dirty="0" sz="950" spc="3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explicit/redundant</a:t>
                      </a:r>
                      <a:r>
                        <a:rPr dirty="0" sz="950" spc="3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3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than</a:t>
                      </a:r>
                      <a:r>
                        <a:rPr dirty="0" sz="950" spc="50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the</a:t>
                      </a:r>
                      <a:r>
                        <a:rPr dirty="0" sz="950" spc="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other</a:t>
                      </a:r>
                      <a:r>
                        <a:rPr dirty="0" sz="950" spc="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two</a:t>
                      </a:r>
                      <a:r>
                        <a:rPr dirty="0" sz="950" spc="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projects'</a:t>
                      </a:r>
                      <a:r>
                        <a:rPr dirty="0" sz="950" spc="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single-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sentence</a:t>
                      </a:r>
                      <a:r>
                        <a:rPr dirty="0" sz="950" spc="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version,</a:t>
                      </a:r>
                      <a:r>
                        <a:rPr dirty="0" sz="950" spc="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for</a:t>
                      </a:r>
                      <a:r>
                        <a:rPr dirty="0" sz="950" spc="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stronger grounding).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40640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dirty="0" sz="750" spc="-1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Context:\n{context}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90170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950" spc="-7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Injects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the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joined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chunk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2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text.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64769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dirty="0" sz="750" spc="-1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Question:\n{query}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90170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950" spc="-7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Injects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the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9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hardcoded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example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question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from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6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Cell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850" spc="-25">
                          <a:solidFill>
                            <a:srgbClr val="111726"/>
                          </a:solidFill>
                          <a:latin typeface="Arial"/>
                          <a:cs typeface="Arial"/>
                        </a:rPr>
                        <a:t>9</a:t>
                      </a:r>
                      <a:r>
                        <a:rPr dirty="0" sz="950" spc="-2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.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64769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dirty="0" sz="750" spc="-1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Answer: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90170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950" spc="-9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Cue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marking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where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the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model's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response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should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start.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64769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8" name="object 18"/>
          <p:cNvSpPr/>
          <p:nvPr/>
        </p:nvSpPr>
        <p:spPr>
          <a:xfrm>
            <a:off x="3093535" y="9038764"/>
            <a:ext cx="485775" cy="148590"/>
          </a:xfrm>
          <a:custGeom>
            <a:avLst/>
            <a:gdLst/>
            <a:ahLst/>
            <a:cxnLst/>
            <a:rect l="l" t="t" r="r" b="b"/>
            <a:pathLst>
              <a:path w="485775" h="148590">
                <a:moveTo>
                  <a:pt x="461993" y="148284"/>
                </a:moveTo>
                <a:lnTo>
                  <a:pt x="23389" y="148284"/>
                </a:lnTo>
                <a:lnTo>
                  <a:pt x="19950" y="147576"/>
                </a:lnTo>
                <a:lnTo>
                  <a:pt x="0" y="124898"/>
                </a:lnTo>
                <a:lnTo>
                  <a:pt x="0" y="121345"/>
                </a:lnTo>
                <a:lnTo>
                  <a:pt x="0" y="23359"/>
                </a:lnTo>
                <a:lnTo>
                  <a:pt x="23389" y="0"/>
                </a:lnTo>
                <a:lnTo>
                  <a:pt x="461993" y="0"/>
                </a:lnTo>
                <a:lnTo>
                  <a:pt x="485383" y="23359"/>
                </a:lnTo>
                <a:lnTo>
                  <a:pt x="485383" y="124898"/>
                </a:lnTo>
                <a:lnTo>
                  <a:pt x="465432" y="147576"/>
                </a:lnTo>
                <a:lnTo>
                  <a:pt x="461993" y="148284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4954170" y="9227525"/>
            <a:ext cx="418465" cy="148590"/>
          </a:xfrm>
          <a:custGeom>
            <a:avLst/>
            <a:gdLst/>
            <a:ahLst/>
            <a:cxnLst/>
            <a:rect l="l" t="t" r="r" b="b"/>
            <a:pathLst>
              <a:path w="418464" h="148590">
                <a:moveTo>
                  <a:pt x="394579" y="148284"/>
                </a:moveTo>
                <a:lnTo>
                  <a:pt x="23390" y="148284"/>
                </a:lnTo>
                <a:lnTo>
                  <a:pt x="19949" y="147603"/>
                </a:lnTo>
                <a:lnTo>
                  <a:pt x="0" y="124898"/>
                </a:lnTo>
                <a:lnTo>
                  <a:pt x="0" y="121345"/>
                </a:lnTo>
                <a:lnTo>
                  <a:pt x="0" y="23359"/>
                </a:lnTo>
                <a:lnTo>
                  <a:pt x="23390" y="0"/>
                </a:lnTo>
                <a:lnTo>
                  <a:pt x="394579" y="0"/>
                </a:lnTo>
                <a:lnTo>
                  <a:pt x="417968" y="23359"/>
                </a:lnTo>
                <a:lnTo>
                  <a:pt x="417968" y="124898"/>
                </a:lnTo>
                <a:lnTo>
                  <a:pt x="398018" y="147603"/>
                </a:lnTo>
                <a:lnTo>
                  <a:pt x="394579" y="148284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/>
          <p:nvPr/>
        </p:nvSpPr>
        <p:spPr>
          <a:xfrm>
            <a:off x="667402" y="8970055"/>
            <a:ext cx="6022340" cy="11360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23900"/>
              </a:lnSpc>
              <a:spcBef>
                <a:spcPts val="100"/>
              </a:spcBef>
            </a:pPr>
            <a:r>
              <a:rPr dirty="0" sz="1000" spc="-90" b="1">
                <a:solidFill>
                  <a:srgbClr val="111726"/>
                </a:solidFill>
                <a:latin typeface="Source Han Sans JP"/>
                <a:cs typeface="Source Han Sans JP"/>
              </a:rPr>
              <a:t>Output:</a:t>
            </a:r>
            <a:r>
              <a:rPr dirty="0" sz="1000" spc="-25" b="1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100">
                <a:solidFill>
                  <a:srgbClr val="111726"/>
                </a:solidFill>
                <a:latin typeface="Source Han Sans JP"/>
                <a:cs typeface="Source Han Sans JP"/>
              </a:rPr>
              <a:t>none</a:t>
            </a:r>
            <a:r>
              <a:rPr dirty="0" sz="1000" spc="-20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950" spc="-204">
                <a:solidFill>
                  <a:srgbClr val="111726"/>
                </a:solidFill>
                <a:latin typeface="Arial"/>
                <a:cs typeface="Arial"/>
              </a:rPr>
              <a:t>—</a:t>
            </a:r>
            <a:r>
              <a:rPr dirty="0" sz="950" spc="-55">
                <a:solidFill>
                  <a:srgbClr val="111726"/>
                </a:solidFill>
                <a:latin typeface="Arial"/>
                <a:cs typeface="Arial"/>
              </a:rPr>
              <a:t> </a:t>
            </a:r>
            <a:r>
              <a:rPr dirty="0" sz="1000" spc="-70">
                <a:solidFill>
                  <a:srgbClr val="111726"/>
                </a:solidFill>
                <a:latin typeface="Source Han Sans JP"/>
                <a:cs typeface="Source Han Sans JP"/>
              </a:rPr>
              <a:t>this</a:t>
            </a:r>
            <a:r>
              <a:rPr dirty="0" sz="1000" spc="-20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70">
                <a:solidFill>
                  <a:srgbClr val="111726"/>
                </a:solidFill>
                <a:latin typeface="Source Han Sans JP"/>
                <a:cs typeface="Source Han Sans JP"/>
              </a:rPr>
              <a:t>cell</a:t>
            </a:r>
            <a:r>
              <a:rPr dirty="0" sz="1000" spc="-20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80">
                <a:solidFill>
                  <a:srgbClr val="111726"/>
                </a:solidFill>
                <a:latin typeface="Source Han Sans JP"/>
                <a:cs typeface="Source Han Sans JP"/>
              </a:rPr>
              <a:t>only</a:t>
            </a:r>
            <a:r>
              <a:rPr dirty="0" sz="1000" spc="-1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80">
                <a:solidFill>
                  <a:srgbClr val="111726"/>
                </a:solidFill>
                <a:latin typeface="Source Han Sans JP"/>
                <a:cs typeface="Source Han Sans JP"/>
              </a:rPr>
              <a:t>builds</a:t>
            </a:r>
            <a:r>
              <a:rPr dirty="0" sz="1000" spc="-20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90">
                <a:solidFill>
                  <a:srgbClr val="111726"/>
                </a:solidFill>
                <a:latin typeface="Source Han Sans JP"/>
                <a:cs typeface="Source Han Sans JP"/>
              </a:rPr>
              <a:t>a</a:t>
            </a:r>
            <a:r>
              <a:rPr dirty="0" sz="1000" spc="-1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80">
                <a:solidFill>
                  <a:srgbClr val="111726"/>
                </a:solidFill>
                <a:latin typeface="Source Han Sans JP"/>
                <a:cs typeface="Source Han Sans JP"/>
              </a:rPr>
              <a:t>string</a:t>
            </a:r>
            <a:r>
              <a:rPr dirty="0" sz="1000" spc="-20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45">
                <a:solidFill>
                  <a:srgbClr val="111726"/>
                </a:solidFill>
                <a:latin typeface="Source Han Sans JP"/>
                <a:cs typeface="Source Han Sans JP"/>
              </a:rPr>
              <a:t>(no</a:t>
            </a:r>
            <a:r>
              <a:rPr dirty="0" sz="1000" spc="21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800">
                <a:solidFill>
                  <a:srgbClr val="111726"/>
                </a:solidFill>
                <a:latin typeface="Courier New"/>
                <a:cs typeface="Courier New"/>
              </a:rPr>
              <a:t>print()</a:t>
            </a:r>
            <a:r>
              <a:rPr dirty="0" sz="800" spc="-45">
                <a:solidFill>
                  <a:srgbClr val="111726"/>
                </a:solidFill>
                <a:latin typeface="Courier New"/>
                <a:cs typeface="Courier New"/>
              </a:rPr>
              <a:t> </a:t>
            </a:r>
            <a:r>
              <a:rPr dirty="0" sz="1000" spc="-65">
                <a:solidFill>
                  <a:srgbClr val="111726"/>
                </a:solidFill>
                <a:latin typeface="Source Han Sans JP"/>
                <a:cs typeface="Source Han Sans JP"/>
              </a:rPr>
              <a:t>call),</a:t>
            </a:r>
            <a:r>
              <a:rPr dirty="0" sz="1000" spc="-1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90">
                <a:solidFill>
                  <a:srgbClr val="111726"/>
                </a:solidFill>
                <a:latin typeface="Source Han Sans JP"/>
                <a:cs typeface="Source Han Sans JP"/>
              </a:rPr>
              <a:t>so</a:t>
            </a:r>
            <a:r>
              <a:rPr dirty="0" sz="1000" spc="-20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90">
                <a:solidFill>
                  <a:srgbClr val="111726"/>
                </a:solidFill>
                <a:latin typeface="Source Han Sans JP"/>
                <a:cs typeface="Source Han Sans JP"/>
              </a:rPr>
              <a:t>nothing</a:t>
            </a:r>
            <a:r>
              <a:rPr dirty="0" sz="1000" spc="-1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70">
                <a:solidFill>
                  <a:srgbClr val="111726"/>
                </a:solidFill>
                <a:latin typeface="Source Han Sans JP"/>
                <a:cs typeface="Source Han Sans JP"/>
              </a:rPr>
              <a:t>is</a:t>
            </a:r>
            <a:r>
              <a:rPr dirty="0" sz="1000" spc="-20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85">
                <a:solidFill>
                  <a:srgbClr val="111726"/>
                </a:solidFill>
                <a:latin typeface="Source Han Sans JP"/>
                <a:cs typeface="Source Han Sans JP"/>
              </a:rPr>
              <a:t>displayed</a:t>
            </a:r>
            <a:r>
              <a:rPr dirty="0" sz="1000" spc="-20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85">
                <a:solidFill>
                  <a:srgbClr val="111726"/>
                </a:solidFill>
                <a:latin typeface="Source Han Sans JP"/>
                <a:cs typeface="Source Han Sans JP"/>
              </a:rPr>
              <a:t>unless</a:t>
            </a:r>
            <a:r>
              <a:rPr dirty="0" sz="1000" spc="-1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90">
                <a:solidFill>
                  <a:srgbClr val="111726"/>
                </a:solidFill>
                <a:latin typeface="Source Han Sans JP"/>
                <a:cs typeface="Source Han Sans JP"/>
              </a:rPr>
              <a:t>the</a:t>
            </a:r>
            <a:r>
              <a:rPr dirty="0" sz="1000" spc="-20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100">
                <a:solidFill>
                  <a:srgbClr val="111726"/>
                </a:solidFill>
                <a:latin typeface="Source Han Sans JP"/>
                <a:cs typeface="Source Han Sans JP"/>
              </a:rPr>
              <a:t>notebook</a:t>
            </a:r>
            <a:r>
              <a:rPr dirty="0" sz="1000" spc="-1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75">
                <a:solidFill>
                  <a:srgbClr val="111726"/>
                </a:solidFill>
                <a:latin typeface="Source Han Sans JP"/>
                <a:cs typeface="Source Han Sans JP"/>
              </a:rPr>
              <a:t>cell's</a:t>
            </a:r>
            <a:r>
              <a:rPr dirty="0" sz="1000" spc="-20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30">
                <a:solidFill>
                  <a:srgbClr val="111726"/>
                </a:solidFill>
                <a:latin typeface="Source Han Sans JP"/>
                <a:cs typeface="Source Han Sans JP"/>
              </a:rPr>
              <a:t>return</a:t>
            </a:r>
            <a:r>
              <a:rPr dirty="0" sz="1000" spc="500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85">
                <a:solidFill>
                  <a:srgbClr val="111726"/>
                </a:solidFill>
                <a:latin typeface="Source Han Sans JP"/>
                <a:cs typeface="Source Han Sans JP"/>
              </a:rPr>
              <a:t>value</a:t>
            </a:r>
            <a:r>
              <a:rPr dirty="0" sz="1000" spc="-20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70">
                <a:solidFill>
                  <a:srgbClr val="111726"/>
                </a:solidFill>
                <a:latin typeface="Source Han Sans JP"/>
                <a:cs typeface="Source Han Sans JP"/>
              </a:rPr>
              <a:t>is</a:t>
            </a:r>
            <a:r>
              <a:rPr dirty="0" sz="1000" spc="-1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95">
                <a:solidFill>
                  <a:srgbClr val="111726"/>
                </a:solidFill>
                <a:latin typeface="Source Han Sans JP"/>
                <a:cs typeface="Source Han Sans JP"/>
              </a:rPr>
              <a:t>echoed</a:t>
            </a:r>
            <a:r>
              <a:rPr dirty="0" sz="1000" spc="-20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75">
                <a:solidFill>
                  <a:srgbClr val="111726"/>
                </a:solidFill>
                <a:latin typeface="Source Han Sans JP"/>
                <a:cs typeface="Source Han Sans JP"/>
              </a:rPr>
              <a:t>(a</a:t>
            </a:r>
            <a:r>
              <a:rPr dirty="0" sz="1000" spc="-1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90">
                <a:solidFill>
                  <a:srgbClr val="111726"/>
                </a:solidFill>
                <a:latin typeface="Source Han Sans JP"/>
                <a:cs typeface="Source Han Sans JP"/>
              </a:rPr>
              <a:t>bare</a:t>
            </a:r>
            <a:r>
              <a:rPr dirty="0" sz="1000" spc="-1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80">
                <a:solidFill>
                  <a:srgbClr val="111726"/>
                </a:solidFill>
                <a:latin typeface="Source Han Sans JP"/>
                <a:cs typeface="Source Han Sans JP"/>
              </a:rPr>
              <a:t>string</a:t>
            </a:r>
            <a:r>
              <a:rPr dirty="0" sz="1000" spc="-20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95">
                <a:solidFill>
                  <a:srgbClr val="111726"/>
                </a:solidFill>
                <a:latin typeface="Source Han Sans JP"/>
                <a:cs typeface="Source Han Sans JP"/>
              </a:rPr>
              <a:t>assignment</a:t>
            </a:r>
            <a:r>
              <a:rPr dirty="0" sz="1000" spc="-1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95">
                <a:solidFill>
                  <a:srgbClr val="111726"/>
                </a:solidFill>
                <a:latin typeface="Source Han Sans JP"/>
                <a:cs typeface="Source Han Sans JP"/>
              </a:rPr>
              <a:t>produces</a:t>
            </a:r>
            <a:r>
              <a:rPr dirty="0" sz="1000" spc="-1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105">
                <a:solidFill>
                  <a:srgbClr val="111726"/>
                </a:solidFill>
                <a:latin typeface="Source Han Sans JP"/>
                <a:cs typeface="Source Han Sans JP"/>
              </a:rPr>
              <a:t>no</a:t>
            </a:r>
            <a:r>
              <a:rPr dirty="0" sz="1000" spc="-20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90">
                <a:solidFill>
                  <a:srgbClr val="111726"/>
                </a:solidFill>
                <a:latin typeface="Source Han Sans JP"/>
                <a:cs typeface="Source Han Sans JP"/>
              </a:rPr>
              <a:t>automatic</a:t>
            </a:r>
            <a:r>
              <a:rPr dirty="0" sz="1000" spc="-1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85">
                <a:solidFill>
                  <a:srgbClr val="111726"/>
                </a:solidFill>
                <a:latin typeface="Source Han Sans JP"/>
                <a:cs typeface="Source Han Sans JP"/>
              </a:rPr>
              <a:t>Colab</a:t>
            </a:r>
            <a:r>
              <a:rPr dirty="0" sz="1000" spc="-1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80">
                <a:solidFill>
                  <a:srgbClr val="111726"/>
                </a:solidFill>
                <a:latin typeface="Source Han Sans JP"/>
                <a:cs typeface="Source Han Sans JP"/>
              </a:rPr>
              <a:t>output,</a:t>
            </a:r>
            <a:r>
              <a:rPr dirty="0" sz="1000" spc="-20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65">
                <a:solidFill>
                  <a:srgbClr val="111726"/>
                </a:solidFill>
                <a:latin typeface="Source Han Sans JP"/>
                <a:cs typeface="Source Han Sans JP"/>
              </a:rPr>
              <a:t>since</a:t>
            </a:r>
            <a:r>
              <a:rPr dirty="0" sz="1000" spc="220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800">
                <a:solidFill>
                  <a:srgbClr val="111726"/>
                </a:solidFill>
                <a:latin typeface="Courier New"/>
                <a:cs typeface="Courier New"/>
              </a:rPr>
              <a:t>prompt</a:t>
            </a:r>
            <a:r>
              <a:rPr dirty="0" sz="800" spc="-40">
                <a:solidFill>
                  <a:srgbClr val="111726"/>
                </a:solidFill>
                <a:latin typeface="Courier New"/>
                <a:cs typeface="Courier New"/>
              </a:rPr>
              <a:t> </a:t>
            </a:r>
            <a:r>
              <a:rPr dirty="0" sz="1000" spc="-70">
                <a:solidFill>
                  <a:srgbClr val="111726"/>
                </a:solidFill>
                <a:latin typeface="Source Han Sans JP"/>
                <a:cs typeface="Source Han Sans JP"/>
              </a:rPr>
              <a:t>is</a:t>
            </a:r>
            <a:r>
              <a:rPr dirty="0" sz="1000" spc="-20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80">
                <a:solidFill>
                  <a:srgbClr val="111726"/>
                </a:solidFill>
                <a:latin typeface="Source Han Sans JP"/>
                <a:cs typeface="Source Han Sans JP"/>
              </a:rPr>
              <a:t>assigned,</a:t>
            </a:r>
            <a:r>
              <a:rPr dirty="0" sz="1000" spc="-1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95">
                <a:solidFill>
                  <a:srgbClr val="111726"/>
                </a:solidFill>
                <a:latin typeface="Source Han Sans JP"/>
                <a:cs typeface="Source Han Sans JP"/>
              </a:rPr>
              <a:t>not</a:t>
            </a:r>
            <a:r>
              <a:rPr dirty="0" sz="1000" spc="-1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90">
                <a:solidFill>
                  <a:srgbClr val="111726"/>
                </a:solidFill>
                <a:latin typeface="Source Han Sans JP"/>
                <a:cs typeface="Source Han Sans JP"/>
              </a:rPr>
              <a:t>the</a:t>
            </a:r>
            <a:r>
              <a:rPr dirty="0" sz="1000" spc="-20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950" spc="-20">
                <a:solidFill>
                  <a:srgbClr val="111726"/>
                </a:solidFill>
                <a:latin typeface="Arial"/>
                <a:cs typeface="Arial"/>
              </a:rPr>
              <a:t>ﬁ</a:t>
            </a:r>
            <a:r>
              <a:rPr dirty="0" sz="1000" spc="-20">
                <a:solidFill>
                  <a:srgbClr val="111726"/>
                </a:solidFill>
                <a:latin typeface="Source Han Sans JP"/>
                <a:cs typeface="Source Han Sans JP"/>
              </a:rPr>
              <a:t>nal </a:t>
            </a:r>
            <a:r>
              <a:rPr dirty="0" sz="1000" spc="-85">
                <a:solidFill>
                  <a:srgbClr val="111726"/>
                </a:solidFill>
                <a:latin typeface="Source Han Sans JP"/>
                <a:cs typeface="Source Han Sans JP"/>
              </a:rPr>
              <a:t>expression</a:t>
            </a:r>
            <a:r>
              <a:rPr dirty="0" sz="1000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70">
                <a:solidFill>
                  <a:srgbClr val="111726"/>
                </a:solidFill>
                <a:latin typeface="Source Han Sans JP"/>
                <a:cs typeface="Source Han Sans JP"/>
              </a:rPr>
              <a:t>left</a:t>
            </a:r>
            <a:r>
              <a:rPr dirty="0" sz="1000" spc="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10">
                <a:solidFill>
                  <a:srgbClr val="111726"/>
                </a:solidFill>
                <a:latin typeface="Source Han Sans JP"/>
                <a:cs typeface="Source Han Sans JP"/>
              </a:rPr>
              <a:t>bare).</a:t>
            </a:r>
            <a:endParaRPr sz="1000">
              <a:latin typeface="Source Han Sans JP"/>
              <a:cs typeface="Source Han Sans JP"/>
            </a:endParaRPr>
          </a:p>
          <a:p>
            <a:pPr>
              <a:lnSpc>
                <a:spcPct val="100000"/>
              </a:lnSpc>
              <a:spcBef>
                <a:spcPts val="944"/>
              </a:spcBef>
            </a:pPr>
            <a:endParaRPr sz="850">
              <a:latin typeface="Source Han Sans JP"/>
              <a:cs typeface="Source Han Sans JP"/>
            </a:endParaRPr>
          </a:p>
          <a:p>
            <a:pPr marL="12700">
              <a:lnSpc>
                <a:spcPct val="100000"/>
              </a:lnSpc>
            </a:pPr>
            <a:r>
              <a:rPr dirty="0" sz="1450" spc="-130" b="1">
                <a:solidFill>
                  <a:srgbClr val="111726"/>
                </a:solidFill>
                <a:latin typeface="Source Han Sans JP"/>
                <a:cs typeface="Source Han Sans JP"/>
              </a:rPr>
              <a:t>Cell</a:t>
            </a:r>
            <a:r>
              <a:rPr dirty="0" sz="1450" spc="-45" b="1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300" spc="-80" b="1">
                <a:solidFill>
                  <a:srgbClr val="111726"/>
                </a:solidFill>
                <a:latin typeface="Trebuchet MS"/>
                <a:cs typeface="Trebuchet MS"/>
              </a:rPr>
              <a:t>12</a:t>
            </a:r>
            <a:r>
              <a:rPr dirty="0" sz="1300" spc="-105" b="1">
                <a:solidFill>
                  <a:srgbClr val="111726"/>
                </a:solidFill>
                <a:latin typeface="Trebuchet MS"/>
                <a:cs typeface="Trebuchet MS"/>
              </a:rPr>
              <a:t> </a:t>
            </a:r>
            <a:r>
              <a:rPr dirty="0" sz="1350" spc="-285" b="1">
                <a:solidFill>
                  <a:srgbClr val="111726"/>
                </a:solidFill>
                <a:latin typeface="Arial"/>
                <a:cs typeface="Arial"/>
              </a:rPr>
              <a:t>—</a:t>
            </a:r>
            <a:r>
              <a:rPr dirty="0" sz="1350" spc="-90" b="1">
                <a:solidFill>
                  <a:srgbClr val="111726"/>
                </a:solidFill>
                <a:latin typeface="Arial"/>
                <a:cs typeface="Arial"/>
              </a:rPr>
              <a:t> </a:t>
            </a:r>
            <a:r>
              <a:rPr dirty="0" sz="1450" spc="-170" b="1">
                <a:solidFill>
                  <a:srgbClr val="111726"/>
                </a:solidFill>
                <a:latin typeface="Source Han Sans JP"/>
                <a:cs typeface="Source Han Sans JP"/>
              </a:rPr>
              <a:t>Generate</a:t>
            </a:r>
            <a:r>
              <a:rPr dirty="0" sz="1450" spc="-45" b="1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450" spc="-160" b="1">
                <a:solidFill>
                  <a:srgbClr val="111726"/>
                </a:solidFill>
                <a:latin typeface="Source Han Sans JP"/>
                <a:cs typeface="Source Han Sans JP"/>
              </a:rPr>
              <a:t>the</a:t>
            </a:r>
            <a:r>
              <a:rPr dirty="0" sz="1450" spc="-40" b="1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450" spc="-10" b="1">
                <a:solidFill>
                  <a:srgbClr val="111726"/>
                </a:solidFill>
                <a:latin typeface="Source Han Sans JP"/>
                <a:cs typeface="Source Han Sans JP"/>
              </a:rPr>
              <a:t>answer</a:t>
            </a:r>
            <a:endParaRPr sz="1450">
              <a:latin typeface="Source Han Sans JP"/>
              <a:cs typeface="Source Han Sans JP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80102" y="571512"/>
            <a:ext cx="6202680" cy="2144395"/>
          </a:xfrm>
          <a:custGeom>
            <a:avLst/>
            <a:gdLst/>
            <a:ahLst/>
            <a:cxnLst/>
            <a:rect l="l" t="t" r="r" b="b"/>
            <a:pathLst>
              <a:path w="6202680" h="2144395">
                <a:moveTo>
                  <a:pt x="6151728" y="2143775"/>
                </a:moveTo>
                <a:lnTo>
                  <a:pt x="50390" y="2143775"/>
                </a:lnTo>
                <a:lnTo>
                  <a:pt x="46883" y="2143432"/>
                </a:lnTo>
                <a:lnTo>
                  <a:pt x="13292" y="2125419"/>
                </a:lnTo>
                <a:lnTo>
                  <a:pt x="0" y="2093370"/>
                </a:lnTo>
                <a:lnTo>
                  <a:pt x="0" y="2089844"/>
                </a:lnTo>
                <a:lnTo>
                  <a:pt x="0" y="50378"/>
                </a:lnTo>
                <a:lnTo>
                  <a:pt x="18300" y="13273"/>
                </a:lnTo>
                <a:lnTo>
                  <a:pt x="50390" y="0"/>
                </a:lnTo>
                <a:lnTo>
                  <a:pt x="6151728" y="0"/>
                </a:lnTo>
                <a:lnTo>
                  <a:pt x="6188826" y="18276"/>
                </a:lnTo>
                <a:lnTo>
                  <a:pt x="6202118" y="50378"/>
                </a:lnTo>
                <a:lnTo>
                  <a:pt x="6202118" y="2093370"/>
                </a:lnTo>
                <a:lnTo>
                  <a:pt x="6183818" y="2130448"/>
                </a:lnTo>
                <a:lnTo>
                  <a:pt x="6155235" y="2143405"/>
                </a:lnTo>
                <a:lnTo>
                  <a:pt x="6151728" y="2143775"/>
                </a:lnTo>
                <a:close/>
              </a:path>
            </a:pathLst>
          </a:custGeom>
          <a:solidFill>
            <a:srgbClr val="0E172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680102" y="7892736"/>
            <a:ext cx="6202680" cy="721360"/>
          </a:xfrm>
          <a:custGeom>
            <a:avLst/>
            <a:gdLst/>
            <a:ahLst/>
            <a:cxnLst/>
            <a:rect l="l" t="t" r="r" b="b"/>
            <a:pathLst>
              <a:path w="6202680" h="721359">
                <a:moveTo>
                  <a:pt x="6151728" y="721306"/>
                </a:moveTo>
                <a:lnTo>
                  <a:pt x="50390" y="721306"/>
                </a:lnTo>
                <a:lnTo>
                  <a:pt x="46883" y="720962"/>
                </a:lnTo>
                <a:lnTo>
                  <a:pt x="13292" y="702976"/>
                </a:lnTo>
                <a:lnTo>
                  <a:pt x="0" y="670900"/>
                </a:lnTo>
                <a:lnTo>
                  <a:pt x="0" y="667374"/>
                </a:lnTo>
                <a:lnTo>
                  <a:pt x="0" y="50351"/>
                </a:lnTo>
                <a:lnTo>
                  <a:pt x="18300" y="13246"/>
                </a:lnTo>
                <a:lnTo>
                  <a:pt x="50390" y="0"/>
                </a:lnTo>
                <a:lnTo>
                  <a:pt x="6151728" y="0"/>
                </a:lnTo>
                <a:lnTo>
                  <a:pt x="6188826" y="18249"/>
                </a:lnTo>
                <a:lnTo>
                  <a:pt x="6202118" y="50351"/>
                </a:lnTo>
                <a:lnTo>
                  <a:pt x="6202118" y="670900"/>
                </a:lnTo>
                <a:lnTo>
                  <a:pt x="6183818" y="707978"/>
                </a:lnTo>
                <a:lnTo>
                  <a:pt x="6155235" y="720935"/>
                </a:lnTo>
                <a:lnTo>
                  <a:pt x="6151728" y="721306"/>
                </a:lnTo>
                <a:close/>
              </a:path>
            </a:pathLst>
          </a:custGeom>
          <a:solidFill>
            <a:srgbClr val="0E172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761782" y="619737"/>
            <a:ext cx="2244725" cy="1980564"/>
          </a:xfrm>
          <a:prstGeom prst="rect">
            <a:avLst/>
          </a:prstGeom>
        </p:spPr>
        <p:txBody>
          <a:bodyPr wrap="square" lIns="0" tIns="10160" rIns="0" bIns="0" rtlCol="0" vert="horz">
            <a:spAutoFit/>
          </a:bodyPr>
          <a:lstStyle/>
          <a:p>
            <a:pPr marL="259079" marR="805815" indent="-247015">
              <a:lnSpc>
                <a:spcPct val="145600"/>
              </a:lnSpc>
              <a:spcBef>
                <a:spcPts val="80"/>
              </a:spcBef>
            </a:pP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response</a:t>
            </a:r>
            <a:r>
              <a:rPr dirty="0" sz="800" spc="2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=</a:t>
            </a:r>
            <a:r>
              <a:rPr dirty="0" sz="800" spc="2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 spc="-10">
                <a:solidFill>
                  <a:srgbClr val="E4E7EB"/>
                </a:solidFill>
                <a:latin typeface="Courier New"/>
                <a:cs typeface="Courier New"/>
              </a:rPr>
              <a:t>generator( prompt, max_new_tokens=120, do_sample=False</a:t>
            </a:r>
            <a:endParaRPr sz="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475"/>
              </a:spcBef>
            </a:pPr>
            <a:r>
              <a:rPr dirty="0" sz="800" spc="-50">
                <a:solidFill>
                  <a:srgbClr val="E4E7EB"/>
                </a:solidFill>
                <a:latin typeface="Courier New"/>
                <a:cs typeface="Courier New"/>
              </a:rPr>
              <a:t>)</a:t>
            </a:r>
            <a:endParaRPr sz="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445"/>
              </a:spcBef>
            </a:pPr>
            <a:endParaRPr sz="800">
              <a:latin typeface="Courier New"/>
              <a:cs typeface="Courier New"/>
            </a:endParaRPr>
          </a:p>
          <a:p>
            <a:pPr marL="12700" marR="682625">
              <a:lnSpc>
                <a:spcPct val="146500"/>
              </a:lnSpc>
            </a:pP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print("="</a:t>
            </a:r>
            <a:r>
              <a:rPr dirty="0" sz="800" spc="2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*</a:t>
            </a:r>
            <a:r>
              <a:rPr dirty="0" sz="800" spc="3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 spc="-25">
                <a:solidFill>
                  <a:srgbClr val="E4E7EB"/>
                </a:solidFill>
                <a:latin typeface="Courier New"/>
                <a:cs typeface="Courier New"/>
              </a:rPr>
              <a:t>70)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print("Generated</a:t>
            </a:r>
            <a:r>
              <a:rPr dirty="0" sz="800" spc="7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 spc="-10">
                <a:solidFill>
                  <a:srgbClr val="E4E7EB"/>
                </a:solidFill>
                <a:latin typeface="Courier New"/>
                <a:cs typeface="Courier New"/>
              </a:rPr>
              <a:t>Answer")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print("="</a:t>
            </a:r>
            <a:r>
              <a:rPr dirty="0" sz="800" spc="2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*</a:t>
            </a:r>
            <a:r>
              <a:rPr dirty="0" sz="800" spc="3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 spc="-25">
                <a:solidFill>
                  <a:srgbClr val="E4E7EB"/>
                </a:solidFill>
                <a:latin typeface="Courier New"/>
                <a:cs typeface="Courier New"/>
              </a:rPr>
              <a:t>70)</a:t>
            </a:r>
            <a:endParaRPr sz="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endParaRPr sz="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dirty="0" sz="800" spc="-10">
                <a:solidFill>
                  <a:srgbClr val="E4E7EB"/>
                </a:solidFill>
                <a:latin typeface="Courier New"/>
                <a:cs typeface="Courier New"/>
              </a:rPr>
              <a:t>print(response[0]["generated_text"])</a:t>
            </a:r>
            <a:endParaRPr sz="800">
              <a:latin typeface="Courier New"/>
              <a:cs typeface="Courier New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54257" y="3193930"/>
            <a:ext cx="1294765" cy="141605"/>
          </a:xfrm>
          <a:custGeom>
            <a:avLst/>
            <a:gdLst/>
            <a:ahLst/>
            <a:cxnLst/>
            <a:rect l="l" t="t" r="r" b="b"/>
            <a:pathLst>
              <a:path w="1294764" h="141604">
                <a:moveTo>
                  <a:pt x="1270965" y="141543"/>
                </a:moveTo>
                <a:lnTo>
                  <a:pt x="23389" y="141543"/>
                </a:lnTo>
                <a:lnTo>
                  <a:pt x="19950" y="140862"/>
                </a:lnTo>
                <a:lnTo>
                  <a:pt x="0" y="118157"/>
                </a:lnTo>
                <a:lnTo>
                  <a:pt x="0" y="114604"/>
                </a:lnTo>
                <a:lnTo>
                  <a:pt x="0" y="23359"/>
                </a:lnTo>
                <a:lnTo>
                  <a:pt x="23389" y="0"/>
                </a:lnTo>
                <a:lnTo>
                  <a:pt x="1270965" y="0"/>
                </a:lnTo>
                <a:lnTo>
                  <a:pt x="1294355" y="23359"/>
                </a:lnTo>
                <a:lnTo>
                  <a:pt x="1294355" y="118157"/>
                </a:lnTo>
                <a:lnTo>
                  <a:pt x="1274405" y="140862"/>
                </a:lnTo>
                <a:lnTo>
                  <a:pt x="1270965" y="141543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754257" y="3483812"/>
            <a:ext cx="465455" cy="141605"/>
          </a:xfrm>
          <a:custGeom>
            <a:avLst/>
            <a:gdLst/>
            <a:ahLst/>
            <a:cxnLst/>
            <a:rect l="l" t="t" r="r" b="b"/>
            <a:pathLst>
              <a:path w="465455" h="141604">
                <a:moveTo>
                  <a:pt x="441769" y="141543"/>
                </a:moveTo>
                <a:lnTo>
                  <a:pt x="23389" y="141543"/>
                </a:lnTo>
                <a:lnTo>
                  <a:pt x="19950" y="140835"/>
                </a:lnTo>
                <a:lnTo>
                  <a:pt x="0" y="118157"/>
                </a:lnTo>
                <a:lnTo>
                  <a:pt x="0" y="114604"/>
                </a:lnTo>
                <a:lnTo>
                  <a:pt x="0" y="23359"/>
                </a:lnTo>
                <a:lnTo>
                  <a:pt x="23389" y="0"/>
                </a:lnTo>
                <a:lnTo>
                  <a:pt x="441769" y="0"/>
                </a:lnTo>
                <a:lnTo>
                  <a:pt x="465158" y="23359"/>
                </a:lnTo>
                <a:lnTo>
                  <a:pt x="465158" y="118157"/>
                </a:lnTo>
                <a:lnTo>
                  <a:pt x="445208" y="140835"/>
                </a:lnTo>
                <a:lnTo>
                  <a:pt x="441769" y="141543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5857523" y="3483812"/>
            <a:ext cx="526415" cy="141605"/>
          </a:xfrm>
          <a:custGeom>
            <a:avLst/>
            <a:gdLst/>
            <a:ahLst/>
            <a:cxnLst/>
            <a:rect l="l" t="t" r="r" b="b"/>
            <a:pathLst>
              <a:path w="526414" h="141604">
                <a:moveTo>
                  <a:pt x="502442" y="141543"/>
                </a:moveTo>
                <a:lnTo>
                  <a:pt x="23390" y="141543"/>
                </a:lnTo>
                <a:lnTo>
                  <a:pt x="19949" y="140835"/>
                </a:lnTo>
                <a:lnTo>
                  <a:pt x="0" y="118157"/>
                </a:lnTo>
                <a:lnTo>
                  <a:pt x="0" y="114604"/>
                </a:lnTo>
                <a:lnTo>
                  <a:pt x="0" y="23359"/>
                </a:lnTo>
                <a:lnTo>
                  <a:pt x="23390" y="0"/>
                </a:lnTo>
                <a:lnTo>
                  <a:pt x="502442" y="0"/>
                </a:lnTo>
                <a:lnTo>
                  <a:pt x="525832" y="23359"/>
                </a:lnTo>
                <a:lnTo>
                  <a:pt x="525832" y="118157"/>
                </a:lnTo>
                <a:lnTo>
                  <a:pt x="505881" y="140835"/>
                </a:lnTo>
                <a:lnTo>
                  <a:pt x="502442" y="141543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754257" y="4110765"/>
            <a:ext cx="1179830" cy="141605"/>
          </a:xfrm>
          <a:custGeom>
            <a:avLst/>
            <a:gdLst/>
            <a:ahLst/>
            <a:cxnLst/>
            <a:rect l="l" t="t" r="r" b="b"/>
            <a:pathLst>
              <a:path w="1179830" h="141604">
                <a:moveTo>
                  <a:pt x="1156360" y="141543"/>
                </a:moveTo>
                <a:lnTo>
                  <a:pt x="23389" y="141543"/>
                </a:lnTo>
                <a:lnTo>
                  <a:pt x="19950" y="140862"/>
                </a:lnTo>
                <a:lnTo>
                  <a:pt x="0" y="118157"/>
                </a:lnTo>
                <a:lnTo>
                  <a:pt x="0" y="114604"/>
                </a:lnTo>
                <a:lnTo>
                  <a:pt x="0" y="23359"/>
                </a:lnTo>
                <a:lnTo>
                  <a:pt x="23389" y="0"/>
                </a:lnTo>
                <a:lnTo>
                  <a:pt x="1156360" y="0"/>
                </a:lnTo>
                <a:lnTo>
                  <a:pt x="1179750" y="23359"/>
                </a:lnTo>
                <a:lnTo>
                  <a:pt x="1179750" y="118157"/>
                </a:lnTo>
                <a:lnTo>
                  <a:pt x="1159800" y="140862"/>
                </a:lnTo>
                <a:lnTo>
                  <a:pt x="1156360" y="141543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754257" y="4407388"/>
            <a:ext cx="944244" cy="141605"/>
          </a:xfrm>
          <a:custGeom>
            <a:avLst/>
            <a:gdLst/>
            <a:ahLst/>
            <a:cxnLst/>
            <a:rect l="l" t="t" r="r" b="b"/>
            <a:pathLst>
              <a:path w="944244" h="141604">
                <a:moveTo>
                  <a:pt x="920410" y="141543"/>
                </a:moveTo>
                <a:lnTo>
                  <a:pt x="23389" y="141543"/>
                </a:lnTo>
                <a:lnTo>
                  <a:pt x="19950" y="140835"/>
                </a:lnTo>
                <a:lnTo>
                  <a:pt x="0" y="118157"/>
                </a:lnTo>
                <a:lnTo>
                  <a:pt x="0" y="114604"/>
                </a:lnTo>
                <a:lnTo>
                  <a:pt x="0" y="23359"/>
                </a:lnTo>
                <a:lnTo>
                  <a:pt x="23389" y="0"/>
                </a:lnTo>
                <a:lnTo>
                  <a:pt x="920410" y="0"/>
                </a:lnTo>
                <a:lnTo>
                  <a:pt x="943800" y="23359"/>
                </a:lnTo>
                <a:lnTo>
                  <a:pt x="943800" y="118157"/>
                </a:lnTo>
                <a:lnTo>
                  <a:pt x="923850" y="140835"/>
                </a:lnTo>
                <a:lnTo>
                  <a:pt x="920410" y="141543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54257" y="4697270"/>
            <a:ext cx="114604" cy="141543"/>
          </a:xfrm>
          <a:prstGeom prst="rect">
            <a:avLst/>
          </a:prstGeom>
        </p:spPr>
      </p:pic>
      <p:sp>
        <p:nvSpPr>
          <p:cNvPr id="11" name="object 11"/>
          <p:cNvSpPr/>
          <p:nvPr/>
        </p:nvSpPr>
        <p:spPr>
          <a:xfrm>
            <a:off x="754257" y="4987151"/>
            <a:ext cx="944244" cy="141605"/>
          </a:xfrm>
          <a:custGeom>
            <a:avLst/>
            <a:gdLst/>
            <a:ahLst/>
            <a:cxnLst/>
            <a:rect l="l" t="t" r="r" b="b"/>
            <a:pathLst>
              <a:path w="944244" h="141604">
                <a:moveTo>
                  <a:pt x="920410" y="141543"/>
                </a:moveTo>
                <a:lnTo>
                  <a:pt x="23389" y="141543"/>
                </a:lnTo>
                <a:lnTo>
                  <a:pt x="19950" y="140835"/>
                </a:lnTo>
                <a:lnTo>
                  <a:pt x="0" y="118157"/>
                </a:lnTo>
                <a:lnTo>
                  <a:pt x="0" y="114604"/>
                </a:lnTo>
                <a:lnTo>
                  <a:pt x="0" y="23359"/>
                </a:lnTo>
                <a:lnTo>
                  <a:pt x="23389" y="0"/>
                </a:lnTo>
                <a:lnTo>
                  <a:pt x="920410" y="0"/>
                </a:lnTo>
                <a:lnTo>
                  <a:pt x="943800" y="23359"/>
                </a:lnTo>
                <a:lnTo>
                  <a:pt x="943800" y="118157"/>
                </a:lnTo>
                <a:lnTo>
                  <a:pt x="923850" y="140835"/>
                </a:lnTo>
                <a:lnTo>
                  <a:pt x="920410" y="141543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754253" y="5276989"/>
            <a:ext cx="970915" cy="316865"/>
          </a:xfrm>
          <a:custGeom>
            <a:avLst/>
            <a:gdLst/>
            <a:ahLst/>
            <a:cxnLst/>
            <a:rect l="l" t="t" r="r" b="b"/>
            <a:pathLst>
              <a:path w="970914" h="316864">
                <a:moveTo>
                  <a:pt x="498868" y="198653"/>
                </a:moveTo>
                <a:lnTo>
                  <a:pt x="475475" y="175260"/>
                </a:lnTo>
                <a:lnTo>
                  <a:pt x="0" y="175260"/>
                </a:lnTo>
                <a:lnTo>
                  <a:pt x="0" y="316852"/>
                </a:lnTo>
                <a:lnTo>
                  <a:pt x="475475" y="316852"/>
                </a:lnTo>
                <a:lnTo>
                  <a:pt x="498868" y="293446"/>
                </a:lnTo>
                <a:lnTo>
                  <a:pt x="498868" y="198653"/>
                </a:lnTo>
                <a:close/>
              </a:path>
              <a:path w="970914" h="316864">
                <a:moveTo>
                  <a:pt x="970762" y="0"/>
                </a:moveTo>
                <a:lnTo>
                  <a:pt x="23393" y="0"/>
                </a:lnTo>
                <a:lnTo>
                  <a:pt x="19951" y="711"/>
                </a:lnTo>
                <a:lnTo>
                  <a:pt x="0" y="23380"/>
                </a:lnTo>
                <a:lnTo>
                  <a:pt x="0" y="118173"/>
                </a:lnTo>
                <a:lnTo>
                  <a:pt x="23393" y="141566"/>
                </a:lnTo>
                <a:lnTo>
                  <a:pt x="970762" y="141566"/>
                </a:lnTo>
                <a:lnTo>
                  <a:pt x="970762" y="0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754257" y="5742192"/>
            <a:ext cx="944244" cy="141605"/>
          </a:xfrm>
          <a:custGeom>
            <a:avLst/>
            <a:gdLst/>
            <a:ahLst/>
            <a:cxnLst/>
            <a:rect l="l" t="t" r="r" b="b"/>
            <a:pathLst>
              <a:path w="944244" h="141604">
                <a:moveTo>
                  <a:pt x="920410" y="141543"/>
                </a:moveTo>
                <a:lnTo>
                  <a:pt x="23389" y="141543"/>
                </a:lnTo>
                <a:lnTo>
                  <a:pt x="19950" y="140862"/>
                </a:lnTo>
                <a:lnTo>
                  <a:pt x="0" y="118157"/>
                </a:lnTo>
                <a:lnTo>
                  <a:pt x="0" y="114604"/>
                </a:lnTo>
                <a:lnTo>
                  <a:pt x="0" y="23359"/>
                </a:lnTo>
                <a:lnTo>
                  <a:pt x="23389" y="0"/>
                </a:lnTo>
                <a:lnTo>
                  <a:pt x="920410" y="0"/>
                </a:lnTo>
                <a:lnTo>
                  <a:pt x="943800" y="23359"/>
                </a:lnTo>
                <a:lnTo>
                  <a:pt x="943800" y="118157"/>
                </a:lnTo>
                <a:lnTo>
                  <a:pt x="923850" y="140862"/>
                </a:lnTo>
                <a:lnTo>
                  <a:pt x="920410" y="141543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754253" y="6032017"/>
            <a:ext cx="1153160" cy="316865"/>
          </a:xfrm>
          <a:custGeom>
            <a:avLst/>
            <a:gdLst/>
            <a:ahLst/>
            <a:cxnLst/>
            <a:rect l="l" t="t" r="r" b="b"/>
            <a:pathLst>
              <a:path w="1153160" h="316864">
                <a:moveTo>
                  <a:pt x="1031443" y="0"/>
                </a:moveTo>
                <a:lnTo>
                  <a:pt x="23393" y="0"/>
                </a:lnTo>
                <a:lnTo>
                  <a:pt x="19951" y="723"/>
                </a:lnTo>
                <a:lnTo>
                  <a:pt x="0" y="23393"/>
                </a:lnTo>
                <a:lnTo>
                  <a:pt x="0" y="118186"/>
                </a:lnTo>
                <a:lnTo>
                  <a:pt x="23393" y="141579"/>
                </a:lnTo>
                <a:lnTo>
                  <a:pt x="1031443" y="141579"/>
                </a:lnTo>
                <a:lnTo>
                  <a:pt x="1031443" y="0"/>
                </a:lnTo>
                <a:close/>
              </a:path>
              <a:path w="1153160" h="316864">
                <a:moveTo>
                  <a:pt x="1152779" y="198666"/>
                </a:moveTo>
                <a:lnTo>
                  <a:pt x="1152093" y="195211"/>
                </a:lnTo>
                <a:lnTo>
                  <a:pt x="1149362" y="188607"/>
                </a:lnTo>
                <a:lnTo>
                  <a:pt x="1147419" y="185686"/>
                </a:lnTo>
                <a:lnTo>
                  <a:pt x="1144879" y="183184"/>
                </a:lnTo>
                <a:lnTo>
                  <a:pt x="1142352" y="180632"/>
                </a:lnTo>
                <a:lnTo>
                  <a:pt x="1139444" y="178676"/>
                </a:lnTo>
                <a:lnTo>
                  <a:pt x="1132827" y="175996"/>
                </a:lnTo>
                <a:lnTo>
                  <a:pt x="1129398" y="175285"/>
                </a:lnTo>
                <a:lnTo>
                  <a:pt x="0" y="175285"/>
                </a:lnTo>
                <a:lnTo>
                  <a:pt x="0" y="316839"/>
                </a:lnTo>
                <a:lnTo>
                  <a:pt x="1129398" y="316839"/>
                </a:lnTo>
                <a:lnTo>
                  <a:pt x="1152779" y="293458"/>
                </a:lnTo>
                <a:lnTo>
                  <a:pt x="1152779" y="198666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2230631" y="6200609"/>
            <a:ext cx="532765" cy="141605"/>
          </a:xfrm>
          <a:custGeom>
            <a:avLst/>
            <a:gdLst/>
            <a:ahLst/>
            <a:cxnLst/>
            <a:rect l="l" t="t" r="r" b="b"/>
            <a:pathLst>
              <a:path w="532764" h="141604">
                <a:moveTo>
                  <a:pt x="509183" y="141543"/>
                </a:moveTo>
                <a:lnTo>
                  <a:pt x="23389" y="141543"/>
                </a:lnTo>
                <a:lnTo>
                  <a:pt x="19949" y="140862"/>
                </a:lnTo>
                <a:lnTo>
                  <a:pt x="0" y="118157"/>
                </a:lnTo>
                <a:lnTo>
                  <a:pt x="0" y="114604"/>
                </a:lnTo>
                <a:lnTo>
                  <a:pt x="0" y="23359"/>
                </a:lnTo>
                <a:lnTo>
                  <a:pt x="23389" y="0"/>
                </a:lnTo>
                <a:lnTo>
                  <a:pt x="509183" y="0"/>
                </a:lnTo>
                <a:lnTo>
                  <a:pt x="532573" y="23359"/>
                </a:lnTo>
                <a:lnTo>
                  <a:pt x="532573" y="118157"/>
                </a:lnTo>
                <a:lnTo>
                  <a:pt x="512623" y="140862"/>
                </a:lnTo>
                <a:lnTo>
                  <a:pt x="509183" y="141543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3012638" y="6200609"/>
            <a:ext cx="883285" cy="141605"/>
          </a:xfrm>
          <a:custGeom>
            <a:avLst/>
            <a:gdLst/>
            <a:ahLst/>
            <a:cxnLst/>
            <a:rect l="l" t="t" r="r" b="b"/>
            <a:pathLst>
              <a:path w="883285" h="141604">
                <a:moveTo>
                  <a:pt x="859738" y="141543"/>
                </a:moveTo>
                <a:lnTo>
                  <a:pt x="23389" y="141543"/>
                </a:lnTo>
                <a:lnTo>
                  <a:pt x="19950" y="140862"/>
                </a:lnTo>
                <a:lnTo>
                  <a:pt x="0" y="118157"/>
                </a:lnTo>
                <a:lnTo>
                  <a:pt x="0" y="114604"/>
                </a:lnTo>
                <a:lnTo>
                  <a:pt x="0" y="23359"/>
                </a:lnTo>
                <a:lnTo>
                  <a:pt x="23389" y="0"/>
                </a:lnTo>
                <a:lnTo>
                  <a:pt x="859738" y="0"/>
                </a:lnTo>
                <a:lnTo>
                  <a:pt x="883127" y="23359"/>
                </a:lnTo>
                <a:lnTo>
                  <a:pt x="883127" y="118157"/>
                </a:lnTo>
                <a:lnTo>
                  <a:pt x="863177" y="140862"/>
                </a:lnTo>
                <a:lnTo>
                  <a:pt x="859738" y="141543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2230628" y="6551155"/>
            <a:ext cx="944244" cy="316865"/>
          </a:xfrm>
          <a:custGeom>
            <a:avLst/>
            <a:gdLst/>
            <a:ahLst/>
            <a:cxnLst/>
            <a:rect l="l" t="t" r="r" b="b"/>
            <a:pathLst>
              <a:path w="944244" h="316865">
                <a:moveTo>
                  <a:pt x="680885" y="198640"/>
                </a:moveTo>
                <a:lnTo>
                  <a:pt x="680199" y="195199"/>
                </a:lnTo>
                <a:lnTo>
                  <a:pt x="677456" y="188582"/>
                </a:lnTo>
                <a:lnTo>
                  <a:pt x="675513" y="185661"/>
                </a:lnTo>
                <a:lnTo>
                  <a:pt x="672985" y="183159"/>
                </a:lnTo>
                <a:lnTo>
                  <a:pt x="670458" y="180606"/>
                </a:lnTo>
                <a:lnTo>
                  <a:pt x="667537" y="178625"/>
                </a:lnTo>
                <a:lnTo>
                  <a:pt x="660933" y="175920"/>
                </a:lnTo>
                <a:lnTo>
                  <a:pt x="657491" y="175234"/>
                </a:lnTo>
                <a:lnTo>
                  <a:pt x="0" y="175234"/>
                </a:lnTo>
                <a:lnTo>
                  <a:pt x="0" y="316801"/>
                </a:lnTo>
                <a:lnTo>
                  <a:pt x="657491" y="316801"/>
                </a:lnTo>
                <a:lnTo>
                  <a:pt x="680885" y="293420"/>
                </a:lnTo>
                <a:lnTo>
                  <a:pt x="680885" y="198640"/>
                </a:lnTo>
                <a:close/>
              </a:path>
              <a:path w="944244" h="316865">
                <a:moveTo>
                  <a:pt x="943800" y="23355"/>
                </a:moveTo>
                <a:lnTo>
                  <a:pt x="920407" y="0"/>
                </a:lnTo>
                <a:lnTo>
                  <a:pt x="23393" y="0"/>
                </a:lnTo>
                <a:lnTo>
                  <a:pt x="0" y="23355"/>
                </a:lnTo>
                <a:lnTo>
                  <a:pt x="0" y="114604"/>
                </a:lnTo>
                <a:lnTo>
                  <a:pt x="0" y="118148"/>
                </a:lnTo>
                <a:lnTo>
                  <a:pt x="23393" y="141541"/>
                </a:lnTo>
                <a:lnTo>
                  <a:pt x="920407" y="141541"/>
                </a:lnTo>
                <a:lnTo>
                  <a:pt x="943800" y="118148"/>
                </a:lnTo>
                <a:lnTo>
                  <a:pt x="943800" y="23355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6066507" y="6551138"/>
            <a:ext cx="263525" cy="141605"/>
          </a:xfrm>
          <a:custGeom>
            <a:avLst/>
            <a:gdLst/>
            <a:ahLst/>
            <a:cxnLst/>
            <a:rect l="l" t="t" r="r" b="b"/>
            <a:pathLst>
              <a:path w="263525" h="141604">
                <a:moveTo>
                  <a:pt x="262915" y="141566"/>
                </a:moveTo>
                <a:lnTo>
                  <a:pt x="23389" y="141566"/>
                </a:lnTo>
                <a:lnTo>
                  <a:pt x="19949" y="140874"/>
                </a:lnTo>
                <a:lnTo>
                  <a:pt x="0" y="118169"/>
                </a:lnTo>
                <a:lnTo>
                  <a:pt x="0" y="23371"/>
                </a:lnTo>
                <a:lnTo>
                  <a:pt x="23389" y="0"/>
                </a:lnTo>
                <a:lnTo>
                  <a:pt x="262915" y="0"/>
                </a:lnTo>
                <a:lnTo>
                  <a:pt x="262915" y="141566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graphicFrame>
        <p:nvGraphicFramePr>
          <p:cNvPr id="19" name="object 19"/>
          <p:cNvGraphicFramePr>
            <a:graphicFrameLocks noGrp="1"/>
          </p:cNvGraphicFramePr>
          <p:nvPr/>
        </p:nvGraphicFramePr>
        <p:xfrm>
          <a:off x="680102" y="2823151"/>
          <a:ext cx="6278880" cy="42779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76375"/>
                <a:gridCol w="4719320"/>
              </a:tblGrid>
              <a:tr h="289560">
                <a:tc>
                  <a:txBody>
                    <a:bodyPr/>
                    <a:lstStyle/>
                    <a:p>
                      <a:pPr marL="70485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950" spc="-20" b="1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Line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64769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marL="73025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950" spc="-10" b="1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Explanation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64769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  <a:solidFill>
                      <a:srgbClr val="F7FAFB"/>
                    </a:solidFill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response</a:t>
                      </a:r>
                      <a:r>
                        <a:rPr dirty="0" sz="750" spc="55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=</a:t>
                      </a:r>
                      <a:r>
                        <a:rPr dirty="0" sz="750" spc="6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 spc="-1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generator(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90170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3025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Runs</a:t>
                      </a:r>
                      <a:r>
                        <a:rPr dirty="0" sz="95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the</a:t>
                      </a:r>
                      <a:r>
                        <a:rPr dirty="0" sz="95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text-generation</a:t>
                      </a:r>
                      <a:r>
                        <a:rPr dirty="0" sz="95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pipeline.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64769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</a:tr>
              <a:tr h="626745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dirty="0" sz="750" spc="-1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prompt,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90170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3025" marR="73660">
                        <a:lnSpc>
                          <a:spcPct val="118700"/>
                        </a:lnSpc>
                        <a:spcBef>
                          <a:spcPts val="295"/>
                        </a:spcBef>
                      </a:pP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Here</a:t>
                      </a:r>
                      <a:r>
                        <a:rPr dirty="0" sz="950" spc="-2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the</a:t>
                      </a:r>
                      <a:r>
                        <a:rPr dirty="0" sz="950" spc="-2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pipeline</a:t>
                      </a:r>
                      <a:r>
                        <a:rPr dirty="0" sz="950" spc="-2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6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is</a:t>
                      </a:r>
                      <a:r>
                        <a:rPr dirty="0" sz="950" spc="-2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called</a:t>
                      </a:r>
                      <a:r>
                        <a:rPr dirty="0" sz="950" spc="-2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with</a:t>
                      </a:r>
                      <a:r>
                        <a:rPr dirty="0" sz="950" spc="-2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9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a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0" b="1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plain</a:t>
                      </a:r>
                      <a:r>
                        <a:rPr dirty="0" sz="950" spc="-20" b="1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 b="1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string</a:t>
                      </a:r>
                      <a:r>
                        <a:rPr dirty="0" sz="950" spc="-25" b="1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9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prompt</a:t>
                      </a:r>
                      <a:r>
                        <a:rPr dirty="0" sz="950" spc="-2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(not</a:t>
                      </a:r>
                      <a:r>
                        <a:rPr dirty="0" sz="950" spc="-2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9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a</a:t>
                      </a:r>
                      <a:r>
                        <a:rPr dirty="0" sz="950" spc="-2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chat-</a:t>
                      </a:r>
                      <a:r>
                        <a:rPr dirty="0" sz="950" spc="-7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formatted</a:t>
                      </a:r>
                      <a:r>
                        <a:rPr dirty="0" sz="950" spc="20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messages</a:t>
                      </a:r>
                      <a:r>
                        <a:rPr dirty="0" sz="750" spc="-35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950" spc="-6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list</a:t>
                      </a:r>
                      <a:r>
                        <a:rPr dirty="0" sz="950" spc="-2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as</a:t>
                      </a:r>
                      <a:r>
                        <a:rPr dirty="0" sz="950" spc="-2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in</a:t>
                      </a:r>
                      <a:r>
                        <a:rPr dirty="0" sz="950" spc="50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the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PostgreSQL/Solr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projects)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00" spc="-180">
                          <a:solidFill>
                            <a:srgbClr val="111726"/>
                          </a:solidFill>
                          <a:latin typeface="Arial"/>
                          <a:cs typeface="Arial"/>
                        </a:rPr>
                        <a:t>—</a:t>
                      </a:r>
                      <a:r>
                        <a:rPr dirty="0" sz="900" spc="-45">
                          <a:solidFill>
                            <a:srgbClr val="111726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50" spc="-6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this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pipeline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9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mode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simply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continues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the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9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raw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text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rather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2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than</a:t>
                      </a:r>
                      <a:r>
                        <a:rPr dirty="0" sz="950" spc="50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applying</a:t>
                      </a:r>
                      <a:r>
                        <a:rPr dirty="0" sz="950" spc="-2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9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a</a:t>
                      </a:r>
                      <a:r>
                        <a:rPr dirty="0" sz="950" spc="-2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chat</a:t>
                      </a:r>
                      <a:r>
                        <a:rPr dirty="0" sz="950" spc="-2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template.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37465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</a:tr>
              <a:tr h="296545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dirty="0" sz="750" spc="-1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max_new_tokens=120,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90170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3025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Limits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generation</a:t>
                      </a:r>
                      <a:r>
                        <a:rPr dirty="0" sz="95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to</a:t>
                      </a:r>
                      <a:r>
                        <a:rPr dirty="0" sz="95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850" spc="-35">
                          <a:solidFill>
                            <a:srgbClr val="111726"/>
                          </a:solidFill>
                          <a:latin typeface="Arial"/>
                          <a:cs typeface="Arial"/>
                        </a:rPr>
                        <a:t>120</a:t>
                      </a:r>
                      <a:r>
                        <a:rPr dirty="0" sz="850" spc="-20">
                          <a:solidFill>
                            <a:srgbClr val="111726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50" spc="-9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new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tokens</a:t>
                      </a:r>
                      <a:r>
                        <a:rPr dirty="0" sz="95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6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(slightly</a:t>
                      </a:r>
                      <a:r>
                        <a:rPr dirty="0" sz="95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shorter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9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cap</a:t>
                      </a:r>
                      <a:r>
                        <a:rPr dirty="0" sz="95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than</a:t>
                      </a:r>
                      <a:r>
                        <a:rPr dirty="0" sz="95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the</a:t>
                      </a:r>
                      <a:r>
                        <a:rPr dirty="0" sz="95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9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PostgreSQL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project's</a:t>
                      </a:r>
                      <a:r>
                        <a:rPr dirty="0" sz="95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850" spc="-10">
                          <a:solidFill>
                            <a:srgbClr val="111726"/>
                          </a:solidFill>
                          <a:latin typeface="Arial"/>
                          <a:cs typeface="Arial"/>
                        </a:rPr>
                        <a:t>150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).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64769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dirty="0" sz="750" spc="-1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do_sample=False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90170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3025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Greedy</a:t>
                      </a:r>
                      <a:r>
                        <a:rPr dirty="0" sz="950" spc="3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decoding</a:t>
                      </a:r>
                      <a:r>
                        <a:rPr dirty="0" sz="950" spc="4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00" spc="-180">
                          <a:solidFill>
                            <a:srgbClr val="111726"/>
                          </a:solidFill>
                          <a:latin typeface="Arial"/>
                          <a:cs typeface="Arial"/>
                        </a:rPr>
                        <a:t>—</a:t>
                      </a:r>
                      <a:r>
                        <a:rPr dirty="0" sz="900" spc="5">
                          <a:solidFill>
                            <a:srgbClr val="111726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deterministic,</a:t>
                      </a:r>
                      <a:r>
                        <a:rPr dirty="0" sz="950" spc="4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9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most-</a:t>
                      </a:r>
                      <a:r>
                        <a:rPr dirty="0" sz="950" spc="-7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likely-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token-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at-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each-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step</a:t>
                      </a:r>
                      <a:r>
                        <a:rPr dirty="0" sz="950" spc="4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generation.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64769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dirty="0" sz="750" spc="-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)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90170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3025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Closes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the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call.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64769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print("="</a:t>
                      </a:r>
                      <a:r>
                        <a:rPr dirty="0" sz="750" spc="6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*</a:t>
                      </a:r>
                      <a:r>
                        <a:rPr dirty="0" sz="750" spc="65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 spc="-25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70)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90170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3025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850" spc="-40">
                          <a:solidFill>
                            <a:srgbClr val="111726"/>
                          </a:solidFill>
                          <a:latin typeface="Arial"/>
                          <a:cs typeface="Arial"/>
                        </a:rPr>
                        <a:t>70</a:t>
                      </a:r>
                      <a:r>
                        <a:rPr dirty="0" sz="950" spc="-4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-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character</a:t>
                      </a:r>
                      <a:r>
                        <a:rPr dirty="0" sz="950" spc="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divider.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64769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</a:tr>
              <a:tr h="464820">
                <a:tc>
                  <a:txBody>
                    <a:bodyPr/>
                    <a:lstStyle/>
                    <a:p>
                      <a:pPr marL="70485" marR="424180" indent="26670">
                        <a:lnSpc>
                          <a:spcPct val="153300"/>
                        </a:lnSpc>
                        <a:spcBef>
                          <a:spcPts val="229"/>
                        </a:spcBef>
                      </a:pPr>
                      <a:r>
                        <a:rPr dirty="0" sz="750" spc="-1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print("Generated Answer")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29209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3025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Section</a:t>
                      </a:r>
                      <a:r>
                        <a:rPr dirty="0" sz="950" spc="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header.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64769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print("="</a:t>
                      </a:r>
                      <a:r>
                        <a:rPr dirty="0" sz="750" spc="6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*</a:t>
                      </a:r>
                      <a:r>
                        <a:rPr dirty="0" sz="750" spc="65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 spc="-25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70)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90170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3025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Another</a:t>
                      </a:r>
                      <a:r>
                        <a:rPr dirty="0" sz="950" spc="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divider.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64769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</a:tr>
              <a:tr h="1152525">
                <a:tc>
                  <a:txBody>
                    <a:bodyPr/>
                    <a:lstStyle/>
                    <a:p>
                      <a:pPr marL="70485" marR="273685" indent="26670">
                        <a:lnSpc>
                          <a:spcPct val="153300"/>
                        </a:lnSpc>
                        <a:spcBef>
                          <a:spcPts val="229"/>
                        </a:spcBef>
                      </a:pPr>
                      <a:r>
                        <a:rPr dirty="0" sz="750" spc="-1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print(response[0] ["generated_text"])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29209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3025" marR="184150">
                        <a:lnSpc>
                          <a:spcPct val="120100"/>
                        </a:lnSpc>
                        <a:spcBef>
                          <a:spcPts val="280"/>
                        </a:spcBef>
                      </a:pPr>
                      <a:r>
                        <a:rPr dirty="0" sz="950" spc="-7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Prints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the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pipeline's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output.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 b="1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Important</a:t>
                      </a:r>
                      <a:r>
                        <a:rPr dirty="0" sz="950" spc="-10" b="1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0" b="1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detail:</a:t>
                      </a:r>
                      <a:r>
                        <a:rPr dirty="0" sz="950" spc="-15" b="1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because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the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input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9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was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9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a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9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raw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string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(not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9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a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2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chat</a:t>
                      </a:r>
                      <a:r>
                        <a:rPr dirty="0" sz="95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messages</a:t>
                      </a:r>
                      <a:r>
                        <a:rPr dirty="0" sz="750" spc="-25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950" spc="-3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list),</a:t>
                      </a:r>
                      <a:r>
                        <a:rPr dirty="0" sz="950" spc="2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generated_text</a:t>
                      </a:r>
                      <a:r>
                        <a:rPr dirty="0" sz="750" spc="-2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here</a:t>
                      </a:r>
                      <a:r>
                        <a:rPr dirty="0" sz="950" spc="-2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6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is</a:t>
                      </a:r>
                      <a:r>
                        <a:rPr dirty="0" sz="950" spc="-2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9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a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0" b="1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single</a:t>
                      </a:r>
                      <a:r>
                        <a:rPr dirty="0" sz="950" spc="-20" b="1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 b="1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string</a:t>
                      </a:r>
                      <a:r>
                        <a:rPr dirty="0" sz="950" spc="-20" b="1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 b="1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containing</a:t>
                      </a:r>
                      <a:r>
                        <a:rPr dirty="0" sz="950" spc="-15" b="1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 b="1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the</a:t>
                      </a:r>
                      <a:r>
                        <a:rPr dirty="0" sz="950" spc="-20" b="1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 b="1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entire</a:t>
                      </a:r>
                      <a:r>
                        <a:rPr dirty="0" sz="950" spc="-20" b="1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10" b="1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prompt </a:t>
                      </a:r>
                      <a:r>
                        <a:rPr dirty="0" sz="950" spc="-85" b="1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followed</a:t>
                      </a:r>
                      <a:r>
                        <a:rPr dirty="0" sz="950" spc="-10" b="1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90" b="1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by</a:t>
                      </a:r>
                      <a:r>
                        <a:rPr dirty="0" sz="950" spc="-10" b="1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 b="1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the</a:t>
                      </a:r>
                      <a:r>
                        <a:rPr dirty="0" sz="950" spc="-5" b="1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 b="1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model's</a:t>
                      </a:r>
                      <a:r>
                        <a:rPr dirty="0" sz="950" spc="-10" b="1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 b="1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continuation</a:t>
                      </a:r>
                      <a:r>
                        <a:rPr dirty="0" sz="950" spc="-5" b="1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00" spc="-180">
                          <a:solidFill>
                            <a:srgbClr val="111726"/>
                          </a:solidFill>
                          <a:latin typeface="Arial"/>
                          <a:cs typeface="Arial"/>
                        </a:rPr>
                        <a:t>—</a:t>
                      </a:r>
                      <a:r>
                        <a:rPr dirty="0" sz="900" spc="-45">
                          <a:solidFill>
                            <a:srgbClr val="111726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unlike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the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chat-</a:t>
                      </a:r>
                      <a:r>
                        <a:rPr dirty="0" sz="950" spc="-9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mode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pipeline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used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2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in</a:t>
                      </a:r>
                      <a:r>
                        <a:rPr dirty="0" sz="95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rag_pipeline.py</a:t>
                      </a:r>
                      <a:r>
                        <a:rPr dirty="0" sz="750" spc="-215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950" spc="-5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,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which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returns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9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a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6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list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of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message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turns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and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requires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6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indexing</a:t>
                      </a:r>
                      <a:r>
                        <a:rPr dirty="0" sz="950" spc="22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[-</a:t>
                      </a:r>
                      <a:r>
                        <a:rPr dirty="0" sz="750" spc="-25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1]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["content"]</a:t>
                      </a:r>
                      <a:r>
                        <a:rPr dirty="0" sz="750" spc="-5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to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isolate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just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the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9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new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reply.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9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So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6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this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cell's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printed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output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includes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the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2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full</a:t>
                      </a:r>
                      <a:r>
                        <a:rPr dirty="0" sz="950" spc="50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original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9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prompt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text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plus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the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9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appended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answer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at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the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2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end.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35560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0" name="object 20"/>
          <p:cNvSpPr/>
          <p:nvPr/>
        </p:nvSpPr>
        <p:spPr>
          <a:xfrm>
            <a:off x="4893497" y="7252273"/>
            <a:ext cx="674370" cy="148590"/>
          </a:xfrm>
          <a:custGeom>
            <a:avLst/>
            <a:gdLst/>
            <a:ahLst/>
            <a:cxnLst/>
            <a:rect l="l" t="t" r="r" b="b"/>
            <a:pathLst>
              <a:path w="674370" h="148590">
                <a:moveTo>
                  <a:pt x="650753" y="148284"/>
                </a:moveTo>
                <a:lnTo>
                  <a:pt x="23390" y="148284"/>
                </a:lnTo>
                <a:lnTo>
                  <a:pt x="19950" y="147603"/>
                </a:lnTo>
                <a:lnTo>
                  <a:pt x="0" y="124898"/>
                </a:lnTo>
                <a:lnTo>
                  <a:pt x="0" y="121345"/>
                </a:lnTo>
                <a:lnTo>
                  <a:pt x="0" y="23386"/>
                </a:lnTo>
                <a:lnTo>
                  <a:pt x="23390" y="0"/>
                </a:lnTo>
                <a:lnTo>
                  <a:pt x="650753" y="0"/>
                </a:lnTo>
                <a:lnTo>
                  <a:pt x="674143" y="23386"/>
                </a:lnTo>
                <a:lnTo>
                  <a:pt x="674143" y="124898"/>
                </a:lnTo>
                <a:lnTo>
                  <a:pt x="654192" y="147603"/>
                </a:lnTo>
                <a:lnTo>
                  <a:pt x="650753" y="148284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680102" y="7441033"/>
            <a:ext cx="856615" cy="148590"/>
          </a:xfrm>
          <a:custGeom>
            <a:avLst/>
            <a:gdLst/>
            <a:ahLst/>
            <a:cxnLst/>
            <a:rect l="l" t="t" r="r" b="b"/>
            <a:pathLst>
              <a:path w="856615" h="148590">
                <a:moveTo>
                  <a:pt x="832772" y="148284"/>
                </a:moveTo>
                <a:lnTo>
                  <a:pt x="23389" y="148284"/>
                </a:lnTo>
                <a:lnTo>
                  <a:pt x="19950" y="147576"/>
                </a:lnTo>
                <a:lnTo>
                  <a:pt x="0" y="124898"/>
                </a:lnTo>
                <a:lnTo>
                  <a:pt x="0" y="121345"/>
                </a:lnTo>
                <a:lnTo>
                  <a:pt x="0" y="23386"/>
                </a:lnTo>
                <a:lnTo>
                  <a:pt x="23389" y="0"/>
                </a:lnTo>
                <a:lnTo>
                  <a:pt x="832772" y="0"/>
                </a:lnTo>
                <a:lnTo>
                  <a:pt x="856162" y="23386"/>
                </a:lnTo>
                <a:lnTo>
                  <a:pt x="856162" y="124898"/>
                </a:lnTo>
                <a:lnTo>
                  <a:pt x="836211" y="147576"/>
                </a:lnTo>
                <a:lnTo>
                  <a:pt x="832772" y="148284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2655342" y="7441033"/>
            <a:ext cx="1160145" cy="148590"/>
          </a:xfrm>
          <a:custGeom>
            <a:avLst/>
            <a:gdLst/>
            <a:ahLst/>
            <a:cxnLst/>
            <a:rect l="l" t="t" r="r" b="b"/>
            <a:pathLst>
              <a:path w="1160145" h="148590">
                <a:moveTo>
                  <a:pt x="1136136" y="148284"/>
                </a:moveTo>
                <a:lnTo>
                  <a:pt x="23389" y="148284"/>
                </a:lnTo>
                <a:lnTo>
                  <a:pt x="19950" y="147576"/>
                </a:lnTo>
                <a:lnTo>
                  <a:pt x="0" y="124898"/>
                </a:lnTo>
                <a:lnTo>
                  <a:pt x="0" y="121345"/>
                </a:lnTo>
                <a:lnTo>
                  <a:pt x="0" y="23386"/>
                </a:lnTo>
                <a:lnTo>
                  <a:pt x="23389" y="0"/>
                </a:lnTo>
                <a:lnTo>
                  <a:pt x="1136136" y="0"/>
                </a:lnTo>
                <a:lnTo>
                  <a:pt x="1159526" y="23386"/>
                </a:lnTo>
                <a:lnTo>
                  <a:pt x="1159526" y="124898"/>
                </a:lnTo>
                <a:lnTo>
                  <a:pt x="1139576" y="147576"/>
                </a:lnTo>
                <a:lnTo>
                  <a:pt x="1136136" y="148284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 txBox="1"/>
          <p:nvPr/>
        </p:nvSpPr>
        <p:spPr>
          <a:xfrm>
            <a:off x="667402" y="7183563"/>
            <a:ext cx="6099175" cy="5930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>
              <a:lnSpc>
                <a:spcPct val="123900"/>
              </a:lnSpc>
              <a:spcBef>
                <a:spcPts val="100"/>
              </a:spcBef>
            </a:pPr>
            <a:r>
              <a:rPr dirty="0" sz="1000" spc="-85" b="1">
                <a:solidFill>
                  <a:srgbClr val="111726"/>
                </a:solidFill>
                <a:latin typeface="Source Han Sans JP"/>
                <a:cs typeface="Source Han Sans JP"/>
              </a:rPr>
              <a:t>Actual</a:t>
            </a:r>
            <a:r>
              <a:rPr dirty="0" sz="1000" spc="-35" b="1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100" b="1">
                <a:solidFill>
                  <a:srgbClr val="111726"/>
                </a:solidFill>
                <a:latin typeface="Source Han Sans JP"/>
                <a:cs typeface="Source Han Sans JP"/>
              </a:rPr>
              <a:t>captured</a:t>
            </a:r>
            <a:r>
              <a:rPr dirty="0" sz="1000" spc="-35" b="1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90" b="1">
                <a:solidFill>
                  <a:srgbClr val="111726"/>
                </a:solidFill>
                <a:latin typeface="Source Han Sans JP"/>
                <a:cs typeface="Source Han Sans JP"/>
              </a:rPr>
              <a:t>output.</a:t>
            </a:r>
            <a:r>
              <a:rPr dirty="0" sz="1000" spc="-40" b="1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70">
                <a:solidFill>
                  <a:srgbClr val="111726"/>
                </a:solidFill>
                <a:latin typeface="Source Han Sans JP"/>
                <a:cs typeface="Source Han Sans JP"/>
              </a:rPr>
              <a:t>First,</a:t>
            </a:r>
            <a:r>
              <a:rPr dirty="0" sz="1000" spc="-3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85">
                <a:solidFill>
                  <a:srgbClr val="111726"/>
                </a:solidFill>
                <a:latin typeface="Source Han Sans JP"/>
                <a:cs typeface="Source Han Sans JP"/>
              </a:rPr>
              <a:t>a</a:t>
            </a:r>
            <a:r>
              <a:rPr dirty="0" sz="1000" spc="-3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85">
                <a:solidFill>
                  <a:srgbClr val="111726"/>
                </a:solidFill>
                <a:latin typeface="Source Han Sans JP"/>
                <a:cs typeface="Source Han Sans JP"/>
              </a:rPr>
              <a:t>harmless</a:t>
            </a:r>
            <a:r>
              <a:rPr dirty="0" sz="1000" spc="-3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80">
                <a:solidFill>
                  <a:srgbClr val="111726"/>
                </a:solidFill>
                <a:latin typeface="Source Han Sans JP"/>
                <a:cs typeface="Source Han Sans JP"/>
              </a:rPr>
              <a:t>con</a:t>
            </a:r>
            <a:r>
              <a:rPr dirty="0" sz="950" spc="-80">
                <a:solidFill>
                  <a:srgbClr val="111726"/>
                </a:solidFill>
                <a:latin typeface="Arial"/>
                <a:cs typeface="Arial"/>
              </a:rPr>
              <a:t>ﬁ</a:t>
            </a:r>
            <a:r>
              <a:rPr dirty="0" sz="1000" spc="-80">
                <a:solidFill>
                  <a:srgbClr val="111726"/>
                </a:solidFill>
                <a:latin typeface="Source Han Sans JP"/>
                <a:cs typeface="Source Han Sans JP"/>
              </a:rPr>
              <a:t>guration</a:t>
            </a:r>
            <a:r>
              <a:rPr dirty="0" sz="1000" spc="-3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90">
                <a:solidFill>
                  <a:srgbClr val="111726"/>
                </a:solidFill>
                <a:latin typeface="Source Han Sans JP"/>
                <a:cs typeface="Source Han Sans JP"/>
              </a:rPr>
              <a:t>warning</a:t>
            </a:r>
            <a:r>
              <a:rPr dirty="0" sz="1000" spc="-3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100">
                <a:solidFill>
                  <a:srgbClr val="111726"/>
                </a:solidFill>
                <a:latin typeface="Source Han Sans JP"/>
                <a:cs typeface="Source Han Sans JP"/>
              </a:rPr>
              <a:t>on</a:t>
            </a:r>
            <a:r>
              <a:rPr dirty="0" sz="1000" spc="-3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80">
                <a:solidFill>
                  <a:srgbClr val="111726"/>
                </a:solidFill>
                <a:latin typeface="Source Han Sans JP"/>
                <a:cs typeface="Source Han Sans JP"/>
              </a:rPr>
              <a:t>stderr</a:t>
            </a:r>
            <a:r>
              <a:rPr dirty="0" sz="1000" spc="-3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85">
                <a:solidFill>
                  <a:srgbClr val="111726"/>
                </a:solidFill>
                <a:latin typeface="Source Han Sans JP"/>
                <a:cs typeface="Source Han Sans JP"/>
              </a:rPr>
              <a:t>(because</a:t>
            </a:r>
            <a:r>
              <a:rPr dirty="0" sz="1000" spc="180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800" spc="5">
                <a:solidFill>
                  <a:srgbClr val="111726"/>
                </a:solidFill>
                <a:latin typeface="Courier New"/>
                <a:cs typeface="Courier New"/>
              </a:rPr>
              <a:t>pipeline()</a:t>
            </a:r>
            <a:r>
              <a:rPr dirty="0" sz="800" spc="-80">
                <a:solidFill>
                  <a:srgbClr val="111726"/>
                </a:solidFill>
                <a:latin typeface="Courier New"/>
                <a:cs typeface="Courier New"/>
              </a:rPr>
              <a:t> </a:t>
            </a:r>
            <a:r>
              <a:rPr dirty="0" sz="1000" spc="-80">
                <a:solidFill>
                  <a:srgbClr val="111726"/>
                </a:solidFill>
                <a:latin typeface="Source Han Sans JP"/>
                <a:cs typeface="Source Han Sans JP"/>
              </a:rPr>
              <a:t>sets</a:t>
            </a:r>
            <a:r>
              <a:rPr dirty="0" sz="1000" spc="-3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95">
                <a:solidFill>
                  <a:srgbClr val="111726"/>
                </a:solidFill>
                <a:latin typeface="Source Han Sans JP"/>
                <a:cs typeface="Source Han Sans JP"/>
              </a:rPr>
              <a:t>an</a:t>
            </a:r>
            <a:r>
              <a:rPr dirty="0" sz="1000" spc="-3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80">
                <a:solidFill>
                  <a:srgbClr val="111726"/>
                </a:solidFill>
                <a:latin typeface="Source Han Sans JP"/>
                <a:cs typeface="Source Han Sans JP"/>
              </a:rPr>
              <a:t>internal</a:t>
            </a:r>
            <a:r>
              <a:rPr dirty="0" sz="1000" spc="-3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80">
                <a:solidFill>
                  <a:srgbClr val="111726"/>
                </a:solidFill>
                <a:latin typeface="Source Han Sans JP"/>
                <a:cs typeface="Source Han Sans JP"/>
              </a:rPr>
              <a:t>default</a:t>
            </a:r>
            <a:r>
              <a:rPr dirty="0" sz="1000" spc="-40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800">
                <a:solidFill>
                  <a:srgbClr val="111726"/>
                </a:solidFill>
                <a:latin typeface="Courier New"/>
                <a:cs typeface="Courier New"/>
              </a:rPr>
              <a:t>max_length=20</a:t>
            </a:r>
            <a:r>
              <a:rPr dirty="0" sz="800" spc="-80">
                <a:solidFill>
                  <a:srgbClr val="111726"/>
                </a:solidFill>
                <a:latin typeface="Courier New"/>
                <a:cs typeface="Courier New"/>
              </a:rPr>
              <a:t> </a:t>
            </a:r>
            <a:r>
              <a:rPr dirty="0" sz="1000" spc="-80">
                <a:solidFill>
                  <a:srgbClr val="111726"/>
                </a:solidFill>
                <a:latin typeface="Source Han Sans JP"/>
                <a:cs typeface="Source Han Sans JP"/>
              </a:rPr>
              <a:t>alongside</a:t>
            </a:r>
            <a:r>
              <a:rPr dirty="0" sz="1000" spc="-3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85">
                <a:solidFill>
                  <a:srgbClr val="111726"/>
                </a:solidFill>
                <a:latin typeface="Source Han Sans JP"/>
                <a:cs typeface="Source Han Sans JP"/>
              </a:rPr>
              <a:t>the</a:t>
            </a:r>
            <a:r>
              <a:rPr dirty="0" sz="1000" spc="-3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70">
                <a:solidFill>
                  <a:srgbClr val="111726"/>
                </a:solidFill>
                <a:latin typeface="Source Han Sans JP"/>
                <a:cs typeface="Source Han Sans JP"/>
              </a:rPr>
              <a:t>explicit</a:t>
            </a:r>
            <a:r>
              <a:rPr dirty="0" sz="1000" spc="17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800">
                <a:solidFill>
                  <a:srgbClr val="111726"/>
                </a:solidFill>
                <a:latin typeface="Courier New"/>
                <a:cs typeface="Courier New"/>
              </a:rPr>
              <a:t>max_new_tokens=120</a:t>
            </a:r>
            <a:r>
              <a:rPr dirty="0" sz="800" spc="-80">
                <a:solidFill>
                  <a:srgbClr val="111726"/>
                </a:solidFill>
                <a:latin typeface="Courier New"/>
                <a:cs typeface="Courier New"/>
              </a:rPr>
              <a:t> </a:t>
            </a:r>
            <a:r>
              <a:rPr dirty="0" sz="950" spc="-200">
                <a:solidFill>
                  <a:srgbClr val="111726"/>
                </a:solidFill>
                <a:latin typeface="Arial"/>
                <a:cs typeface="Arial"/>
              </a:rPr>
              <a:t>—</a:t>
            </a:r>
            <a:r>
              <a:rPr dirty="0" sz="950" spc="-75">
                <a:solidFill>
                  <a:srgbClr val="111726"/>
                </a:solidFill>
                <a:latin typeface="Arial"/>
                <a:cs typeface="Arial"/>
              </a:rPr>
              <a:t> </a:t>
            </a:r>
            <a:r>
              <a:rPr dirty="0" sz="1000" spc="-85">
                <a:solidFill>
                  <a:srgbClr val="111726"/>
                </a:solidFill>
                <a:latin typeface="Source Han Sans JP"/>
                <a:cs typeface="Source Han Sans JP"/>
              </a:rPr>
              <a:t>the</a:t>
            </a:r>
            <a:r>
              <a:rPr dirty="0" sz="1000" spc="-3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70">
                <a:solidFill>
                  <a:srgbClr val="111726"/>
                </a:solidFill>
                <a:latin typeface="Source Han Sans JP"/>
                <a:cs typeface="Source Han Sans JP"/>
              </a:rPr>
              <a:t>explicit</a:t>
            </a:r>
            <a:r>
              <a:rPr dirty="0" sz="1000" spc="-3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85">
                <a:solidFill>
                  <a:srgbClr val="111726"/>
                </a:solidFill>
                <a:latin typeface="Source Han Sans JP"/>
                <a:cs typeface="Source Han Sans JP"/>
              </a:rPr>
              <a:t>value</a:t>
            </a:r>
            <a:r>
              <a:rPr dirty="0" sz="1000" spc="-3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80">
                <a:solidFill>
                  <a:srgbClr val="111726"/>
                </a:solidFill>
                <a:latin typeface="Source Han Sans JP"/>
                <a:cs typeface="Source Han Sans JP"/>
              </a:rPr>
              <a:t>wins,</a:t>
            </a:r>
            <a:r>
              <a:rPr dirty="0" sz="1000" spc="-3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90">
                <a:solidFill>
                  <a:srgbClr val="111726"/>
                </a:solidFill>
                <a:latin typeface="Source Han Sans JP"/>
                <a:cs typeface="Source Han Sans JP"/>
              </a:rPr>
              <a:t>generation</a:t>
            </a:r>
            <a:r>
              <a:rPr dirty="0" sz="1000" spc="-3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65">
                <a:solidFill>
                  <a:srgbClr val="111726"/>
                </a:solidFill>
                <a:latin typeface="Source Han Sans JP"/>
                <a:cs typeface="Source Han Sans JP"/>
              </a:rPr>
              <a:t>is</a:t>
            </a:r>
            <a:r>
              <a:rPr dirty="0" sz="1000" spc="-3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95">
                <a:solidFill>
                  <a:srgbClr val="111726"/>
                </a:solidFill>
                <a:latin typeface="Source Han Sans JP"/>
                <a:cs typeface="Source Han Sans JP"/>
              </a:rPr>
              <a:t>not</a:t>
            </a:r>
            <a:r>
              <a:rPr dirty="0" sz="1000" spc="-3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90">
                <a:solidFill>
                  <a:srgbClr val="111726"/>
                </a:solidFill>
                <a:latin typeface="Source Han Sans JP"/>
                <a:cs typeface="Source Han Sans JP"/>
              </a:rPr>
              <a:t>truncated</a:t>
            </a:r>
            <a:r>
              <a:rPr dirty="0" sz="1000" spc="-3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85">
                <a:solidFill>
                  <a:srgbClr val="111726"/>
                </a:solidFill>
                <a:latin typeface="Source Han Sans JP"/>
                <a:cs typeface="Source Han Sans JP"/>
              </a:rPr>
              <a:t>to</a:t>
            </a:r>
            <a:r>
              <a:rPr dirty="0" sz="1000" spc="-3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900" spc="-35">
                <a:solidFill>
                  <a:srgbClr val="111726"/>
                </a:solidFill>
                <a:latin typeface="Arial"/>
                <a:cs typeface="Arial"/>
              </a:rPr>
              <a:t>20</a:t>
            </a:r>
            <a:r>
              <a:rPr dirty="0" sz="900" spc="-20">
                <a:solidFill>
                  <a:srgbClr val="111726"/>
                </a:solidFill>
                <a:latin typeface="Arial"/>
                <a:cs typeface="Arial"/>
              </a:rPr>
              <a:t> </a:t>
            </a:r>
            <a:r>
              <a:rPr dirty="0" sz="1000" spc="-85">
                <a:solidFill>
                  <a:srgbClr val="111726"/>
                </a:solidFill>
                <a:latin typeface="Source Han Sans JP"/>
                <a:cs typeface="Source Han Sans JP"/>
              </a:rPr>
              <a:t>tokens):</a:t>
            </a:r>
            <a:endParaRPr sz="1000">
              <a:latin typeface="Source Han Sans JP"/>
              <a:cs typeface="Source Han Sans JP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761782" y="7940935"/>
            <a:ext cx="5450205" cy="551815"/>
          </a:xfrm>
          <a:prstGeom prst="rect">
            <a:avLst/>
          </a:prstGeom>
        </p:spPr>
        <p:txBody>
          <a:bodyPr wrap="square" lIns="0" tIns="654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15"/>
              </a:spcBef>
            </a:pP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[transformers]</a:t>
            </a:r>
            <a:r>
              <a:rPr dirty="0" sz="800" spc="3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Both</a:t>
            </a:r>
            <a:r>
              <a:rPr dirty="0" sz="800" spc="4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`max_new_tokens`</a:t>
            </a:r>
            <a:r>
              <a:rPr dirty="0" sz="800" spc="3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(=120)</a:t>
            </a:r>
            <a:r>
              <a:rPr dirty="0" sz="800" spc="4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and</a:t>
            </a:r>
            <a:r>
              <a:rPr dirty="0" sz="800" spc="4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`max_length`(=20)</a:t>
            </a:r>
            <a:r>
              <a:rPr dirty="0" sz="800" spc="3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seem</a:t>
            </a:r>
            <a:r>
              <a:rPr dirty="0" sz="800" spc="4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to</a:t>
            </a:r>
            <a:r>
              <a:rPr dirty="0" sz="800" spc="4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have</a:t>
            </a:r>
            <a:r>
              <a:rPr dirty="0" sz="800" spc="3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been</a:t>
            </a:r>
            <a:r>
              <a:rPr dirty="0" sz="800" spc="4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 spc="-20">
                <a:solidFill>
                  <a:srgbClr val="E4E7EB"/>
                </a:solidFill>
                <a:latin typeface="Courier New"/>
                <a:cs typeface="Courier New"/>
              </a:rPr>
              <a:t>set.</a:t>
            </a:r>
            <a:endParaRPr sz="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420"/>
              </a:spcBef>
            </a:pPr>
            <a:r>
              <a:rPr dirty="0" sz="800" spc="-10">
                <a:solidFill>
                  <a:srgbClr val="E4E7EB"/>
                </a:solidFill>
                <a:latin typeface="Courier New"/>
                <a:cs typeface="Courier New"/>
              </a:rPr>
              <a:t>`max_new_tokens`</a:t>
            </a:r>
            <a:endParaRPr sz="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425"/>
              </a:spcBef>
            </a:pP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will</a:t>
            </a:r>
            <a:r>
              <a:rPr dirty="0" sz="800" spc="2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take</a:t>
            </a:r>
            <a:r>
              <a:rPr dirty="0" sz="800" spc="3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precedence.</a:t>
            </a:r>
            <a:r>
              <a:rPr dirty="0" sz="800" spc="3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Please</a:t>
            </a:r>
            <a:r>
              <a:rPr dirty="0" sz="800" spc="3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refer</a:t>
            </a:r>
            <a:r>
              <a:rPr dirty="0" sz="800" spc="3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to</a:t>
            </a:r>
            <a:r>
              <a:rPr dirty="0" sz="800" spc="3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the</a:t>
            </a:r>
            <a:r>
              <a:rPr dirty="0" sz="800" spc="3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documentation</a:t>
            </a:r>
            <a:r>
              <a:rPr dirty="0" sz="800" spc="3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for</a:t>
            </a:r>
            <a:r>
              <a:rPr dirty="0" sz="800" spc="3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more</a:t>
            </a:r>
            <a:r>
              <a:rPr dirty="0" sz="800" spc="3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 spc="-10">
                <a:solidFill>
                  <a:srgbClr val="E4E7EB"/>
                </a:solidFill>
                <a:latin typeface="Courier New"/>
                <a:cs typeface="Courier New"/>
              </a:rPr>
              <a:t>information.</a:t>
            </a:r>
            <a:endParaRPr sz="800">
              <a:latin typeface="Courier New"/>
              <a:cs typeface="Courier New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2951965" y="8924149"/>
            <a:ext cx="485775" cy="148590"/>
          </a:xfrm>
          <a:custGeom>
            <a:avLst/>
            <a:gdLst/>
            <a:ahLst/>
            <a:cxnLst/>
            <a:rect l="l" t="t" r="r" b="b"/>
            <a:pathLst>
              <a:path w="485775" h="148590">
                <a:moveTo>
                  <a:pt x="461993" y="148284"/>
                </a:moveTo>
                <a:lnTo>
                  <a:pt x="23389" y="148284"/>
                </a:lnTo>
                <a:lnTo>
                  <a:pt x="19950" y="147603"/>
                </a:lnTo>
                <a:lnTo>
                  <a:pt x="0" y="124898"/>
                </a:lnTo>
                <a:lnTo>
                  <a:pt x="0" y="121345"/>
                </a:lnTo>
                <a:lnTo>
                  <a:pt x="0" y="23359"/>
                </a:lnTo>
                <a:lnTo>
                  <a:pt x="23389" y="0"/>
                </a:lnTo>
                <a:lnTo>
                  <a:pt x="461993" y="0"/>
                </a:lnTo>
                <a:lnTo>
                  <a:pt x="485383" y="23359"/>
                </a:lnTo>
                <a:lnTo>
                  <a:pt x="485383" y="124898"/>
                </a:lnTo>
                <a:lnTo>
                  <a:pt x="465432" y="147603"/>
                </a:lnTo>
                <a:lnTo>
                  <a:pt x="461993" y="148284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 txBox="1"/>
          <p:nvPr/>
        </p:nvSpPr>
        <p:spPr>
          <a:xfrm>
            <a:off x="667402" y="8694690"/>
            <a:ext cx="5829300" cy="37655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14999"/>
              </a:lnSpc>
              <a:spcBef>
                <a:spcPts val="95"/>
              </a:spcBef>
            </a:pPr>
            <a:r>
              <a:rPr dirty="0" sz="1000" spc="-90">
                <a:solidFill>
                  <a:srgbClr val="111726"/>
                </a:solidFill>
                <a:latin typeface="Source Han Sans JP"/>
                <a:cs typeface="Source Han Sans JP"/>
              </a:rPr>
              <a:t>Then,</a:t>
            </a:r>
            <a:r>
              <a:rPr dirty="0" sz="1000" spc="-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105">
                <a:solidFill>
                  <a:srgbClr val="111726"/>
                </a:solidFill>
                <a:latin typeface="Source Han Sans JP"/>
                <a:cs typeface="Source Han Sans JP"/>
              </a:rPr>
              <a:t>on</a:t>
            </a:r>
            <a:r>
              <a:rPr dirty="0" sz="1000" spc="-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85">
                <a:solidFill>
                  <a:srgbClr val="111726"/>
                </a:solidFill>
                <a:latin typeface="Source Han Sans JP"/>
                <a:cs typeface="Source Han Sans JP"/>
              </a:rPr>
              <a:t>stdout,</a:t>
            </a:r>
            <a:r>
              <a:rPr dirty="0" sz="1000" spc="-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85">
                <a:solidFill>
                  <a:srgbClr val="111726"/>
                </a:solidFill>
                <a:latin typeface="Source Han Sans JP"/>
                <a:cs typeface="Source Han Sans JP"/>
              </a:rPr>
              <a:t>exactly</a:t>
            </a:r>
            <a:r>
              <a:rPr dirty="0" sz="1000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85">
                <a:solidFill>
                  <a:srgbClr val="111726"/>
                </a:solidFill>
                <a:latin typeface="Source Han Sans JP"/>
                <a:cs typeface="Source Han Sans JP"/>
              </a:rPr>
              <a:t>as</a:t>
            </a:r>
            <a:r>
              <a:rPr dirty="0" sz="1000" spc="-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85">
                <a:solidFill>
                  <a:srgbClr val="111726"/>
                </a:solidFill>
                <a:latin typeface="Source Han Sans JP"/>
                <a:cs typeface="Source Han Sans JP"/>
              </a:rPr>
              <a:t>predicted</a:t>
            </a:r>
            <a:r>
              <a:rPr dirty="0" sz="1000" spc="-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85">
                <a:solidFill>
                  <a:srgbClr val="111726"/>
                </a:solidFill>
                <a:latin typeface="Source Han Sans JP"/>
                <a:cs typeface="Source Han Sans JP"/>
              </a:rPr>
              <a:t>in</a:t>
            </a:r>
            <a:r>
              <a:rPr dirty="0" sz="1000" spc="-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90">
                <a:solidFill>
                  <a:srgbClr val="111726"/>
                </a:solidFill>
                <a:latin typeface="Source Han Sans JP"/>
                <a:cs typeface="Source Han Sans JP"/>
              </a:rPr>
              <a:t>the</a:t>
            </a:r>
            <a:r>
              <a:rPr dirty="0" sz="1000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75">
                <a:solidFill>
                  <a:srgbClr val="111726"/>
                </a:solidFill>
                <a:latin typeface="Source Han Sans JP"/>
                <a:cs typeface="Source Han Sans JP"/>
              </a:rPr>
              <a:t>line-</a:t>
            </a:r>
            <a:r>
              <a:rPr dirty="0" sz="1000" spc="-90">
                <a:solidFill>
                  <a:srgbClr val="111726"/>
                </a:solidFill>
                <a:latin typeface="Source Han Sans JP"/>
                <a:cs typeface="Source Han Sans JP"/>
              </a:rPr>
              <a:t>by-</a:t>
            </a:r>
            <a:r>
              <a:rPr dirty="0" sz="1000" spc="-70">
                <a:solidFill>
                  <a:srgbClr val="111726"/>
                </a:solidFill>
                <a:latin typeface="Source Han Sans JP"/>
                <a:cs typeface="Source Han Sans JP"/>
              </a:rPr>
              <a:t>line</a:t>
            </a:r>
            <a:r>
              <a:rPr dirty="0" sz="1000" spc="-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90">
                <a:solidFill>
                  <a:srgbClr val="111726"/>
                </a:solidFill>
                <a:latin typeface="Source Han Sans JP"/>
                <a:cs typeface="Source Han Sans JP"/>
              </a:rPr>
              <a:t>explanation</a:t>
            </a:r>
            <a:r>
              <a:rPr dirty="0" sz="1000" spc="-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90">
                <a:solidFill>
                  <a:srgbClr val="111726"/>
                </a:solidFill>
                <a:latin typeface="Source Han Sans JP"/>
                <a:cs typeface="Source Han Sans JP"/>
              </a:rPr>
              <a:t>above</a:t>
            </a:r>
            <a:r>
              <a:rPr dirty="0" sz="1000" spc="-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950" spc="-204">
                <a:solidFill>
                  <a:srgbClr val="111726"/>
                </a:solidFill>
                <a:latin typeface="Arial"/>
                <a:cs typeface="Arial"/>
              </a:rPr>
              <a:t>—</a:t>
            </a:r>
            <a:r>
              <a:rPr dirty="0" sz="950" spc="-45">
                <a:solidFill>
                  <a:srgbClr val="111726"/>
                </a:solidFill>
                <a:latin typeface="Arial"/>
                <a:cs typeface="Arial"/>
              </a:rPr>
              <a:t> </a:t>
            </a:r>
            <a:r>
              <a:rPr dirty="0" sz="1000" spc="-90">
                <a:solidFill>
                  <a:srgbClr val="111726"/>
                </a:solidFill>
                <a:latin typeface="Source Han Sans JP"/>
                <a:cs typeface="Source Han Sans JP"/>
              </a:rPr>
              <a:t>the</a:t>
            </a:r>
            <a:r>
              <a:rPr dirty="0" sz="1000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60">
                <a:solidFill>
                  <a:srgbClr val="111726"/>
                </a:solidFill>
                <a:latin typeface="Source Han Sans JP"/>
                <a:cs typeface="Source Han Sans JP"/>
              </a:rPr>
              <a:t>full</a:t>
            </a:r>
            <a:r>
              <a:rPr dirty="0" sz="1000" spc="-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75">
                <a:solidFill>
                  <a:srgbClr val="111726"/>
                </a:solidFill>
                <a:latin typeface="Source Han Sans JP"/>
                <a:cs typeface="Source Han Sans JP"/>
              </a:rPr>
              <a:t>original</a:t>
            </a:r>
            <a:r>
              <a:rPr dirty="0" sz="1000" spc="-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100">
                <a:solidFill>
                  <a:srgbClr val="111726"/>
                </a:solidFill>
                <a:latin typeface="Source Han Sans JP"/>
                <a:cs typeface="Source Han Sans JP"/>
              </a:rPr>
              <a:t>prompt</a:t>
            </a:r>
            <a:r>
              <a:rPr dirty="0" sz="1000" spc="-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70">
                <a:solidFill>
                  <a:srgbClr val="111726"/>
                </a:solidFill>
                <a:latin typeface="Source Han Sans JP"/>
                <a:cs typeface="Source Han Sans JP"/>
              </a:rPr>
              <a:t>is</a:t>
            </a:r>
            <a:r>
              <a:rPr dirty="0" sz="1000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95">
                <a:solidFill>
                  <a:srgbClr val="111726"/>
                </a:solidFill>
                <a:latin typeface="Source Han Sans JP"/>
                <a:cs typeface="Source Han Sans JP"/>
              </a:rPr>
              <a:t>echoed</a:t>
            </a:r>
            <a:r>
              <a:rPr dirty="0" sz="1000" spc="-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25">
                <a:solidFill>
                  <a:srgbClr val="111726"/>
                </a:solidFill>
                <a:latin typeface="Source Han Sans JP"/>
                <a:cs typeface="Source Han Sans JP"/>
              </a:rPr>
              <a:t>back,</a:t>
            </a:r>
            <a:r>
              <a:rPr dirty="0" sz="1000" spc="500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85">
                <a:solidFill>
                  <a:srgbClr val="111726"/>
                </a:solidFill>
                <a:latin typeface="Source Han Sans JP"/>
                <a:cs typeface="Source Han Sans JP"/>
              </a:rPr>
              <a:t>followed</a:t>
            </a:r>
            <a:r>
              <a:rPr dirty="0" sz="1000" spc="-2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100">
                <a:solidFill>
                  <a:srgbClr val="111726"/>
                </a:solidFill>
                <a:latin typeface="Source Han Sans JP"/>
                <a:cs typeface="Source Han Sans JP"/>
              </a:rPr>
              <a:t>by</a:t>
            </a:r>
            <a:r>
              <a:rPr dirty="0" sz="1000" spc="-2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90">
                <a:solidFill>
                  <a:srgbClr val="111726"/>
                </a:solidFill>
                <a:latin typeface="Source Han Sans JP"/>
                <a:cs typeface="Source Han Sans JP"/>
              </a:rPr>
              <a:t>the</a:t>
            </a:r>
            <a:r>
              <a:rPr dirty="0" sz="1000" spc="-2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90">
                <a:solidFill>
                  <a:srgbClr val="111726"/>
                </a:solidFill>
                <a:latin typeface="Source Han Sans JP"/>
                <a:cs typeface="Source Han Sans JP"/>
              </a:rPr>
              <a:t>model's</a:t>
            </a:r>
            <a:r>
              <a:rPr dirty="0" sz="1000" spc="-2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80">
                <a:solidFill>
                  <a:srgbClr val="111726"/>
                </a:solidFill>
                <a:latin typeface="Source Han Sans JP"/>
                <a:cs typeface="Source Han Sans JP"/>
              </a:rPr>
              <a:t>actual</a:t>
            </a:r>
            <a:r>
              <a:rPr dirty="0" sz="1000" spc="-20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114">
                <a:solidFill>
                  <a:srgbClr val="111726"/>
                </a:solidFill>
                <a:latin typeface="Source Han Sans JP"/>
                <a:cs typeface="Source Han Sans JP"/>
              </a:rPr>
              <a:t>new</a:t>
            </a:r>
            <a:r>
              <a:rPr dirty="0" sz="1000" spc="-2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90">
                <a:solidFill>
                  <a:srgbClr val="111726"/>
                </a:solidFill>
                <a:latin typeface="Source Han Sans JP"/>
                <a:cs typeface="Source Han Sans JP"/>
              </a:rPr>
              <a:t>text</a:t>
            </a:r>
            <a:r>
              <a:rPr dirty="0" sz="1000" spc="-2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50">
                <a:solidFill>
                  <a:srgbClr val="111726"/>
                </a:solidFill>
                <a:latin typeface="Source Han Sans JP"/>
                <a:cs typeface="Source Han Sans JP"/>
              </a:rPr>
              <a:t>after</a:t>
            </a:r>
            <a:r>
              <a:rPr dirty="0" sz="1000" spc="204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800">
                <a:solidFill>
                  <a:srgbClr val="111726"/>
                </a:solidFill>
                <a:latin typeface="Courier New"/>
                <a:cs typeface="Courier New"/>
              </a:rPr>
              <a:t>Answer:</a:t>
            </a:r>
            <a:r>
              <a:rPr dirty="0" sz="800" spc="-260">
                <a:solidFill>
                  <a:srgbClr val="111726"/>
                </a:solidFill>
                <a:latin typeface="Courier New"/>
                <a:cs typeface="Courier New"/>
              </a:rPr>
              <a:t> </a:t>
            </a:r>
            <a:r>
              <a:rPr dirty="0" sz="1000" spc="-50">
                <a:solidFill>
                  <a:srgbClr val="111726"/>
                </a:solidFill>
                <a:latin typeface="Source Han Sans JP"/>
                <a:cs typeface="Source Han Sans JP"/>
              </a:rPr>
              <a:t>:</a:t>
            </a:r>
            <a:endParaRPr sz="1000">
              <a:latin typeface="Source Han Sans JP"/>
              <a:cs typeface="Source Han Sans JP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80102" y="571484"/>
            <a:ext cx="6202680" cy="9540240"/>
          </a:xfrm>
          <a:custGeom>
            <a:avLst/>
            <a:gdLst/>
            <a:ahLst/>
            <a:cxnLst/>
            <a:rect l="l" t="t" r="r" b="b"/>
            <a:pathLst>
              <a:path w="6202680" h="9540240">
                <a:moveTo>
                  <a:pt x="6202118" y="9539882"/>
                </a:moveTo>
                <a:lnTo>
                  <a:pt x="0" y="9539882"/>
                </a:lnTo>
                <a:lnTo>
                  <a:pt x="0" y="50401"/>
                </a:lnTo>
                <a:lnTo>
                  <a:pt x="18300" y="13296"/>
                </a:lnTo>
                <a:lnTo>
                  <a:pt x="50390" y="0"/>
                </a:lnTo>
                <a:lnTo>
                  <a:pt x="6151728" y="0"/>
                </a:lnTo>
                <a:lnTo>
                  <a:pt x="6188826" y="18298"/>
                </a:lnTo>
                <a:lnTo>
                  <a:pt x="6202118" y="9539882"/>
                </a:lnTo>
                <a:close/>
              </a:path>
            </a:pathLst>
          </a:custGeom>
          <a:solidFill>
            <a:srgbClr val="0E172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761782" y="619748"/>
            <a:ext cx="4340860" cy="3760470"/>
          </a:xfrm>
          <a:prstGeom prst="rect">
            <a:avLst/>
          </a:prstGeom>
        </p:spPr>
        <p:txBody>
          <a:bodyPr wrap="square" lIns="0" tIns="654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15"/>
              </a:spcBef>
            </a:pPr>
            <a:r>
              <a:rPr dirty="0" sz="800" spc="-10">
                <a:solidFill>
                  <a:srgbClr val="E4E7EB"/>
                </a:solidFill>
                <a:latin typeface="Courier New"/>
                <a:cs typeface="Courier New"/>
              </a:rPr>
              <a:t>======================================================================</a:t>
            </a:r>
            <a:endParaRPr sz="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420"/>
              </a:spcBef>
            </a:pP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Generated</a:t>
            </a:r>
            <a:r>
              <a:rPr dirty="0" sz="800" spc="4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 spc="-10">
                <a:solidFill>
                  <a:srgbClr val="E4E7EB"/>
                </a:solidFill>
                <a:latin typeface="Courier New"/>
                <a:cs typeface="Courier New"/>
              </a:rPr>
              <a:t>Answer</a:t>
            </a:r>
            <a:endParaRPr sz="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475"/>
              </a:spcBef>
            </a:pPr>
            <a:r>
              <a:rPr dirty="0" sz="800" spc="-10">
                <a:solidFill>
                  <a:srgbClr val="E4E7EB"/>
                </a:solidFill>
                <a:latin typeface="Courier New"/>
                <a:cs typeface="Courier New"/>
              </a:rPr>
              <a:t>======================================================================</a:t>
            </a:r>
            <a:endParaRPr sz="800">
              <a:latin typeface="Courier New"/>
              <a:cs typeface="Courier New"/>
            </a:endParaRPr>
          </a:p>
          <a:p>
            <a:pPr marL="12700" marR="1915795">
              <a:lnSpc>
                <a:spcPct val="287500"/>
              </a:lnSpc>
              <a:spcBef>
                <a:spcPts val="55"/>
              </a:spcBef>
            </a:pP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You</a:t>
            </a:r>
            <a:r>
              <a:rPr dirty="0" sz="800" spc="3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are</a:t>
            </a:r>
            <a:r>
              <a:rPr dirty="0" sz="800" spc="3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a</a:t>
            </a:r>
            <a:r>
              <a:rPr dirty="0" sz="800" spc="3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question-answering</a:t>
            </a:r>
            <a:r>
              <a:rPr dirty="0" sz="800" spc="3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 spc="-10">
                <a:solidFill>
                  <a:srgbClr val="E4E7EB"/>
                </a:solidFill>
                <a:latin typeface="Courier New"/>
                <a:cs typeface="Courier New"/>
              </a:rPr>
              <a:t>assistant.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Answer</a:t>
            </a:r>
            <a:r>
              <a:rPr dirty="0" sz="800" spc="2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ONLY</a:t>
            </a:r>
            <a:r>
              <a:rPr dirty="0" sz="800" spc="3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using</a:t>
            </a:r>
            <a:r>
              <a:rPr dirty="0" sz="800" spc="3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the</a:t>
            </a:r>
            <a:r>
              <a:rPr dirty="0" sz="800" spc="2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provided</a:t>
            </a:r>
            <a:r>
              <a:rPr dirty="0" sz="800" spc="3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 spc="-10">
                <a:solidFill>
                  <a:srgbClr val="E4E7EB"/>
                </a:solidFill>
                <a:latin typeface="Courier New"/>
                <a:cs typeface="Courier New"/>
              </a:rPr>
              <a:t>context.</a:t>
            </a:r>
            <a:endParaRPr sz="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470"/>
              </a:spcBef>
            </a:pPr>
            <a:endParaRPr sz="800">
              <a:latin typeface="Courier New"/>
              <a:cs typeface="Courier New"/>
            </a:endParaRPr>
          </a:p>
          <a:p>
            <a:pPr marL="12700" marR="1114425">
              <a:lnSpc>
                <a:spcPct val="149300"/>
              </a:lnSpc>
              <a:spcBef>
                <a:spcPts val="5"/>
              </a:spcBef>
            </a:pP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If</a:t>
            </a:r>
            <a:r>
              <a:rPr dirty="0" sz="800" spc="2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the</a:t>
            </a:r>
            <a:r>
              <a:rPr dirty="0" sz="800" spc="2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answer</a:t>
            </a:r>
            <a:r>
              <a:rPr dirty="0" sz="800" spc="2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is</a:t>
            </a:r>
            <a:r>
              <a:rPr dirty="0" sz="800" spc="2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not</a:t>
            </a:r>
            <a:r>
              <a:rPr dirty="0" sz="800" spc="2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present</a:t>
            </a:r>
            <a:r>
              <a:rPr dirty="0" sz="800" spc="2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in</a:t>
            </a:r>
            <a:r>
              <a:rPr dirty="0" sz="800" spc="2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the</a:t>
            </a:r>
            <a:r>
              <a:rPr dirty="0" sz="800" spc="2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context,</a:t>
            </a:r>
            <a:r>
              <a:rPr dirty="0" sz="800" spc="2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 spc="-10">
                <a:solidFill>
                  <a:srgbClr val="E4E7EB"/>
                </a:solidFill>
                <a:latin typeface="Courier New"/>
                <a:cs typeface="Courier New"/>
              </a:rPr>
              <a:t>reply: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"I</a:t>
            </a:r>
            <a:r>
              <a:rPr dirty="0" sz="800" spc="2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don't</a:t>
            </a:r>
            <a:r>
              <a:rPr dirty="0" sz="800" spc="3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have</a:t>
            </a:r>
            <a:r>
              <a:rPr dirty="0" sz="800" spc="2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enough</a:t>
            </a:r>
            <a:r>
              <a:rPr dirty="0" sz="800" spc="3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information</a:t>
            </a:r>
            <a:r>
              <a:rPr dirty="0" sz="800" spc="2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from</a:t>
            </a:r>
            <a:r>
              <a:rPr dirty="0" sz="800" spc="3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the</a:t>
            </a:r>
            <a:r>
              <a:rPr dirty="0" sz="800" spc="2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 spc="-10">
                <a:solidFill>
                  <a:srgbClr val="E4E7EB"/>
                </a:solidFill>
                <a:latin typeface="Courier New"/>
                <a:cs typeface="Courier New"/>
              </a:rPr>
              <a:t>document."</a:t>
            </a:r>
            <a:endParaRPr sz="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420"/>
              </a:spcBef>
            </a:pPr>
            <a:endParaRPr sz="800">
              <a:latin typeface="Courier New"/>
              <a:cs typeface="Courier New"/>
            </a:endParaRPr>
          </a:p>
          <a:p>
            <a:pPr marL="12700" marR="2531745">
              <a:lnSpc>
                <a:spcPct val="149300"/>
              </a:lnSpc>
            </a:pP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Do</a:t>
            </a:r>
            <a:r>
              <a:rPr dirty="0" sz="800" spc="1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not</a:t>
            </a:r>
            <a:r>
              <a:rPr dirty="0" sz="800" spc="2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add</a:t>
            </a:r>
            <a:r>
              <a:rPr dirty="0" sz="800" spc="2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extra</a:t>
            </a:r>
            <a:r>
              <a:rPr dirty="0" sz="800" spc="2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 spc="-10">
                <a:solidFill>
                  <a:srgbClr val="E4E7EB"/>
                </a:solidFill>
                <a:latin typeface="Courier New"/>
                <a:cs typeface="Courier New"/>
              </a:rPr>
              <a:t>information.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Do</a:t>
            </a:r>
            <a:r>
              <a:rPr dirty="0" sz="800" spc="1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not</a:t>
            </a:r>
            <a:r>
              <a:rPr dirty="0" sz="800" spc="2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make</a:t>
            </a:r>
            <a:r>
              <a:rPr dirty="0" sz="800" spc="2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 spc="-10">
                <a:solidFill>
                  <a:srgbClr val="E4E7EB"/>
                </a:solidFill>
                <a:latin typeface="Courier New"/>
                <a:cs typeface="Courier New"/>
              </a:rPr>
              <a:t>assumptions.</a:t>
            </a:r>
            <a:endParaRPr sz="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890"/>
              </a:spcBef>
            </a:pPr>
            <a:endParaRPr sz="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800" spc="-10">
                <a:solidFill>
                  <a:srgbClr val="E4E7EB"/>
                </a:solidFill>
                <a:latin typeface="Courier New"/>
                <a:cs typeface="Courier New"/>
              </a:rPr>
              <a:t>Context:</a:t>
            </a:r>
            <a:endParaRPr sz="800">
              <a:latin typeface="Courier New"/>
              <a:cs typeface="Courier New"/>
            </a:endParaRPr>
          </a:p>
          <a:p>
            <a:pPr marL="12700" marR="2038985">
              <a:lnSpc>
                <a:spcPct val="143800"/>
              </a:lnSpc>
              <a:spcBef>
                <a:spcPts val="50"/>
              </a:spcBef>
            </a:pP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Module</a:t>
            </a:r>
            <a:r>
              <a:rPr dirty="0" sz="800" spc="15">
                <a:solidFill>
                  <a:srgbClr val="E4E7EB"/>
                </a:solidFill>
                <a:latin typeface="Courier New"/>
                <a:cs typeface="Courier New"/>
              </a:rPr>
              <a:t> 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1</a:t>
            </a:r>
            <a:r>
              <a:rPr dirty="0" sz="800" spc="20">
                <a:solidFill>
                  <a:srgbClr val="E4E7EB"/>
                </a:solidFill>
                <a:latin typeface="Courier New"/>
                <a:cs typeface="Courier New"/>
              </a:rPr>
              <a:t> 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–</a:t>
            </a:r>
            <a:r>
              <a:rPr dirty="0" sz="800" spc="15">
                <a:solidFill>
                  <a:srgbClr val="E4E7EB"/>
                </a:solidFill>
                <a:latin typeface="Courier New"/>
                <a:cs typeface="Courier New"/>
              </a:rPr>
              <a:t> 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Authentication</a:t>
            </a:r>
            <a:r>
              <a:rPr dirty="0" sz="800" spc="20">
                <a:solidFill>
                  <a:srgbClr val="E4E7EB"/>
                </a:solidFill>
                <a:latin typeface="Courier New"/>
                <a:cs typeface="Courier New"/>
              </a:rPr>
              <a:t> 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&amp;</a:t>
            </a:r>
            <a:r>
              <a:rPr dirty="0" sz="800" spc="15">
                <a:solidFill>
                  <a:srgbClr val="E4E7EB"/>
                </a:solidFill>
                <a:latin typeface="Courier New"/>
                <a:cs typeface="Courier New"/>
              </a:rPr>
              <a:t>  </a:t>
            </a:r>
            <a:r>
              <a:rPr dirty="0" sz="800" spc="-20">
                <a:solidFill>
                  <a:srgbClr val="E4E7EB"/>
                </a:solidFill>
                <a:latin typeface="Courier New"/>
                <a:cs typeface="Courier New"/>
              </a:rPr>
              <a:t>User </a:t>
            </a:r>
            <a:r>
              <a:rPr dirty="0" sz="800" spc="-10">
                <a:solidFill>
                  <a:srgbClr val="E4E7EB"/>
                </a:solidFill>
                <a:latin typeface="Courier New"/>
                <a:cs typeface="Courier New"/>
              </a:rPr>
              <a:t>Management-</a:t>
            </a:r>
            <a:endParaRPr sz="800">
              <a:latin typeface="Courier New"/>
              <a:cs typeface="Courier New"/>
            </a:endParaRPr>
          </a:p>
          <a:p>
            <a:pPr marL="12700" marR="4072890">
              <a:lnSpc>
                <a:spcPct val="293100"/>
              </a:lnSpc>
            </a:pPr>
            <a:r>
              <a:rPr dirty="0" sz="800" spc="-20">
                <a:solidFill>
                  <a:srgbClr val="E4E7EB"/>
                </a:solidFill>
                <a:latin typeface="Courier New"/>
                <a:cs typeface="Courier New"/>
              </a:rPr>
              <a:t>Said </a:t>
            </a:r>
            <a:r>
              <a:rPr dirty="0" sz="800" spc="-25">
                <a:solidFill>
                  <a:srgbClr val="E4E7EB"/>
                </a:solidFill>
                <a:latin typeface="Courier New"/>
                <a:cs typeface="Courier New"/>
              </a:rPr>
              <a:t>Ali</a:t>
            </a:r>
            <a:endParaRPr sz="80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521900" y="4764112"/>
            <a:ext cx="889000" cy="1485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other</a:t>
            </a:r>
            <a:r>
              <a:rPr dirty="0" sz="800" spc="15">
                <a:solidFill>
                  <a:srgbClr val="E4E7EB"/>
                </a:solidFill>
                <a:latin typeface="Courier New"/>
                <a:cs typeface="Courier New"/>
              </a:rPr>
              <a:t>  </a:t>
            </a:r>
            <a:r>
              <a:rPr dirty="0" sz="800" spc="-10">
                <a:solidFill>
                  <a:srgbClr val="E4E7EB"/>
                </a:solidFill>
                <a:latin typeface="Courier New"/>
                <a:cs typeface="Courier New"/>
              </a:rPr>
              <a:t>module.</a:t>
            </a:r>
            <a:endParaRPr sz="8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61782" y="4536521"/>
            <a:ext cx="3662679" cy="55181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just" marL="12700" marR="5080">
              <a:lnSpc>
                <a:spcPct val="143800"/>
              </a:lnSpc>
              <a:spcBef>
                <a:spcPts val="95"/>
              </a:spcBef>
            </a:pP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This</a:t>
            </a:r>
            <a:r>
              <a:rPr dirty="0" sz="800" spc="15">
                <a:solidFill>
                  <a:srgbClr val="E4E7EB"/>
                </a:solidFill>
                <a:latin typeface="Courier New"/>
                <a:cs typeface="Courier New"/>
              </a:rPr>
              <a:t> 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module</a:t>
            </a:r>
            <a:r>
              <a:rPr dirty="0" sz="800" spc="20">
                <a:solidFill>
                  <a:srgbClr val="E4E7EB"/>
                </a:solidFill>
                <a:latin typeface="Courier New"/>
                <a:cs typeface="Courier New"/>
              </a:rPr>
              <a:t> 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is</a:t>
            </a:r>
            <a:r>
              <a:rPr dirty="0" sz="800" spc="15">
                <a:solidFill>
                  <a:srgbClr val="E4E7EB"/>
                </a:solidFill>
                <a:latin typeface="Courier New"/>
                <a:cs typeface="Courier New"/>
              </a:rPr>
              <a:t> 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the</a:t>
            </a:r>
            <a:r>
              <a:rPr dirty="0" sz="800" spc="20">
                <a:solidFill>
                  <a:srgbClr val="E4E7EB"/>
                </a:solidFill>
                <a:latin typeface="Courier New"/>
                <a:cs typeface="Courier New"/>
              </a:rPr>
              <a:t> 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foundation</a:t>
            </a:r>
            <a:r>
              <a:rPr dirty="0" sz="800" spc="15">
                <a:solidFill>
                  <a:srgbClr val="E4E7EB"/>
                </a:solidFill>
                <a:latin typeface="Courier New"/>
                <a:cs typeface="Courier New"/>
              </a:rPr>
              <a:t> 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of</a:t>
            </a:r>
            <a:r>
              <a:rPr dirty="0" sz="800" spc="20">
                <a:solidFill>
                  <a:srgbClr val="E4E7EB"/>
                </a:solidFill>
                <a:latin typeface="Courier New"/>
                <a:cs typeface="Courier New"/>
              </a:rPr>
              <a:t> 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the</a:t>
            </a:r>
            <a:r>
              <a:rPr dirty="0" sz="800" spc="15">
                <a:solidFill>
                  <a:srgbClr val="E4E7EB"/>
                </a:solidFill>
                <a:latin typeface="Courier New"/>
                <a:cs typeface="Courier New"/>
              </a:rPr>
              <a:t> 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entire</a:t>
            </a:r>
            <a:r>
              <a:rPr dirty="0" sz="800" spc="20">
                <a:solidFill>
                  <a:srgbClr val="E4E7EB"/>
                </a:solidFill>
                <a:latin typeface="Courier New"/>
                <a:cs typeface="Courier New"/>
              </a:rPr>
              <a:t>  </a:t>
            </a:r>
            <a:r>
              <a:rPr dirty="0" sz="800" spc="-10">
                <a:solidFill>
                  <a:srgbClr val="E4E7EB"/>
                </a:solidFill>
                <a:latin typeface="Courier New"/>
                <a:cs typeface="Courier New"/>
              </a:rPr>
              <a:t>system.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Every</a:t>
            </a:r>
            <a:r>
              <a:rPr dirty="0" sz="800" spc="15">
                <a:solidFill>
                  <a:srgbClr val="E4E7EB"/>
                </a:solidFill>
                <a:latin typeface="Courier New"/>
                <a:cs typeface="Courier New"/>
              </a:rPr>
              <a:t> 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user</a:t>
            </a:r>
            <a:r>
              <a:rPr dirty="0" sz="800" spc="15">
                <a:solidFill>
                  <a:srgbClr val="E4E7EB"/>
                </a:solidFill>
                <a:latin typeface="Courier New"/>
                <a:cs typeface="Courier New"/>
              </a:rPr>
              <a:t> 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must</a:t>
            </a:r>
            <a:r>
              <a:rPr dirty="0" sz="800" spc="20">
                <a:solidFill>
                  <a:srgbClr val="E4E7EB"/>
                </a:solidFill>
                <a:latin typeface="Courier New"/>
                <a:cs typeface="Courier New"/>
              </a:rPr>
              <a:t> 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exist</a:t>
            </a:r>
            <a:r>
              <a:rPr dirty="0" sz="800" spc="15">
                <a:solidFill>
                  <a:srgbClr val="E4E7EB"/>
                </a:solidFill>
                <a:latin typeface="Courier New"/>
                <a:cs typeface="Courier New"/>
              </a:rPr>
              <a:t> 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here</a:t>
            </a:r>
            <a:r>
              <a:rPr dirty="0" sz="800" spc="20">
                <a:solidFill>
                  <a:srgbClr val="E4E7EB"/>
                </a:solidFill>
                <a:latin typeface="Courier New"/>
                <a:cs typeface="Courier New"/>
              </a:rPr>
              <a:t> 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before</a:t>
            </a:r>
            <a:r>
              <a:rPr dirty="0" sz="800" spc="15">
                <a:solidFill>
                  <a:srgbClr val="E4E7EB"/>
                </a:solidFill>
                <a:latin typeface="Courier New"/>
                <a:cs typeface="Courier New"/>
              </a:rPr>
              <a:t> 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they</a:t>
            </a:r>
            <a:r>
              <a:rPr dirty="0" sz="800" spc="15">
                <a:solidFill>
                  <a:srgbClr val="E4E7EB"/>
                </a:solidFill>
                <a:latin typeface="Courier New"/>
                <a:cs typeface="Courier New"/>
              </a:rPr>
              <a:t> 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can</a:t>
            </a:r>
            <a:r>
              <a:rPr dirty="0" sz="800" spc="20">
                <a:solidFill>
                  <a:srgbClr val="E4E7EB"/>
                </a:solidFill>
                <a:latin typeface="Courier New"/>
                <a:cs typeface="Courier New"/>
              </a:rPr>
              <a:t> 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use</a:t>
            </a:r>
            <a:r>
              <a:rPr dirty="0" sz="800" spc="15">
                <a:solidFill>
                  <a:srgbClr val="E4E7EB"/>
                </a:solidFill>
                <a:latin typeface="Courier New"/>
                <a:cs typeface="Courier New"/>
              </a:rPr>
              <a:t>  </a:t>
            </a:r>
            <a:r>
              <a:rPr dirty="0" sz="800" spc="-25">
                <a:solidFill>
                  <a:srgbClr val="E4E7EB"/>
                </a:solidFill>
                <a:latin typeface="Courier New"/>
                <a:cs typeface="Courier New"/>
              </a:rPr>
              <a:t>any </a:t>
            </a:r>
            <a:r>
              <a:rPr dirty="0" sz="800" spc="-10">
                <a:solidFill>
                  <a:srgbClr val="E4E7EB"/>
                </a:solidFill>
                <a:latin typeface="Courier New"/>
                <a:cs typeface="Courier New"/>
              </a:rPr>
              <a:t>Responsibilities</a:t>
            </a:r>
            <a:endParaRPr sz="8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61782" y="5121408"/>
            <a:ext cx="6005195" cy="19284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96215" indent="-183515">
              <a:lnSpc>
                <a:spcPct val="100000"/>
              </a:lnSpc>
              <a:spcBef>
                <a:spcPts val="105"/>
              </a:spcBef>
              <a:buChar char="●"/>
              <a:tabLst>
                <a:tab pos="196215" algn="l"/>
                <a:tab pos="3463925" algn="l"/>
              </a:tabLst>
            </a:pP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Login</a:t>
            </a:r>
            <a:r>
              <a:rPr dirty="0" sz="800" spc="15">
                <a:solidFill>
                  <a:srgbClr val="E4E7EB"/>
                </a:solidFill>
                <a:latin typeface="Courier New"/>
                <a:cs typeface="Courier New"/>
              </a:rPr>
              <a:t> 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●</a:t>
            </a:r>
            <a:r>
              <a:rPr dirty="0" sz="800" spc="20">
                <a:solidFill>
                  <a:srgbClr val="E4E7EB"/>
                </a:solidFill>
                <a:latin typeface="Courier New"/>
                <a:cs typeface="Courier New"/>
              </a:rPr>
              <a:t> 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JWT</a:t>
            </a:r>
            <a:r>
              <a:rPr dirty="0" sz="800" spc="15">
                <a:solidFill>
                  <a:srgbClr val="E4E7EB"/>
                </a:solidFill>
                <a:latin typeface="Courier New"/>
                <a:cs typeface="Courier New"/>
              </a:rPr>
              <a:t> 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Authentication</a:t>
            </a:r>
            <a:r>
              <a:rPr dirty="0" sz="800" spc="20">
                <a:solidFill>
                  <a:srgbClr val="E4E7EB"/>
                </a:solidFill>
                <a:latin typeface="Courier New"/>
                <a:cs typeface="Courier New"/>
              </a:rPr>
              <a:t> 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●</a:t>
            </a:r>
            <a:r>
              <a:rPr dirty="0" sz="800" spc="20">
                <a:solidFill>
                  <a:srgbClr val="E4E7EB"/>
                </a:solidFill>
                <a:latin typeface="Courier New"/>
                <a:cs typeface="Courier New"/>
              </a:rPr>
              <a:t> 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User</a:t>
            </a:r>
            <a:r>
              <a:rPr dirty="0" sz="800" spc="15">
                <a:solidFill>
                  <a:srgbClr val="E4E7EB"/>
                </a:solidFill>
                <a:latin typeface="Courier New"/>
                <a:cs typeface="Courier New"/>
              </a:rPr>
              <a:t>  </a:t>
            </a:r>
            <a:r>
              <a:rPr dirty="0" sz="800" spc="-10">
                <a:solidFill>
                  <a:srgbClr val="E4E7EB"/>
                </a:solidFill>
                <a:latin typeface="Courier New"/>
                <a:cs typeface="Courier New"/>
              </a:rPr>
              <a:t>Management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	●</a:t>
            </a:r>
            <a:r>
              <a:rPr dirty="0" sz="800" spc="10">
                <a:solidFill>
                  <a:srgbClr val="E4E7EB"/>
                </a:solidFill>
                <a:latin typeface="Courier New"/>
                <a:cs typeface="Courier New"/>
              </a:rPr>
              <a:t> 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Role</a:t>
            </a:r>
            <a:r>
              <a:rPr dirty="0" sz="800" spc="15">
                <a:solidFill>
                  <a:srgbClr val="E4E7EB"/>
                </a:solidFill>
                <a:latin typeface="Courier New"/>
                <a:cs typeface="Courier New"/>
              </a:rPr>
              <a:t>  </a:t>
            </a:r>
            <a:r>
              <a:rPr dirty="0" sz="800" spc="-10">
                <a:solidFill>
                  <a:srgbClr val="E4E7EB"/>
                </a:solidFill>
                <a:latin typeface="Courier New"/>
                <a:cs typeface="Courier New"/>
              </a:rPr>
              <a:t>Management</a:t>
            </a:r>
            <a:endParaRPr sz="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525"/>
              </a:spcBef>
            </a:pPr>
            <a:endParaRPr sz="800">
              <a:latin typeface="Courier New"/>
              <a:cs typeface="Courier New"/>
            </a:endParaRPr>
          </a:p>
          <a:p>
            <a:pPr marL="12700" marR="3764915">
              <a:lnSpc>
                <a:spcPct val="143800"/>
              </a:lnSpc>
            </a:pP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HSE</a:t>
            </a:r>
            <a:r>
              <a:rPr dirty="0" sz="800" spc="5">
                <a:solidFill>
                  <a:srgbClr val="E4E7EB"/>
                </a:solidFill>
                <a:latin typeface="Courier New"/>
                <a:cs typeface="Courier New"/>
              </a:rPr>
              <a:t> 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Management</a:t>
            </a:r>
            <a:r>
              <a:rPr dirty="0" sz="800" spc="20">
                <a:solidFill>
                  <a:srgbClr val="E4E7EB"/>
                </a:solidFill>
                <a:latin typeface="Courier New"/>
                <a:cs typeface="Courier New"/>
              </a:rPr>
              <a:t> 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System</a:t>
            </a:r>
            <a:r>
              <a:rPr dirty="0" sz="800" spc="20">
                <a:solidFill>
                  <a:srgbClr val="E4E7EB"/>
                </a:solidFill>
                <a:latin typeface="Courier New"/>
                <a:cs typeface="Courier New"/>
              </a:rPr>
              <a:t> 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–</a:t>
            </a:r>
            <a:r>
              <a:rPr dirty="0" sz="800" spc="20">
                <a:solidFill>
                  <a:srgbClr val="E4E7EB"/>
                </a:solidFill>
                <a:latin typeface="Courier New"/>
                <a:cs typeface="Courier New"/>
              </a:rPr>
              <a:t>  </a:t>
            </a:r>
            <a:r>
              <a:rPr dirty="0" sz="800" spc="-10">
                <a:solidFill>
                  <a:srgbClr val="E4E7EB"/>
                </a:solidFill>
                <a:latin typeface="Courier New"/>
                <a:cs typeface="Courier New"/>
              </a:rPr>
              <a:t>Complete Technical</a:t>
            </a:r>
            <a:endParaRPr sz="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endParaRPr sz="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800" spc="-20">
                <a:solidFill>
                  <a:srgbClr val="E4E7EB"/>
                </a:solidFill>
                <a:latin typeface="Courier New"/>
                <a:cs typeface="Courier New"/>
              </a:rPr>
              <a:t>Flow</a:t>
            </a:r>
            <a:endParaRPr sz="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525"/>
              </a:spcBef>
            </a:pPr>
            <a:endParaRPr sz="800">
              <a:latin typeface="Courier New"/>
              <a:cs typeface="Courier New"/>
            </a:endParaRPr>
          </a:p>
          <a:p>
            <a:pPr marL="12700" marR="5080">
              <a:lnSpc>
                <a:spcPct val="143800"/>
              </a:lnSpc>
            </a:pP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The</a:t>
            </a:r>
            <a:r>
              <a:rPr dirty="0" sz="800" spc="20">
                <a:solidFill>
                  <a:srgbClr val="E4E7EB"/>
                </a:solidFill>
                <a:latin typeface="Courier New"/>
                <a:cs typeface="Courier New"/>
              </a:rPr>
              <a:t> 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application</a:t>
            </a:r>
            <a:r>
              <a:rPr dirty="0" sz="800" spc="20">
                <a:solidFill>
                  <a:srgbClr val="E4E7EB"/>
                </a:solidFill>
                <a:latin typeface="Courier New"/>
                <a:cs typeface="Courier New"/>
              </a:rPr>
              <a:t> 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is</a:t>
            </a:r>
            <a:r>
              <a:rPr dirty="0" sz="800" spc="20">
                <a:solidFill>
                  <a:srgbClr val="E4E7EB"/>
                </a:solidFill>
                <a:latin typeface="Courier New"/>
                <a:cs typeface="Courier New"/>
              </a:rPr>
              <a:t> 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a</a:t>
            </a:r>
            <a:r>
              <a:rPr dirty="0" sz="800" spc="25">
                <a:solidFill>
                  <a:srgbClr val="E4E7EB"/>
                </a:solidFill>
                <a:latin typeface="Courier New"/>
                <a:cs typeface="Courier New"/>
              </a:rPr>
              <a:t> 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centralized</a:t>
            </a:r>
            <a:r>
              <a:rPr dirty="0" sz="800" spc="20">
                <a:solidFill>
                  <a:srgbClr val="E4E7EB"/>
                </a:solidFill>
                <a:latin typeface="Courier New"/>
                <a:cs typeface="Courier New"/>
              </a:rPr>
              <a:t> 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HSE</a:t>
            </a:r>
            <a:r>
              <a:rPr dirty="0" sz="800" spc="20">
                <a:solidFill>
                  <a:srgbClr val="E4E7EB"/>
                </a:solidFill>
                <a:latin typeface="Courier New"/>
                <a:cs typeface="Courier New"/>
              </a:rPr>
              <a:t> 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(Health,</a:t>
            </a:r>
            <a:r>
              <a:rPr dirty="0" sz="800" spc="20">
                <a:solidFill>
                  <a:srgbClr val="E4E7EB"/>
                </a:solidFill>
                <a:latin typeface="Courier New"/>
                <a:cs typeface="Courier New"/>
              </a:rPr>
              <a:t> 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Safety</a:t>
            </a:r>
            <a:r>
              <a:rPr dirty="0" sz="800" spc="25">
                <a:solidFill>
                  <a:srgbClr val="E4E7EB"/>
                </a:solidFill>
                <a:latin typeface="Courier New"/>
                <a:cs typeface="Courier New"/>
              </a:rPr>
              <a:t> 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&amp;</a:t>
            </a:r>
            <a:r>
              <a:rPr dirty="0" sz="800" spc="20">
                <a:solidFill>
                  <a:srgbClr val="E4E7EB"/>
                </a:solidFill>
                <a:latin typeface="Courier New"/>
                <a:cs typeface="Courier New"/>
              </a:rPr>
              <a:t> 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Environment)</a:t>
            </a:r>
            <a:r>
              <a:rPr dirty="0" sz="800" spc="20">
                <a:solidFill>
                  <a:srgbClr val="E4E7EB"/>
                </a:solidFill>
                <a:latin typeface="Courier New"/>
                <a:cs typeface="Courier New"/>
              </a:rPr>
              <a:t> 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Management</a:t>
            </a:r>
            <a:r>
              <a:rPr dirty="0" sz="800" spc="25">
                <a:solidFill>
                  <a:srgbClr val="E4E7EB"/>
                </a:solidFill>
                <a:latin typeface="Courier New"/>
                <a:cs typeface="Courier New"/>
              </a:rPr>
              <a:t>  </a:t>
            </a:r>
            <a:r>
              <a:rPr dirty="0" sz="800" spc="-10">
                <a:solidFill>
                  <a:srgbClr val="E4E7EB"/>
                </a:solidFill>
                <a:latin typeface="Courier New"/>
                <a:cs typeface="Courier New"/>
              </a:rPr>
              <a:t>System.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Technology</a:t>
            </a:r>
            <a:r>
              <a:rPr dirty="0" sz="800" spc="30">
                <a:solidFill>
                  <a:srgbClr val="E4E7EB"/>
                </a:solidFill>
                <a:latin typeface="Courier New"/>
                <a:cs typeface="Courier New"/>
              </a:rPr>
              <a:t>  </a:t>
            </a:r>
            <a:r>
              <a:rPr dirty="0" sz="800" spc="-20">
                <a:solidFill>
                  <a:srgbClr val="E4E7EB"/>
                </a:solidFill>
                <a:latin typeface="Courier New"/>
                <a:cs typeface="Courier New"/>
              </a:rPr>
              <a:t>stack</a:t>
            </a:r>
            <a:endParaRPr sz="800">
              <a:latin typeface="Courier New"/>
              <a:cs typeface="Courier New"/>
            </a:endParaRPr>
          </a:p>
          <a:p>
            <a:pPr marL="12700" marR="559435">
              <a:lnSpc>
                <a:spcPts val="1430"/>
              </a:lnSpc>
              <a:spcBef>
                <a:spcPts val="55"/>
              </a:spcBef>
              <a:tabLst>
                <a:tab pos="2231390" algn="l"/>
                <a:tab pos="4018915" algn="l"/>
              </a:tabLst>
            </a:pP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Frontend</a:t>
            </a:r>
            <a:r>
              <a:rPr dirty="0" sz="800" spc="25">
                <a:solidFill>
                  <a:srgbClr val="E4E7EB"/>
                </a:solidFill>
                <a:latin typeface="Courier New"/>
                <a:cs typeface="Courier New"/>
              </a:rPr>
              <a:t> 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(React/HTML</a:t>
            </a:r>
            <a:r>
              <a:rPr dirty="0" sz="800" spc="30">
                <a:solidFill>
                  <a:srgbClr val="E4E7EB"/>
                </a:solidFill>
                <a:latin typeface="Courier New"/>
                <a:cs typeface="Courier New"/>
              </a:rPr>
              <a:t>  </a:t>
            </a:r>
            <a:r>
              <a:rPr dirty="0" sz="800" spc="-25">
                <a:solidFill>
                  <a:srgbClr val="E4E7EB"/>
                </a:solidFill>
                <a:latin typeface="Courier New"/>
                <a:cs typeface="Courier New"/>
              </a:rPr>
              <a:t>UI)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	↓</a:t>
            </a:r>
            <a:r>
              <a:rPr dirty="0" sz="800" spc="15">
                <a:solidFill>
                  <a:srgbClr val="E4E7EB"/>
                </a:solidFill>
                <a:latin typeface="Courier New"/>
                <a:cs typeface="Courier New"/>
              </a:rPr>
              <a:t> 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FastAPI</a:t>
            </a:r>
            <a:r>
              <a:rPr dirty="0" sz="800" spc="15">
                <a:solidFill>
                  <a:srgbClr val="E4E7EB"/>
                </a:solidFill>
                <a:latin typeface="Courier New"/>
                <a:cs typeface="Courier New"/>
              </a:rPr>
              <a:t>  </a:t>
            </a:r>
            <a:r>
              <a:rPr dirty="0" sz="800" spc="-10">
                <a:solidFill>
                  <a:srgbClr val="E4E7EB"/>
                </a:solidFill>
                <a:latin typeface="Courier New"/>
                <a:cs typeface="Courier New"/>
              </a:rPr>
              <a:t>Backend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	↓</a:t>
            </a:r>
            <a:r>
              <a:rPr dirty="0" sz="800" spc="15">
                <a:solidFill>
                  <a:srgbClr val="E4E7EB"/>
                </a:solidFill>
                <a:latin typeface="Courier New"/>
                <a:cs typeface="Courier New"/>
              </a:rPr>
              <a:t> 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PostgreSQL</a:t>
            </a:r>
            <a:r>
              <a:rPr dirty="0" sz="800" spc="20">
                <a:solidFill>
                  <a:srgbClr val="E4E7EB"/>
                </a:solidFill>
                <a:latin typeface="Courier New"/>
                <a:cs typeface="Courier New"/>
              </a:rPr>
              <a:t>  </a:t>
            </a:r>
            <a:r>
              <a:rPr dirty="0" sz="800" spc="-10">
                <a:solidFill>
                  <a:srgbClr val="E4E7EB"/>
                </a:solidFill>
                <a:latin typeface="Courier New"/>
                <a:cs typeface="Courier New"/>
              </a:rPr>
              <a:t>Database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Authentication</a:t>
            </a:r>
            <a:r>
              <a:rPr dirty="0" sz="800" spc="20">
                <a:solidFill>
                  <a:srgbClr val="E4E7EB"/>
                </a:solidFill>
                <a:latin typeface="Courier New"/>
                <a:cs typeface="Courier New"/>
              </a:rPr>
              <a:t> 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is</a:t>
            </a:r>
            <a:r>
              <a:rPr dirty="0" sz="800" spc="25">
                <a:solidFill>
                  <a:srgbClr val="E4E7EB"/>
                </a:solidFill>
                <a:latin typeface="Courier New"/>
                <a:cs typeface="Courier New"/>
              </a:rPr>
              <a:t> 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handled</a:t>
            </a:r>
            <a:r>
              <a:rPr dirty="0" sz="800" spc="20">
                <a:solidFill>
                  <a:srgbClr val="E4E7EB"/>
                </a:solidFill>
                <a:latin typeface="Courier New"/>
                <a:cs typeface="Courier New"/>
              </a:rPr>
              <a:t> 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using</a:t>
            </a:r>
            <a:r>
              <a:rPr dirty="0" sz="800" spc="25">
                <a:solidFill>
                  <a:srgbClr val="E4E7EB"/>
                </a:solidFill>
                <a:latin typeface="Courier New"/>
                <a:cs typeface="Courier New"/>
              </a:rPr>
              <a:t>  </a:t>
            </a:r>
            <a:r>
              <a:rPr dirty="0" sz="800" spc="-20">
                <a:solidFill>
                  <a:srgbClr val="E4E7EB"/>
                </a:solidFill>
                <a:latin typeface="Courier New"/>
                <a:cs typeface="Courier New"/>
              </a:rPr>
              <a:t>JWT.</a:t>
            </a:r>
            <a:endParaRPr sz="8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624760" y="7024110"/>
            <a:ext cx="5142230" cy="376555"/>
          </a:xfrm>
          <a:prstGeom prst="rect">
            <a:avLst/>
          </a:prstGeom>
        </p:spPr>
        <p:txBody>
          <a:bodyPr wrap="square" lIns="0" tIns="654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15"/>
              </a:spcBef>
            </a:pP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share</a:t>
            </a:r>
            <a:r>
              <a:rPr dirty="0" sz="800" spc="15">
                <a:solidFill>
                  <a:srgbClr val="E4E7EB"/>
                </a:solidFill>
                <a:latin typeface="Courier New"/>
                <a:cs typeface="Courier New"/>
              </a:rPr>
              <a:t> 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a</a:t>
            </a:r>
            <a:r>
              <a:rPr dirty="0" sz="800" spc="20">
                <a:solidFill>
                  <a:srgbClr val="E4E7EB"/>
                </a:solidFill>
                <a:latin typeface="Courier New"/>
                <a:cs typeface="Courier New"/>
              </a:rPr>
              <a:t> 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single</a:t>
            </a:r>
            <a:r>
              <a:rPr dirty="0" sz="800" spc="20">
                <a:solidFill>
                  <a:srgbClr val="E4E7EB"/>
                </a:solidFill>
                <a:latin typeface="Courier New"/>
                <a:cs typeface="Courier New"/>
              </a:rPr>
              <a:t> 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PostgreSQL</a:t>
            </a:r>
            <a:r>
              <a:rPr dirty="0" sz="800" spc="20">
                <a:solidFill>
                  <a:srgbClr val="E4E7EB"/>
                </a:solidFill>
                <a:latin typeface="Courier New"/>
                <a:cs typeface="Courier New"/>
              </a:rPr>
              <a:t>  </a:t>
            </a:r>
            <a:r>
              <a:rPr dirty="0" sz="800" spc="-10">
                <a:solidFill>
                  <a:srgbClr val="E4E7EB"/>
                </a:solidFill>
                <a:latin typeface="Courier New"/>
                <a:cs typeface="Courier New"/>
              </a:rPr>
              <a:t>database.</a:t>
            </a:r>
            <a:endParaRPr sz="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420"/>
              </a:spcBef>
            </a:pP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owns</a:t>
            </a:r>
            <a:r>
              <a:rPr dirty="0" sz="800" spc="15">
                <a:solidFill>
                  <a:srgbClr val="E4E7EB"/>
                </a:solidFill>
                <a:latin typeface="Courier New"/>
                <a:cs typeface="Courier New"/>
              </a:rPr>
              <a:t> 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its</a:t>
            </a:r>
            <a:r>
              <a:rPr dirty="0" sz="800" spc="15">
                <a:solidFill>
                  <a:srgbClr val="E4E7EB"/>
                </a:solidFill>
                <a:latin typeface="Courier New"/>
                <a:cs typeface="Courier New"/>
              </a:rPr>
              <a:t> 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own</a:t>
            </a:r>
            <a:r>
              <a:rPr dirty="0" sz="800" spc="20">
                <a:solidFill>
                  <a:srgbClr val="E4E7EB"/>
                </a:solidFill>
                <a:latin typeface="Courier New"/>
                <a:cs typeface="Courier New"/>
              </a:rPr>
              <a:t> 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tables</a:t>
            </a:r>
            <a:r>
              <a:rPr dirty="0" sz="800" spc="15">
                <a:solidFill>
                  <a:srgbClr val="E4E7EB"/>
                </a:solidFill>
                <a:latin typeface="Courier New"/>
                <a:cs typeface="Courier New"/>
              </a:rPr>
              <a:t> 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and</a:t>
            </a:r>
            <a:r>
              <a:rPr dirty="0" sz="800" spc="15">
                <a:solidFill>
                  <a:srgbClr val="E4E7EB"/>
                </a:solidFill>
                <a:latin typeface="Courier New"/>
                <a:cs typeface="Courier New"/>
              </a:rPr>
              <a:t> 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APIs</a:t>
            </a:r>
            <a:r>
              <a:rPr dirty="0" sz="800" spc="20">
                <a:solidFill>
                  <a:srgbClr val="E4E7EB"/>
                </a:solidFill>
                <a:latin typeface="Courier New"/>
                <a:cs typeface="Courier New"/>
              </a:rPr>
              <a:t> 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but</a:t>
            </a:r>
            <a:r>
              <a:rPr dirty="0" sz="800" spc="15">
                <a:solidFill>
                  <a:srgbClr val="E4E7EB"/>
                </a:solidFill>
                <a:latin typeface="Courier New"/>
                <a:cs typeface="Courier New"/>
              </a:rPr>
              <a:t> 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can</a:t>
            </a:r>
            <a:r>
              <a:rPr dirty="0" sz="800" spc="15">
                <a:solidFill>
                  <a:srgbClr val="E4E7EB"/>
                </a:solidFill>
                <a:latin typeface="Courier New"/>
                <a:cs typeface="Courier New"/>
              </a:rPr>
              <a:t> 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read</a:t>
            </a:r>
            <a:r>
              <a:rPr dirty="0" sz="800" spc="20">
                <a:solidFill>
                  <a:srgbClr val="E4E7EB"/>
                </a:solidFill>
                <a:latin typeface="Courier New"/>
                <a:cs typeface="Courier New"/>
              </a:rPr>
              <a:t> 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data</a:t>
            </a:r>
            <a:r>
              <a:rPr dirty="0" sz="800" spc="15">
                <a:solidFill>
                  <a:srgbClr val="E4E7EB"/>
                </a:solidFill>
                <a:latin typeface="Courier New"/>
                <a:cs typeface="Courier New"/>
              </a:rPr>
              <a:t> 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from</a:t>
            </a:r>
            <a:r>
              <a:rPr dirty="0" sz="800" spc="15">
                <a:solidFill>
                  <a:srgbClr val="E4E7EB"/>
                </a:solidFill>
                <a:latin typeface="Courier New"/>
                <a:cs typeface="Courier New"/>
              </a:rPr>
              <a:t> 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other</a:t>
            </a:r>
            <a:r>
              <a:rPr dirty="0" sz="800" spc="20">
                <a:solidFill>
                  <a:srgbClr val="E4E7EB"/>
                </a:solidFill>
                <a:latin typeface="Courier New"/>
                <a:cs typeface="Courier New"/>
              </a:rPr>
              <a:t> 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modules</a:t>
            </a:r>
            <a:r>
              <a:rPr dirty="0" sz="800" spc="15">
                <a:solidFill>
                  <a:srgbClr val="E4E7EB"/>
                </a:solidFill>
                <a:latin typeface="Courier New"/>
                <a:cs typeface="Courier New"/>
              </a:rPr>
              <a:t>  </a:t>
            </a:r>
            <a:r>
              <a:rPr dirty="0" sz="800" spc="-20">
                <a:solidFill>
                  <a:srgbClr val="E4E7EB"/>
                </a:solidFill>
                <a:latin typeface="Courier New"/>
                <a:cs typeface="Courier New"/>
              </a:rPr>
              <a:t>when</a:t>
            </a:r>
            <a:endParaRPr sz="8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61782" y="7024110"/>
            <a:ext cx="765175" cy="558165"/>
          </a:xfrm>
          <a:prstGeom prst="rect">
            <a:avLst/>
          </a:prstGeom>
        </p:spPr>
        <p:txBody>
          <a:bodyPr wrap="square" lIns="0" tIns="8890" rIns="0" bIns="0" rtlCol="0" vert="horz">
            <a:spAutoFit/>
          </a:bodyPr>
          <a:lstStyle/>
          <a:p>
            <a:pPr algn="just" marL="12700" marR="5080">
              <a:lnSpc>
                <a:spcPct val="146500"/>
              </a:lnSpc>
              <a:spcBef>
                <a:spcPts val="70"/>
              </a:spcBef>
            </a:pP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All</a:t>
            </a:r>
            <a:r>
              <a:rPr dirty="0" sz="800" spc="10">
                <a:solidFill>
                  <a:srgbClr val="E4E7EB"/>
                </a:solidFill>
                <a:latin typeface="Courier New"/>
                <a:cs typeface="Courier New"/>
              </a:rPr>
              <a:t>  </a:t>
            </a:r>
            <a:r>
              <a:rPr dirty="0" sz="800" spc="-10">
                <a:solidFill>
                  <a:srgbClr val="E4E7EB"/>
                </a:solidFill>
                <a:latin typeface="Courier New"/>
                <a:cs typeface="Courier New"/>
              </a:rPr>
              <a:t>modules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Each</a:t>
            </a:r>
            <a:r>
              <a:rPr dirty="0" sz="800" spc="15">
                <a:solidFill>
                  <a:srgbClr val="E4E7EB"/>
                </a:solidFill>
                <a:latin typeface="Courier New"/>
                <a:cs typeface="Courier New"/>
              </a:rPr>
              <a:t>  </a:t>
            </a:r>
            <a:r>
              <a:rPr dirty="0" sz="800" spc="-10">
                <a:solidFill>
                  <a:srgbClr val="E4E7EB"/>
                </a:solidFill>
                <a:latin typeface="Courier New"/>
                <a:cs typeface="Courier New"/>
              </a:rPr>
              <a:t>module required.</a:t>
            </a:r>
            <a:endParaRPr sz="8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61782" y="8082515"/>
            <a:ext cx="5943600" cy="198755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3641725">
              <a:lnSpc>
                <a:spcPct val="149300"/>
              </a:lnSpc>
              <a:spcBef>
                <a:spcPts val="95"/>
              </a:spcBef>
            </a:pP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Module</a:t>
            </a:r>
            <a:r>
              <a:rPr dirty="0" sz="800" spc="15">
                <a:solidFill>
                  <a:srgbClr val="E4E7EB"/>
                </a:solidFill>
                <a:latin typeface="Courier New"/>
                <a:cs typeface="Courier New"/>
              </a:rPr>
              <a:t> 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1</a:t>
            </a:r>
            <a:r>
              <a:rPr dirty="0" sz="800" spc="20">
                <a:solidFill>
                  <a:srgbClr val="E4E7EB"/>
                </a:solidFill>
                <a:latin typeface="Courier New"/>
                <a:cs typeface="Courier New"/>
              </a:rPr>
              <a:t> 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–</a:t>
            </a:r>
            <a:r>
              <a:rPr dirty="0" sz="800" spc="15">
                <a:solidFill>
                  <a:srgbClr val="E4E7EB"/>
                </a:solidFill>
                <a:latin typeface="Courier New"/>
                <a:cs typeface="Courier New"/>
              </a:rPr>
              <a:t> 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Authentication</a:t>
            </a:r>
            <a:r>
              <a:rPr dirty="0" sz="800" spc="20">
                <a:solidFill>
                  <a:srgbClr val="E4E7EB"/>
                </a:solidFill>
                <a:latin typeface="Courier New"/>
                <a:cs typeface="Courier New"/>
              </a:rPr>
              <a:t> 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&amp;</a:t>
            </a:r>
            <a:r>
              <a:rPr dirty="0" sz="800" spc="15">
                <a:solidFill>
                  <a:srgbClr val="E4E7EB"/>
                </a:solidFill>
                <a:latin typeface="Courier New"/>
                <a:cs typeface="Courier New"/>
              </a:rPr>
              <a:t>  </a:t>
            </a:r>
            <a:r>
              <a:rPr dirty="0" sz="800" spc="-20">
                <a:solidFill>
                  <a:srgbClr val="E4E7EB"/>
                </a:solidFill>
                <a:latin typeface="Courier New"/>
                <a:cs typeface="Courier New"/>
              </a:rPr>
              <a:t>User </a:t>
            </a:r>
            <a:r>
              <a:rPr dirty="0" sz="800" spc="-10">
                <a:solidFill>
                  <a:srgbClr val="E4E7EB"/>
                </a:solidFill>
                <a:latin typeface="Courier New"/>
                <a:cs typeface="Courier New"/>
              </a:rPr>
              <a:t>Management-</a:t>
            </a:r>
            <a:endParaRPr sz="800">
              <a:latin typeface="Courier New"/>
              <a:cs typeface="Courier New"/>
            </a:endParaRPr>
          </a:p>
          <a:p>
            <a:pPr marL="12700" marR="5675630">
              <a:lnSpc>
                <a:spcPct val="287500"/>
              </a:lnSpc>
              <a:spcBef>
                <a:spcPts val="55"/>
              </a:spcBef>
            </a:pPr>
            <a:r>
              <a:rPr dirty="0" sz="800" spc="-20">
                <a:solidFill>
                  <a:srgbClr val="E4E7EB"/>
                </a:solidFill>
                <a:latin typeface="Courier New"/>
                <a:cs typeface="Courier New"/>
              </a:rPr>
              <a:t>Said </a:t>
            </a:r>
            <a:r>
              <a:rPr dirty="0" sz="800" spc="-25">
                <a:solidFill>
                  <a:srgbClr val="E4E7EB"/>
                </a:solidFill>
                <a:latin typeface="Courier New"/>
                <a:cs typeface="Courier New"/>
              </a:rPr>
              <a:t>Ali</a:t>
            </a:r>
            <a:endParaRPr sz="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endParaRPr sz="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Complete</a:t>
            </a:r>
            <a:r>
              <a:rPr dirty="0" sz="800" spc="25">
                <a:solidFill>
                  <a:srgbClr val="E4E7EB"/>
                </a:solidFill>
                <a:latin typeface="Courier New"/>
                <a:cs typeface="Courier New"/>
              </a:rPr>
              <a:t> 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End-to-End</a:t>
            </a:r>
            <a:r>
              <a:rPr dirty="0" sz="800" spc="25">
                <a:solidFill>
                  <a:srgbClr val="E4E7EB"/>
                </a:solidFill>
                <a:latin typeface="Courier New"/>
                <a:cs typeface="Courier New"/>
              </a:rPr>
              <a:t> 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System</a:t>
            </a:r>
            <a:r>
              <a:rPr dirty="0" sz="800" spc="25">
                <a:solidFill>
                  <a:srgbClr val="E4E7EB"/>
                </a:solidFill>
                <a:latin typeface="Courier New"/>
                <a:cs typeface="Courier New"/>
              </a:rPr>
              <a:t>  </a:t>
            </a:r>
            <a:r>
              <a:rPr dirty="0" sz="800" spc="-20">
                <a:solidFill>
                  <a:srgbClr val="E4E7EB"/>
                </a:solidFill>
                <a:latin typeface="Courier New"/>
                <a:cs typeface="Courier New"/>
              </a:rPr>
              <a:t>Flow</a:t>
            </a:r>
            <a:endParaRPr sz="800">
              <a:latin typeface="Courier New"/>
              <a:cs typeface="Courier New"/>
            </a:endParaRPr>
          </a:p>
          <a:p>
            <a:pPr marL="12700" marR="5080">
              <a:lnSpc>
                <a:spcPct val="143800"/>
              </a:lnSpc>
              <a:spcBef>
                <a:spcPts val="55"/>
              </a:spcBef>
            </a:pP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1.</a:t>
            </a:r>
            <a:r>
              <a:rPr dirty="0" sz="800" spc="15">
                <a:solidFill>
                  <a:srgbClr val="E4E7EB"/>
                </a:solidFill>
                <a:latin typeface="Courier New"/>
                <a:cs typeface="Courier New"/>
              </a:rPr>
              <a:t> 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User</a:t>
            </a:r>
            <a:r>
              <a:rPr dirty="0" sz="800" spc="15">
                <a:solidFill>
                  <a:srgbClr val="E4E7EB"/>
                </a:solidFill>
                <a:latin typeface="Courier New"/>
                <a:cs typeface="Courier New"/>
              </a:rPr>
              <a:t> 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logs</a:t>
            </a:r>
            <a:r>
              <a:rPr dirty="0" sz="800" spc="20">
                <a:solidFill>
                  <a:srgbClr val="E4E7EB"/>
                </a:solidFill>
                <a:latin typeface="Courier New"/>
                <a:cs typeface="Courier New"/>
              </a:rPr>
              <a:t> 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in</a:t>
            </a:r>
            <a:r>
              <a:rPr dirty="0" sz="800" spc="15">
                <a:solidFill>
                  <a:srgbClr val="E4E7EB"/>
                </a:solidFill>
                <a:latin typeface="Courier New"/>
                <a:cs typeface="Courier New"/>
              </a:rPr>
              <a:t> 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through</a:t>
            </a:r>
            <a:r>
              <a:rPr dirty="0" sz="800" spc="15">
                <a:solidFill>
                  <a:srgbClr val="E4E7EB"/>
                </a:solidFill>
                <a:latin typeface="Courier New"/>
                <a:cs typeface="Courier New"/>
              </a:rPr>
              <a:t> 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Module</a:t>
            </a:r>
            <a:r>
              <a:rPr dirty="0" sz="800" spc="20">
                <a:solidFill>
                  <a:srgbClr val="E4E7EB"/>
                </a:solidFill>
                <a:latin typeface="Courier New"/>
                <a:cs typeface="Courier New"/>
              </a:rPr>
              <a:t> 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1.</a:t>
            </a:r>
            <a:r>
              <a:rPr dirty="0" sz="800" spc="15">
                <a:solidFill>
                  <a:srgbClr val="E4E7EB"/>
                </a:solidFill>
                <a:latin typeface="Courier New"/>
                <a:cs typeface="Courier New"/>
              </a:rPr>
              <a:t> 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2.</a:t>
            </a:r>
            <a:r>
              <a:rPr dirty="0" sz="800" spc="20">
                <a:solidFill>
                  <a:srgbClr val="E4E7EB"/>
                </a:solidFill>
                <a:latin typeface="Courier New"/>
                <a:cs typeface="Courier New"/>
              </a:rPr>
              <a:t> 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JWT</a:t>
            </a:r>
            <a:r>
              <a:rPr dirty="0" sz="800" spc="15">
                <a:solidFill>
                  <a:srgbClr val="E4E7EB"/>
                </a:solidFill>
                <a:latin typeface="Courier New"/>
                <a:cs typeface="Courier New"/>
              </a:rPr>
              <a:t> 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token</a:t>
            </a:r>
            <a:r>
              <a:rPr dirty="0" sz="800" spc="15">
                <a:solidFill>
                  <a:srgbClr val="E4E7EB"/>
                </a:solidFill>
                <a:latin typeface="Courier New"/>
                <a:cs typeface="Courier New"/>
              </a:rPr>
              <a:t> 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is</a:t>
            </a:r>
            <a:r>
              <a:rPr dirty="0" sz="800" spc="20">
                <a:solidFill>
                  <a:srgbClr val="E4E7EB"/>
                </a:solidFill>
                <a:latin typeface="Courier New"/>
                <a:cs typeface="Courier New"/>
              </a:rPr>
              <a:t> 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generated.</a:t>
            </a:r>
            <a:r>
              <a:rPr dirty="0" sz="800" spc="15">
                <a:solidFill>
                  <a:srgbClr val="E4E7EB"/>
                </a:solidFill>
                <a:latin typeface="Courier New"/>
                <a:cs typeface="Courier New"/>
              </a:rPr>
              <a:t> 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3.</a:t>
            </a:r>
            <a:r>
              <a:rPr dirty="0" sz="800" spc="20">
                <a:solidFill>
                  <a:srgbClr val="E4E7EB"/>
                </a:solidFill>
                <a:latin typeface="Courier New"/>
                <a:cs typeface="Courier New"/>
              </a:rPr>
              <a:t> 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User</a:t>
            </a:r>
            <a:r>
              <a:rPr dirty="0" sz="800" spc="15">
                <a:solidFill>
                  <a:srgbClr val="E4E7EB"/>
                </a:solidFill>
                <a:latin typeface="Courier New"/>
                <a:cs typeface="Courier New"/>
              </a:rPr>
              <a:t> 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accesses</a:t>
            </a:r>
            <a:r>
              <a:rPr dirty="0" sz="800" spc="15">
                <a:solidFill>
                  <a:srgbClr val="E4E7EB"/>
                </a:solidFill>
                <a:latin typeface="Courier New"/>
                <a:cs typeface="Courier New"/>
              </a:rPr>
              <a:t>  </a:t>
            </a:r>
            <a:r>
              <a:rPr dirty="0" sz="800" spc="-25">
                <a:solidFill>
                  <a:srgbClr val="E4E7EB"/>
                </a:solidFill>
                <a:latin typeface="Courier New"/>
                <a:cs typeface="Courier New"/>
              </a:rPr>
              <a:t>the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application.</a:t>
            </a:r>
            <a:r>
              <a:rPr dirty="0" sz="800" spc="15">
                <a:solidFill>
                  <a:srgbClr val="E4E7EB"/>
                </a:solidFill>
                <a:latin typeface="Courier New"/>
                <a:cs typeface="Courier New"/>
              </a:rPr>
              <a:t> 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4.</a:t>
            </a:r>
            <a:r>
              <a:rPr dirty="0" sz="800" spc="20">
                <a:solidFill>
                  <a:srgbClr val="E4E7EB"/>
                </a:solidFill>
                <a:latin typeface="Courier New"/>
                <a:cs typeface="Courier New"/>
              </a:rPr>
              <a:t> 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Incident</a:t>
            </a:r>
            <a:r>
              <a:rPr dirty="0" sz="800" spc="20">
                <a:solidFill>
                  <a:srgbClr val="E4E7EB"/>
                </a:solidFill>
                <a:latin typeface="Courier New"/>
                <a:cs typeface="Courier New"/>
              </a:rPr>
              <a:t> 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reports</a:t>
            </a:r>
            <a:r>
              <a:rPr dirty="0" sz="800" spc="20">
                <a:solidFill>
                  <a:srgbClr val="E4E7EB"/>
                </a:solidFill>
                <a:latin typeface="Courier New"/>
                <a:cs typeface="Courier New"/>
              </a:rPr>
              <a:t> 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are</a:t>
            </a:r>
            <a:r>
              <a:rPr dirty="0" sz="800" spc="20">
                <a:solidFill>
                  <a:srgbClr val="E4E7EB"/>
                </a:solidFill>
                <a:latin typeface="Courier New"/>
                <a:cs typeface="Courier New"/>
              </a:rPr>
              <a:t> 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managed</a:t>
            </a:r>
            <a:r>
              <a:rPr dirty="0" sz="800" spc="20">
                <a:solidFill>
                  <a:srgbClr val="E4E7EB"/>
                </a:solidFill>
                <a:latin typeface="Courier New"/>
                <a:cs typeface="Courier New"/>
              </a:rPr>
              <a:t> 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through</a:t>
            </a:r>
            <a:r>
              <a:rPr dirty="0" sz="800" spc="20">
                <a:solidFill>
                  <a:srgbClr val="E4E7EB"/>
                </a:solidFill>
                <a:latin typeface="Courier New"/>
                <a:cs typeface="Courier New"/>
              </a:rPr>
              <a:t> 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Module</a:t>
            </a:r>
            <a:r>
              <a:rPr dirty="0" sz="800" spc="20">
                <a:solidFill>
                  <a:srgbClr val="E4E7EB"/>
                </a:solidFill>
                <a:latin typeface="Courier New"/>
                <a:cs typeface="Courier New"/>
              </a:rPr>
              <a:t> 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2.</a:t>
            </a:r>
            <a:r>
              <a:rPr dirty="0" sz="800" spc="20">
                <a:solidFill>
                  <a:srgbClr val="E4E7EB"/>
                </a:solidFill>
                <a:latin typeface="Courier New"/>
                <a:cs typeface="Courier New"/>
              </a:rPr>
              <a:t> 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5.</a:t>
            </a:r>
            <a:r>
              <a:rPr dirty="0" sz="800" spc="20">
                <a:solidFill>
                  <a:srgbClr val="E4E7EB"/>
                </a:solidFill>
                <a:latin typeface="Courier New"/>
                <a:cs typeface="Courier New"/>
              </a:rPr>
              <a:t> 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Tasks</a:t>
            </a:r>
            <a:r>
              <a:rPr dirty="0" sz="800" spc="15">
                <a:solidFill>
                  <a:srgbClr val="E4E7EB"/>
                </a:solidFill>
                <a:latin typeface="Courier New"/>
                <a:cs typeface="Courier New"/>
              </a:rPr>
              <a:t> 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are</a:t>
            </a:r>
            <a:r>
              <a:rPr dirty="0" sz="800" spc="20">
                <a:solidFill>
                  <a:srgbClr val="E4E7EB"/>
                </a:solidFill>
                <a:latin typeface="Courier New"/>
                <a:cs typeface="Courier New"/>
              </a:rPr>
              <a:t>  </a:t>
            </a:r>
            <a:r>
              <a:rPr dirty="0" sz="800" spc="-10">
                <a:solidFill>
                  <a:srgbClr val="E4E7EB"/>
                </a:solidFill>
                <a:latin typeface="Courier New"/>
                <a:cs typeface="Courier New"/>
              </a:rPr>
              <a:t>managed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through</a:t>
            </a:r>
            <a:r>
              <a:rPr dirty="0" sz="800" spc="15">
                <a:solidFill>
                  <a:srgbClr val="E4E7EB"/>
                </a:solidFill>
                <a:latin typeface="Courier New"/>
                <a:cs typeface="Courier New"/>
              </a:rPr>
              <a:t> 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Module</a:t>
            </a:r>
            <a:r>
              <a:rPr dirty="0" sz="800" spc="20">
                <a:solidFill>
                  <a:srgbClr val="E4E7EB"/>
                </a:solidFill>
                <a:latin typeface="Courier New"/>
                <a:cs typeface="Courier New"/>
              </a:rPr>
              <a:t> 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3.</a:t>
            </a:r>
            <a:r>
              <a:rPr dirty="0" sz="800" spc="20">
                <a:solidFill>
                  <a:srgbClr val="E4E7EB"/>
                </a:solidFill>
                <a:latin typeface="Courier New"/>
                <a:cs typeface="Courier New"/>
              </a:rPr>
              <a:t> 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6.</a:t>
            </a:r>
            <a:r>
              <a:rPr dirty="0" sz="800" spc="20">
                <a:solidFill>
                  <a:srgbClr val="E4E7EB"/>
                </a:solidFill>
                <a:latin typeface="Courier New"/>
                <a:cs typeface="Courier New"/>
              </a:rPr>
              <a:t> 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Approval</a:t>
            </a:r>
            <a:r>
              <a:rPr dirty="0" sz="800" spc="15">
                <a:solidFill>
                  <a:srgbClr val="E4E7EB"/>
                </a:solidFill>
                <a:latin typeface="Courier New"/>
                <a:cs typeface="Courier New"/>
              </a:rPr>
              <a:t> 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requests</a:t>
            </a:r>
            <a:r>
              <a:rPr dirty="0" sz="800" spc="20">
                <a:solidFill>
                  <a:srgbClr val="E4E7EB"/>
                </a:solidFill>
                <a:latin typeface="Courier New"/>
                <a:cs typeface="Courier New"/>
              </a:rPr>
              <a:t> 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are</a:t>
            </a:r>
            <a:r>
              <a:rPr dirty="0" sz="800" spc="20">
                <a:solidFill>
                  <a:srgbClr val="E4E7EB"/>
                </a:solidFill>
                <a:latin typeface="Courier New"/>
                <a:cs typeface="Courier New"/>
              </a:rPr>
              <a:t> 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handled</a:t>
            </a:r>
            <a:r>
              <a:rPr dirty="0" sz="800" spc="20">
                <a:solidFill>
                  <a:srgbClr val="E4E7EB"/>
                </a:solidFill>
                <a:latin typeface="Courier New"/>
                <a:cs typeface="Courier New"/>
              </a:rPr>
              <a:t> 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through</a:t>
            </a:r>
            <a:r>
              <a:rPr dirty="0" sz="800" spc="15">
                <a:solidFill>
                  <a:srgbClr val="E4E7EB"/>
                </a:solidFill>
                <a:latin typeface="Courier New"/>
                <a:cs typeface="Courier New"/>
              </a:rPr>
              <a:t> 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Module</a:t>
            </a:r>
            <a:r>
              <a:rPr dirty="0" sz="800" spc="20">
                <a:solidFill>
                  <a:srgbClr val="E4E7EB"/>
                </a:solidFill>
                <a:latin typeface="Courier New"/>
                <a:cs typeface="Courier New"/>
              </a:rPr>
              <a:t> 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4.</a:t>
            </a:r>
            <a:r>
              <a:rPr dirty="0" sz="800" spc="20">
                <a:solidFill>
                  <a:srgbClr val="E4E7EB"/>
                </a:solidFill>
                <a:latin typeface="Courier New"/>
                <a:cs typeface="Courier New"/>
              </a:rPr>
              <a:t> 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7.</a:t>
            </a:r>
            <a:r>
              <a:rPr dirty="0" sz="800" spc="20">
                <a:solidFill>
                  <a:srgbClr val="E4E7EB"/>
                </a:solidFill>
                <a:latin typeface="Courier New"/>
                <a:cs typeface="Courier New"/>
              </a:rPr>
              <a:t>  </a:t>
            </a:r>
            <a:r>
              <a:rPr dirty="0" sz="800" spc="-10">
                <a:solidFill>
                  <a:srgbClr val="E4E7EB"/>
                </a:solidFill>
                <a:latin typeface="Courier New"/>
                <a:cs typeface="Courier New"/>
              </a:rPr>
              <a:t>Employee</a:t>
            </a:r>
            <a:endParaRPr sz="8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80102" y="571508"/>
            <a:ext cx="6202680" cy="1874520"/>
          </a:xfrm>
          <a:custGeom>
            <a:avLst/>
            <a:gdLst/>
            <a:ahLst/>
            <a:cxnLst/>
            <a:rect l="l" t="t" r="r" b="b"/>
            <a:pathLst>
              <a:path w="6202680" h="1874520">
                <a:moveTo>
                  <a:pt x="6151728" y="1874118"/>
                </a:moveTo>
                <a:lnTo>
                  <a:pt x="50390" y="1874118"/>
                </a:lnTo>
                <a:lnTo>
                  <a:pt x="46883" y="1873774"/>
                </a:lnTo>
                <a:lnTo>
                  <a:pt x="13292" y="1855761"/>
                </a:lnTo>
                <a:lnTo>
                  <a:pt x="0" y="1823712"/>
                </a:lnTo>
                <a:lnTo>
                  <a:pt x="0" y="1820187"/>
                </a:lnTo>
                <a:lnTo>
                  <a:pt x="0" y="0"/>
                </a:lnTo>
                <a:lnTo>
                  <a:pt x="6202119" y="0"/>
                </a:lnTo>
                <a:lnTo>
                  <a:pt x="6202118" y="1823712"/>
                </a:lnTo>
                <a:lnTo>
                  <a:pt x="6183818" y="1860790"/>
                </a:lnTo>
                <a:lnTo>
                  <a:pt x="6155235" y="1873774"/>
                </a:lnTo>
                <a:lnTo>
                  <a:pt x="6151728" y="1874118"/>
                </a:lnTo>
                <a:close/>
              </a:path>
            </a:pathLst>
          </a:custGeom>
          <a:solidFill>
            <a:srgbClr val="0E172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680102" y="3281564"/>
            <a:ext cx="6202680" cy="6985"/>
          </a:xfrm>
          <a:custGeom>
            <a:avLst/>
            <a:gdLst/>
            <a:ahLst/>
            <a:cxnLst/>
            <a:rect l="l" t="t" r="r" b="b"/>
            <a:pathLst>
              <a:path w="6202680" h="6985">
                <a:moveTo>
                  <a:pt x="6202119" y="6741"/>
                </a:moveTo>
                <a:lnTo>
                  <a:pt x="0" y="6741"/>
                </a:lnTo>
                <a:lnTo>
                  <a:pt x="0" y="0"/>
                </a:lnTo>
                <a:lnTo>
                  <a:pt x="6202119" y="0"/>
                </a:lnTo>
                <a:lnTo>
                  <a:pt x="6202119" y="6741"/>
                </a:lnTo>
                <a:close/>
              </a:path>
            </a:pathLst>
          </a:custGeom>
          <a:solidFill>
            <a:srgbClr val="E4E7E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680102" y="9261216"/>
            <a:ext cx="6202680" cy="6985"/>
          </a:xfrm>
          <a:custGeom>
            <a:avLst/>
            <a:gdLst/>
            <a:ahLst/>
            <a:cxnLst/>
            <a:rect l="l" t="t" r="r" b="b"/>
            <a:pathLst>
              <a:path w="6202680" h="6984">
                <a:moveTo>
                  <a:pt x="6202119" y="6741"/>
                </a:moveTo>
                <a:lnTo>
                  <a:pt x="0" y="6741"/>
                </a:lnTo>
                <a:lnTo>
                  <a:pt x="0" y="0"/>
                </a:lnTo>
                <a:lnTo>
                  <a:pt x="6202119" y="0"/>
                </a:lnTo>
                <a:lnTo>
                  <a:pt x="6202119" y="6741"/>
                </a:lnTo>
                <a:close/>
              </a:path>
            </a:pathLst>
          </a:custGeom>
          <a:solidFill>
            <a:srgbClr val="E4E7E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761782" y="525353"/>
            <a:ext cx="5634990" cy="18053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43800"/>
              </a:lnSpc>
              <a:spcBef>
                <a:spcPts val="95"/>
              </a:spcBef>
            </a:pP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training</a:t>
            </a:r>
            <a:r>
              <a:rPr dirty="0" sz="800" spc="15">
                <a:solidFill>
                  <a:srgbClr val="E4E7EB"/>
                </a:solidFill>
                <a:latin typeface="Courier New"/>
                <a:cs typeface="Courier New"/>
              </a:rPr>
              <a:t> 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is</a:t>
            </a:r>
            <a:r>
              <a:rPr dirty="0" sz="800" spc="20">
                <a:solidFill>
                  <a:srgbClr val="E4E7EB"/>
                </a:solidFill>
                <a:latin typeface="Courier New"/>
                <a:cs typeface="Courier New"/>
              </a:rPr>
              <a:t> 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managed</a:t>
            </a:r>
            <a:r>
              <a:rPr dirty="0" sz="800" spc="20">
                <a:solidFill>
                  <a:srgbClr val="E4E7EB"/>
                </a:solidFill>
                <a:latin typeface="Courier New"/>
                <a:cs typeface="Courier New"/>
              </a:rPr>
              <a:t> 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through</a:t>
            </a:r>
            <a:r>
              <a:rPr dirty="0" sz="800" spc="20">
                <a:solidFill>
                  <a:srgbClr val="E4E7EB"/>
                </a:solidFill>
                <a:latin typeface="Courier New"/>
                <a:cs typeface="Courier New"/>
              </a:rPr>
              <a:t> 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Module</a:t>
            </a:r>
            <a:r>
              <a:rPr dirty="0" sz="800" spc="20">
                <a:solidFill>
                  <a:srgbClr val="E4E7EB"/>
                </a:solidFill>
                <a:latin typeface="Courier New"/>
                <a:cs typeface="Courier New"/>
              </a:rPr>
              <a:t> 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5.</a:t>
            </a:r>
            <a:r>
              <a:rPr dirty="0" sz="800" spc="20">
                <a:solidFill>
                  <a:srgbClr val="E4E7EB"/>
                </a:solidFill>
                <a:latin typeface="Courier New"/>
                <a:cs typeface="Courier New"/>
              </a:rPr>
              <a:t> 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8.</a:t>
            </a:r>
            <a:r>
              <a:rPr dirty="0" sz="800" spc="20">
                <a:solidFill>
                  <a:srgbClr val="E4E7EB"/>
                </a:solidFill>
                <a:latin typeface="Courier New"/>
                <a:cs typeface="Courier New"/>
              </a:rPr>
              <a:t> 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Dashboard</a:t>
            </a:r>
            <a:r>
              <a:rPr dirty="0" sz="800" spc="20">
                <a:solidFill>
                  <a:srgbClr val="E4E7EB"/>
                </a:solidFill>
                <a:latin typeface="Courier New"/>
                <a:cs typeface="Courier New"/>
              </a:rPr>
              <a:t> 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module</a:t>
            </a:r>
            <a:r>
              <a:rPr dirty="0" sz="800" spc="20">
                <a:solidFill>
                  <a:srgbClr val="E4E7EB"/>
                </a:solidFill>
                <a:latin typeface="Courier New"/>
                <a:cs typeface="Courier New"/>
              </a:rPr>
              <a:t> 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reads</a:t>
            </a:r>
            <a:r>
              <a:rPr dirty="0" sz="800" spc="20">
                <a:solidFill>
                  <a:srgbClr val="E4E7EB"/>
                </a:solidFill>
                <a:latin typeface="Courier New"/>
                <a:cs typeface="Courier New"/>
              </a:rPr>
              <a:t> 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all</a:t>
            </a:r>
            <a:r>
              <a:rPr dirty="0" sz="800" spc="15">
                <a:solidFill>
                  <a:srgbClr val="E4E7EB"/>
                </a:solidFill>
                <a:latin typeface="Courier New"/>
                <a:cs typeface="Courier New"/>
              </a:rPr>
              <a:t> 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modules</a:t>
            </a:r>
            <a:r>
              <a:rPr dirty="0" sz="800" spc="20">
                <a:solidFill>
                  <a:srgbClr val="E4E7EB"/>
                </a:solidFill>
                <a:latin typeface="Courier New"/>
                <a:cs typeface="Courier New"/>
              </a:rPr>
              <a:t>  </a:t>
            </a:r>
            <a:r>
              <a:rPr dirty="0" sz="800" spc="-25">
                <a:solidFill>
                  <a:srgbClr val="E4E7EB"/>
                </a:solidFill>
                <a:latin typeface="Courier New"/>
                <a:cs typeface="Courier New"/>
              </a:rPr>
              <a:t>and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generates</a:t>
            </a:r>
            <a:r>
              <a:rPr dirty="0" sz="800" spc="20">
                <a:solidFill>
                  <a:srgbClr val="E4E7EB"/>
                </a:solidFill>
                <a:latin typeface="Courier New"/>
                <a:cs typeface="Courier New"/>
              </a:rPr>
              <a:t> 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analytics.</a:t>
            </a:r>
            <a:r>
              <a:rPr dirty="0" sz="800" spc="25">
                <a:solidFill>
                  <a:srgbClr val="E4E7EB"/>
                </a:solidFill>
                <a:latin typeface="Courier New"/>
                <a:cs typeface="Courier New"/>
              </a:rPr>
              <a:t> 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9.</a:t>
            </a:r>
            <a:r>
              <a:rPr dirty="0" sz="800" spc="25">
                <a:solidFill>
                  <a:srgbClr val="E4E7EB"/>
                </a:solidFill>
                <a:latin typeface="Courier New"/>
                <a:cs typeface="Courier New"/>
              </a:rPr>
              <a:t> 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Frontend</a:t>
            </a:r>
            <a:r>
              <a:rPr dirty="0" sz="800" spc="25">
                <a:solidFill>
                  <a:srgbClr val="E4E7EB"/>
                </a:solidFill>
                <a:latin typeface="Courier New"/>
                <a:cs typeface="Courier New"/>
              </a:rPr>
              <a:t> 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displays</a:t>
            </a:r>
            <a:r>
              <a:rPr dirty="0" sz="800" spc="20">
                <a:solidFill>
                  <a:srgbClr val="E4E7EB"/>
                </a:solidFill>
                <a:latin typeface="Courier New"/>
                <a:cs typeface="Courier New"/>
              </a:rPr>
              <a:t> 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statistics,</a:t>
            </a:r>
            <a:r>
              <a:rPr dirty="0" sz="800" spc="25">
                <a:solidFill>
                  <a:srgbClr val="E4E7EB"/>
                </a:solidFill>
                <a:latin typeface="Courier New"/>
                <a:cs typeface="Courier New"/>
              </a:rPr>
              <a:t> 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charts,</a:t>
            </a:r>
            <a:r>
              <a:rPr dirty="0" sz="800" spc="25">
                <a:solidFill>
                  <a:srgbClr val="E4E7EB"/>
                </a:solidFill>
                <a:latin typeface="Courier New"/>
                <a:cs typeface="Courier New"/>
              </a:rPr>
              <a:t> 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and</a:t>
            </a:r>
            <a:r>
              <a:rPr dirty="0" sz="800" spc="25">
                <a:solidFill>
                  <a:srgbClr val="E4E7EB"/>
                </a:solidFill>
                <a:latin typeface="Courier New"/>
                <a:cs typeface="Courier New"/>
              </a:rPr>
              <a:t>  </a:t>
            </a:r>
            <a:r>
              <a:rPr dirty="0" sz="800" spc="-10">
                <a:solidFill>
                  <a:srgbClr val="E4E7EB"/>
                </a:solidFill>
                <a:latin typeface="Courier New"/>
                <a:cs typeface="Courier New"/>
              </a:rPr>
              <a:t>reports.</a:t>
            </a:r>
            <a:endParaRPr sz="800">
              <a:latin typeface="Courier New"/>
              <a:cs typeface="Courier New"/>
            </a:endParaRPr>
          </a:p>
          <a:p>
            <a:pPr marL="12700" marR="4751070">
              <a:lnSpc>
                <a:spcPct val="293100"/>
              </a:lnSpc>
            </a:pP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So</a:t>
            </a:r>
            <a:r>
              <a:rPr dirty="0" sz="800" spc="49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in</a:t>
            </a:r>
            <a:r>
              <a:rPr dirty="0" sz="800" spc="10">
                <a:solidFill>
                  <a:srgbClr val="E4E7EB"/>
                </a:solidFill>
                <a:latin typeface="Courier New"/>
                <a:cs typeface="Courier New"/>
              </a:rPr>
              <a:t>  </a:t>
            </a:r>
            <a:r>
              <a:rPr dirty="0" sz="800" spc="-10">
                <a:solidFill>
                  <a:srgbClr val="E4E7EB"/>
                </a:solidFill>
                <a:latin typeface="Courier New"/>
                <a:cs typeface="Courier New"/>
              </a:rPr>
              <a:t>short, Question:</a:t>
            </a:r>
            <a:endParaRPr sz="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420"/>
              </a:spcBef>
            </a:pP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How</a:t>
            </a:r>
            <a:r>
              <a:rPr dirty="0" sz="800" spc="3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is</a:t>
            </a:r>
            <a:r>
              <a:rPr dirty="0" sz="800" spc="3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authentication</a:t>
            </a:r>
            <a:r>
              <a:rPr dirty="0" sz="800" spc="3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 spc="-10">
                <a:solidFill>
                  <a:srgbClr val="E4E7EB"/>
                </a:solidFill>
                <a:latin typeface="Courier New"/>
                <a:cs typeface="Courier New"/>
              </a:rPr>
              <a:t>handled?</a:t>
            </a:r>
            <a:endParaRPr sz="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endParaRPr sz="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dirty="0" sz="800" spc="-10">
                <a:solidFill>
                  <a:srgbClr val="E4E7EB"/>
                </a:solidFill>
                <a:latin typeface="Courier New"/>
                <a:cs typeface="Courier New"/>
              </a:rPr>
              <a:t>Answer:</a:t>
            </a:r>
            <a:endParaRPr sz="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475"/>
              </a:spcBef>
            </a:pP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JWT</a:t>
            </a:r>
            <a:r>
              <a:rPr dirty="0" sz="800" spc="1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is</a:t>
            </a:r>
            <a:r>
              <a:rPr dirty="0" sz="800" spc="2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used</a:t>
            </a:r>
            <a:r>
              <a:rPr dirty="0" sz="800" spc="20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4E7EB"/>
                </a:solidFill>
                <a:latin typeface="Courier New"/>
                <a:cs typeface="Courier New"/>
              </a:rPr>
              <a:t>for</a:t>
            </a:r>
            <a:r>
              <a:rPr dirty="0" sz="800" spc="15">
                <a:solidFill>
                  <a:srgbClr val="E4E7EB"/>
                </a:solidFill>
                <a:latin typeface="Courier New"/>
                <a:cs typeface="Courier New"/>
              </a:rPr>
              <a:t> </a:t>
            </a:r>
            <a:r>
              <a:rPr dirty="0" sz="800" spc="-10">
                <a:solidFill>
                  <a:srgbClr val="E4E7EB"/>
                </a:solidFill>
                <a:latin typeface="Courier New"/>
                <a:cs typeface="Courier New"/>
              </a:rPr>
              <a:t>authentication.</a:t>
            </a:r>
            <a:endParaRPr sz="800">
              <a:latin typeface="Courier New"/>
              <a:cs typeface="Courier New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5473261" y="2580437"/>
            <a:ext cx="950594" cy="148590"/>
          </a:xfrm>
          <a:custGeom>
            <a:avLst/>
            <a:gdLst/>
            <a:ahLst/>
            <a:cxnLst/>
            <a:rect l="l" t="t" r="r" b="b"/>
            <a:pathLst>
              <a:path w="950595" h="148589">
                <a:moveTo>
                  <a:pt x="950541" y="148304"/>
                </a:moveTo>
                <a:lnTo>
                  <a:pt x="23389" y="148304"/>
                </a:lnTo>
                <a:lnTo>
                  <a:pt x="19949" y="147591"/>
                </a:lnTo>
                <a:lnTo>
                  <a:pt x="0" y="124912"/>
                </a:lnTo>
                <a:lnTo>
                  <a:pt x="0" y="23373"/>
                </a:lnTo>
                <a:lnTo>
                  <a:pt x="23389" y="0"/>
                </a:lnTo>
                <a:lnTo>
                  <a:pt x="950541" y="0"/>
                </a:lnTo>
                <a:lnTo>
                  <a:pt x="950541" y="148304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680097" y="2769183"/>
            <a:ext cx="2312670" cy="337185"/>
          </a:xfrm>
          <a:custGeom>
            <a:avLst/>
            <a:gdLst/>
            <a:ahLst/>
            <a:cxnLst/>
            <a:rect l="l" t="t" r="r" b="b"/>
            <a:pathLst>
              <a:path w="2312670" h="337185">
                <a:moveTo>
                  <a:pt x="950544" y="23406"/>
                </a:moveTo>
                <a:lnTo>
                  <a:pt x="949858" y="19951"/>
                </a:lnTo>
                <a:lnTo>
                  <a:pt x="947115" y="13309"/>
                </a:lnTo>
                <a:lnTo>
                  <a:pt x="945172" y="10388"/>
                </a:lnTo>
                <a:lnTo>
                  <a:pt x="942644" y="7886"/>
                </a:lnTo>
                <a:lnTo>
                  <a:pt x="940117" y="5334"/>
                </a:lnTo>
                <a:lnTo>
                  <a:pt x="937196" y="3390"/>
                </a:lnTo>
                <a:lnTo>
                  <a:pt x="930592" y="673"/>
                </a:lnTo>
                <a:lnTo>
                  <a:pt x="927150" y="0"/>
                </a:lnTo>
                <a:lnTo>
                  <a:pt x="0" y="0"/>
                </a:lnTo>
                <a:lnTo>
                  <a:pt x="0" y="148310"/>
                </a:lnTo>
                <a:lnTo>
                  <a:pt x="927150" y="148310"/>
                </a:lnTo>
                <a:lnTo>
                  <a:pt x="950544" y="124891"/>
                </a:lnTo>
                <a:lnTo>
                  <a:pt x="950544" y="23406"/>
                </a:lnTo>
                <a:close/>
              </a:path>
              <a:path w="2312670" h="337185">
                <a:moveTo>
                  <a:pt x="2312314" y="212140"/>
                </a:moveTo>
                <a:lnTo>
                  <a:pt x="2288921" y="188772"/>
                </a:lnTo>
                <a:lnTo>
                  <a:pt x="57099" y="188772"/>
                </a:lnTo>
                <a:lnTo>
                  <a:pt x="33705" y="212140"/>
                </a:lnTo>
                <a:lnTo>
                  <a:pt x="33705" y="310121"/>
                </a:lnTo>
                <a:lnTo>
                  <a:pt x="33705" y="313677"/>
                </a:lnTo>
                <a:lnTo>
                  <a:pt x="57099" y="337058"/>
                </a:lnTo>
                <a:lnTo>
                  <a:pt x="2288921" y="337058"/>
                </a:lnTo>
                <a:lnTo>
                  <a:pt x="2312314" y="313677"/>
                </a:lnTo>
                <a:lnTo>
                  <a:pt x="2312314" y="212140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3080052" y="2957976"/>
            <a:ext cx="1166495" cy="148590"/>
          </a:xfrm>
          <a:custGeom>
            <a:avLst/>
            <a:gdLst/>
            <a:ahLst/>
            <a:cxnLst/>
            <a:rect l="l" t="t" r="r" b="b"/>
            <a:pathLst>
              <a:path w="1166495" h="148589">
                <a:moveTo>
                  <a:pt x="1142878" y="148284"/>
                </a:moveTo>
                <a:lnTo>
                  <a:pt x="23389" y="148284"/>
                </a:lnTo>
                <a:lnTo>
                  <a:pt x="19949" y="147603"/>
                </a:lnTo>
                <a:lnTo>
                  <a:pt x="0" y="124898"/>
                </a:lnTo>
                <a:lnTo>
                  <a:pt x="0" y="121345"/>
                </a:lnTo>
                <a:lnTo>
                  <a:pt x="0" y="23359"/>
                </a:lnTo>
                <a:lnTo>
                  <a:pt x="23389" y="0"/>
                </a:lnTo>
                <a:lnTo>
                  <a:pt x="1142878" y="0"/>
                </a:lnTo>
                <a:lnTo>
                  <a:pt x="1166267" y="23359"/>
                </a:lnTo>
                <a:lnTo>
                  <a:pt x="1166267" y="124898"/>
                </a:lnTo>
                <a:lnTo>
                  <a:pt x="1146317" y="147603"/>
                </a:lnTo>
                <a:lnTo>
                  <a:pt x="1142878" y="148284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667402" y="2512791"/>
            <a:ext cx="5862955" cy="5918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23900"/>
              </a:lnSpc>
              <a:spcBef>
                <a:spcPts val="95"/>
              </a:spcBef>
            </a:pPr>
            <a:r>
              <a:rPr dirty="0" sz="1000" spc="-100">
                <a:solidFill>
                  <a:srgbClr val="111726"/>
                </a:solidFill>
                <a:latin typeface="Source Han Sans JP"/>
                <a:cs typeface="Source Han Sans JP"/>
              </a:rPr>
              <a:t>The</a:t>
            </a:r>
            <a:r>
              <a:rPr dirty="0" sz="1000" spc="-2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90">
                <a:solidFill>
                  <a:srgbClr val="111726"/>
                </a:solidFill>
                <a:latin typeface="Source Han Sans JP"/>
                <a:cs typeface="Source Han Sans JP"/>
              </a:rPr>
              <a:t>model's</a:t>
            </a:r>
            <a:r>
              <a:rPr dirty="0" sz="1000" spc="-2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75">
                <a:solidFill>
                  <a:srgbClr val="111726"/>
                </a:solidFill>
                <a:latin typeface="Source Han Sans JP"/>
                <a:cs typeface="Source Han Sans JP"/>
              </a:rPr>
              <a:t>actual,</a:t>
            </a:r>
            <a:r>
              <a:rPr dirty="0" sz="1000" spc="-20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950" spc="-50">
                <a:solidFill>
                  <a:srgbClr val="111726"/>
                </a:solidFill>
                <a:latin typeface="Arial"/>
                <a:cs typeface="Arial"/>
              </a:rPr>
              <a:t>ﬁ</a:t>
            </a:r>
            <a:r>
              <a:rPr dirty="0" sz="1000" spc="-50">
                <a:solidFill>
                  <a:srgbClr val="111726"/>
                </a:solidFill>
                <a:latin typeface="Source Han Sans JP"/>
                <a:cs typeface="Source Han Sans JP"/>
              </a:rPr>
              <a:t>nal</a:t>
            </a:r>
            <a:r>
              <a:rPr dirty="0" sz="1000" spc="-2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95">
                <a:solidFill>
                  <a:srgbClr val="111726"/>
                </a:solidFill>
                <a:latin typeface="Source Han Sans JP"/>
                <a:cs typeface="Source Han Sans JP"/>
              </a:rPr>
              <a:t>answer</a:t>
            </a:r>
            <a:r>
              <a:rPr dirty="0" sz="1000" spc="-20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950" spc="-204">
                <a:solidFill>
                  <a:srgbClr val="111726"/>
                </a:solidFill>
                <a:latin typeface="Arial"/>
                <a:cs typeface="Arial"/>
              </a:rPr>
              <a:t>—</a:t>
            </a:r>
            <a:r>
              <a:rPr dirty="0" sz="950" spc="-65">
                <a:solidFill>
                  <a:srgbClr val="111726"/>
                </a:solidFill>
                <a:latin typeface="Arial"/>
                <a:cs typeface="Arial"/>
              </a:rPr>
              <a:t> </a:t>
            </a:r>
            <a:r>
              <a:rPr dirty="0" sz="1000" spc="-75">
                <a:solidFill>
                  <a:srgbClr val="111726"/>
                </a:solidFill>
                <a:latin typeface="Source Han Sans JP"/>
                <a:cs typeface="Source Han Sans JP"/>
              </a:rPr>
              <a:t>after</a:t>
            </a:r>
            <a:r>
              <a:rPr dirty="0" sz="1000" spc="-2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85">
                <a:solidFill>
                  <a:srgbClr val="111726"/>
                </a:solidFill>
                <a:latin typeface="Source Han Sans JP"/>
                <a:cs typeface="Source Han Sans JP"/>
              </a:rPr>
              <a:t>cutting</a:t>
            </a:r>
            <a:r>
              <a:rPr dirty="0" sz="1000" spc="-20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85">
                <a:solidFill>
                  <a:srgbClr val="111726"/>
                </a:solidFill>
                <a:latin typeface="Source Han Sans JP"/>
                <a:cs typeface="Source Han Sans JP"/>
              </a:rPr>
              <a:t>through</a:t>
            </a:r>
            <a:r>
              <a:rPr dirty="0" sz="1000" spc="-2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90">
                <a:solidFill>
                  <a:srgbClr val="111726"/>
                </a:solidFill>
                <a:latin typeface="Source Han Sans JP"/>
                <a:cs typeface="Source Han Sans JP"/>
              </a:rPr>
              <a:t>the</a:t>
            </a:r>
            <a:r>
              <a:rPr dirty="0" sz="1000" spc="-20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95">
                <a:solidFill>
                  <a:srgbClr val="111726"/>
                </a:solidFill>
                <a:latin typeface="Source Han Sans JP"/>
                <a:cs typeface="Source Han Sans JP"/>
              </a:rPr>
              <a:t>echoed</a:t>
            </a:r>
            <a:r>
              <a:rPr dirty="0" sz="1000" spc="-2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100">
                <a:solidFill>
                  <a:srgbClr val="111726"/>
                </a:solidFill>
                <a:latin typeface="Source Han Sans JP"/>
                <a:cs typeface="Source Han Sans JP"/>
              </a:rPr>
              <a:t>prompt</a:t>
            </a:r>
            <a:r>
              <a:rPr dirty="0" sz="1000" spc="-2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950" spc="-204">
                <a:solidFill>
                  <a:srgbClr val="111726"/>
                </a:solidFill>
                <a:latin typeface="Arial"/>
                <a:cs typeface="Arial"/>
              </a:rPr>
              <a:t>—</a:t>
            </a:r>
            <a:r>
              <a:rPr dirty="0" sz="950" spc="-60">
                <a:solidFill>
                  <a:srgbClr val="111726"/>
                </a:solidFill>
                <a:latin typeface="Arial"/>
                <a:cs typeface="Arial"/>
              </a:rPr>
              <a:t> </a:t>
            </a:r>
            <a:r>
              <a:rPr dirty="0" sz="1000" spc="-70">
                <a:solidFill>
                  <a:srgbClr val="111726"/>
                </a:solidFill>
                <a:latin typeface="Source Han Sans JP"/>
                <a:cs typeface="Source Han Sans JP"/>
              </a:rPr>
              <a:t>is</a:t>
            </a:r>
            <a:r>
              <a:rPr dirty="0" sz="1000" spc="-2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90">
                <a:solidFill>
                  <a:srgbClr val="111726"/>
                </a:solidFill>
                <a:latin typeface="Source Han Sans JP"/>
                <a:cs typeface="Source Han Sans JP"/>
              </a:rPr>
              <a:t>the</a:t>
            </a:r>
            <a:r>
              <a:rPr dirty="0" sz="1000" spc="-20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75">
                <a:solidFill>
                  <a:srgbClr val="111726"/>
                </a:solidFill>
                <a:latin typeface="Source Han Sans JP"/>
                <a:cs typeface="Source Han Sans JP"/>
              </a:rPr>
              <a:t>single</a:t>
            </a:r>
            <a:r>
              <a:rPr dirty="0" sz="1000" spc="-2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45">
                <a:solidFill>
                  <a:srgbClr val="111726"/>
                </a:solidFill>
                <a:latin typeface="Source Han Sans JP"/>
                <a:cs typeface="Source Han Sans JP"/>
              </a:rPr>
              <a:t>line:</a:t>
            </a:r>
            <a:r>
              <a:rPr dirty="0" sz="1000" spc="200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800" b="1">
                <a:solidFill>
                  <a:srgbClr val="111726"/>
                </a:solidFill>
                <a:latin typeface="Courier New"/>
                <a:cs typeface="Courier New"/>
              </a:rPr>
              <a:t>JWT</a:t>
            </a:r>
            <a:r>
              <a:rPr dirty="0" sz="800" spc="30" b="1">
                <a:solidFill>
                  <a:srgbClr val="111726"/>
                </a:solidFill>
                <a:latin typeface="Courier New"/>
                <a:cs typeface="Courier New"/>
              </a:rPr>
              <a:t> </a:t>
            </a:r>
            <a:r>
              <a:rPr dirty="0" sz="800" b="1">
                <a:solidFill>
                  <a:srgbClr val="111726"/>
                </a:solidFill>
                <a:latin typeface="Courier New"/>
                <a:cs typeface="Courier New"/>
              </a:rPr>
              <a:t>is</a:t>
            </a:r>
            <a:r>
              <a:rPr dirty="0" sz="800" spc="30" b="1">
                <a:solidFill>
                  <a:srgbClr val="111726"/>
                </a:solidFill>
                <a:latin typeface="Courier New"/>
                <a:cs typeface="Courier New"/>
              </a:rPr>
              <a:t> </a:t>
            </a:r>
            <a:r>
              <a:rPr dirty="0" sz="800" b="1">
                <a:solidFill>
                  <a:srgbClr val="111726"/>
                </a:solidFill>
                <a:latin typeface="Courier New"/>
                <a:cs typeface="Courier New"/>
              </a:rPr>
              <a:t>used</a:t>
            </a:r>
            <a:r>
              <a:rPr dirty="0" sz="800" spc="30" b="1">
                <a:solidFill>
                  <a:srgbClr val="111726"/>
                </a:solidFill>
                <a:latin typeface="Courier New"/>
                <a:cs typeface="Courier New"/>
              </a:rPr>
              <a:t> </a:t>
            </a:r>
            <a:r>
              <a:rPr dirty="0" sz="800" spc="-25" b="1">
                <a:solidFill>
                  <a:srgbClr val="111726"/>
                </a:solidFill>
                <a:latin typeface="Courier New"/>
                <a:cs typeface="Courier New"/>
              </a:rPr>
              <a:t>for </a:t>
            </a:r>
            <a:r>
              <a:rPr dirty="0" sz="800" b="1">
                <a:solidFill>
                  <a:srgbClr val="111726"/>
                </a:solidFill>
                <a:latin typeface="Courier New"/>
                <a:cs typeface="Courier New"/>
              </a:rPr>
              <a:t>authentication.</a:t>
            </a:r>
            <a:r>
              <a:rPr dirty="0" sz="800" spc="-20" b="1">
                <a:solidFill>
                  <a:srgbClr val="111726"/>
                </a:solidFill>
                <a:latin typeface="Courier New"/>
                <a:cs typeface="Courier New"/>
              </a:rPr>
              <a:t> </a:t>
            </a:r>
            <a:r>
              <a:rPr dirty="0" sz="1000" spc="-80">
                <a:solidFill>
                  <a:srgbClr val="111726"/>
                </a:solidFill>
                <a:latin typeface="Source Han Sans JP"/>
                <a:cs typeface="Source Han Sans JP"/>
              </a:rPr>
              <a:t>This</a:t>
            </a:r>
            <a:r>
              <a:rPr dirty="0" sz="1000" spc="-10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70">
                <a:solidFill>
                  <a:srgbClr val="111726"/>
                </a:solidFill>
                <a:latin typeface="Source Han Sans JP"/>
                <a:cs typeface="Source Han Sans JP"/>
              </a:rPr>
              <a:t>is</a:t>
            </a:r>
            <a:r>
              <a:rPr dirty="0" sz="1000" spc="-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90">
                <a:solidFill>
                  <a:srgbClr val="111726"/>
                </a:solidFill>
                <a:latin typeface="Source Han Sans JP"/>
                <a:cs typeface="Source Han Sans JP"/>
              </a:rPr>
              <a:t>a</a:t>
            </a:r>
            <a:r>
              <a:rPr dirty="0" sz="1000" spc="-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80">
                <a:solidFill>
                  <a:srgbClr val="111726"/>
                </a:solidFill>
                <a:latin typeface="Source Han Sans JP"/>
                <a:cs typeface="Source Han Sans JP"/>
              </a:rPr>
              <a:t>correct,</a:t>
            </a:r>
            <a:r>
              <a:rPr dirty="0" sz="1000" spc="-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80">
                <a:solidFill>
                  <a:srgbClr val="111726"/>
                </a:solidFill>
                <a:latin typeface="Source Han Sans JP"/>
                <a:cs typeface="Source Han Sans JP"/>
              </a:rPr>
              <a:t>well-</a:t>
            </a:r>
            <a:r>
              <a:rPr dirty="0" sz="1000" spc="-95">
                <a:solidFill>
                  <a:srgbClr val="111726"/>
                </a:solidFill>
                <a:latin typeface="Source Han Sans JP"/>
                <a:cs typeface="Source Han Sans JP"/>
              </a:rPr>
              <a:t>grounded</a:t>
            </a:r>
            <a:r>
              <a:rPr dirty="0" sz="1000" spc="-10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85">
                <a:solidFill>
                  <a:srgbClr val="111726"/>
                </a:solidFill>
                <a:latin typeface="Source Han Sans JP"/>
                <a:cs typeface="Source Han Sans JP"/>
              </a:rPr>
              <a:t>answer:</a:t>
            </a:r>
            <a:r>
              <a:rPr dirty="0" sz="1000" spc="-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65">
                <a:solidFill>
                  <a:srgbClr val="111726"/>
                </a:solidFill>
                <a:latin typeface="Source Han Sans JP"/>
                <a:cs typeface="Source Han Sans JP"/>
              </a:rPr>
              <a:t>it's</a:t>
            </a:r>
            <a:r>
              <a:rPr dirty="0" sz="1000" spc="-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90">
                <a:solidFill>
                  <a:srgbClr val="111726"/>
                </a:solidFill>
                <a:latin typeface="Source Han Sans JP"/>
                <a:cs typeface="Source Han Sans JP"/>
              </a:rPr>
              <a:t>concise</a:t>
            </a:r>
            <a:r>
              <a:rPr dirty="0" sz="1000" spc="-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95">
                <a:solidFill>
                  <a:srgbClr val="111726"/>
                </a:solidFill>
                <a:latin typeface="Source Han Sans JP"/>
                <a:cs typeface="Source Han Sans JP"/>
              </a:rPr>
              <a:t>and</a:t>
            </a:r>
            <a:r>
              <a:rPr dirty="0" sz="1000" spc="-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80">
                <a:solidFill>
                  <a:srgbClr val="111726"/>
                </a:solidFill>
                <a:latin typeface="Source Han Sans JP"/>
                <a:cs typeface="Source Han Sans JP"/>
              </a:rPr>
              <a:t>pulled</a:t>
            </a:r>
            <a:r>
              <a:rPr dirty="0" sz="1000" spc="-10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75">
                <a:solidFill>
                  <a:srgbClr val="111726"/>
                </a:solidFill>
                <a:latin typeface="Source Han Sans JP"/>
                <a:cs typeface="Source Han Sans JP"/>
              </a:rPr>
              <a:t>directly</a:t>
            </a:r>
            <a:r>
              <a:rPr dirty="0" sz="1000" spc="-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90">
                <a:solidFill>
                  <a:srgbClr val="111726"/>
                </a:solidFill>
                <a:latin typeface="Source Han Sans JP"/>
                <a:cs typeface="Source Han Sans JP"/>
              </a:rPr>
              <a:t>from</a:t>
            </a:r>
            <a:r>
              <a:rPr dirty="0" sz="1000" spc="-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90">
                <a:solidFill>
                  <a:srgbClr val="111726"/>
                </a:solidFill>
                <a:latin typeface="Source Han Sans JP"/>
                <a:cs typeface="Source Han Sans JP"/>
              </a:rPr>
              <a:t>the</a:t>
            </a:r>
            <a:r>
              <a:rPr dirty="0" sz="1000" spc="-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80">
                <a:solidFill>
                  <a:srgbClr val="111726"/>
                </a:solidFill>
                <a:latin typeface="Source Han Sans JP"/>
                <a:cs typeface="Source Han Sans JP"/>
              </a:rPr>
              <a:t>retrieved</a:t>
            </a:r>
            <a:r>
              <a:rPr dirty="0" sz="1000" spc="-10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50">
                <a:solidFill>
                  <a:srgbClr val="111726"/>
                </a:solidFill>
                <a:latin typeface="Source Han Sans JP"/>
                <a:cs typeface="Source Han Sans JP"/>
              </a:rPr>
              <a:t>context</a:t>
            </a:r>
            <a:r>
              <a:rPr dirty="0" sz="1000" spc="500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60">
                <a:solidFill>
                  <a:srgbClr val="111726"/>
                </a:solidFill>
                <a:latin typeface="Source Han Sans JP"/>
                <a:cs typeface="Source Han Sans JP"/>
              </a:rPr>
              <a:t>(</a:t>
            </a:r>
            <a:r>
              <a:rPr dirty="0" sz="1000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800">
                <a:solidFill>
                  <a:srgbClr val="111726"/>
                </a:solidFill>
                <a:latin typeface="Courier New"/>
                <a:cs typeface="Courier New"/>
              </a:rPr>
              <a:t>Authentication</a:t>
            </a:r>
            <a:r>
              <a:rPr dirty="0" sz="800" spc="35">
                <a:solidFill>
                  <a:srgbClr val="111726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111726"/>
                </a:solidFill>
                <a:latin typeface="Courier New"/>
                <a:cs typeface="Courier New"/>
              </a:rPr>
              <a:t>is</a:t>
            </a:r>
            <a:r>
              <a:rPr dirty="0" sz="800" spc="35">
                <a:solidFill>
                  <a:srgbClr val="111726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111726"/>
                </a:solidFill>
                <a:latin typeface="Courier New"/>
                <a:cs typeface="Courier New"/>
              </a:rPr>
              <a:t>handled</a:t>
            </a:r>
            <a:r>
              <a:rPr dirty="0" sz="800" spc="35">
                <a:solidFill>
                  <a:srgbClr val="111726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111726"/>
                </a:solidFill>
                <a:latin typeface="Courier New"/>
                <a:cs typeface="Courier New"/>
              </a:rPr>
              <a:t>using</a:t>
            </a:r>
            <a:r>
              <a:rPr dirty="0" sz="800" spc="40">
                <a:solidFill>
                  <a:srgbClr val="111726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111726"/>
                </a:solidFill>
                <a:latin typeface="Courier New"/>
                <a:cs typeface="Courier New"/>
              </a:rPr>
              <a:t>JWT.</a:t>
            </a:r>
            <a:r>
              <a:rPr dirty="0" sz="800" spc="-50">
                <a:solidFill>
                  <a:srgbClr val="111726"/>
                </a:solidFill>
                <a:latin typeface="Courier New"/>
                <a:cs typeface="Courier New"/>
              </a:rPr>
              <a:t> </a:t>
            </a:r>
            <a:r>
              <a:rPr dirty="0" sz="1000">
                <a:solidFill>
                  <a:srgbClr val="111726"/>
                </a:solidFill>
                <a:latin typeface="Source Han Sans JP"/>
                <a:cs typeface="Source Han Sans JP"/>
              </a:rPr>
              <a:t>/</a:t>
            </a:r>
            <a:r>
              <a:rPr dirty="0" sz="1000" spc="210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800">
                <a:solidFill>
                  <a:srgbClr val="111726"/>
                </a:solidFill>
                <a:latin typeface="Courier New"/>
                <a:cs typeface="Courier New"/>
              </a:rPr>
              <a:t>JWT</a:t>
            </a:r>
            <a:r>
              <a:rPr dirty="0" sz="800" spc="35">
                <a:solidFill>
                  <a:srgbClr val="111726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111726"/>
                </a:solidFill>
                <a:latin typeface="Courier New"/>
                <a:cs typeface="Courier New"/>
              </a:rPr>
              <a:t>Authentication</a:t>
            </a:r>
            <a:r>
              <a:rPr dirty="0" sz="800" spc="-254">
                <a:solidFill>
                  <a:srgbClr val="111726"/>
                </a:solidFill>
                <a:latin typeface="Courier New"/>
                <a:cs typeface="Courier New"/>
              </a:rPr>
              <a:t> </a:t>
            </a:r>
            <a:r>
              <a:rPr dirty="0" sz="1000" spc="-55">
                <a:solidFill>
                  <a:srgbClr val="111726"/>
                </a:solidFill>
                <a:latin typeface="Source Han Sans JP"/>
                <a:cs typeface="Source Han Sans JP"/>
              </a:rPr>
              <a:t>),</a:t>
            </a:r>
            <a:r>
              <a:rPr dirty="0" sz="1000" spc="-20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85">
                <a:solidFill>
                  <a:srgbClr val="111726"/>
                </a:solidFill>
                <a:latin typeface="Source Han Sans JP"/>
                <a:cs typeface="Source Han Sans JP"/>
              </a:rPr>
              <a:t>with</a:t>
            </a:r>
            <a:r>
              <a:rPr dirty="0" sz="1000" spc="-20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105">
                <a:solidFill>
                  <a:srgbClr val="111726"/>
                </a:solidFill>
                <a:latin typeface="Source Han Sans JP"/>
                <a:cs typeface="Source Han Sans JP"/>
              </a:rPr>
              <a:t>no</a:t>
            </a:r>
            <a:r>
              <a:rPr dirty="0" sz="1000" spc="-20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85">
                <a:solidFill>
                  <a:srgbClr val="111726"/>
                </a:solidFill>
                <a:latin typeface="Source Han Sans JP"/>
                <a:cs typeface="Source Han Sans JP"/>
              </a:rPr>
              <a:t>hallucinated</a:t>
            </a:r>
            <a:r>
              <a:rPr dirty="0" sz="1000" spc="-20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80">
                <a:solidFill>
                  <a:srgbClr val="111726"/>
                </a:solidFill>
                <a:latin typeface="Source Han Sans JP"/>
                <a:cs typeface="Source Han Sans JP"/>
              </a:rPr>
              <a:t>details</a:t>
            </a:r>
            <a:r>
              <a:rPr dirty="0" sz="1000" spc="-20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10">
                <a:solidFill>
                  <a:srgbClr val="111726"/>
                </a:solidFill>
                <a:latin typeface="Source Han Sans JP"/>
                <a:cs typeface="Source Han Sans JP"/>
              </a:rPr>
              <a:t>added.</a:t>
            </a:r>
            <a:endParaRPr sz="1000">
              <a:latin typeface="Source Han Sans JP"/>
              <a:cs typeface="Source Han Sans JP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67402" y="3410625"/>
            <a:ext cx="2373630" cy="2927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50" spc="-175" b="1">
                <a:solidFill>
                  <a:srgbClr val="111726"/>
                </a:solidFill>
                <a:latin typeface="Source Han Sans JP"/>
                <a:cs typeface="Source Han Sans JP"/>
              </a:rPr>
              <a:t>Cross-Project</a:t>
            </a:r>
            <a:r>
              <a:rPr dirty="0" sz="1750" spc="25" b="1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750" spc="-180" b="1">
                <a:solidFill>
                  <a:srgbClr val="111726"/>
                </a:solidFill>
                <a:latin typeface="Source Han Sans JP"/>
                <a:cs typeface="Source Han Sans JP"/>
              </a:rPr>
              <a:t>Comparison</a:t>
            </a:r>
            <a:endParaRPr sz="1750">
              <a:latin typeface="Source Han Sans JP"/>
              <a:cs typeface="Source Han Sans JP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873335" y="4508505"/>
            <a:ext cx="526415" cy="141605"/>
          </a:xfrm>
          <a:custGeom>
            <a:avLst/>
            <a:gdLst/>
            <a:ahLst/>
            <a:cxnLst/>
            <a:rect l="l" t="t" r="r" b="b"/>
            <a:pathLst>
              <a:path w="526414" h="141604">
                <a:moveTo>
                  <a:pt x="502442" y="141543"/>
                </a:moveTo>
                <a:lnTo>
                  <a:pt x="23389" y="141543"/>
                </a:lnTo>
                <a:lnTo>
                  <a:pt x="19950" y="140862"/>
                </a:lnTo>
                <a:lnTo>
                  <a:pt x="0" y="118157"/>
                </a:lnTo>
                <a:lnTo>
                  <a:pt x="0" y="114604"/>
                </a:lnTo>
                <a:lnTo>
                  <a:pt x="0" y="23359"/>
                </a:lnTo>
                <a:lnTo>
                  <a:pt x="23389" y="0"/>
                </a:lnTo>
                <a:lnTo>
                  <a:pt x="502442" y="0"/>
                </a:lnTo>
                <a:lnTo>
                  <a:pt x="525831" y="23359"/>
                </a:lnTo>
                <a:lnTo>
                  <a:pt x="525831" y="118157"/>
                </a:lnTo>
                <a:lnTo>
                  <a:pt x="505881" y="140862"/>
                </a:lnTo>
                <a:lnTo>
                  <a:pt x="502442" y="141543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2722756" y="4508505"/>
            <a:ext cx="647700" cy="141605"/>
          </a:xfrm>
          <a:custGeom>
            <a:avLst/>
            <a:gdLst/>
            <a:ahLst/>
            <a:cxnLst/>
            <a:rect l="l" t="t" r="r" b="b"/>
            <a:pathLst>
              <a:path w="647700" h="141604">
                <a:moveTo>
                  <a:pt x="623787" y="141543"/>
                </a:moveTo>
                <a:lnTo>
                  <a:pt x="23389" y="141543"/>
                </a:lnTo>
                <a:lnTo>
                  <a:pt x="19949" y="140862"/>
                </a:lnTo>
                <a:lnTo>
                  <a:pt x="0" y="118157"/>
                </a:lnTo>
                <a:lnTo>
                  <a:pt x="0" y="114604"/>
                </a:lnTo>
                <a:lnTo>
                  <a:pt x="0" y="23359"/>
                </a:lnTo>
                <a:lnTo>
                  <a:pt x="23389" y="0"/>
                </a:lnTo>
                <a:lnTo>
                  <a:pt x="623787" y="0"/>
                </a:lnTo>
                <a:lnTo>
                  <a:pt x="647177" y="23359"/>
                </a:lnTo>
                <a:lnTo>
                  <a:pt x="647177" y="118157"/>
                </a:lnTo>
                <a:lnTo>
                  <a:pt x="627227" y="140862"/>
                </a:lnTo>
                <a:lnTo>
                  <a:pt x="623787" y="141543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13784" y="4966923"/>
            <a:ext cx="229208" cy="141516"/>
          </a:xfrm>
          <a:prstGeom prst="rect">
            <a:avLst/>
          </a:prstGeom>
        </p:spPr>
      </p:pic>
      <p:sp>
        <p:nvSpPr>
          <p:cNvPr id="14" name="object 14"/>
          <p:cNvSpPr/>
          <p:nvPr/>
        </p:nvSpPr>
        <p:spPr>
          <a:xfrm>
            <a:off x="2722753" y="5142165"/>
            <a:ext cx="1186815" cy="316865"/>
          </a:xfrm>
          <a:custGeom>
            <a:avLst/>
            <a:gdLst/>
            <a:ahLst/>
            <a:cxnLst/>
            <a:rect l="l" t="t" r="r" b="b"/>
            <a:pathLst>
              <a:path w="1186814" h="316864">
                <a:moveTo>
                  <a:pt x="384263" y="198653"/>
                </a:moveTo>
                <a:lnTo>
                  <a:pt x="383578" y="195199"/>
                </a:lnTo>
                <a:lnTo>
                  <a:pt x="380834" y="188595"/>
                </a:lnTo>
                <a:lnTo>
                  <a:pt x="378891" y="185674"/>
                </a:lnTo>
                <a:lnTo>
                  <a:pt x="376364" y="183172"/>
                </a:lnTo>
                <a:lnTo>
                  <a:pt x="373837" y="180606"/>
                </a:lnTo>
                <a:lnTo>
                  <a:pt x="370916" y="178663"/>
                </a:lnTo>
                <a:lnTo>
                  <a:pt x="364312" y="175983"/>
                </a:lnTo>
                <a:lnTo>
                  <a:pt x="360870" y="175272"/>
                </a:lnTo>
                <a:lnTo>
                  <a:pt x="0" y="175272"/>
                </a:lnTo>
                <a:lnTo>
                  <a:pt x="0" y="316826"/>
                </a:lnTo>
                <a:lnTo>
                  <a:pt x="360870" y="316826"/>
                </a:lnTo>
                <a:lnTo>
                  <a:pt x="384263" y="293446"/>
                </a:lnTo>
                <a:lnTo>
                  <a:pt x="384263" y="198653"/>
                </a:lnTo>
                <a:close/>
              </a:path>
              <a:path w="1186814" h="316864">
                <a:moveTo>
                  <a:pt x="1186484" y="0"/>
                </a:moveTo>
                <a:lnTo>
                  <a:pt x="57099" y="0"/>
                </a:lnTo>
                <a:lnTo>
                  <a:pt x="53657" y="698"/>
                </a:lnTo>
                <a:lnTo>
                  <a:pt x="47040" y="3390"/>
                </a:lnTo>
                <a:lnTo>
                  <a:pt x="44132" y="5334"/>
                </a:lnTo>
                <a:lnTo>
                  <a:pt x="41605" y="7886"/>
                </a:lnTo>
                <a:lnTo>
                  <a:pt x="39077" y="10388"/>
                </a:lnTo>
                <a:lnTo>
                  <a:pt x="37122" y="13322"/>
                </a:lnTo>
                <a:lnTo>
                  <a:pt x="34391" y="19926"/>
                </a:lnTo>
                <a:lnTo>
                  <a:pt x="33705" y="23380"/>
                </a:lnTo>
                <a:lnTo>
                  <a:pt x="33705" y="118148"/>
                </a:lnTo>
                <a:lnTo>
                  <a:pt x="57099" y="141566"/>
                </a:lnTo>
                <a:lnTo>
                  <a:pt x="1186484" y="141566"/>
                </a:lnTo>
                <a:lnTo>
                  <a:pt x="1186484" y="0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1529522" y="6059035"/>
            <a:ext cx="998219" cy="141605"/>
          </a:xfrm>
          <a:custGeom>
            <a:avLst/>
            <a:gdLst/>
            <a:ahLst/>
            <a:cxnLst/>
            <a:rect l="l" t="t" r="r" b="b"/>
            <a:pathLst>
              <a:path w="998219" h="141604">
                <a:moveTo>
                  <a:pt x="974342" y="141543"/>
                </a:moveTo>
                <a:lnTo>
                  <a:pt x="23389" y="141543"/>
                </a:lnTo>
                <a:lnTo>
                  <a:pt x="19950" y="140835"/>
                </a:lnTo>
                <a:lnTo>
                  <a:pt x="0" y="118157"/>
                </a:lnTo>
                <a:lnTo>
                  <a:pt x="0" y="114604"/>
                </a:lnTo>
                <a:lnTo>
                  <a:pt x="0" y="23359"/>
                </a:lnTo>
                <a:lnTo>
                  <a:pt x="23389" y="0"/>
                </a:lnTo>
                <a:lnTo>
                  <a:pt x="974342" y="0"/>
                </a:lnTo>
                <a:lnTo>
                  <a:pt x="997732" y="23359"/>
                </a:lnTo>
                <a:lnTo>
                  <a:pt x="997732" y="118157"/>
                </a:lnTo>
                <a:lnTo>
                  <a:pt x="977781" y="140835"/>
                </a:lnTo>
                <a:lnTo>
                  <a:pt x="974342" y="141543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2722756" y="6059035"/>
            <a:ext cx="998219" cy="141605"/>
          </a:xfrm>
          <a:custGeom>
            <a:avLst/>
            <a:gdLst/>
            <a:ahLst/>
            <a:cxnLst/>
            <a:rect l="l" t="t" r="r" b="b"/>
            <a:pathLst>
              <a:path w="998220" h="141604">
                <a:moveTo>
                  <a:pt x="974342" y="141543"/>
                </a:moveTo>
                <a:lnTo>
                  <a:pt x="23389" y="141543"/>
                </a:lnTo>
                <a:lnTo>
                  <a:pt x="19949" y="140835"/>
                </a:lnTo>
                <a:lnTo>
                  <a:pt x="0" y="118157"/>
                </a:lnTo>
                <a:lnTo>
                  <a:pt x="0" y="114604"/>
                </a:lnTo>
                <a:lnTo>
                  <a:pt x="0" y="23359"/>
                </a:lnTo>
                <a:lnTo>
                  <a:pt x="23389" y="0"/>
                </a:lnTo>
                <a:lnTo>
                  <a:pt x="974342" y="0"/>
                </a:lnTo>
                <a:lnTo>
                  <a:pt x="997732" y="23359"/>
                </a:lnTo>
                <a:lnTo>
                  <a:pt x="997732" y="118157"/>
                </a:lnTo>
                <a:lnTo>
                  <a:pt x="977782" y="140835"/>
                </a:lnTo>
                <a:lnTo>
                  <a:pt x="974342" y="141543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4199130" y="6059035"/>
            <a:ext cx="1004569" cy="141605"/>
          </a:xfrm>
          <a:custGeom>
            <a:avLst/>
            <a:gdLst/>
            <a:ahLst/>
            <a:cxnLst/>
            <a:rect l="l" t="t" r="r" b="b"/>
            <a:pathLst>
              <a:path w="1004570" h="141604">
                <a:moveTo>
                  <a:pt x="981083" y="141543"/>
                </a:moveTo>
                <a:lnTo>
                  <a:pt x="23390" y="141543"/>
                </a:lnTo>
                <a:lnTo>
                  <a:pt x="19949" y="140835"/>
                </a:lnTo>
                <a:lnTo>
                  <a:pt x="0" y="118157"/>
                </a:lnTo>
                <a:lnTo>
                  <a:pt x="0" y="114604"/>
                </a:lnTo>
                <a:lnTo>
                  <a:pt x="0" y="23359"/>
                </a:lnTo>
                <a:lnTo>
                  <a:pt x="23390" y="0"/>
                </a:lnTo>
                <a:lnTo>
                  <a:pt x="981083" y="0"/>
                </a:lnTo>
                <a:lnTo>
                  <a:pt x="1004473" y="23359"/>
                </a:lnTo>
                <a:lnTo>
                  <a:pt x="1004473" y="118157"/>
                </a:lnTo>
                <a:lnTo>
                  <a:pt x="984523" y="140835"/>
                </a:lnTo>
                <a:lnTo>
                  <a:pt x="981083" y="141543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1529522" y="6524194"/>
            <a:ext cx="762000" cy="141605"/>
          </a:xfrm>
          <a:custGeom>
            <a:avLst/>
            <a:gdLst/>
            <a:ahLst/>
            <a:cxnLst/>
            <a:rect l="l" t="t" r="r" b="b"/>
            <a:pathLst>
              <a:path w="762000" h="141604">
                <a:moveTo>
                  <a:pt x="738392" y="141543"/>
                </a:moveTo>
                <a:lnTo>
                  <a:pt x="23389" y="141543"/>
                </a:lnTo>
                <a:lnTo>
                  <a:pt x="19950" y="140835"/>
                </a:lnTo>
                <a:lnTo>
                  <a:pt x="0" y="118157"/>
                </a:lnTo>
                <a:lnTo>
                  <a:pt x="0" y="114604"/>
                </a:lnTo>
                <a:lnTo>
                  <a:pt x="0" y="23359"/>
                </a:lnTo>
                <a:lnTo>
                  <a:pt x="23389" y="0"/>
                </a:lnTo>
                <a:lnTo>
                  <a:pt x="738392" y="0"/>
                </a:lnTo>
                <a:lnTo>
                  <a:pt x="761781" y="23359"/>
                </a:lnTo>
                <a:lnTo>
                  <a:pt x="761781" y="118157"/>
                </a:lnTo>
                <a:lnTo>
                  <a:pt x="741831" y="140835"/>
                </a:lnTo>
                <a:lnTo>
                  <a:pt x="738392" y="141543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4199130" y="6524194"/>
            <a:ext cx="762000" cy="141605"/>
          </a:xfrm>
          <a:custGeom>
            <a:avLst/>
            <a:gdLst/>
            <a:ahLst/>
            <a:cxnLst/>
            <a:rect l="l" t="t" r="r" b="b"/>
            <a:pathLst>
              <a:path w="762000" h="141604">
                <a:moveTo>
                  <a:pt x="738392" y="141543"/>
                </a:moveTo>
                <a:lnTo>
                  <a:pt x="23390" y="141543"/>
                </a:lnTo>
                <a:lnTo>
                  <a:pt x="19949" y="140835"/>
                </a:lnTo>
                <a:lnTo>
                  <a:pt x="0" y="118157"/>
                </a:lnTo>
                <a:lnTo>
                  <a:pt x="0" y="114604"/>
                </a:lnTo>
                <a:lnTo>
                  <a:pt x="0" y="23359"/>
                </a:lnTo>
                <a:lnTo>
                  <a:pt x="23390" y="0"/>
                </a:lnTo>
                <a:lnTo>
                  <a:pt x="738392" y="0"/>
                </a:lnTo>
                <a:lnTo>
                  <a:pt x="761782" y="23359"/>
                </a:lnTo>
                <a:lnTo>
                  <a:pt x="761782" y="118157"/>
                </a:lnTo>
                <a:lnTo>
                  <a:pt x="741831" y="140835"/>
                </a:lnTo>
                <a:lnTo>
                  <a:pt x="738392" y="141543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1772214" y="6982611"/>
            <a:ext cx="532765" cy="141605"/>
          </a:xfrm>
          <a:custGeom>
            <a:avLst/>
            <a:gdLst/>
            <a:ahLst/>
            <a:cxnLst/>
            <a:rect l="l" t="t" r="r" b="b"/>
            <a:pathLst>
              <a:path w="532764" h="141604">
                <a:moveTo>
                  <a:pt x="509183" y="141543"/>
                </a:moveTo>
                <a:lnTo>
                  <a:pt x="23389" y="141543"/>
                </a:lnTo>
                <a:lnTo>
                  <a:pt x="19950" y="140862"/>
                </a:lnTo>
                <a:lnTo>
                  <a:pt x="0" y="118130"/>
                </a:lnTo>
                <a:lnTo>
                  <a:pt x="0" y="114604"/>
                </a:lnTo>
                <a:lnTo>
                  <a:pt x="0" y="23359"/>
                </a:lnTo>
                <a:lnTo>
                  <a:pt x="23389" y="0"/>
                </a:lnTo>
                <a:lnTo>
                  <a:pt x="509183" y="0"/>
                </a:lnTo>
                <a:lnTo>
                  <a:pt x="532573" y="23359"/>
                </a:lnTo>
                <a:lnTo>
                  <a:pt x="532573" y="118130"/>
                </a:lnTo>
                <a:lnTo>
                  <a:pt x="512623" y="140862"/>
                </a:lnTo>
                <a:lnTo>
                  <a:pt x="509183" y="141543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2972189" y="6982611"/>
            <a:ext cx="526415" cy="141605"/>
          </a:xfrm>
          <a:custGeom>
            <a:avLst/>
            <a:gdLst/>
            <a:ahLst/>
            <a:cxnLst/>
            <a:rect l="l" t="t" r="r" b="b"/>
            <a:pathLst>
              <a:path w="526414" h="141604">
                <a:moveTo>
                  <a:pt x="502441" y="141543"/>
                </a:moveTo>
                <a:lnTo>
                  <a:pt x="23389" y="141543"/>
                </a:lnTo>
                <a:lnTo>
                  <a:pt x="19950" y="140862"/>
                </a:lnTo>
                <a:lnTo>
                  <a:pt x="0" y="118130"/>
                </a:lnTo>
                <a:lnTo>
                  <a:pt x="0" y="114604"/>
                </a:lnTo>
                <a:lnTo>
                  <a:pt x="0" y="23359"/>
                </a:lnTo>
                <a:lnTo>
                  <a:pt x="23389" y="0"/>
                </a:lnTo>
                <a:lnTo>
                  <a:pt x="502441" y="0"/>
                </a:lnTo>
                <a:lnTo>
                  <a:pt x="525831" y="23359"/>
                </a:lnTo>
                <a:lnTo>
                  <a:pt x="525831" y="118130"/>
                </a:lnTo>
                <a:lnTo>
                  <a:pt x="505881" y="140862"/>
                </a:lnTo>
                <a:lnTo>
                  <a:pt x="502441" y="141543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1529522" y="8074724"/>
            <a:ext cx="640715" cy="141605"/>
          </a:xfrm>
          <a:custGeom>
            <a:avLst/>
            <a:gdLst/>
            <a:ahLst/>
            <a:cxnLst/>
            <a:rect l="l" t="t" r="r" b="b"/>
            <a:pathLst>
              <a:path w="640714" h="141604">
                <a:moveTo>
                  <a:pt x="617046" y="141543"/>
                </a:moveTo>
                <a:lnTo>
                  <a:pt x="23389" y="141543"/>
                </a:lnTo>
                <a:lnTo>
                  <a:pt x="19950" y="140862"/>
                </a:lnTo>
                <a:lnTo>
                  <a:pt x="0" y="118157"/>
                </a:lnTo>
                <a:lnTo>
                  <a:pt x="0" y="114604"/>
                </a:lnTo>
                <a:lnTo>
                  <a:pt x="0" y="23359"/>
                </a:lnTo>
                <a:lnTo>
                  <a:pt x="23389" y="0"/>
                </a:lnTo>
                <a:lnTo>
                  <a:pt x="617046" y="0"/>
                </a:lnTo>
                <a:lnTo>
                  <a:pt x="640436" y="23359"/>
                </a:lnTo>
                <a:lnTo>
                  <a:pt x="640436" y="118157"/>
                </a:lnTo>
                <a:lnTo>
                  <a:pt x="620486" y="140862"/>
                </a:lnTo>
                <a:lnTo>
                  <a:pt x="617046" y="141543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2722756" y="8074724"/>
            <a:ext cx="647700" cy="141605"/>
          </a:xfrm>
          <a:custGeom>
            <a:avLst/>
            <a:gdLst/>
            <a:ahLst/>
            <a:cxnLst/>
            <a:rect l="l" t="t" r="r" b="b"/>
            <a:pathLst>
              <a:path w="647700" h="141604">
                <a:moveTo>
                  <a:pt x="623787" y="141543"/>
                </a:moveTo>
                <a:lnTo>
                  <a:pt x="23389" y="141543"/>
                </a:lnTo>
                <a:lnTo>
                  <a:pt x="19949" y="140862"/>
                </a:lnTo>
                <a:lnTo>
                  <a:pt x="0" y="118157"/>
                </a:lnTo>
                <a:lnTo>
                  <a:pt x="0" y="114604"/>
                </a:lnTo>
                <a:lnTo>
                  <a:pt x="0" y="23359"/>
                </a:lnTo>
                <a:lnTo>
                  <a:pt x="23389" y="0"/>
                </a:lnTo>
                <a:lnTo>
                  <a:pt x="623787" y="0"/>
                </a:lnTo>
                <a:lnTo>
                  <a:pt x="647177" y="23359"/>
                </a:lnTo>
                <a:lnTo>
                  <a:pt x="647177" y="118157"/>
                </a:lnTo>
                <a:lnTo>
                  <a:pt x="627227" y="140862"/>
                </a:lnTo>
                <a:lnTo>
                  <a:pt x="623787" y="141543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24" name="object 24"/>
          <p:cNvGrpSpPr/>
          <p:nvPr/>
        </p:nvGrpSpPr>
        <p:grpSpPr>
          <a:xfrm>
            <a:off x="4199130" y="8074695"/>
            <a:ext cx="2521585" cy="492759"/>
            <a:chOff x="4199130" y="8074695"/>
            <a:chExt cx="2521585" cy="492759"/>
          </a:xfrm>
        </p:grpSpPr>
        <p:pic>
          <p:nvPicPr>
            <p:cNvPr id="25" name="object 2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154146" y="8074695"/>
              <a:ext cx="208984" cy="141568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4199128" y="8249957"/>
              <a:ext cx="2521585" cy="316865"/>
            </a:xfrm>
            <a:custGeom>
              <a:avLst/>
              <a:gdLst/>
              <a:ahLst/>
              <a:cxnLst/>
              <a:rect l="l" t="t" r="r" b="b"/>
              <a:pathLst>
                <a:path w="2521584" h="316865">
                  <a:moveTo>
                    <a:pt x="498856" y="198666"/>
                  </a:moveTo>
                  <a:lnTo>
                    <a:pt x="498182" y="195211"/>
                  </a:lnTo>
                  <a:lnTo>
                    <a:pt x="495439" y="188633"/>
                  </a:lnTo>
                  <a:lnTo>
                    <a:pt x="493496" y="185699"/>
                  </a:lnTo>
                  <a:lnTo>
                    <a:pt x="490969" y="183197"/>
                  </a:lnTo>
                  <a:lnTo>
                    <a:pt x="488429" y="180644"/>
                  </a:lnTo>
                  <a:lnTo>
                    <a:pt x="485521" y="178701"/>
                  </a:lnTo>
                  <a:lnTo>
                    <a:pt x="478917" y="175983"/>
                  </a:lnTo>
                  <a:lnTo>
                    <a:pt x="475475" y="175285"/>
                  </a:lnTo>
                  <a:lnTo>
                    <a:pt x="0" y="175285"/>
                  </a:lnTo>
                  <a:lnTo>
                    <a:pt x="0" y="316852"/>
                  </a:lnTo>
                  <a:lnTo>
                    <a:pt x="475475" y="316852"/>
                  </a:lnTo>
                  <a:lnTo>
                    <a:pt x="498856" y="293458"/>
                  </a:lnTo>
                  <a:lnTo>
                    <a:pt x="498856" y="198666"/>
                  </a:lnTo>
                  <a:close/>
                </a:path>
                <a:path w="2521584" h="316865">
                  <a:moveTo>
                    <a:pt x="2251633" y="0"/>
                  </a:moveTo>
                  <a:lnTo>
                    <a:pt x="0" y="0"/>
                  </a:lnTo>
                  <a:lnTo>
                    <a:pt x="0" y="141566"/>
                  </a:lnTo>
                  <a:lnTo>
                    <a:pt x="2251633" y="141566"/>
                  </a:lnTo>
                  <a:lnTo>
                    <a:pt x="2251633" y="0"/>
                  </a:lnTo>
                  <a:close/>
                </a:path>
                <a:path w="2521584" h="316865">
                  <a:moveTo>
                    <a:pt x="2521293" y="198666"/>
                  </a:moveTo>
                  <a:lnTo>
                    <a:pt x="2497899" y="175310"/>
                  </a:lnTo>
                  <a:lnTo>
                    <a:pt x="1897507" y="175310"/>
                  </a:lnTo>
                  <a:lnTo>
                    <a:pt x="1874113" y="198666"/>
                  </a:lnTo>
                  <a:lnTo>
                    <a:pt x="1874113" y="289915"/>
                  </a:lnTo>
                  <a:lnTo>
                    <a:pt x="1874113" y="293458"/>
                  </a:lnTo>
                  <a:lnTo>
                    <a:pt x="1897507" y="316852"/>
                  </a:lnTo>
                  <a:lnTo>
                    <a:pt x="2497899" y="316852"/>
                  </a:lnTo>
                  <a:lnTo>
                    <a:pt x="2521293" y="293458"/>
                  </a:lnTo>
                  <a:lnTo>
                    <a:pt x="2521293" y="198666"/>
                  </a:lnTo>
                  <a:close/>
                </a:path>
              </a:pathLst>
            </a:custGeom>
            <a:solidFill>
              <a:srgbClr val="F4F5F6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7" name="object 27"/>
          <p:cNvSpPr/>
          <p:nvPr/>
        </p:nvSpPr>
        <p:spPr>
          <a:xfrm>
            <a:off x="4617099" y="8883696"/>
            <a:ext cx="1065530" cy="141605"/>
          </a:xfrm>
          <a:custGeom>
            <a:avLst/>
            <a:gdLst/>
            <a:ahLst/>
            <a:cxnLst/>
            <a:rect l="l" t="t" r="r" b="b"/>
            <a:pathLst>
              <a:path w="1065529" h="141604">
                <a:moveTo>
                  <a:pt x="1041756" y="141543"/>
                </a:moveTo>
                <a:lnTo>
                  <a:pt x="23390" y="141543"/>
                </a:lnTo>
                <a:lnTo>
                  <a:pt x="19950" y="140835"/>
                </a:lnTo>
                <a:lnTo>
                  <a:pt x="0" y="118130"/>
                </a:lnTo>
                <a:lnTo>
                  <a:pt x="0" y="114604"/>
                </a:lnTo>
                <a:lnTo>
                  <a:pt x="0" y="23359"/>
                </a:lnTo>
                <a:lnTo>
                  <a:pt x="23390" y="0"/>
                </a:lnTo>
                <a:lnTo>
                  <a:pt x="1041756" y="0"/>
                </a:lnTo>
                <a:lnTo>
                  <a:pt x="1065146" y="23359"/>
                </a:lnTo>
                <a:lnTo>
                  <a:pt x="1065146" y="118130"/>
                </a:lnTo>
                <a:lnTo>
                  <a:pt x="1045196" y="140835"/>
                </a:lnTo>
                <a:lnTo>
                  <a:pt x="1041756" y="141543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graphicFrame>
        <p:nvGraphicFramePr>
          <p:cNvPr id="28" name="object 28"/>
          <p:cNvGraphicFramePr>
            <a:graphicFrameLocks noGrp="1"/>
          </p:cNvGraphicFramePr>
          <p:nvPr/>
        </p:nvGraphicFramePr>
        <p:xfrm>
          <a:off x="680102" y="3800655"/>
          <a:ext cx="6278880" cy="52882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75335"/>
                <a:gridCol w="1193165"/>
                <a:gridCol w="1476375"/>
                <a:gridCol w="2750820"/>
              </a:tblGrid>
              <a:tr h="451484">
                <a:tc>
                  <a:txBody>
                    <a:bodyPr/>
                    <a:lstStyle/>
                    <a:p>
                      <a:pPr marL="70485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950" spc="-10" b="1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Aspect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64769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marL="68580" marR="441959">
                        <a:lnSpc>
                          <a:spcPct val="116399"/>
                        </a:lnSpc>
                        <a:spcBef>
                          <a:spcPts val="320"/>
                        </a:spcBef>
                      </a:pPr>
                      <a:r>
                        <a:rPr dirty="0" sz="950" spc="-95" b="1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PostgreSQL</a:t>
                      </a:r>
                      <a:r>
                        <a:rPr dirty="0" sz="950" spc="10" b="1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 b="1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+</a:t>
                      </a:r>
                      <a:r>
                        <a:rPr dirty="0" sz="950" spc="-10" b="1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pgvector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40640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marL="69850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950" spc="-20" b="1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Solr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64769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marL="71120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950" spc="-10" b="1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ChromaDB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64769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  <a:solidFill>
                      <a:srgbClr val="F7FAFB"/>
                    </a:solidFill>
                  </a:tcPr>
                </a:tc>
              </a:tr>
              <a:tr h="633095">
                <a:tc>
                  <a:txBody>
                    <a:bodyPr/>
                    <a:lstStyle/>
                    <a:p>
                      <a:pPr marL="70485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Vector</a:t>
                      </a:r>
                      <a:r>
                        <a:rPr dirty="0" sz="950" spc="-2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store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64769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 marR="144145">
                        <a:lnSpc>
                          <a:spcPct val="121100"/>
                        </a:lnSpc>
                        <a:spcBef>
                          <a:spcPts val="270"/>
                        </a:spcBef>
                      </a:pP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External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9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PostgreSQL</a:t>
                      </a:r>
                      <a:r>
                        <a:rPr dirty="0" sz="950" spc="50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5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server,</a:t>
                      </a:r>
                      <a:r>
                        <a:rPr dirty="0" sz="950" spc="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750" spc="-1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pgvector 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extension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34290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0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External</a:t>
                      </a:r>
                      <a:r>
                        <a:rPr dirty="0" sz="950" spc="-2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6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Solr</a:t>
                      </a:r>
                      <a:r>
                        <a:rPr dirty="0" sz="950" spc="-2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server,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  <a:p>
                      <a:pPr marL="9715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knn_vector</a:t>
                      </a:r>
                      <a:r>
                        <a:rPr dirty="0" sz="750" spc="25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900" spc="-20">
                          <a:solidFill>
                            <a:srgbClr val="111726"/>
                          </a:solidFill>
                          <a:latin typeface="Arial"/>
                          <a:cs typeface="Arial"/>
                        </a:rPr>
                        <a:t>ﬁ</a:t>
                      </a:r>
                      <a:r>
                        <a:rPr dirty="0" sz="950" spc="-2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eld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64769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120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950" spc="-6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In-</a:t>
                      </a:r>
                      <a:r>
                        <a:rPr dirty="0" sz="950" spc="-9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memory</a:t>
                      </a:r>
                      <a:r>
                        <a:rPr dirty="0" sz="95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6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/</a:t>
                      </a:r>
                      <a:r>
                        <a:rPr dirty="0" sz="950" spc="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9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embedded,</a:t>
                      </a:r>
                      <a:r>
                        <a:rPr dirty="0" sz="950" spc="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via</a:t>
                      </a:r>
                      <a:r>
                        <a:rPr dirty="0" sz="95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LangChain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64769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marL="70485" marR="285115">
                        <a:lnSpc>
                          <a:spcPct val="121100"/>
                        </a:lnSpc>
                        <a:spcBef>
                          <a:spcPts val="270"/>
                        </a:spcBef>
                      </a:pPr>
                      <a:r>
                        <a:rPr dirty="0" sz="950" spc="-9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Distance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metric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34290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Cosine</a:t>
                      </a:r>
                      <a:r>
                        <a:rPr dirty="0" sz="950" spc="-2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6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(</a:t>
                      </a:r>
                      <a:r>
                        <a:rPr dirty="0" sz="950" spc="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750" spc="-25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&lt;=&gt;</a:t>
                      </a:r>
                      <a:endParaRPr sz="750">
                        <a:latin typeface="Courier New"/>
                        <a:cs typeface="Courier New"/>
                      </a:endParaRPr>
                    </a:p>
                    <a:p>
                      <a:pPr marL="6858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operator)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64769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0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Cosine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  <a:p>
                      <a:pPr marL="69850" marR="212090">
                        <a:lnSpc>
                          <a:spcPct val="121100"/>
                        </a:lnSpc>
                      </a:pPr>
                      <a:r>
                        <a:rPr dirty="0" sz="95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(</a:t>
                      </a:r>
                      <a:r>
                        <a:rPr dirty="0" sz="950" spc="-5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750" spc="-1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similarityFunction: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cosine</a:t>
                      </a:r>
                      <a:r>
                        <a:rPr dirty="0" sz="750" spc="-185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950" spc="-5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)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64769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120" marR="403225">
                        <a:lnSpc>
                          <a:spcPct val="121100"/>
                        </a:lnSpc>
                        <a:spcBef>
                          <a:spcPts val="270"/>
                        </a:spcBef>
                      </a:pP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Default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9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Chroma</a:t>
                      </a:r>
                      <a:r>
                        <a:rPr dirty="0" sz="95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metric</a:t>
                      </a:r>
                      <a:r>
                        <a:rPr dirty="0" sz="95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(cosine,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via</a:t>
                      </a:r>
                      <a:r>
                        <a:rPr dirty="0" sz="95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LangChain's</a:t>
                      </a:r>
                      <a:r>
                        <a:rPr dirty="0" sz="950" spc="50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9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HuggingFace</a:t>
                      </a:r>
                      <a:r>
                        <a:rPr dirty="0" sz="950" spc="2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embeddings</a:t>
                      </a:r>
                      <a:r>
                        <a:rPr dirty="0" sz="950" spc="2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integration)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34290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</a:tr>
              <a:tr h="451484">
                <a:tc>
                  <a:txBody>
                    <a:bodyPr/>
                    <a:lstStyle/>
                    <a:p>
                      <a:pPr marL="70485" marR="114935">
                        <a:lnSpc>
                          <a:spcPct val="116399"/>
                        </a:lnSpc>
                        <a:spcBef>
                          <a:spcPts val="320"/>
                        </a:spcBef>
                      </a:pPr>
                      <a:r>
                        <a:rPr dirty="0" sz="950" spc="-9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Chunk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size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5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/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overlap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40640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850" spc="-35">
                          <a:solidFill>
                            <a:srgbClr val="111726"/>
                          </a:solidFill>
                          <a:latin typeface="Arial"/>
                          <a:cs typeface="Arial"/>
                        </a:rPr>
                        <a:t>500</a:t>
                      </a:r>
                      <a:r>
                        <a:rPr dirty="0" sz="850" spc="-45">
                          <a:solidFill>
                            <a:srgbClr val="111726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50" spc="-6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/</a:t>
                      </a:r>
                      <a:r>
                        <a:rPr dirty="0" sz="950" spc="-2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850" spc="-25">
                          <a:solidFill>
                            <a:srgbClr val="111726"/>
                          </a:solidFill>
                          <a:latin typeface="Arial"/>
                          <a:cs typeface="Arial"/>
                        </a:rPr>
                        <a:t>100</a:t>
                      </a:r>
                      <a:endParaRPr sz="850">
                        <a:latin typeface="Arial"/>
                        <a:cs typeface="Arial"/>
                      </a:endParaRPr>
                    </a:p>
                  </a:txBody>
                  <a:tcPr marL="0" marR="0" marB="0" marT="64769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0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850" spc="-35">
                          <a:solidFill>
                            <a:srgbClr val="111726"/>
                          </a:solidFill>
                          <a:latin typeface="Arial"/>
                          <a:cs typeface="Arial"/>
                        </a:rPr>
                        <a:t>500</a:t>
                      </a:r>
                      <a:r>
                        <a:rPr dirty="0" sz="850" spc="-45">
                          <a:solidFill>
                            <a:srgbClr val="111726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50" spc="-6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/</a:t>
                      </a:r>
                      <a:r>
                        <a:rPr dirty="0" sz="950" spc="-2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850" spc="-35">
                          <a:solidFill>
                            <a:srgbClr val="111726"/>
                          </a:solidFill>
                          <a:latin typeface="Arial"/>
                          <a:cs typeface="Arial"/>
                        </a:rPr>
                        <a:t>50</a:t>
                      </a:r>
                      <a:endParaRPr sz="850">
                        <a:latin typeface="Arial"/>
                        <a:cs typeface="Arial"/>
                      </a:endParaRPr>
                    </a:p>
                  </a:txBody>
                  <a:tcPr marL="0" marR="0" marB="0" marT="64769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120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850" spc="-35">
                          <a:solidFill>
                            <a:srgbClr val="111726"/>
                          </a:solidFill>
                          <a:latin typeface="Arial"/>
                          <a:cs typeface="Arial"/>
                        </a:rPr>
                        <a:t>600</a:t>
                      </a:r>
                      <a:r>
                        <a:rPr dirty="0" sz="850" spc="-45">
                          <a:solidFill>
                            <a:srgbClr val="111726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50" spc="-6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/</a:t>
                      </a:r>
                      <a:r>
                        <a:rPr dirty="0" sz="950" spc="-2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850" spc="-35">
                          <a:solidFill>
                            <a:srgbClr val="111726"/>
                          </a:solidFill>
                          <a:latin typeface="Arial"/>
                          <a:cs typeface="Arial"/>
                        </a:rPr>
                        <a:t>75</a:t>
                      </a:r>
                      <a:endParaRPr sz="850">
                        <a:latin typeface="Arial"/>
                        <a:cs typeface="Arial"/>
                      </a:endParaRPr>
                    </a:p>
                  </a:txBody>
                  <a:tcPr marL="0" marR="0" marB="0" marT="64769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</a:tr>
              <a:tr h="464820">
                <a:tc>
                  <a:txBody>
                    <a:bodyPr/>
                    <a:lstStyle/>
                    <a:p>
                      <a:pPr marL="70485" marR="139700">
                        <a:lnSpc>
                          <a:spcPct val="121100"/>
                        </a:lnSpc>
                        <a:spcBef>
                          <a:spcPts val="270"/>
                        </a:spcBef>
                      </a:pPr>
                      <a:r>
                        <a:rPr dirty="0" sz="950" spc="-9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Embedding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model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34290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all-MiniLM-L6-</a:t>
                      </a:r>
                      <a:r>
                        <a:rPr dirty="0" sz="750" spc="-25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v2</a:t>
                      </a:r>
                      <a:endParaRPr sz="750">
                        <a:latin typeface="Courier New"/>
                        <a:cs typeface="Courier New"/>
                      </a:endParaRPr>
                    </a:p>
                    <a:p>
                      <a:pPr marL="6858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950" spc="-4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(</a:t>
                      </a:r>
                      <a:r>
                        <a:rPr dirty="0" sz="850" spc="-45">
                          <a:solidFill>
                            <a:srgbClr val="111726"/>
                          </a:solidFill>
                          <a:latin typeface="Arial"/>
                          <a:cs typeface="Arial"/>
                        </a:rPr>
                        <a:t>384</a:t>
                      </a:r>
                      <a:r>
                        <a:rPr dirty="0" sz="950" spc="-4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-</a:t>
                      </a:r>
                      <a:r>
                        <a:rPr dirty="0" sz="950" spc="-2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dim)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90170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0" marR="130810" indent="26670">
                        <a:lnSpc>
                          <a:spcPct val="121100"/>
                        </a:lnSpc>
                        <a:spcBef>
                          <a:spcPts val="270"/>
                        </a:spcBef>
                      </a:pP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all-MiniLM-L6-v2</a:t>
                      </a:r>
                      <a:r>
                        <a:rPr dirty="0" sz="750" spc="-2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950" spc="-2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(</a:t>
                      </a:r>
                      <a:r>
                        <a:rPr dirty="0" sz="850" spc="-25">
                          <a:solidFill>
                            <a:srgbClr val="111726"/>
                          </a:solidFill>
                          <a:latin typeface="Arial"/>
                          <a:cs typeface="Arial"/>
                        </a:rPr>
                        <a:t>384</a:t>
                      </a:r>
                      <a:r>
                        <a:rPr dirty="0" sz="950" spc="-2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-</a:t>
                      </a:r>
                      <a:r>
                        <a:rPr dirty="0" sz="950" spc="-2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dim)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34290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8425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all-MiniLM-L6-v2</a:t>
                      </a:r>
                      <a:r>
                        <a:rPr dirty="0" sz="750" spc="125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950" spc="-4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(</a:t>
                      </a:r>
                      <a:r>
                        <a:rPr dirty="0" sz="850" spc="-45">
                          <a:solidFill>
                            <a:srgbClr val="111726"/>
                          </a:solidFill>
                          <a:latin typeface="Arial"/>
                          <a:cs typeface="Arial"/>
                        </a:rPr>
                        <a:t>384</a:t>
                      </a:r>
                      <a:r>
                        <a:rPr dirty="0" sz="950" spc="-4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-</a:t>
                      </a:r>
                      <a:r>
                        <a:rPr dirty="0" sz="950" spc="-2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dim)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64769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</a:tr>
              <a:tr h="457834">
                <a:tc>
                  <a:txBody>
                    <a:bodyPr/>
                    <a:lstStyle/>
                    <a:p>
                      <a:pPr marL="70485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950" spc="-9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LLM</a:t>
                      </a:r>
                      <a:r>
                        <a:rPr dirty="0" sz="950" spc="-3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runtime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64769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dirty="0" sz="750" spc="-1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transformers</a:t>
                      </a:r>
                      <a:endParaRPr sz="750">
                        <a:latin typeface="Courier New"/>
                        <a:cs typeface="Courier New"/>
                      </a:endParaRPr>
                    </a:p>
                    <a:p>
                      <a:pPr marL="6858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950" spc="-7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(local</a:t>
                      </a:r>
                      <a:r>
                        <a:rPr dirty="0" sz="95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PyTorch)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90170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0" marR="395605">
                        <a:lnSpc>
                          <a:spcPct val="116399"/>
                        </a:lnSpc>
                        <a:spcBef>
                          <a:spcPts val="320"/>
                        </a:spcBef>
                      </a:pPr>
                      <a:r>
                        <a:rPr dirty="0" sz="950" spc="-85" b="1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Ollama</a:t>
                      </a:r>
                      <a:r>
                        <a:rPr dirty="0" sz="950" spc="-10" b="1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(local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server,</a:t>
                      </a:r>
                      <a:r>
                        <a:rPr dirty="0" sz="950" spc="50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separate</a:t>
                      </a:r>
                      <a:r>
                        <a:rPr dirty="0" sz="950" spc="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process)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40640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8425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transformers</a:t>
                      </a:r>
                      <a:r>
                        <a:rPr dirty="0" sz="750" spc="35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950" spc="-7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(local</a:t>
                      </a:r>
                      <a:r>
                        <a:rPr dirty="0" sz="950" spc="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PyTorch)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64769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</a:tr>
              <a:tr h="464820">
                <a:tc>
                  <a:txBody>
                    <a:bodyPr/>
                    <a:lstStyle/>
                    <a:p>
                      <a:pPr marL="70485" marR="307975">
                        <a:lnSpc>
                          <a:spcPct val="116399"/>
                        </a:lnSpc>
                        <a:spcBef>
                          <a:spcPts val="320"/>
                        </a:spcBef>
                      </a:pPr>
                      <a:r>
                        <a:rPr dirty="0" sz="950" spc="-9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LLM</a:t>
                      </a:r>
                      <a:r>
                        <a:rPr dirty="0" sz="950" spc="-3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call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style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40640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950" spc="-5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Chat</a:t>
                      </a:r>
                      <a:r>
                        <a:rPr dirty="0" sz="950" spc="16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messages</a:t>
                      </a:r>
                      <a:r>
                        <a:rPr dirty="0" sz="750" spc="-75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950" spc="-2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list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64769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0" marR="257810">
                        <a:lnSpc>
                          <a:spcPct val="121100"/>
                        </a:lnSpc>
                        <a:spcBef>
                          <a:spcPts val="270"/>
                        </a:spcBef>
                      </a:pPr>
                      <a:r>
                        <a:rPr dirty="0" sz="950" spc="-5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Chat</a:t>
                      </a:r>
                      <a:r>
                        <a:rPr dirty="0" sz="950" spc="16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messages</a:t>
                      </a:r>
                      <a:r>
                        <a:rPr dirty="0" sz="750" spc="-65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950" spc="-6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list</a:t>
                      </a:r>
                      <a:r>
                        <a:rPr dirty="0" sz="950" spc="-3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5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(via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Ollama)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34290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120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950" spc="-9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Raw</a:t>
                      </a:r>
                      <a:r>
                        <a:rPr dirty="0" sz="950" spc="-2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string</a:t>
                      </a:r>
                      <a:r>
                        <a:rPr dirty="0" sz="950" spc="-2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9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prompt</a:t>
                      </a:r>
                      <a:r>
                        <a:rPr dirty="0" sz="950" spc="-2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(no</a:t>
                      </a:r>
                      <a:r>
                        <a:rPr dirty="0" sz="950" spc="-2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chat</a:t>
                      </a:r>
                      <a:r>
                        <a:rPr dirty="0" sz="950" spc="-2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template)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64769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</a:tr>
              <a:tr h="451484">
                <a:tc>
                  <a:txBody>
                    <a:bodyPr/>
                    <a:lstStyle/>
                    <a:p>
                      <a:pPr marL="70485" marR="260350">
                        <a:lnSpc>
                          <a:spcPct val="116399"/>
                        </a:lnSpc>
                        <a:spcBef>
                          <a:spcPts val="320"/>
                        </a:spcBef>
                      </a:pP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top-</a:t>
                      </a:r>
                      <a:r>
                        <a:rPr dirty="0" sz="950" spc="-5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k</a:t>
                      </a:r>
                      <a:r>
                        <a:rPr dirty="0" sz="950" spc="50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retrieved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40640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dirty="0" sz="850" spc="-50">
                          <a:solidFill>
                            <a:srgbClr val="111726"/>
                          </a:solidFill>
                          <a:latin typeface="Arial"/>
                          <a:cs typeface="Arial"/>
                        </a:rPr>
                        <a:t>3</a:t>
                      </a:r>
                      <a:endParaRPr sz="850">
                        <a:latin typeface="Arial"/>
                        <a:cs typeface="Arial"/>
                      </a:endParaRPr>
                    </a:p>
                  </a:txBody>
                  <a:tcPr marL="0" marR="0" marB="0" marT="77470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0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dirty="0" sz="850" spc="-50">
                          <a:solidFill>
                            <a:srgbClr val="111726"/>
                          </a:solidFill>
                          <a:latin typeface="Arial"/>
                          <a:cs typeface="Arial"/>
                        </a:rPr>
                        <a:t>3</a:t>
                      </a:r>
                      <a:endParaRPr sz="850">
                        <a:latin typeface="Arial"/>
                        <a:cs typeface="Arial"/>
                      </a:endParaRPr>
                    </a:p>
                  </a:txBody>
                  <a:tcPr marL="0" marR="0" marB="0" marT="77470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120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dirty="0" sz="850" spc="-50">
                          <a:solidFill>
                            <a:srgbClr val="111726"/>
                          </a:solidFill>
                          <a:latin typeface="Arial"/>
                          <a:cs typeface="Arial"/>
                        </a:rPr>
                        <a:t>3</a:t>
                      </a:r>
                      <a:endParaRPr sz="850">
                        <a:latin typeface="Arial"/>
                        <a:cs typeface="Arial"/>
                      </a:endParaRPr>
                    </a:p>
                  </a:txBody>
                  <a:tcPr marL="0" marR="0" marB="0" marT="77470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</a:tr>
              <a:tr h="815340">
                <a:tc>
                  <a:txBody>
                    <a:bodyPr/>
                    <a:lstStyle/>
                    <a:p>
                      <a:pPr marL="70485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PDF</a:t>
                      </a:r>
                      <a:r>
                        <a:rPr dirty="0" sz="950" spc="-3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input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64769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Fixed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local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00" spc="-25">
                          <a:solidFill>
                            <a:srgbClr val="111726"/>
                          </a:solidFill>
                          <a:latin typeface="Arial"/>
                          <a:cs typeface="Arial"/>
                        </a:rPr>
                        <a:t>ﬁ</a:t>
                      </a:r>
                      <a:r>
                        <a:rPr dirty="0" sz="950" spc="-2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le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  <a:p>
                      <a:pPr marL="95250">
                        <a:lnSpc>
                          <a:spcPct val="100000"/>
                        </a:lnSpc>
                        <a:spcBef>
                          <a:spcPts val="439"/>
                        </a:spcBef>
                      </a:pPr>
                      <a:r>
                        <a:rPr dirty="0" sz="750" spc="-1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sample.pdf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64769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0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Fixed</a:t>
                      </a:r>
                      <a:r>
                        <a:rPr dirty="0" sz="950" spc="-1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local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00" spc="-25">
                          <a:solidFill>
                            <a:srgbClr val="111726"/>
                          </a:solidFill>
                          <a:latin typeface="Arial"/>
                          <a:cs typeface="Arial"/>
                        </a:rPr>
                        <a:t>ﬁ</a:t>
                      </a:r>
                      <a:r>
                        <a:rPr dirty="0" sz="950" spc="-2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le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  <a:p>
                      <a:pPr marL="97155">
                        <a:lnSpc>
                          <a:spcPct val="100000"/>
                        </a:lnSpc>
                        <a:spcBef>
                          <a:spcPts val="439"/>
                        </a:spcBef>
                      </a:pPr>
                      <a:r>
                        <a:rPr dirty="0" sz="750" spc="-1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sample.pdf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64769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120" marR="118745">
                        <a:lnSpc>
                          <a:spcPct val="130300"/>
                        </a:lnSpc>
                        <a:spcBef>
                          <a:spcPts val="165"/>
                        </a:spcBef>
                      </a:pP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Interactive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upload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via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Colab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widget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(in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the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captured </a:t>
                      </a:r>
                      <a:r>
                        <a:rPr dirty="0" sz="950" spc="-7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run,</a:t>
                      </a:r>
                      <a:r>
                        <a:rPr dirty="0" sz="950" spc="-3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the</a:t>
                      </a:r>
                      <a:r>
                        <a:rPr dirty="0" sz="950" spc="-3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user</a:t>
                      </a:r>
                      <a:r>
                        <a:rPr dirty="0" sz="950" spc="-3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uploaded</a:t>
                      </a:r>
                      <a:r>
                        <a:rPr dirty="0" sz="950" spc="-2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9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a</a:t>
                      </a:r>
                      <a:r>
                        <a:rPr dirty="0" sz="950" spc="-2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70" b="1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di</a:t>
                      </a:r>
                      <a:r>
                        <a:rPr dirty="0" sz="900" spc="-70" b="1">
                          <a:solidFill>
                            <a:srgbClr val="111726"/>
                          </a:solidFill>
                          <a:latin typeface="Arial"/>
                          <a:cs typeface="Arial"/>
                        </a:rPr>
                        <a:t>ﬀ</a:t>
                      </a:r>
                      <a:r>
                        <a:rPr dirty="0" sz="950" spc="-70" b="1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erent</a:t>
                      </a:r>
                      <a:r>
                        <a:rPr dirty="0" sz="950" spc="-30" b="1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00" spc="-35">
                          <a:solidFill>
                            <a:srgbClr val="111726"/>
                          </a:solidFill>
                          <a:latin typeface="Arial"/>
                          <a:cs typeface="Arial"/>
                        </a:rPr>
                        <a:t>ﬁ</a:t>
                      </a:r>
                      <a:r>
                        <a:rPr dirty="0" sz="950" spc="-3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le</a:t>
                      </a:r>
                      <a:r>
                        <a:rPr dirty="0" sz="950" spc="-3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00" spc="-50">
                          <a:solidFill>
                            <a:srgbClr val="111726"/>
                          </a:solidFill>
                          <a:latin typeface="Arial"/>
                          <a:cs typeface="Arial"/>
                        </a:rPr>
                        <a:t>—</a:t>
                      </a:r>
                      <a:r>
                        <a:rPr dirty="0" sz="900" spc="155">
                          <a:solidFill>
                            <a:srgbClr val="111726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750" spc="-25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HSE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Management</a:t>
                      </a:r>
                      <a:r>
                        <a:rPr dirty="0" sz="750" spc="7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System</a:t>
                      </a:r>
                      <a:r>
                        <a:rPr dirty="0" sz="750" spc="75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–</a:t>
                      </a:r>
                      <a:r>
                        <a:rPr dirty="0" sz="750" spc="7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Complete</a:t>
                      </a:r>
                      <a:r>
                        <a:rPr dirty="0" sz="750" spc="75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 spc="-1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Technical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Flow.pdf</a:t>
                      </a:r>
                      <a:r>
                        <a:rPr dirty="0" sz="750" spc="-229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950" spc="-5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,</a:t>
                      </a:r>
                      <a:r>
                        <a:rPr dirty="0" sz="950" spc="-2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850" spc="-35">
                          <a:solidFill>
                            <a:srgbClr val="111726"/>
                          </a:solidFill>
                          <a:latin typeface="Arial"/>
                          <a:cs typeface="Arial"/>
                        </a:rPr>
                        <a:t>23</a:t>
                      </a:r>
                      <a:r>
                        <a:rPr dirty="0" sz="850" spc="-45">
                          <a:solidFill>
                            <a:srgbClr val="111726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pages</a:t>
                      </a:r>
                      <a:r>
                        <a:rPr dirty="0" sz="950" spc="-2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6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/</a:t>
                      </a:r>
                      <a:r>
                        <a:rPr dirty="0" sz="950" spc="-2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850" spc="-35">
                          <a:solidFill>
                            <a:srgbClr val="111726"/>
                          </a:solidFill>
                          <a:latin typeface="Arial"/>
                          <a:cs typeface="Arial"/>
                        </a:rPr>
                        <a:t>38</a:t>
                      </a:r>
                      <a:r>
                        <a:rPr dirty="0" sz="850" spc="-45">
                          <a:solidFill>
                            <a:srgbClr val="111726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chunks</a:t>
                      </a:r>
                      <a:r>
                        <a:rPr dirty="0" sz="950" spc="-2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00" spc="-180">
                          <a:solidFill>
                            <a:srgbClr val="111726"/>
                          </a:solidFill>
                          <a:latin typeface="Arial"/>
                          <a:cs typeface="Arial"/>
                        </a:rPr>
                        <a:t>—</a:t>
                      </a:r>
                      <a:r>
                        <a:rPr dirty="0" sz="900" spc="-60">
                          <a:solidFill>
                            <a:srgbClr val="111726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50" spc="-4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not</a:t>
                      </a:r>
                      <a:r>
                        <a:rPr dirty="0" sz="950" spc="20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sample.pdf</a:t>
                      </a:r>
                      <a:r>
                        <a:rPr dirty="0" sz="750" spc="-225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950" spc="-5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)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20955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</a:tr>
              <a:tr h="457834">
                <a:tc>
                  <a:txBody>
                    <a:bodyPr/>
                    <a:lstStyle/>
                    <a:p>
                      <a:pPr marL="70485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Persistence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64769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 marR="264795">
                        <a:lnSpc>
                          <a:spcPct val="116399"/>
                        </a:lnSpc>
                        <a:spcBef>
                          <a:spcPts val="320"/>
                        </a:spcBef>
                      </a:pP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Durable</a:t>
                      </a:r>
                      <a:r>
                        <a:rPr dirty="0" sz="950" spc="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(Postgres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table)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40640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0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Durable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6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(Solr</a:t>
                      </a:r>
                      <a:r>
                        <a:rPr dirty="0" sz="950" spc="-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index)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64769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120" marR="267970">
                        <a:lnSpc>
                          <a:spcPct val="116399"/>
                        </a:lnSpc>
                        <a:spcBef>
                          <a:spcPts val="320"/>
                        </a:spcBef>
                      </a:pP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Ephemeral</a:t>
                      </a:r>
                      <a:r>
                        <a:rPr dirty="0" sz="950" spc="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6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(lost</a:t>
                      </a:r>
                      <a:r>
                        <a:rPr dirty="0" sz="950" spc="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9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when</a:t>
                      </a:r>
                      <a:r>
                        <a:rPr dirty="0" sz="950" spc="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the</a:t>
                      </a:r>
                      <a:r>
                        <a:rPr dirty="0" sz="950" spc="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notebook/session</a:t>
                      </a:r>
                      <a:r>
                        <a:rPr dirty="0" sz="950" spc="1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6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ends,</a:t>
                      </a:r>
                      <a:r>
                        <a:rPr dirty="0" sz="950" spc="50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950" spc="-8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since</a:t>
                      </a:r>
                      <a:r>
                        <a:rPr dirty="0" sz="950" spc="-2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no</a:t>
                      </a:r>
                      <a:r>
                        <a:rPr dirty="0" sz="950" spc="204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</a:t>
                      </a:r>
                      <a:r>
                        <a:rPr dirty="0" sz="75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persist_directory</a:t>
                      </a:r>
                      <a:r>
                        <a:rPr dirty="0" sz="750" spc="-30">
                          <a:solidFill>
                            <a:srgbClr val="11172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950" spc="-65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is</a:t>
                      </a:r>
                      <a:r>
                        <a:rPr dirty="0" sz="950" spc="-20">
                          <a:solidFill>
                            <a:srgbClr val="111726"/>
                          </a:solidFill>
                          <a:latin typeface="Source Han Sans JP"/>
                          <a:cs typeface="Source Han Sans JP"/>
                        </a:rPr>
                        <a:t> set)</a:t>
                      </a:r>
                      <a:endParaRPr sz="950">
                        <a:latin typeface="Source Han Sans JP"/>
                        <a:cs typeface="Source Han Sans JP"/>
                      </a:endParaRPr>
                    </a:p>
                  </a:txBody>
                  <a:tcPr marL="0" marR="0" marB="0" marT="40640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9" name="object 29"/>
          <p:cNvSpPr txBox="1"/>
          <p:nvPr/>
        </p:nvSpPr>
        <p:spPr>
          <a:xfrm>
            <a:off x="667402" y="9390277"/>
            <a:ext cx="3227070" cy="2927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50" spc="-195" b="1">
                <a:solidFill>
                  <a:srgbClr val="111726"/>
                </a:solidFill>
                <a:latin typeface="Source Han Sans JP"/>
                <a:cs typeface="Source Han Sans JP"/>
              </a:rPr>
              <a:t>Notable</a:t>
            </a:r>
            <a:r>
              <a:rPr dirty="0" sz="1750" spc="-45" b="1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750" spc="-185" b="1">
                <a:solidFill>
                  <a:srgbClr val="111726"/>
                </a:solidFill>
                <a:latin typeface="Source Han Sans JP"/>
                <a:cs typeface="Source Han Sans JP"/>
              </a:rPr>
              <a:t>Observations</a:t>
            </a:r>
            <a:r>
              <a:rPr dirty="0" sz="1750" spc="-45" b="1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750" spc="-130" b="1">
                <a:solidFill>
                  <a:srgbClr val="111726"/>
                </a:solidFill>
                <a:latin typeface="Source Han Sans JP"/>
                <a:cs typeface="Source Han Sans JP"/>
              </a:rPr>
              <a:t>/</a:t>
            </a:r>
            <a:r>
              <a:rPr dirty="0" sz="1750" spc="-45" b="1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750" spc="-160" b="1">
                <a:solidFill>
                  <a:srgbClr val="111726"/>
                </a:solidFill>
                <a:latin typeface="Source Han Sans JP"/>
                <a:cs typeface="Source Han Sans JP"/>
              </a:rPr>
              <a:t>Suggestions</a:t>
            </a:r>
            <a:endParaRPr sz="1750">
              <a:latin typeface="Source Han Sans JP"/>
              <a:cs typeface="Source Han Sans JP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00326" y="645677"/>
            <a:ext cx="40640" cy="40640"/>
          </a:xfrm>
          <a:custGeom>
            <a:avLst/>
            <a:gdLst/>
            <a:ahLst/>
            <a:cxnLst/>
            <a:rect l="l" t="t" r="r" b="b"/>
            <a:pathLst>
              <a:path w="40640" h="40640">
                <a:moveTo>
                  <a:pt x="22906" y="40421"/>
                </a:moveTo>
                <a:lnTo>
                  <a:pt x="17542" y="40421"/>
                </a:lnTo>
                <a:lnTo>
                  <a:pt x="14962" y="39895"/>
                </a:lnTo>
                <a:lnTo>
                  <a:pt x="0" y="22887"/>
                </a:lnTo>
                <a:lnTo>
                  <a:pt x="0" y="17514"/>
                </a:lnTo>
                <a:lnTo>
                  <a:pt x="17542" y="0"/>
                </a:lnTo>
                <a:lnTo>
                  <a:pt x="22906" y="0"/>
                </a:lnTo>
                <a:lnTo>
                  <a:pt x="40448" y="20224"/>
                </a:lnTo>
                <a:lnTo>
                  <a:pt x="40448" y="22887"/>
                </a:lnTo>
                <a:lnTo>
                  <a:pt x="22906" y="40421"/>
                </a:lnTo>
                <a:close/>
              </a:path>
            </a:pathLst>
          </a:custGeom>
          <a:solidFill>
            <a:srgbClr val="11172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828413" y="598487"/>
            <a:ext cx="614045" cy="148590"/>
          </a:xfrm>
          <a:custGeom>
            <a:avLst/>
            <a:gdLst/>
            <a:ahLst/>
            <a:cxnLst/>
            <a:rect l="l" t="t" r="r" b="b"/>
            <a:pathLst>
              <a:path w="614044" h="148590">
                <a:moveTo>
                  <a:pt x="590080" y="148284"/>
                </a:moveTo>
                <a:lnTo>
                  <a:pt x="23389" y="148284"/>
                </a:lnTo>
                <a:lnTo>
                  <a:pt x="19950" y="147576"/>
                </a:lnTo>
                <a:lnTo>
                  <a:pt x="0" y="124898"/>
                </a:lnTo>
                <a:lnTo>
                  <a:pt x="0" y="121345"/>
                </a:lnTo>
                <a:lnTo>
                  <a:pt x="0" y="23359"/>
                </a:lnTo>
                <a:lnTo>
                  <a:pt x="23389" y="0"/>
                </a:lnTo>
                <a:lnTo>
                  <a:pt x="590080" y="0"/>
                </a:lnTo>
                <a:lnTo>
                  <a:pt x="613470" y="23359"/>
                </a:lnTo>
                <a:lnTo>
                  <a:pt x="613470" y="124898"/>
                </a:lnTo>
                <a:lnTo>
                  <a:pt x="593520" y="147576"/>
                </a:lnTo>
                <a:lnTo>
                  <a:pt x="590080" y="148284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3214878" y="598474"/>
            <a:ext cx="2218055" cy="337185"/>
          </a:xfrm>
          <a:custGeom>
            <a:avLst/>
            <a:gdLst/>
            <a:ahLst/>
            <a:cxnLst/>
            <a:rect l="l" t="t" r="r" b="b"/>
            <a:pathLst>
              <a:path w="2218054" h="337184">
                <a:moveTo>
                  <a:pt x="1537042" y="23355"/>
                </a:moveTo>
                <a:lnTo>
                  <a:pt x="1513649" y="0"/>
                </a:lnTo>
                <a:lnTo>
                  <a:pt x="23380" y="0"/>
                </a:lnTo>
                <a:lnTo>
                  <a:pt x="0" y="23355"/>
                </a:lnTo>
                <a:lnTo>
                  <a:pt x="0" y="121348"/>
                </a:lnTo>
                <a:lnTo>
                  <a:pt x="0" y="124891"/>
                </a:lnTo>
                <a:lnTo>
                  <a:pt x="23380" y="148285"/>
                </a:lnTo>
                <a:lnTo>
                  <a:pt x="1513649" y="148285"/>
                </a:lnTo>
                <a:lnTo>
                  <a:pt x="1537042" y="124891"/>
                </a:lnTo>
                <a:lnTo>
                  <a:pt x="1537042" y="23355"/>
                </a:lnTo>
                <a:close/>
              </a:path>
              <a:path w="2218054" h="337184">
                <a:moveTo>
                  <a:pt x="2217928" y="212115"/>
                </a:moveTo>
                <a:lnTo>
                  <a:pt x="2194534" y="188760"/>
                </a:lnTo>
                <a:lnTo>
                  <a:pt x="1567180" y="188760"/>
                </a:lnTo>
                <a:lnTo>
                  <a:pt x="1543786" y="212115"/>
                </a:lnTo>
                <a:lnTo>
                  <a:pt x="1543786" y="310108"/>
                </a:lnTo>
                <a:lnTo>
                  <a:pt x="1543786" y="313651"/>
                </a:lnTo>
                <a:lnTo>
                  <a:pt x="1567180" y="337045"/>
                </a:lnTo>
                <a:lnTo>
                  <a:pt x="2194534" y="337045"/>
                </a:lnTo>
                <a:lnTo>
                  <a:pt x="2217928" y="313651"/>
                </a:lnTo>
                <a:lnTo>
                  <a:pt x="2217928" y="212115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5668762" y="787247"/>
            <a:ext cx="303530" cy="148590"/>
          </a:xfrm>
          <a:custGeom>
            <a:avLst/>
            <a:gdLst/>
            <a:ahLst/>
            <a:cxnLst/>
            <a:rect l="l" t="t" r="r" b="b"/>
            <a:pathLst>
              <a:path w="303529" h="148590">
                <a:moveTo>
                  <a:pt x="279974" y="148284"/>
                </a:moveTo>
                <a:lnTo>
                  <a:pt x="23389" y="148284"/>
                </a:lnTo>
                <a:lnTo>
                  <a:pt x="19949" y="147576"/>
                </a:lnTo>
                <a:lnTo>
                  <a:pt x="0" y="124898"/>
                </a:lnTo>
                <a:lnTo>
                  <a:pt x="0" y="121345"/>
                </a:lnTo>
                <a:lnTo>
                  <a:pt x="0" y="23359"/>
                </a:lnTo>
                <a:lnTo>
                  <a:pt x="23389" y="0"/>
                </a:lnTo>
                <a:lnTo>
                  <a:pt x="279974" y="0"/>
                </a:lnTo>
                <a:lnTo>
                  <a:pt x="303364" y="23359"/>
                </a:lnTo>
                <a:lnTo>
                  <a:pt x="303364" y="124898"/>
                </a:lnTo>
                <a:lnTo>
                  <a:pt x="283414" y="147576"/>
                </a:lnTo>
                <a:lnTo>
                  <a:pt x="279974" y="148284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6423803" y="787198"/>
            <a:ext cx="458470" cy="148590"/>
          </a:xfrm>
          <a:custGeom>
            <a:avLst/>
            <a:gdLst/>
            <a:ahLst/>
            <a:cxnLst/>
            <a:rect l="l" t="t" r="r" b="b"/>
            <a:pathLst>
              <a:path w="458470" h="148590">
                <a:moveTo>
                  <a:pt x="458417" y="148328"/>
                </a:moveTo>
                <a:lnTo>
                  <a:pt x="23390" y="148328"/>
                </a:lnTo>
                <a:lnTo>
                  <a:pt x="19949" y="147606"/>
                </a:lnTo>
                <a:lnTo>
                  <a:pt x="0" y="124928"/>
                </a:lnTo>
                <a:lnTo>
                  <a:pt x="0" y="23389"/>
                </a:lnTo>
                <a:lnTo>
                  <a:pt x="684" y="19937"/>
                </a:lnTo>
                <a:lnTo>
                  <a:pt x="3420" y="13304"/>
                </a:lnTo>
                <a:lnTo>
                  <a:pt x="5369" y="10405"/>
                </a:lnTo>
                <a:lnTo>
                  <a:pt x="7898" y="7904"/>
                </a:lnTo>
                <a:lnTo>
                  <a:pt x="10426" y="5349"/>
                </a:lnTo>
                <a:lnTo>
                  <a:pt x="13342" y="3400"/>
                </a:lnTo>
                <a:lnTo>
                  <a:pt x="19949" y="690"/>
                </a:lnTo>
                <a:lnTo>
                  <a:pt x="23390" y="0"/>
                </a:lnTo>
                <a:lnTo>
                  <a:pt x="458417" y="0"/>
                </a:lnTo>
                <a:lnTo>
                  <a:pt x="458417" y="148328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828413" y="975961"/>
            <a:ext cx="398145" cy="148590"/>
          </a:xfrm>
          <a:custGeom>
            <a:avLst/>
            <a:gdLst/>
            <a:ahLst/>
            <a:cxnLst/>
            <a:rect l="l" t="t" r="r" b="b"/>
            <a:pathLst>
              <a:path w="398144" h="148590">
                <a:moveTo>
                  <a:pt x="374354" y="148302"/>
                </a:moveTo>
                <a:lnTo>
                  <a:pt x="0" y="148302"/>
                </a:lnTo>
                <a:lnTo>
                  <a:pt x="0" y="0"/>
                </a:lnTo>
                <a:lnTo>
                  <a:pt x="374354" y="0"/>
                </a:lnTo>
                <a:lnTo>
                  <a:pt x="377794" y="714"/>
                </a:lnTo>
                <a:lnTo>
                  <a:pt x="384401" y="3397"/>
                </a:lnTo>
                <a:lnTo>
                  <a:pt x="387317" y="5345"/>
                </a:lnTo>
                <a:lnTo>
                  <a:pt x="389846" y="7900"/>
                </a:lnTo>
                <a:lnTo>
                  <a:pt x="392374" y="10402"/>
                </a:lnTo>
                <a:lnTo>
                  <a:pt x="394323" y="13327"/>
                </a:lnTo>
                <a:lnTo>
                  <a:pt x="397060" y="19934"/>
                </a:lnTo>
                <a:lnTo>
                  <a:pt x="397744" y="23386"/>
                </a:lnTo>
                <a:lnTo>
                  <a:pt x="397744" y="124925"/>
                </a:lnTo>
                <a:lnTo>
                  <a:pt x="377794" y="147630"/>
                </a:lnTo>
                <a:lnTo>
                  <a:pt x="374354" y="148302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700326" y="1238923"/>
            <a:ext cx="40640" cy="40640"/>
          </a:xfrm>
          <a:custGeom>
            <a:avLst/>
            <a:gdLst/>
            <a:ahLst/>
            <a:cxnLst/>
            <a:rect l="l" t="t" r="r" b="b"/>
            <a:pathLst>
              <a:path w="40640" h="40640">
                <a:moveTo>
                  <a:pt x="22906" y="40421"/>
                </a:moveTo>
                <a:lnTo>
                  <a:pt x="17542" y="40421"/>
                </a:lnTo>
                <a:lnTo>
                  <a:pt x="14962" y="39868"/>
                </a:lnTo>
                <a:lnTo>
                  <a:pt x="0" y="22860"/>
                </a:lnTo>
                <a:lnTo>
                  <a:pt x="0" y="17514"/>
                </a:lnTo>
                <a:lnTo>
                  <a:pt x="17542" y="0"/>
                </a:lnTo>
                <a:lnTo>
                  <a:pt x="22906" y="0"/>
                </a:lnTo>
                <a:lnTo>
                  <a:pt x="40448" y="20224"/>
                </a:lnTo>
                <a:lnTo>
                  <a:pt x="40448" y="22860"/>
                </a:lnTo>
                <a:lnTo>
                  <a:pt x="22906" y="40421"/>
                </a:lnTo>
                <a:close/>
              </a:path>
            </a:pathLst>
          </a:custGeom>
          <a:solidFill>
            <a:srgbClr val="11172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1819404" y="1191733"/>
            <a:ext cx="607060" cy="148590"/>
          </a:xfrm>
          <a:custGeom>
            <a:avLst/>
            <a:gdLst/>
            <a:ahLst/>
            <a:cxnLst/>
            <a:rect l="l" t="t" r="r" b="b"/>
            <a:pathLst>
              <a:path w="607060" h="148590">
                <a:moveTo>
                  <a:pt x="583339" y="148284"/>
                </a:moveTo>
                <a:lnTo>
                  <a:pt x="23389" y="148284"/>
                </a:lnTo>
                <a:lnTo>
                  <a:pt x="19950" y="147603"/>
                </a:lnTo>
                <a:lnTo>
                  <a:pt x="0" y="124898"/>
                </a:lnTo>
                <a:lnTo>
                  <a:pt x="0" y="121345"/>
                </a:lnTo>
                <a:lnTo>
                  <a:pt x="0" y="23359"/>
                </a:lnTo>
                <a:lnTo>
                  <a:pt x="23389" y="0"/>
                </a:lnTo>
                <a:lnTo>
                  <a:pt x="583339" y="0"/>
                </a:lnTo>
                <a:lnTo>
                  <a:pt x="606728" y="23359"/>
                </a:lnTo>
                <a:lnTo>
                  <a:pt x="606728" y="124898"/>
                </a:lnTo>
                <a:lnTo>
                  <a:pt x="586778" y="147603"/>
                </a:lnTo>
                <a:lnTo>
                  <a:pt x="583339" y="148284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2844102" y="1191733"/>
            <a:ext cx="546100" cy="148590"/>
          </a:xfrm>
          <a:custGeom>
            <a:avLst/>
            <a:gdLst/>
            <a:ahLst/>
            <a:cxnLst/>
            <a:rect l="l" t="t" r="r" b="b"/>
            <a:pathLst>
              <a:path w="546100" h="148590">
                <a:moveTo>
                  <a:pt x="522666" y="148284"/>
                </a:moveTo>
                <a:lnTo>
                  <a:pt x="23389" y="148284"/>
                </a:lnTo>
                <a:lnTo>
                  <a:pt x="19950" y="147603"/>
                </a:lnTo>
                <a:lnTo>
                  <a:pt x="0" y="124898"/>
                </a:lnTo>
                <a:lnTo>
                  <a:pt x="0" y="121345"/>
                </a:lnTo>
                <a:lnTo>
                  <a:pt x="0" y="23359"/>
                </a:lnTo>
                <a:lnTo>
                  <a:pt x="23389" y="0"/>
                </a:lnTo>
                <a:lnTo>
                  <a:pt x="522666" y="0"/>
                </a:lnTo>
                <a:lnTo>
                  <a:pt x="546056" y="23359"/>
                </a:lnTo>
                <a:lnTo>
                  <a:pt x="546056" y="124898"/>
                </a:lnTo>
                <a:lnTo>
                  <a:pt x="526105" y="147603"/>
                </a:lnTo>
                <a:lnTo>
                  <a:pt x="522666" y="148284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3444090" y="1191733"/>
            <a:ext cx="668020" cy="148590"/>
          </a:xfrm>
          <a:custGeom>
            <a:avLst/>
            <a:gdLst/>
            <a:ahLst/>
            <a:cxnLst/>
            <a:rect l="l" t="t" r="r" b="b"/>
            <a:pathLst>
              <a:path w="668020" h="148590">
                <a:moveTo>
                  <a:pt x="644011" y="148284"/>
                </a:moveTo>
                <a:lnTo>
                  <a:pt x="23389" y="148284"/>
                </a:lnTo>
                <a:lnTo>
                  <a:pt x="19949" y="147603"/>
                </a:lnTo>
                <a:lnTo>
                  <a:pt x="0" y="124898"/>
                </a:lnTo>
                <a:lnTo>
                  <a:pt x="0" y="121345"/>
                </a:lnTo>
                <a:lnTo>
                  <a:pt x="0" y="23359"/>
                </a:lnTo>
                <a:lnTo>
                  <a:pt x="23389" y="0"/>
                </a:lnTo>
                <a:lnTo>
                  <a:pt x="644011" y="0"/>
                </a:lnTo>
                <a:lnTo>
                  <a:pt x="667401" y="23359"/>
                </a:lnTo>
                <a:lnTo>
                  <a:pt x="667401" y="124898"/>
                </a:lnTo>
                <a:lnTo>
                  <a:pt x="647451" y="147603"/>
                </a:lnTo>
                <a:lnTo>
                  <a:pt x="644011" y="148284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4387890" y="1191733"/>
            <a:ext cx="849630" cy="148590"/>
          </a:xfrm>
          <a:custGeom>
            <a:avLst/>
            <a:gdLst/>
            <a:ahLst/>
            <a:cxnLst/>
            <a:rect l="l" t="t" r="r" b="b"/>
            <a:pathLst>
              <a:path w="849629" h="148590">
                <a:moveTo>
                  <a:pt x="826030" y="148284"/>
                </a:moveTo>
                <a:lnTo>
                  <a:pt x="23390" y="148284"/>
                </a:lnTo>
                <a:lnTo>
                  <a:pt x="19949" y="147603"/>
                </a:lnTo>
                <a:lnTo>
                  <a:pt x="0" y="124898"/>
                </a:lnTo>
                <a:lnTo>
                  <a:pt x="0" y="121345"/>
                </a:lnTo>
                <a:lnTo>
                  <a:pt x="0" y="23359"/>
                </a:lnTo>
                <a:lnTo>
                  <a:pt x="23390" y="0"/>
                </a:lnTo>
                <a:lnTo>
                  <a:pt x="826030" y="0"/>
                </a:lnTo>
                <a:lnTo>
                  <a:pt x="849420" y="23359"/>
                </a:lnTo>
                <a:lnTo>
                  <a:pt x="849420" y="124898"/>
                </a:lnTo>
                <a:lnTo>
                  <a:pt x="829470" y="147603"/>
                </a:lnTo>
                <a:lnTo>
                  <a:pt x="826030" y="148284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5493473" y="1191716"/>
            <a:ext cx="1213485" cy="337185"/>
          </a:xfrm>
          <a:custGeom>
            <a:avLst/>
            <a:gdLst/>
            <a:ahLst/>
            <a:cxnLst/>
            <a:rect l="l" t="t" r="r" b="b"/>
            <a:pathLst>
              <a:path w="1213484" h="337184">
                <a:moveTo>
                  <a:pt x="606729" y="23355"/>
                </a:moveTo>
                <a:lnTo>
                  <a:pt x="583349" y="0"/>
                </a:lnTo>
                <a:lnTo>
                  <a:pt x="23393" y="0"/>
                </a:lnTo>
                <a:lnTo>
                  <a:pt x="0" y="23355"/>
                </a:lnTo>
                <a:lnTo>
                  <a:pt x="0" y="121348"/>
                </a:lnTo>
                <a:lnTo>
                  <a:pt x="0" y="124904"/>
                </a:lnTo>
                <a:lnTo>
                  <a:pt x="23393" y="148285"/>
                </a:lnTo>
                <a:lnTo>
                  <a:pt x="583349" y="148285"/>
                </a:lnTo>
                <a:lnTo>
                  <a:pt x="606729" y="124904"/>
                </a:lnTo>
                <a:lnTo>
                  <a:pt x="606729" y="23355"/>
                </a:lnTo>
                <a:close/>
              </a:path>
              <a:path w="1213484" h="337184">
                <a:moveTo>
                  <a:pt x="1213459" y="212115"/>
                </a:moveTo>
                <a:lnTo>
                  <a:pt x="1190078" y="188760"/>
                </a:lnTo>
                <a:lnTo>
                  <a:pt x="630123" y="188760"/>
                </a:lnTo>
                <a:lnTo>
                  <a:pt x="606729" y="212115"/>
                </a:lnTo>
                <a:lnTo>
                  <a:pt x="606729" y="310108"/>
                </a:lnTo>
                <a:lnTo>
                  <a:pt x="606729" y="313664"/>
                </a:lnTo>
                <a:lnTo>
                  <a:pt x="630123" y="337045"/>
                </a:lnTo>
                <a:lnTo>
                  <a:pt x="1190078" y="337045"/>
                </a:lnTo>
                <a:lnTo>
                  <a:pt x="1213459" y="313664"/>
                </a:lnTo>
                <a:lnTo>
                  <a:pt x="1213459" y="212115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3228363" y="1569254"/>
            <a:ext cx="607060" cy="148590"/>
          </a:xfrm>
          <a:custGeom>
            <a:avLst/>
            <a:gdLst/>
            <a:ahLst/>
            <a:cxnLst/>
            <a:rect l="l" t="t" r="r" b="b"/>
            <a:pathLst>
              <a:path w="607060" h="148589">
                <a:moveTo>
                  <a:pt x="583339" y="148284"/>
                </a:moveTo>
                <a:lnTo>
                  <a:pt x="23389" y="148284"/>
                </a:lnTo>
                <a:lnTo>
                  <a:pt x="19950" y="147603"/>
                </a:lnTo>
                <a:lnTo>
                  <a:pt x="0" y="124898"/>
                </a:lnTo>
                <a:lnTo>
                  <a:pt x="0" y="121345"/>
                </a:lnTo>
                <a:lnTo>
                  <a:pt x="0" y="23359"/>
                </a:lnTo>
                <a:lnTo>
                  <a:pt x="23389" y="0"/>
                </a:lnTo>
                <a:lnTo>
                  <a:pt x="583339" y="0"/>
                </a:lnTo>
                <a:lnTo>
                  <a:pt x="606729" y="23359"/>
                </a:lnTo>
                <a:lnTo>
                  <a:pt x="606729" y="124898"/>
                </a:lnTo>
                <a:lnTo>
                  <a:pt x="586778" y="147603"/>
                </a:lnTo>
                <a:lnTo>
                  <a:pt x="583339" y="148284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700326" y="1832169"/>
            <a:ext cx="40640" cy="40640"/>
          </a:xfrm>
          <a:custGeom>
            <a:avLst/>
            <a:gdLst/>
            <a:ahLst/>
            <a:cxnLst/>
            <a:rect l="l" t="t" r="r" b="b"/>
            <a:pathLst>
              <a:path w="40640" h="40639">
                <a:moveTo>
                  <a:pt x="22906" y="40421"/>
                </a:moveTo>
                <a:lnTo>
                  <a:pt x="17542" y="40421"/>
                </a:lnTo>
                <a:lnTo>
                  <a:pt x="14962" y="39922"/>
                </a:lnTo>
                <a:lnTo>
                  <a:pt x="0" y="22887"/>
                </a:lnTo>
                <a:lnTo>
                  <a:pt x="0" y="17514"/>
                </a:lnTo>
                <a:lnTo>
                  <a:pt x="17542" y="0"/>
                </a:lnTo>
                <a:lnTo>
                  <a:pt x="22906" y="0"/>
                </a:lnTo>
                <a:lnTo>
                  <a:pt x="40448" y="20224"/>
                </a:lnTo>
                <a:lnTo>
                  <a:pt x="40448" y="22887"/>
                </a:lnTo>
                <a:lnTo>
                  <a:pt x="22906" y="40421"/>
                </a:lnTo>
                <a:close/>
              </a:path>
            </a:pathLst>
          </a:custGeom>
          <a:solidFill>
            <a:srgbClr val="11172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2850843" y="1784980"/>
            <a:ext cx="1840864" cy="148590"/>
          </a:xfrm>
          <a:custGeom>
            <a:avLst/>
            <a:gdLst/>
            <a:ahLst/>
            <a:cxnLst/>
            <a:rect l="l" t="t" r="r" b="b"/>
            <a:pathLst>
              <a:path w="1840864" h="148589">
                <a:moveTo>
                  <a:pt x="1817021" y="148284"/>
                </a:moveTo>
                <a:lnTo>
                  <a:pt x="23389" y="148284"/>
                </a:lnTo>
                <a:lnTo>
                  <a:pt x="19949" y="147603"/>
                </a:lnTo>
                <a:lnTo>
                  <a:pt x="0" y="124898"/>
                </a:lnTo>
                <a:lnTo>
                  <a:pt x="0" y="121345"/>
                </a:lnTo>
                <a:lnTo>
                  <a:pt x="0" y="23359"/>
                </a:lnTo>
                <a:lnTo>
                  <a:pt x="23389" y="0"/>
                </a:lnTo>
                <a:lnTo>
                  <a:pt x="1817021" y="0"/>
                </a:lnTo>
                <a:lnTo>
                  <a:pt x="1840411" y="23359"/>
                </a:lnTo>
                <a:lnTo>
                  <a:pt x="1840411" y="124898"/>
                </a:lnTo>
                <a:lnTo>
                  <a:pt x="1820460" y="147603"/>
                </a:lnTo>
                <a:lnTo>
                  <a:pt x="1817021" y="148284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700326" y="2405191"/>
            <a:ext cx="40640" cy="40640"/>
          </a:xfrm>
          <a:custGeom>
            <a:avLst/>
            <a:gdLst/>
            <a:ahLst/>
            <a:cxnLst/>
            <a:rect l="l" t="t" r="r" b="b"/>
            <a:pathLst>
              <a:path w="40640" h="40639">
                <a:moveTo>
                  <a:pt x="22906" y="40421"/>
                </a:moveTo>
                <a:lnTo>
                  <a:pt x="17542" y="40421"/>
                </a:lnTo>
                <a:lnTo>
                  <a:pt x="14962" y="39868"/>
                </a:lnTo>
                <a:lnTo>
                  <a:pt x="0" y="22887"/>
                </a:lnTo>
                <a:lnTo>
                  <a:pt x="0" y="17514"/>
                </a:lnTo>
                <a:lnTo>
                  <a:pt x="17542" y="0"/>
                </a:lnTo>
                <a:lnTo>
                  <a:pt x="22906" y="0"/>
                </a:lnTo>
                <a:lnTo>
                  <a:pt x="40448" y="20224"/>
                </a:lnTo>
                <a:lnTo>
                  <a:pt x="40448" y="22887"/>
                </a:lnTo>
                <a:lnTo>
                  <a:pt x="22906" y="40421"/>
                </a:lnTo>
                <a:close/>
              </a:path>
            </a:pathLst>
          </a:custGeom>
          <a:solidFill>
            <a:srgbClr val="11172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3309261" y="2358001"/>
            <a:ext cx="1106170" cy="148590"/>
          </a:xfrm>
          <a:custGeom>
            <a:avLst/>
            <a:gdLst/>
            <a:ahLst/>
            <a:cxnLst/>
            <a:rect l="l" t="t" r="r" b="b"/>
            <a:pathLst>
              <a:path w="1106170" h="148589">
                <a:moveTo>
                  <a:pt x="1082205" y="148284"/>
                </a:moveTo>
                <a:lnTo>
                  <a:pt x="23389" y="148284"/>
                </a:lnTo>
                <a:lnTo>
                  <a:pt x="19950" y="147603"/>
                </a:lnTo>
                <a:lnTo>
                  <a:pt x="0" y="124898"/>
                </a:lnTo>
                <a:lnTo>
                  <a:pt x="0" y="121345"/>
                </a:lnTo>
                <a:lnTo>
                  <a:pt x="0" y="23359"/>
                </a:lnTo>
                <a:lnTo>
                  <a:pt x="23389" y="0"/>
                </a:lnTo>
                <a:lnTo>
                  <a:pt x="1082205" y="0"/>
                </a:lnTo>
                <a:lnTo>
                  <a:pt x="1105594" y="23359"/>
                </a:lnTo>
                <a:lnTo>
                  <a:pt x="1105594" y="124898"/>
                </a:lnTo>
                <a:lnTo>
                  <a:pt x="1085644" y="147603"/>
                </a:lnTo>
                <a:lnTo>
                  <a:pt x="1082205" y="148284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700326" y="2802936"/>
            <a:ext cx="40640" cy="40640"/>
          </a:xfrm>
          <a:custGeom>
            <a:avLst/>
            <a:gdLst/>
            <a:ahLst/>
            <a:cxnLst/>
            <a:rect l="l" t="t" r="r" b="b"/>
            <a:pathLst>
              <a:path w="40640" h="40639">
                <a:moveTo>
                  <a:pt x="22906" y="40421"/>
                </a:moveTo>
                <a:lnTo>
                  <a:pt x="17542" y="40421"/>
                </a:lnTo>
                <a:lnTo>
                  <a:pt x="14962" y="39895"/>
                </a:lnTo>
                <a:lnTo>
                  <a:pt x="0" y="22887"/>
                </a:lnTo>
                <a:lnTo>
                  <a:pt x="0" y="17514"/>
                </a:lnTo>
                <a:lnTo>
                  <a:pt x="17542" y="0"/>
                </a:lnTo>
                <a:lnTo>
                  <a:pt x="22906" y="0"/>
                </a:lnTo>
                <a:lnTo>
                  <a:pt x="40448" y="20224"/>
                </a:lnTo>
                <a:lnTo>
                  <a:pt x="40448" y="22887"/>
                </a:lnTo>
                <a:lnTo>
                  <a:pt x="22906" y="40421"/>
                </a:lnTo>
                <a:close/>
              </a:path>
            </a:pathLst>
          </a:custGeom>
          <a:solidFill>
            <a:srgbClr val="11172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1731765" y="2755746"/>
            <a:ext cx="1038225" cy="148590"/>
          </a:xfrm>
          <a:custGeom>
            <a:avLst/>
            <a:gdLst/>
            <a:ahLst/>
            <a:cxnLst/>
            <a:rect l="l" t="t" r="r" b="b"/>
            <a:pathLst>
              <a:path w="1038225" h="148589">
                <a:moveTo>
                  <a:pt x="1014791" y="148284"/>
                </a:moveTo>
                <a:lnTo>
                  <a:pt x="23389" y="148284"/>
                </a:lnTo>
                <a:lnTo>
                  <a:pt x="19950" y="147603"/>
                </a:lnTo>
                <a:lnTo>
                  <a:pt x="0" y="124898"/>
                </a:lnTo>
                <a:lnTo>
                  <a:pt x="0" y="121345"/>
                </a:lnTo>
                <a:lnTo>
                  <a:pt x="0" y="23359"/>
                </a:lnTo>
                <a:lnTo>
                  <a:pt x="23389" y="0"/>
                </a:lnTo>
                <a:lnTo>
                  <a:pt x="1014791" y="0"/>
                </a:lnTo>
                <a:lnTo>
                  <a:pt x="1038180" y="23359"/>
                </a:lnTo>
                <a:lnTo>
                  <a:pt x="1038180" y="124898"/>
                </a:lnTo>
                <a:lnTo>
                  <a:pt x="1018230" y="147603"/>
                </a:lnTo>
                <a:lnTo>
                  <a:pt x="1014791" y="148284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3902507" y="2755746"/>
            <a:ext cx="1537335" cy="148590"/>
          </a:xfrm>
          <a:custGeom>
            <a:avLst/>
            <a:gdLst/>
            <a:ahLst/>
            <a:cxnLst/>
            <a:rect l="l" t="t" r="r" b="b"/>
            <a:pathLst>
              <a:path w="1537335" h="148589">
                <a:moveTo>
                  <a:pt x="1513657" y="148284"/>
                </a:moveTo>
                <a:lnTo>
                  <a:pt x="23389" y="148284"/>
                </a:lnTo>
                <a:lnTo>
                  <a:pt x="19949" y="147603"/>
                </a:lnTo>
                <a:lnTo>
                  <a:pt x="0" y="124898"/>
                </a:lnTo>
                <a:lnTo>
                  <a:pt x="0" y="121345"/>
                </a:lnTo>
                <a:lnTo>
                  <a:pt x="0" y="23359"/>
                </a:lnTo>
                <a:lnTo>
                  <a:pt x="23389" y="0"/>
                </a:lnTo>
                <a:lnTo>
                  <a:pt x="1513657" y="0"/>
                </a:lnTo>
                <a:lnTo>
                  <a:pt x="1537046" y="23359"/>
                </a:lnTo>
                <a:lnTo>
                  <a:pt x="1537046" y="124898"/>
                </a:lnTo>
                <a:lnTo>
                  <a:pt x="1517096" y="147603"/>
                </a:lnTo>
                <a:lnTo>
                  <a:pt x="1513657" y="148284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6147404" y="2755746"/>
            <a:ext cx="607060" cy="148590"/>
          </a:xfrm>
          <a:custGeom>
            <a:avLst/>
            <a:gdLst/>
            <a:ahLst/>
            <a:cxnLst/>
            <a:rect l="l" t="t" r="r" b="b"/>
            <a:pathLst>
              <a:path w="607059" h="148589">
                <a:moveTo>
                  <a:pt x="583338" y="148284"/>
                </a:moveTo>
                <a:lnTo>
                  <a:pt x="23389" y="148284"/>
                </a:lnTo>
                <a:lnTo>
                  <a:pt x="19949" y="147603"/>
                </a:lnTo>
                <a:lnTo>
                  <a:pt x="0" y="124898"/>
                </a:lnTo>
                <a:lnTo>
                  <a:pt x="0" y="121345"/>
                </a:lnTo>
                <a:lnTo>
                  <a:pt x="0" y="23359"/>
                </a:lnTo>
                <a:lnTo>
                  <a:pt x="23389" y="0"/>
                </a:lnTo>
                <a:lnTo>
                  <a:pt x="583338" y="0"/>
                </a:lnTo>
                <a:lnTo>
                  <a:pt x="606729" y="23359"/>
                </a:lnTo>
                <a:lnTo>
                  <a:pt x="606729" y="124898"/>
                </a:lnTo>
                <a:lnTo>
                  <a:pt x="586778" y="147603"/>
                </a:lnTo>
                <a:lnTo>
                  <a:pt x="583338" y="148284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700326" y="3193939"/>
            <a:ext cx="40640" cy="40640"/>
          </a:xfrm>
          <a:custGeom>
            <a:avLst/>
            <a:gdLst/>
            <a:ahLst/>
            <a:cxnLst/>
            <a:rect l="l" t="t" r="r" b="b"/>
            <a:pathLst>
              <a:path w="40640" h="40639">
                <a:moveTo>
                  <a:pt x="20224" y="40448"/>
                </a:moveTo>
                <a:lnTo>
                  <a:pt x="0" y="22887"/>
                </a:lnTo>
                <a:lnTo>
                  <a:pt x="0" y="17514"/>
                </a:lnTo>
                <a:lnTo>
                  <a:pt x="17542" y="0"/>
                </a:lnTo>
                <a:lnTo>
                  <a:pt x="22906" y="0"/>
                </a:lnTo>
                <a:lnTo>
                  <a:pt x="40448" y="20224"/>
                </a:lnTo>
                <a:lnTo>
                  <a:pt x="40448" y="22887"/>
                </a:lnTo>
                <a:lnTo>
                  <a:pt x="20224" y="40448"/>
                </a:lnTo>
                <a:close/>
              </a:path>
            </a:pathLst>
          </a:custGeom>
          <a:solidFill>
            <a:srgbClr val="11172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2129510" y="3146749"/>
            <a:ext cx="977900" cy="148590"/>
          </a:xfrm>
          <a:custGeom>
            <a:avLst/>
            <a:gdLst/>
            <a:ahLst/>
            <a:cxnLst/>
            <a:rect l="l" t="t" r="r" b="b"/>
            <a:pathLst>
              <a:path w="977900" h="148589">
                <a:moveTo>
                  <a:pt x="954117" y="148284"/>
                </a:moveTo>
                <a:lnTo>
                  <a:pt x="23389" y="148284"/>
                </a:lnTo>
                <a:lnTo>
                  <a:pt x="19949" y="147603"/>
                </a:lnTo>
                <a:lnTo>
                  <a:pt x="0" y="124898"/>
                </a:lnTo>
                <a:lnTo>
                  <a:pt x="0" y="121345"/>
                </a:lnTo>
                <a:lnTo>
                  <a:pt x="0" y="23359"/>
                </a:lnTo>
                <a:lnTo>
                  <a:pt x="23389" y="0"/>
                </a:lnTo>
                <a:lnTo>
                  <a:pt x="954117" y="0"/>
                </a:lnTo>
                <a:lnTo>
                  <a:pt x="977508" y="23359"/>
                </a:lnTo>
                <a:lnTo>
                  <a:pt x="977508" y="124898"/>
                </a:lnTo>
                <a:lnTo>
                  <a:pt x="957557" y="147603"/>
                </a:lnTo>
                <a:lnTo>
                  <a:pt x="954117" y="148284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5399105" y="3146707"/>
            <a:ext cx="1442720" cy="148590"/>
          </a:xfrm>
          <a:custGeom>
            <a:avLst/>
            <a:gdLst/>
            <a:ahLst/>
            <a:cxnLst/>
            <a:rect l="l" t="t" r="r" b="b"/>
            <a:pathLst>
              <a:path w="1442720" h="148589">
                <a:moveTo>
                  <a:pt x="1442666" y="148304"/>
                </a:moveTo>
                <a:lnTo>
                  <a:pt x="23389" y="148304"/>
                </a:lnTo>
                <a:lnTo>
                  <a:pt x="19949" y="147626"/>
                </a:lnTo>
                <a:lnTo>
                  <a:pt x="0" y="124921"/>
                </a:lnTo>
                <a:lnTo>
                  <a:pt x="0" y="23382"/>
                </a:lnTo>
                <a:lnTo>
                  <a:pt x="23389" y="0"/>
                </a:lnTo>
                <a:lnTo>
                  <a:pt x="1442666" y="0"/>
                </a:lnTo>
                <a:lnTo>
                  <a:pt x="1442666" y="148304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828413" y="3335471"/>
            <a:ext cx="276860" cy="148590"/>
          </a:xfrm>
          <a:custGeom>
            <a:avLst/>
            <a:gdLst/>
            <a:ahLst/>
            <a:cxnLst/>
            <a:rect l="l" t="t" r="r" b="b"/>
            <a:pathLst>
              <a:path w="276859" h="148589">
                <a:moveTo>
                  <a:pt x="253008" y="148302"/>
                </a:moveTo>
                <a:lnTo>
                  <a:pt x="0" y="148302"/>
                </a:lnTo>
                <a:lnTo>
                  <a:pt x="0" y="0"/>
                </a:lnTo>
                <a:lnTo>
                  <a:pt x="253008" y="0"/>
                </a:lnTo>
                <a:lnTo>
                  <a:pt x="256448" y="707"/>
                </a:lnTo>
                <a:lnTo>
                  <a:pt x="263055" y="3390"/>
                </a:lnTo>
                <a:lnTo>
                  <a:pt x="265972" y="5338"/>
                </a:lnTo>
                <a:lnTo>
                  <a:pt x="268500" y="7893"/>
                </a:lnTo>
                <a:lnTo>
                  <a:pt x="271029" y="10394"/>
                </a:lnTo>
                <a:lnTo>
                  <a:pt x="272977" y="13320"/>
                </a:lnTo>
                <a:lnTo>
                  <a:pt x="275714" y="19927"/>
                </a:lnTo>
                <a:lnTo>
                  <a:pt x="276398" y="23378"/>
                </a:lnTo>
                <a:lnTo>
                  <a:pt x="276398" y="124918"/>
                </a:lnTo>
                <a:lnTo>
                  <a:pt x="256448" y="147623"/>
                </a:lnTo>
                <a:lnTo>
                  <a:pt x="253008" y="148302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700326" y="3955721"/>
            <a:ext cx="40640" cy="40640"/>
          </a:xfrm>
          <a:custGeom>
            <a:avLst/>
            <a:gdLst/>
            <a:ahLst/>
            <a:cxnLst/>
            <a:rect l="l" t="t" r="r" b="b"/>
            <a:pathLst>
              <a:path w="40640" h="40639">
                <a:moveTo>
                  <a:pt x="22906" y="40421"/>
                </a:moveTo>
                <a:lnTo>
                  <a:pt x="17542" y="40421"/>
                </a:lnTo>
                <a:lnTo>
                  <a:pt x="14962" y="39895"/>
                </a:lnTo>
                <a:lnTo>
                  <a:pt x="0" y="22887"/>
                </a:lnTo>
                <a:lnTo>
                  <a:pt x="0" y="17514"/>
                </a:lnTo>
                <a:lnTo>
                  <a:pt x="17542" y="0"/>
                </a:lnTo>
                <a:lnTo>
                  <a:pt x="22906" y="0"/>
                </a:lnTo>
                <a:lnTo>
                  <a:pt x="40448" y="20224"/>
                </a:lnTo>
                <a:lnTo>
                  <a:pt x="40448" y="22887"/>
                </a:lnTo>
                <a:lnTo>
                  <a:pt x="22906" y="40421"/>
                </a:lnTo>
                <a:close/>
              </a:path>
            </a:pathLst>
          </a:custGeom>
          <a:solidFill>
            <a:srgbClr val="11172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2129510" y="3908531"/>
            <a:ext cx="614045" cy="148590"/>
          </a:xfrm>
          <a:custGeom>
            <a:avLst/>
            <a:gdLst/>
            <a:ahLst/>
            <a:cxnLst/>
            <a:rect l="l" t="t" r="r" b="b"/>
            <a:pathLst>
              <a:path w="614044" h="148589">
                <a:moveTo>
                  <a:pt x="590080" y="148284"/>
                </a:moveTo>
                <a:lnTo>
                  <a:pt x="23389" y="148284"/>
                </a:lnTo>
                <a:lnTo>
                  <a:pt x="19949" y="147576"/>
                </a:lnTo>
                <a:lnTo>
                  <a:pt x="0" y="124898"/>
                </a:lnTo>
                <a:lnTo>
                  <a:pt x="0" y="121345"/>
                </a:lnTo>
                <a:lnTo>
                  <a:pt x="0" y="23359"/>
                </a:lnTo>
                <a:lnTo>
                  <a:pt x="23389" y="0"/>
                </a:lnTo>
                <a:lnTo>
                  <a:pt x="590080" y="0"/>
                </a:lnTo>
                <a:lnTo>
                  <a:pt x="613470" y="23359"/>
                </a:lnTo>
                <a:lnTo>
                  <a:pt x="613470" y="124898"/>
                </a:lnTo>
                <a:lnTo>
                  <a:pt x="593520" y="147576"/>
                </a:lnTo>
                <a:lnTo>
                  <a:pt x="590080" y="148284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2999143" y="3908513"/>
            <a:ext cx="1058545" cy="337185"/>
          </a:xfrm>
          <a:custGeom>
            <a:avLst/>
            <a:gdLst/>
            <a:ahLst/>
            <a:cxnLst/>
            <a:rect l="l" t="t" r="r" b="b"/>
            <a:pathLst>
              <a:path w="1058545" h="337185">
                <a:moveTo>
                  <a:pt x="1038186" y="212128"/>
                </a:moveTo>
                <a:lnTo>
                  <a:pt x="1014793" y="188760"/>
                </a:lnTo>
                <a:lnTo>
                  <a:pt x="23393" y="188760"/>
                </a:lnTo>
                <a:lnTo>
                  <a:pt x="0" y="212128"/>
                </a:lnTo>
                <a:lnTo>
                  <a:pt x="0" y="310108"/>
                </a:lnTo>
                <a:lnTo>
                  <a:pt x="0" y="313664"/>
                </a:lnTo>
                <a:lnTo>
                  <a:pt x="23393" y="337045"/>
                </a:lnTo>
                <a:lnTo>
                  <a:pt x="1014793" y="337045"/>
                </a:lnTo>
                <a:lnTo>
                  <a:pt x="1038186" y="313664"/>
                </a:lnTo>
                <a:lnTo>
                  <a:pt x="1038186" y="212128"/>
                </a:lnTo>
                <a:close/>
              </a:path>
              <a:path w="1058545" h="337185">
                <a:moveTo>
                  <a:pt x="1058405" y="23368"/>
                </a:moveTo>
                <a:lnTo>
                  <a:pt x="1035024" y="0"/>
                </a:lnTo>
                <a:lnTo>
                  <a:pt x="407657" y="0"/>
                </a:lnTo>
                <a:lnTo>
                  <a:pt x="384263" y="23368"/>
                </a:lnTo>
                <a:lnTo>
                  <a:pt x="384263" y="121348"/>
                </a:lnTo>
                <a:lnTo>
                  <a:pt x="384263" y="124904"/>
                </a:lnTo>
                <a:lnTo>
                  <a:pt x="407657" y="148285"/>
                </a:lnTo>
                <a:lnTo>
                  <a:pt x="1035024" y="148285"/>
                </a:lnTo>
                <a:lnTo>
                  <a:pt x="1058405" y="124904"/>
                </a:lnTo>
                <a:lnTo>
                  <a:pt x="1058405" y="23368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828413" y="4097291"/>
            <a:ext cx="1106170" cy="148590"/>
          </a:xfrm>
          <a:custGeom>
            <a:avLst/>
            <a:gdLst/>
            <a:ahLst/>
            <a:cxnLst/>
            <a:rect l="l" t="t" r="r" b="b"/>
            <a:pathLst>
              <a:path w="1106170" h="148589">
                <a:moveTo>
                  <a:pt x="1082205" y="148284"/>
                </a:moveTo>
                <a:lnTo>
                  <a:pt x="23389" y="148284"/>
                </a:lnTo>
                <a:lnTo>
                  <a:pt x="19950" y="147603"/>
                </a:lnTo>
                <a:lnTo>
                  <a:pt x="0" y="124898"/>
                </a:lnTo>
                <a:lnTo>
                  <a:pt x="0" y="121345"/>
                </a:lnTo>
                <a:lnTo>
                  <a:pt x="0" y="23359"/>
                </a:lnTo>
                <a:lnTo>
                  <a:pt x="23389" y="0"/>
                </a:lnTo>
                <a:lnTo>
                  <a:pt x="1082205" y="0"/>
                </a:lnTo>
                <a:lnTo>
                  <a:pt x="1105595" y="23359"/>
                </a:lnTo>
                <a:lnTo>
                  <a:pt x="1105595" y="124898"/>
                </a:lnTo>
                <a:lnTo>
                  <a:pt x="1085644" y="147603"/>
                </a:lnTo>
                <a:lnTo>
                  <a:pt x="1082205" y="148284"/>
                </a:lnTo>
                <a:close/>
              </a:path>
            </a:pathLst>
          </a:custGeom>
          <a:solidFill>
            <a:srgbClr val="F4F5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 txBox="1"/>
          <p:nvPr/>
        </p:nvSpPr>
        <p:spPr>
          <a:xfrm>
            <a:off x="818347" y="529777"/>
            <a:ext cx="6075045" cy="408495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26670">
              <a:lnSpc>
                <a:spcPct val="123900"/>
              </a:lnSpc>
              <a:spcBef>
                <a:spcPts val="100"/>
              </a:spcBef>
            </a:pPr>
            <a:r>
              <a:rPr dirty="0" sz="800" b="1">
                <a:solidFill>
                  <a:srgbClr val="111726"/>
                </a:solidFill>
                <a:latin typeface="Courier New"/>
                <a:cs typeface="Courier New"/>
              </a:rPr>
              <a:t>config.py</a:t>
            </a:r>
            <a:r>
              <a:rPr dirty="0" sz="800" spc="-40" b="1">
                <a:solidFill>
                  <a:srgbClr val="111726"/>
                </a:solidFill>
                <a:latin typeface="Courier New"/>
                <a:cs typeface="Courier New"/>
              </a:rPr>
              <a:t> </a:t>
            </a:r>
            <a:r>
              <a:rPr dirty="0" sz="1000" spc="-105" b="1">
                <a:solidFill>
                  <a:srgbClr val="111726"/>
                </a:solidFill>
                <a:latin typeface="Source Han Sans JP"/>
                <a:cs typeface="Source Han Sans JP"/>
              </a:rPr>
              <a:t>hardcodes</a:t>
            </a:r>
            <a:r>
              <a:rPr dirty="0" sz="1000" spc="-10" b="1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95" b="1">
                <a:solidFill>
                  <a:srgbClr val="111726"/>
                </a:solidFill>
                <a:latin typeface="Source Han Sans JP"/>
                <a:cs typeface="Source Han Sans JP"/>
              </a:rPr>
              <a:t>a</a:t>
            </a:r>
            <a:r>
              <a:rPr dirty="0" sz="1000" spc="-15" b="1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100" b="1">
                <a:solidFill>
                  <a:srgbClr val="111726"/>
                </a:solidFill>
                <a:latin typeface="Source Han Sans JP"/>
                <a:cs typeface="Source Han Sans JP"/>
              </a:rPr>
              <a:t>database</a:t>
            </a:r>
            <a:r>
              <a:rPr dirty="0" sz="1000" spc="-15" b="1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105" b="1">
                <a:solidFill>
                  <a:srgbClr val="111726"/>
                </a:solidFill>
                <a:latin typeface="Source Han Sans JP"/>
                <a:cs typeface="Source Han Sans JP"/>
              </a:rPr>
              <a:t>password</a:t>
            </a:r>
            <a:r>
              <a:rPr dirty="0" sz="1000" spc="-20" b="1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60">
                <a:solidFill>
                  <a:srgbClr val="111726"/>
                </a:solidFill>
                <a:latin typeface="Source Han Sans JP"/>
                <a:cs typeface="Source Han Sans JP"/>
              </a:rPr>
              <a:t>(</a:t>
            </a:r>
            <a:r>
              <a:rPr dirty="0" sz="1000" spc="10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800">
                <a:solidFill>
                  <a:srgbClr val="111726"/>
                </a:solidFill>
                <a:latin typeface="Courier New"/>
                <a:cs typeface="Courier New"/>
              </a:rPr>
              <a:t>DB_PASSWORD</a:t>
            </a:r>
            <a:r>
              <a:rPr dirty="0" sz="800" spc="55">
                <a:solidFill>
                  <a:srgbClr val="111726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111726"/>
                </a:solidFill>
                <a:latin typeface="Courier New"/>
                <a:cs typeface="Courier New"/>
              </a:rPr>
              <a:t>=</a:t>
            </a:r>
            <a:r>
              <a:rPr dirty="0" sz="800" spc="50">
                <a:solidFill>
                  <a:srgbClr val="111726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111726"/>
                </a:solidFill>
                <a:latin typeface="Courier New"/>
                <a:cs typeface="Courier New"/>
              </a:rPr>
              <a:t>"ADMIN123"</a:t>
            </a:r>
            <a:r>
              <a:rPr dirty="0" sz="800" spc="-245">
                <a:solidFill>
                  <a:srgbClr val="111726"/>
                </a:solidFill>
                <a:latin typeface="Courier New"/>
                <a:cs typeface="Courier New"/>
              </a:rPr>
              <a:t> </a:t>
            </a:r>
            <a:r>
              <a:rPr dirty="0" sz="1000" spc="-60">
                <a:solidFill>
                  <a:srgbClr val="111726"/>
                </a:solidFill>
                <a:latin typeface="Source Han Sans JP"/>
                <a:cs typeface="Source Han Sans JP"/>
              </a:rPr>
              <a:t>)</a:t>
            </a:r>
            <a:r>
              <a:rPr dirty="0" sz="1000" spc="-1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75">
                <a:solidFill>
                  <a:srgbClr val="111726"/>
                </a:solidFill>
                <a:latin typeface="Source Han Sans JP"/>
                <a:cs typeface="Source Han Sans JP"/>
              </a:rPr>
              <a:t>directly</a:t>
            </a:r>
            <a:r>
              <a:rPr dirty="0" sz="1000" spc="-1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85">
                <a:solidFill>
                  <a:srgbClr val="111726"/>
                </a:solidFill>
                <a:latin typeface="Source Han Sans JP"/>
                <a:cs typeface="Source Han Sans JP"/>
              </a:rPr>
              <a:t>in</a:t>
            </a:r>
            <a:r>
              <a:rPr dirty="0" sz="1000" spc="-10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85">
                <a:solidFill>
                  <a:srgbClr val="111726"/>
                </a:solidFill>
                <a:latin typeface="Source Han Sans JP"/>
                <a:cs typeface="Source Han Sans JP"/>
              </a:rPr>
              <a:t>source.</a:t>
            </a:r>
            <a:r>
              <a:rPr dirty="0" sz="1000" spc="-1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85">
                <a:solidFill>
                  <a:srgbClr val="111726"/>
                </a:solidFill>
                <a:latin typeface="Source Han Sans JP"/>
                <a:cs typeface="Source Han Sans JP"/>
              </a:rPr>
              <a:t>For</a:t>
            </a:r>
            <a:r>
              <a:rPr dirty="0" sz="1000" spc="-1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85">
                <a:solidFill>
                  <a:srgbClr val="111726"/>
                </a:solidFill>
                <a:latin typeface="Source Han Sans JP"/>
                <a:cs typeface="Source Han Sans JP"/>
              </a:rPr>
              <a:t>anything</a:t>
            </a:r>
            <a:r>
              <a:rPr dirty="0" sz="1000" spc="-1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10">
                <a:solidFill>
                  <a:srgbClr val="111726"/>
                </a:solidFill>
                <a:latin typeface="Source Han Sans JP"/>
                <a:cs typeface="Source Han Sans JP"/>
              </a:rPr>
              <a:t>beyond </a:t>
            </a:r>
            <a:r>
              <a:rPr dirty="0" sz="1000" spc="-75">
                <a:solidFill>
                  <a:srgbClr val="111726"/>
                </a:solidFill>
                <a:latin typeface="Source Han Sans JP"/>
                <a:cs typeface="Source Han Sans JP"/>
              </a:rPr>
              <a:t>local</a:t>
            </a:r>
            <a:r>
              <a:rPr dirty="0" sz="1000" spc="-3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80">
                <a:solidFill>
                  <a:srgbClr val="111726"/>
                </a:solidFill>
                <a:latin typeface="Source Han Sans JP"/>
                <a:cs typeface="Source Han Sans JP"/>
              </a:rPr>
              <a:t>testing,</a:t>
            </a:r>
            <a:r>
              <a:rPr dirty="0" sz="1000" spc="-3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70">
                <a:solidFill>
                  <a:srgbClr val="111726"/>
                </a:solidFill>
                <a:latin typeface="Source Han Sans JP"/>
                <a:cs typeface="Source Han Sans JP"/>
              </a:rPr>
              <a:t>this</a:t>
            </a:r>
            <a:r>
              <a:rPr dirty="0" sz="1000" spc="-3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85">
                <a:solidFill>
                  <a:srgbClr val="111726"/>
                </a:solidFill>
                <a:latin typeface="Source Han Sans JP"/>
                <a:cs typeface="Source Han Sans JP"/>
              </a:rPr>
              <a:t>should</a:t>
            </a:r>
            <a:r>
              <a:rPr dirty="0" sz="1000" spc="-3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100">
                <a:solidFill>
                  <a:srgbClr val="111726"/>
                </a:solidFill>
                <a:latin typeface="Source Han Sans JP"/>
                <a:cs typeface="Source Han Sans JP"/>
              </a:rPr>
              <a:t>be</a:t>
            </a:r>
            <a:r>
              <a:rPr dirty="0" sz="1000" spc="-3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105">
                <a:solidFill>
                  <a:srgbClr val="111726"/>
                </a:solidFill>
                <a:latin typeface="Source Han Sans JP"/>
                <a:cs typeface="Source Han Sans JP"/>
              </a:rPr>
              <a:t>moved</a:t>
            </a:r>
            <a:r>
              <a:rPr dirty="0" sz="1000" spc="-3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90">
                <a:solidFill>
                  <a:srgbClr val="111726"/>
                </a:solidFill>
                <a:latin typeface="Source Han Sans JP"/>
                <a:cs typeface="Source Han Sans JP"/>
              </a:rPr>
              <a:t>to</a:t>
            </a:r>
            <a:r>
              <a:rPr dirty="0" sz="1000" spc="-3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100">
                <a:solidFill>
                  <a:srgbClr val="111726"/>
                </a:solidFill>
                <a:latin typeface="Source Han Sans JP"/>
                <a:cs typeface="Source Han Sans JP"/>
              </a:rPr>
              <a:t>an</a:t>
            </a:r>
            <a:r>
              <a:rPr dirty="0" sz="1000" spc="-3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95">
                <a:solidFill>
                  <a:srgbClr val="111726"/>
                </a:solidFill>
                <a:latin typeface="Source Han Sans JP"/>
                <a:cs typeface="Source Han Sans JP"/>
              </a:rPr>
              <a:t>environment</a:t>
            </a:r>
            <a:r>
              <a:rPr dirty="0" sz="1000" spc="-3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80">
                <a:solidFill>
                  <a:srgbClr val="111726"/>
                </a:solidFill>
                <a:latin typeface="Source Han Sans JP"/>
                <a:cs typeface="Source Han Sans JP"/>
              </a:rPr>
              <a:t>variable</a:t>
            </a:r>
            <a:r>
              <a:rPr dirty="0" sz="1000" spc="-3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65">
                <a:solidFill>
                  <a:srgbClr val="111726"/>
                </a:solidFill>
                <a:latin typeface="Source Han Sans JP"/>
                <a:cs typeface="Source Han Sans JP"/>
              </a:rPr>
              <a:t>(e.g.</a:t>
            </a:r>
            <a:r>
              <a:rPr dirty="0" sz="1000" spc="-3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90">
                <a:solidFill>
                  <a:srgbClr val="111726"/>
                </a:solidFill>
                <a:latin typeface="Source Han Sans JP"/>
                <a:cs typeface="Source Han Sans JP"/>
              </a:rPr>
              <a:t>loaded</a:t>
            </a:r>
            <a:r>
              <a:rPr dirty="0" sz="1000" spc="-3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30">
                <a:solidFill>
                  <a:srgbClr val="111726"/>
                </a:solidFill>
                <a:latin typeface="Source Han Sans JP"/>
                <a:cs typeface="Source Han Sans JP"/>
              </a:rPr>
              <a:t>via</a:t>
            </a:r>
            <a:r>
              <a:rPr dirty="0" sz="1000" spc="18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800">
                <a:solidFill>
                  <a:srgbClr val="111726"/>
                </a:solidFill>
                <a:latin typeface="Courier New"/>
                <a:cs typeface="Courier New"/>
              </a:rPr>
              <a:t>os.environ</a:t>
            </a:r>
            <a:r>
              <a:rPr dirty="0" sz="800" spc="-75">
                <a:solidFill>
                  <a:srgbClr val="111726"/>
                </a:solidFill>
                <a:latin typeface="Courier New"/>
                <a:cs typeface="Courier New"/>
              </a:rPr>
              <a:t> </a:t>
            </a:r>
            <a:r>
              <a:rPr dirty="0" sz="1000" spc="-80">
                <a:solidFill>
                  <a:srgbClr val="111726"/>
                </a:solidFill>
                <a:latin typeface="Source Han Sans JP"/>
                <a:cs typeface="Source Han Sans JP"/>
              </a:rPr>
              <a:t>or</a:t>
            </a:r>
            <a:r>
              <a:rPr dirty="0" sz="1000" spc="-3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>
                <a:solidFill>
                  <a:srgbClr val="111726"/>
                </a:solidFill>
                <a:latin typeface="Source Han Sans JP"/>
                <a:cs typeface="Source Han Sans JP"/>
              </a:rPr>
              <a:t>a</a:t>
            </a:r>
            <a:r>
              <a:rPr dirty="0" sz="1000" spc="18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800">
                <a:solidFill>
                  <a:srgbClr val="111726"/>
                </a:solidFill>
                <a:latin typeface="Courier New"/>
                <a:cs typeface="Courier New"/>
              </a:rPr>
              <a:t>.env</a:t>
            </a:r>
            <a:r>
              <a:rPr dirty="0" sz="800" spc="-75">
                <a:solidFill>
                  <a:srgbClr val="111726"/>
                </a:solidFill>
                <a:latin typeface="Courier New"/>
                <a:cs typeface="Courier New"/>
              </a:rPr>
              <a:t> </a:t>
            </a:r>
            <a:r>
              <a:rPr dirty="0" sz="950" spc="-40">
                <a:solidFill>
                  <a:srgbClr val="111726"/>
                </a:solidFill>
                <a:latin typeface="Arial"/>
                <a:cs typeface="Arial"/>
              </a:rPr>
              <a:t>ﬁ</a:t>
            </a:r>
            <a:r>
              <a:rPr dirty="0" sz="1000" spc="-40">
                <a:solidFill>
                  <a:srgbClr val="111726"/>
                </a:solidFill>
                <a:latin typeface="Source Han Sans JP"/>
                <a:cs typeface="Source Han Sans JP"/>
              </a:rPr>
              <a:t>le</a:t>
            </a:r>
            <a:r>
              <a:rPr dirty="0" sz="1000" spc="-3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55">
                <a:solidFill>
                  <a:srgbClr val="111726"/>
                </a:solidFill>
                <a:latin typeface="Source Han Sans JP"/>
                <a:cs typeface="Source Han Sans JP"/>
              </a:rPr>
              <a:t>with</a:t>
            </a:r>
            <a:r>
              <a:rPr dirty="0" sz="1000" spc="18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800" spc="-10">
                <a:solidFill>
                  <a:srgbClr val="111726"/>
                </a:solidFill>
                <a:latin typeface="Courier New"/>
                <a:cs typeface="Courier New"/>
              </a:rPr>
              <a:t>python-</a:t>
            </a:r>
            <a:r>
              <a:rPr dirty="0" sz="800">
                <a:solidFill>
                  <a:srgbClr val="111726"/>
                </a:solidFill>
                <a:latin typeface="Courier New"/>
                <a:cs typeface="Courier New"/>
              </a:rPr>
              <a:t>dotenv</a:t>
            </a:r>
            <a:r>
              <a:rPr dirty="0" sz="800" spc="-240">
                <a:solidFill>
                  <a:srgbClr val="111726"/>
                </a:solidFill>
                <a:latin typeface="Courier New"/>
                <a:cs typeface="Courier New"/>
              </a:rPr>
              <a:t> </a:t>
            </a:r>
            <a:r>
              <a:rPr dirty="0" sz="1000" spc="-25">
                <a:solidFill>
                  <a:srgbClr val="111726"/>
                </a:solidFill>
                <a:latin typeface="Source Han Sans JP"/>
                <a:cs typeface="Source Han Sans JP"/>
              </a:rPr>
              <a:t>).</a:t>
            </a:r>
            <a:endParaRPr sz="1000">
              <a:latin typeface="Source Han Sans JP"/>
              <a:cs typeface="Source Han Sans JP"/>
            </a:endParaRPr>
          </a:p>
          <a:p>
            <a:pPr marL="12700" marR="42545">
              <a:lnSpc>
                <a:spcPct val="123900"/>
              </a:lnSpc>
              <a:spcBef>
                <a:spcPts val="215"/>
              </a:spcBef>
            </a:pPr>
            <a:r>
              <a:rPr dirty="0" sz="1000" spc="-85">
                <a:solidFill>
                  <a:srgbClr val="111726"/>
                </a:solidFill>
                <a:latin typeface="Source Han Sans JP"/>
                <a:cs typeface="Source Han Sans JP"/>
              </a:rPr>
              <a:t>In</a:t>
            </a:r>
            <a:r>
              <a:rPr dirty="0" sz="1000" spc="-3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90">
                <a:solidFill>
                  <a:srgbClr val="111726"/>
                </a:solidFill>
                <a:latin typeface="Source Han Sans JP"/>
                <a:cs typeface="Source Han Sans JP"/>
              </a:rPr>
              <a:t>the</a:t>
            </a:r>
            <a:r>
              <a:rPr dirty="0" sz="1000" spc="-3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80" b="1">
                <a:solidFill>
                  <a:srgbClr val="111726"/>
                </a:solidFill>
                <a:latin typeface="Source Han Sans JP"/>
                <a:cs typeface="Source Han Sans JP"/>
              </a:rPr>
              <a:t>Solr</a:t>
            </a:r>
            <a:r>
              <a:rPr dirty="0" sz="1000" spc="-35" b="1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70" b="1">
                <a:solidFill>
                  <a:srgbClr val="111726"/>
                </a:solidFill>
                <a:latin typeface="Source Han Sans JP"/>
                <a:cs typeface="Source Han Sans JP"/>
              </a:rPr>
              <a:t>project</a:t>
            </a:r>
            <a:r>
              <a:rPr dirty="0" sz="1000" spc="-70">
                <a:solidFill>
                  <a:srgbClr val="111726"/>
                </a:solidFill>
                <a:latin typeface="Source Han Sans JP"/>
                <a:cs typeface="Source Han Sans JP"/>
              </a:rPr>
              <a:t>,</a:t>
            </a:r>
            <a:r>
              <a:rPr dirty="0" sz="1000" spc="140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800">
                <a:solidFill>
                  <a:srgbClr val="111726"/>
                </a:solidFill>
                <a:latin typeface="Courier New"/>
                <a:cs typeface="Courier New"/>
              </a:rPr>
              <a:t>config.py</a:t>
            </a:r>
            <a:r>
              <a:rPr dirty="0" sz="800" spc="-85">
                <a:solidFill>
                  <a:srgbClr val="111726"/>
                </a:solidFill>
                <a:latin typeface="Courier New"/>
                <a:cs typeface="Courier New"/>
              </a:rPr>
              <a:t> </a:t>
            </a:r>
            <a:r>
              <a:rPr dirty="0" sz="1000" spc="-55">
                <a:solidFill>
                  <a:srgbClr val="111726"/>
                </a:solidFill>
                <a:latin typeface="Source Han Sans JP"/>
                <a:cs typeface="Source Han Sans JP"/>
              </a:rPr>
              <a:t>de</a:t>
            </a:r>
            <a:r>
              <a:rPr dirty="0" sz="950" spc="-55">
                <a:solidFill>
                  <a:srgbClr val="111726"/>
                </a:solidFill>
                <a:latin typeface="Arial"/>
                <a:cs typeface="Arial"/>
              </a:rPr>
              <a:t>ﬁ</a:t>
            </a:r>
            <a:r>
              <a:rPr dirty="0" sz="1000" spc="-55">
                <a:solidFill>
                  <a:srgbClr val="111726"/>
                </a:solidFill>
                <a:latin typeface="Source Han Sans JP"/>
                <a:cs typeface="Source Han Sans JP"/>
              </a:rPr>
              <a:t>nes</a:t>
            </a:r>
            <a:r>
              <a:rPr dirty="0" sz="1000" spc="170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800">
                <a:solidFill>
                  <a:srgbClr val="111726"/>
                </a:solidFill>
                <a:latin typeface="Courier New"/>
                <a:cs typeface="Courier New"/>
              </a:rPr>
              <a:t>PDF_PATH</a:t>
            </a:r>
            <a:r>
              <a:rPr dirty="0" sz="800" spc="-270">
                <a:solidFill>
                  <a:srgbClr val="111726"/>
                </a:solidFill>
                <a:latin typeface="Courier New"/>
                <a:cs typeface="Courier New"/>
              </a:rPr>
              <a:t> </a:t>
            </a:r>
            <a:r>
              <a:rPr dirty="0" sz="1000">
                <a:solidFill>
                  <a:srgbClr val="111726"/>
                </a:solidFill>
                <a:latin typeface="Source Han Sans JP"/>
                <a:cs typeface="Source Han Sans JP"/>
              </a:rPr>
              <a:t>,</a:t>
            </a:r>
            <a:r>
              <a:rPr dirty="0" sz="1000" spc="17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800">
                <a:solidFill>
                  <a:srgbClr val="111726"/>
                </a:solidFill>
                <a:latin typeface="Courier New"/>
                <a:cs typeface="Courier New"/>
              </a:rPr>
              <a:t>CHUNK_SIZE</a:t>
            </a:r>
            <a:r>
              <a:rPr dirty="0" sz="800" spc="-270">
                <a:solidFill>
                  <a:srgbClr val="111726"/>
                </a:solidFill>
                <a:latin typeface="Courier New"/>
                <a:cs typeface="Courier New"/>
              </a:rPr>
              <a:t> </a:t>
            </a:r>
            <a:r>
              <a:rPr dirty="0" sz="1000" spc="-50">
                <a:solidFill>
                  <a:srgbClr val="111726"/>
                </a:solidFill>
                <a:latin typeface="Source Han Sans JP"/>
                <a:cs typeface="Source Han Sans JP"/>
              </a:rPr>
              <a:t>,</a:t>
            </a:r>
            <a:r>
              <a:rPr dirty="0" sz="1000" spc="-3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55">
                <a:solidFill>
                  <a:srgbClr val="111726"/>
                </a:solidFill>
                <a:latin typeface="Source Han Sans JP"/>
                <a:cs typeface="Source Han Sans JP"/>
              </a:rPr>
              <a:t>and</a:t>
            </a:r>
            <a:r>
              <a:rPr dirty="0" sz="1000" spc="170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800">
                <a:solidFill>
                  <a:srgbClr val="111726"/>
                </a:solidFill>
                <a:latin typeface="Courier New"/>
                <a:cs typeface="Courier New"/>
              </a:rPr>
              <a:t>CHUNK_OVERLAP</a:t>
            </a:r>
            <a:r>
              <a:rPr dirty="0" sz="800" spc="-270">
                <a:solidFill>
                  <a:srgbClr val="111726"/>
                </a:solidFill>
                <a:latin typeface="Courier New"/>
                <a:cs typeface="Courier New"/>
              </a:rPr>
              <a:t> </a:t>
            </a:r>
            <a:r>
              <a:rPr dirty="0" sz="1000" spc="-50">
                <a:solidFill>
                  <a:srgbClr val="111726"/>
                </a:solidFill>
                <a:latin typeface="Source Han Sans JP"/>
                <a:cs typeface="Source Han Sans JP"/>
              </a:rPr>
              <a:t>,</a:t>
            </a:r>
            <a:r>
              <a:rPr dirty="0" sz="1000" spc="-3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45">
                <a:solidFill>
                  <a:srgbClr val="111726"/>
                </a:solidFill>
                <a:latin typeface="Source Han Sans JP"/>
                <a:cs typeface="Source Han Sans JP"/>
              </a:rPr>
              <a:t>but</a:t>
            </a:r>
            <a:r>
              <a:rPr dirty="0" sz="1000" spc="170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800">
                <a:solidFill>
                  <a:srgbClr val="111726"/>
                </a:solidFill>
                <a:latin typeface="Courier New"/>
                <a:cs typeface="Courier New"/>
              </a:rPr>
              <a:t>ingest.py</a:t>
            </a:r>
            <a:r>
              <a:rPr dirty="0" sz="800" spc="-85">
                <a:solidFill>
                  <a:srgbClr val="111726"/>
                </a:solidFill>
                <a:latin typeface="Courier New"/>
                <a:cs typeface="Courier New"/>
              </a:rPr>
              <a:t> </a:t>
            </a:r>
            <a:r>
              <a:rPr dirty="0" sz="1000" spc="-95">
                <a:solidFill>
                  <a:srgbClr val="111726"/>
                </a:solidFill>
                <a:latin typeface="Source Han Sans JP"/>
                <a:cs typeface="Source Han Sans JP"/>
              </a:rPr>
              <a:t>hardcodes</a:t>
            </a:r>
            <a:r>
              <a:rPr dirty="0" sz="1000" spc="-3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25">
                <a:solidFill>
                  <a:srgbClr val="111726"/>
                </a:solidFill>
                <a:latin typeface="Source Han Sans JP"/>
                <a:cs typeface="Source Han Sans JP"/>
              </a:rPr>
              <a:t>the</a:t>
            </a:r>
            <a:r>
              <a:rPr dirty="0" sz="1000" spc="500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100">
                <a:solidFill>
                  <a:srgbClr val="111726"/>
                </a:solidFill>
                <a:latin typeface="Source Han Sans JP"/>
                <a:cs typeface="Source Han Sans JP"/>
              </a:rPr>
              <a:t>same</a:t>
            </a:r>
            <a:r>
              <a:rPr dirty="0" sz="1000" spc="-2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85">
                <a:solidFill>
                  <a:srgbClr val="111726"/>
                </a:solidFill>
                <a:latin typeface="Source Han Sans JP"/>
                <a:cs typeface="Source Han Sans JP"/>
              </a:rPr>
              <a:t>values</a:t>
            </a:r>
            <a:r>
              <a:rPr dirty="0" sz="1000" spc="-20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75">
                <a:solidFill>
                  <a:srgbClr val="111726"/>
                </a:solidFill>
                <a:latin typeface="Source Han Sans JP"/>
                <a:cs typeface="Source Han Sans JP"/>
              </a:rPr>
              <a:t>directly</a:t>
            </a:r>
            <a:r>
              <a:rPr dirty="0" sz="1000" spc="-20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90">
                <a:solidFill>
                  <a:srgbClr val="111726"/>
                </a:solidFill>
                <a:latin typeface="Source Han Sans JP"/>
                <a:cs typeface="Source Han Sans JP"/>
              </a:rPr>
              <a:t>instead</a:t>
            </a:r>
            <a:r>
              <a:rPr dirty="0" sz="1000" spc="-20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75">
                <a:solidFill>
                  <a:srgbClr val="111726"/>
                </a:solidFill>
                <a:latin typeface="Source Han Sans JP"/>
                <a:cs typeface="Source Han Sans JP"/>
              </a:rPr>
              <a:t>of</a:t>
            </a:r>
            <a:r>
              <a:rPr dirty="0" sz="1000" spc="-20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85">
                <a:solidFill>
                  <a:srgbClr val="111726"/>
                </a:solidFill>
                <a:latin typeface="Source Han Sans JP"/>
                <a:cs typeface="Source Han Sans JP"/>
              </a:rPr>
              <a:t>importing</a:t>
            </a:r>
            <a:r>
              <a:rPr dirty="0" sz="1000" spc="-20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100">
                <a:solidFill>
                  <a:srgbClr val="111726"/>
                </a:solidFill>
                <a:latin typeface="Source Han Sans JP"/>
                <a:cs typeface="Source Han Sans JP"/>
              </a:rPr>
              <a:t>them</a:t>
            </a:r>
            <a:r>
              <a:rPr dirty="0" sz="1000" spc="-2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950" spc="-204">
                <a:solidFill>
                  <a:srgbClr val="111726"/>
                </a:solidFill>
                <a:latin typeface="Arial"/>
                <a:cs typeface="Arial"/>
              </a:rPr>
              <a:t>—</a:t>
            </a:r>
            <a:r>
              <a:rPr dirty="0" sz="950" spc="-60">
                <a:solidFill>
                  <a:srgbClr val="111726"/>
                </a:solidFill>
                <a:latin typeface="Arial"/>
                <a:cs typeface="Arial"/>
              </a:rPr>
              <a:t> </a:t>
            </a:r>
            <a:r>
              <a:rPr dirty="0" sz="1000" spc="-80">
                <a:solidFill>
                  <a:srgbClr val="111726"/>
                </a:solidFill>
                <a:latin typeface="Source Han Sans JP"/>
                <a:cs typeface="Source Han Sans JP"/>
              </a:rPr>
              <a:t>functionally</a:t>
            </a:r>
            <a:r>
              <a:rPr dirty="0" sz="1000" spc="-20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85">
                <a:solidFill>
                  <a:srgbClr val="111726"/>
                </a:solidFill>
                <a:latin typeface="Source Han Sans JP"/>
                <a:cs typeface="Source Han Sans JP"/>
              </a:rPr>
              <a:t>equivalent</a:t>
            </a:r>
            <a:r>
              <a:rPr dirty="0" sz="1000" spc="-20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90">
                <a:solidFill>
                  <a:srgbClr val="111726"/>
                </a:solidFill>
                <a:latin typeface="Source Han Sans JP"/>
                <a:cs typeface="Source Han Sans JP"/>
              </a:rPr>
              <a:t>today,</a:t>
            </a:r>
            <a:r>
              <a:rPr dirty="0" sz="1000" spc="-20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85">
                <a:solidFill>
                  <a:srgbClr val="111726"/>
                </a:solidFill>
                <a:latin typeface="Source Han Sans JP"/>
                <a:cs typeface="Source Han Sans JP"/>
              </a:rPr>
              <a:t>but</a:t>
            </a:r>
            <a:r>
              <a:rPr dirty="0" sz="1000" spc="-2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90">
                <a:solidFill>
                  <a:srgbClr val="111726"/>
                </a:solidFill>
                <a:latin typeface="Source Han Sans JP"/>
                <a:cs typeface="Source Han Sans JP"/>
              </a:rPr>
              <a:t>any</a:t>
            </a:r>
            <a:r>
              <a:rPr dirty="0" sz="1000" spc="-20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80">
                <a:solidFill>
                  <a:srgbClr val="111726"/>
                </a:solidFill>
                <a:latin typeface="Source Han Sans JP"/>
                <a:cs typeface="Source Han Sans JP"/>
              </a:rPr>
              <a:t>future</a:t>
            </a:r>
            <a:r>
              <a:rPr dirty="0" sz="1000" spc="-20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95">
                <a:solidFill>
                  <a:srgbClr val="111726"/>
                </a:solidFill>
                <a:latin typeface="Source Han Sans JP"/>
                <a:cs typeface="Source Han Sans JP"/>
              </a:rPr>
              <a:t>change</a:t>
            </a:r>
            <a:r>
              <a:rPr dirty="0" sz="1000" spc="-20">
                <a:solidFill>
                  <a:srgbClr val="111726"/>
                </a:solidFill>
                <a:latin typeface="Source Han Sans JP"/>
                <a:cs typeface="Source Han Sans JP"/>
              </a:rPr>
              <a:t> to</a:t>
            </a:r>
            <a:r>
              <a:rPr dirty="0" sz="1000" spc="210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800" spc="-10">
                <a:solidFill>
                  <a:srgbClr val="111726"/>
                </a:solidFill>
                <a:latin typeface="Courier New"/>
                <a:cs typeface="Courier New"/>
              </a:rPr>
              <a:t>config.py </a:t>
            </a:r>
            <a:r>
              <a:rPr dirty="0" sz="1000" spc="-95">
                <a:solidFill>
                  <a:srgbClr val="111726"/>
                </a:solidFill>
                <a:latin typeface="Source Han Sans JP"/>
                <a:cs typeface="Source Han Sans JP"/>
              </a:rPr>
              <a:t>would</a:t>
            </a:r>
            <a:r>
              <a:rPr dirty="0" sz="1000" spc="-2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70">
                <a:solidFill>
                  <a:srgbClr val="111726"/>
                </a:solidFill>
                <a:latin typeface="Source Han Sans JP"/>
                <a:cs typeface="Source Han Sans JP"/>
              </a:rPr>
              <a:t>silently</a:t>
            </a:r>
            <a:r>
              <a:rPr dirty="0" sz="1000" spc="-20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90">
                <a:solidFill>
                  <a:srgbClr val="111726"/>
                </a:solidFill>
                <a:latin typeface="Source Han Sans JP"/>
                <a:cs typeface="Source Han Sans JP"/>
              </a:rPr>
              <a:t>stop</a:t>
            </a:r>
            <a:r>
              <a:rPr dirty="0" sz="1000" spc="-2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85">
                <a:solidFill>
                  <a:srgbClr val="111726"/>
                </a:solidFill>
                <a:latin typeface="Source Han Sans JP"/>
                <a:cs typeface="Source Han Sans JP"/>
              </a:rPr>
              <a:t>applying</a:t>
            </a:r>
            <a:r>
              <a:rPr dirty="0" sz="1000" spc="-20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90">
                <a:solidFill>
                  <a:srgbClr val="111726"/>
                </a:solidFill>
                <a:latin typeface="Source Han Sans JP"/>
                <a:cs typeface="Source Han Sans JP"/>
              </a:rPr>
              <a:t>to</a:t>
            </a:r>
            <a:r>
              <a:rPr dirty="0" sz="1000" spc="-2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85">
                <a:solidFill>
                  <a:srgbClr val="111726"/>
                </a:solidFill>
                <a:latin typeface="Source Han Sans JP"/>
                <a:cs typeface="Source Han Sans JP"/>
              </a:rPr>
              <a:t>ingestion</a:t>
            </a:r>
            <a:r>
              <a:rPr dirty="0" sz="1000" spc="-20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65">
                <a:solidFill>
                  <a:srgbClr val="111726"/>
                </a:solidFill>
                <a:latin typeface="Source Han Sans JP"/>
                <a:cs typeface="Source Han Sans JP"/>
              </a:rPr>
              <a:t>unless</a:t>
            </a:r>
            <a:r>
              <a:rPr dirty="0" sz="1000" spc="204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800">
                <a:solidFill>
                  <a:srgbClr val="111726"/>
                </a:solidFill>
                <a:latin typeface="Courier New"/>
                <a:cs typeface="Courier New"/>
              </a:rPr>
              <a:t>ingest.py</a:t>
            </a:r>
            <a:r>
              <a:rPr dirty="0" sz="800" spc="-55">
                <a:solidFill>
                  <a:srgbClr val="111726"/>
                </a:solidFill>
                <a:latin typeface="Courier New"/>
                <a:cs typeface="Courier New"/>
              </a:rPr>
              <a:t> </a:t>
            </a:r>
            <a:r>
              <a:rPr dirty="0" sz="1000" spc="-70">
                <a:solidFill>
                  <a:srgbClr val="111726"/>
                </a:solidFill>
                <a:latin typeface="Source Han Sans JP"/>
                <a:cs typeface="Source Han Sans JP"/>
              </a:rPr>
              <a:t>is</a:t>
            </a:r>
            <a:r>
              <a:rPr dirty="0" sz="1000" spc="-20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95">
                <a:solidFill>
                  <a:srgbClr val="111726"/>
                </a:solidFill>
                <a:latin typeface="Source Han Sans JP"/>
                <a:cs typeface="Source Han Sans JP"/>
              </a:rPr>
              <a:t>updated</a:t>
            </a:r>
            <a:r>
              <a:rPr dirty="0" sz="1000" spc="-20">
                <a:solidFill>
                  <a:srgbClr val="111726"/>
                </a:solidFill>
                <a:latin typeface="Source Han Sans JP"/>
                <a:cs typeface="Source Han Sans JP"/>
              </a:rPr>
              <a:t> too.</a:t>
            </a:r>
            <a:endParaRPr sz="1000">
              <a:latin typeface="Source Han Sans JP"/>
              <a:cs typeface="Source Han Sans JP"/>
            </a:endParaRPr>
          </a:p>
          <a:p>
            <a:pPr marL="12700" marR="395605">
              <a:lnSpc>
                <a:spcPct val="121600"/>
              </a:lnSpc>
              <a:spcBef>
                <a:spcPts val="240"/>
              </a:spcBef>
            </a:pPr>
            <a:r>
              <a:rPr dirty="0" sz="1000" spc="-100">
                <a:solidFill>
                  <a:srgbClr val="111726"/>
                </a:solidFill>
                <a:latin typeface="Source Han Sans JP"/>
                <a:cs typeface="Source Han Sans JP"/>
              </a:rPr>
              <a:t>The</a:t>
            </a:r>
            <a:r>
              <a:rPr dirty="0" sz="1000" spc="-1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110" b="1">
                <a:solidFill>
                  <a:srgbClr val="111726"/>
                </a:solidFill>
                <a:latin typeface="Source Han Sans JP"/>
                <a:cs typeface="Source Han Sans JP"/>
              </a:rPr>
              <a:t>ChromaDB</a:t>
            </a:r>
            <a:r>
              <a:rPr dirty="0" sz="1000" spc="-15" b="1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100" b="1">
                <a:solidFill>
                  <a:srgbClr val="111726"/>
                </a:solidFill>
                <a:latin typeface="Source Han Sans JP"/>
                <a:cs typeface="Source Han Sans JP"/>
              </a:rPr>
              <a:t>notebook</a:t>
            </a:r>
            <a:r>
              <a:rPr dirty="0" sz="1000" spc="-100">
                <a:solidFill>
                  <a:srgbClr val="111726"/>
                </a:solidFill>
                <a:latin typeface="Source Han Sans JP"/>
                <a:cs typeface="Source Han Sans JP"/>
              </a:rPr>
              <a:t>'s</a:t>
            </a:r>
            <a:r>
              <a:rPr dirty="0" sz="1000" spc="-1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70">
                <a:solidFill>
                  <a:srgbClr val="111726"/>
                </a:solidFill>
                <a:latin typeface="Source Han Sans JP"/>
                <a:cs typeface="Source Han Sans JP"/>
              </a:rPr>
              <a:t>Cell</a:t>
            </a:r>
            <a:r>
              <a:rPr dirty="0" sz="1000" spc="-1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900" spc="-40">
                <a:solidFill>
                  <a:srgbClr val="111726"/>
                </a:solidFill>
                <a:latin typeface="Arial"/>
                <a:cs typeface="Arial"/>
              </a:rPr>
              <a:t>7 </a:t>
            </a:r>
            <a:r>
              <a:rPr dirty="0" sz="1000" spc="-65">
                <a:solidFill>
                  <a:srgbClr val="111726"/>
                </a:solidFill>
                <a:latin typeface="Source Han Sans JP"/>
                <a:cs typeface="Source Han Sans JP"/>
              </a:rPr>
              <a:t>reads</a:t>
            </a:r>
            <a:r>
              <a:rPr dirty="0" sz="1000" spc="22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800">
                <a:solidFill>
                  <a:srgbClr val="111726"/>
                </a:solidFill>
                <a:latin typeface="Courier New"/>
                <a:cs typeface="Courier New"/>
              </a:rPr>
              <a:t>vector_db._collection.count()</a:t>
            </a:r>
            <a:r>
              <a:rPr dirty="0" sz="800" spc="-40">
                <a:solidFill>
                  <a:srgbClr val="111726"/>
                </a:solidFill>
                <a:latin typeface="Courier New"/>
                <a:cs typeface="Courier New"/>
              </a:rPr>
              <a:t> </a:t>
            </a:r>
            <a:r>
              <a:rPr dirty="0" sz="950" spc="-204">
                <a:solidFill>
                  <a:srgbClr val="111726"/>
                </a:solidFill>
                <a:latin typeface="Arial"/>
                <a:cs typeface="Arial"/>
              </a:rPr>
              <a:t>—</a:t>
            </a:r>
            <a:r>
              <a:rPr dirty="0" sz="950" spc="-55">
                <a:solidFill>
                  <a:srgbClr val="111726"/>
                </a:solidFill>
                <a:latin typeface="Arial"/>
                <a:cs typeface="Arial"/>
              </a:rPr>
              <a:t> </a:t>
            </a:r>
            <a:r>
              <a:rPr dirty="0" sz="1000" spc="-90">
                <a:solidFill>
                  <a:srgbClr val="111726"/>
                </a:solidFill>
                <a:latin typeface="Source Han Sans JP"/>
                <a:cs typeface="Source Han Sans JP"/>
              </a:rPr>
              <a:t>the</a:t>
            </a:r>
            <a:r>
              <a:rPr dirty="0" sz="1000" spc="-1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85">
                <a:solidFill>
                  <a:srgbClr val="111726"/>
                </a:solidFill>
                <a:latin typeface="Source Han Sans JP"/>
                <a:cs typeface="Source Han Sans JP"/>
              </a:rPr>
              <a:t>leading</a:t>
            </a:r>
            <a:r>
              <a:rPr dirty="0" sz="1000" spc="-1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90">
                <a:solidFill>
                  <a:srgbClr val="111726"/>
                </a:solidFill>
                <a:latin typeface="Source Han Sans JP"/>
                <a:cs typeface="Source Han Sans JP"/>
              </a:rPr>
              <a:t>underscore</a:t>
            </a:r>
            <a:r>
              <a:rPr dirty="0" sz="1000" spc="-1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75">
                <a:solidFill>
                  <a:srgbClr val="111726"/>
                </a:solidFill>
                <a:latin typeface="Source Han Sans JP"/>
                <a:cs typeface="Source Han Sans JP"/>
              </a:rPr>
              <a:t>signals</a:t>
            </a:r>
            <a:r>
              <a:rPr dirty="0" sz="1000" spc="-1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50">
                <a:solidFill>
                  <a:srgbClr val="111726"/>
                </a:solidFill>
                <a:latin typeface="Source Han Sans JP"/>
                <a:cs typeface="Source Han Sans JP"/>
              </a:rPr>
              <a:t>a</a:t>
            </a:r>
            <a:r>
              <a:rPr dirty="0" sz="1000" spc="500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80">
                <a:solidFill>
                  <a:srgbClr val="111726"/>
                </a:solidFill>
                <a:latin typeface="Source Han Sans JP"/>
                <a:cs typeface="Source Han Sans JP"/>
              </a:rPr>
              <a:t>private/internal</a:t>
            </a:r>
            <a:r>
              <a:rPr dirty="0" sz="1000" spc="-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100">
                <a:solidFill>
                  <a:srgbClr val="111726"/>
                </a:solidFill>
                <a:latin typeface="Source Han Sans JP"/>
                <a:cs typeface="Source Han Sans JP"/>
              </a:rPr>
              <a:t>Chroma</a:t>
            </a:r>
            <a:r>
              <a:rPr dirty="0" sz="1000" spc="-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85">
                <a:solidFill>
                  <a:srgbClr val="111726"/>
                </a:solidFill>
                <a:latin typeface="Source Han Sans JP"/>
                <a:cs typeface="Source Han Sans JP"/>
              </a:rPr>
              <a:t>attribute</a:t>
            </a:r>
            <a:r>
              <a:rPr dirty="0" sz="1000" spc="-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80">
                <a:solidFill>
                  <a:srgbClr val="111726"/>
                </a:solidFill>
                <a:latin typeface="Source Han Sans JP"/>
                <a:cs typeface="Source Han Sans JP"/>
              </a:rPr>
              <a:t>that</a:t>
            </a:r>
            <a:r>
              <a:rPr dirty="0" sz="1000" spc="-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90">
                <a:solidFill>
                  <a:srgbClr val="111726"/>
                </a:solidFill>
                <a:latin typeface="Source Han Sans JP"/>
                <a:cs typeface="Source Han Sans JP"/>
              </a:rPr>
              <a:t>could</a:t>
            </a:r>
            <a:r>
              <a:rPr dirty="0" sz="1000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95">
                <a:solidFill>
                  <a:srgbClr val="111726"/>
                </a:solidFill>
                <a:latin typeface="Source Han Sans JP"/>
                <a:cs typeface="Source Han Sans JP"/>
              </a:rPr>
              <a:t>change</a:t>
            </a:r>
            <a:r>
              <a:rPr dirty="0" sz="1000" spc="-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100">
                <a:solidFill>
                  <a:srgbClr val="111726"/>
                </a:solidFill>
                <a:latin typeface="Source Han Sans JP"/>
                <a:cs typeface="Source Han Sans JP"/>
              </a:rPr>
              <a:t>between</a:t>
            </a:r>
            <a:r>
              <a:rPr dirty="0" sz="1000" spc="-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70">
                <a:solidFill>
                  <a:srgbClr val="111726"/>
                </a:solidFill>
                <a:latin typeface="Source Han Sans JP"/>
                <a:cs typeface="Source Han Sans JP"/>
              </a:rPr>
              <a:t>library</a:t>
            </a:r>
            <a:r>
              <a:rPr dirty="0" sz="1000" spc="-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80">
                <a:solidFill>
                  <a:srgbClr val="111726"/>
                </a:solidFill>
                <a:latin typeface="Source Han Sans JP"/>
                <a:cs typeface="Source Han Sans JP"/>
              </a:rPr>
              <a:t>versions;</a:t>
            </a:r>
            <a:r>
              <a:rPr dirty="0" sz="1000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90">
                <a:solidFill>
                  <a:srgbClr val="111726"/>
                </a:solidFill>
                <a:latin typeface="Source Han Sans JP"/>
                <a:cs typeface="Source Han Sans JP"/>
              </a:rPr>
              <a:t>a</a:t>
            </a:r>
            <a:r>
              <a:rPr dirty="0" sz="1000" spc="-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80">
                <a:solidFill>
                  <a:srgbClr val="111726"/>
                </a:solidFill>
                <a:latin typeface="Source Han Sans JP"/>
                <a:cs typeface="Source Han Sans JP"/>
              </a:rPr>
              <a:t>public</a:t>
            </a:r>
            <a:r>
              <a:rPr dirty="0" sz="1000" spc="-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80">
                <a:solidFill>
                  <a:srgbClr val="111726"/>
                </a:solidFill>
                <a:latin typeface="Source Han Sans JP"/>
                <a:cs typeface="Source Han Sans JP"/>
              </a:rPr>
              <a:t>API</a:t>
            </a:r>
            <a:r>
              <a:rPr dirty="0" sz="1000" spc="-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100">
                <a:solidFill>
                  <a:srgbClr val="111726"/>
                </a:solidFill>
                <a:latin typeface="Source Han Sans JP"/>
                <a:cs typeface="Source Han Sans JP"/>
              </a:rPr>
              <a:t>method</a:t>
            </a:r>
            <a:r>
              <a:rPr dirty="0" sz="1000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70">
                <a:solidFill>
                  <a:srgbClr val="111726"/>
                </a:solidFill>
                <a:latin typeface="Source Han Sans JP"/>
                <a:cs typeface="Source Han Sans JP"/>
              </a:rPr>
              <a:t>is</a:t>
            </a:r>
            <a:r>
              <a:rPr dirty="0" sz="1000" spc="-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85">
                <a:solidFill>
                  <a:srgbClr val="111726"/>
                </a:solidFill>
                <a:latin typeface="Source Han Sans JP"/>
                <a:cs typeface="Source Han Sans JP"/>
              </a:rPr>
              <a:t>preferable</a:t>
            </a:r>
            <a:r>
              <a:rPr dirty="0" sz="1000" spc="-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25">
                <a:solidFill>
                  <a:srgbClr val="111726"/>
                </a:solidFill>
                <a:latin typeface="Source Han Sans JP"/>
                <a:cs typeface="Source Han Sans JP"/>
              </a:rPr>
              <a:t>if</a:t>
            </a:r>
            <a:r>
              <a:rPr dirty="0" sz="1000" spc="-10">
                <a:solidFill>
                  <a:srgbClr val="111726"/>
                </a:solidFill>
                <a:latin typeface="Source Han Sans JP"/>
                <a:cs typeface="Source Han Sans JP"/>
              </a:rPr>
              <a:t> available.</a:t>
            </a:r>
            <a:endParaRPr sz="1000">
              <a:latin typeface="Source Han Sans JP"/>
              <a:cs typeface="Source Han Sans JP"/>
            </a:endParaRPr>
          </a:p>
          <a:p>
            <a:pPr marL="12700" marR="434975">
              <a:lnSpc>
                <a:spcPct val="123900"/>
              </a:lnSpc>
              <a:spcBef>
                <a:spcPts val="105"/>
              </a:spcBef>
            </a:pPr>
            <a:r>
              <a:rPr dirty="0" sz="1000" spc="-100">
                <a:solidFill>
                  <a:srgbClr val="111726"/>
                </a:solidFill>
                <a:latin typeface="Source Han Sans JP"/>
                <a:cs typeface="Source Han Sans JP"/>
              </a:rPr>
              <a:t>The</a:t>
            </a:r>
            <a:r>
              <a:rPr dirty="0" sz="1000" spc="-2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110" b="1">
                <a:solidFill>
                  <a:srgbClr val="111726"/>
                </a:solidFill>
                <a:latin typeface="Source Han Sans JP"/>
                <a:cs typeface="Source Han Sans JP"/>
              </a:rPr>
              <a:t>ChromaDB</a:t>
            </a:r>
            <a:r>
              <a:rPr dirty="0" sz="1000" spc="-25" b="1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100" b="1">
                <a:solidFill>
                  <a:srgbClr val="111726"/>
                </a:solidFill>
                <a:latin typeface="Source Han Sans JP"/>
                <a:cs typeface="Source Han Sans JP"/>
              </a:rPr>
              <a:t>notebook</a:t>
            </a:r>
            <a:r>
              <a:rPr dirty="0" sz="1000" spc="-100">
                <a:solidFill>
                  <a:srgbClr val="111726"/>
                </a:solidFill>
                <a:latin typeface="Source Han Sans JP"/>
                <a:cs typeface="Source Han Sans JP"/>
              </a:rPr>
              <a:t>'s</a:t>
            </a:r>
            <a:r>
              <a:rPr dirty="0" sz="1000" spc="-20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100">
                <a:solidFill>
                  <a:srgbClr val="111726"/>
                </a:solidFill>
                <a:latin typeface="Source Han Sans JP"/>
                <a:cs typeface="Source Han Sans JP"/>
              </a:rPr>
              <a:t>Chroma</a:t>
            </a:r>
            <a:r>
              <a:rPr dirty="0" sz="1000" spc="-2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85">
                <a:solidFill>
                  <a:srgbClr val="111726"/>
                </a:solidFill>
                <a:latin typeface="Source Han Sans JP"/>
                <a:cs typeface="Source Han Sans JP"/>
              </a:rPr>
              <a:t>store</a:t>
            </a:r>
            <a:r>
              <a:rPr dirty="0" sz="1000" spc="-20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85">
                <a:solidFill>
                  <a:srgbClr val="111726"/>
                </a:solidFill>
                <a:latin typeface="Source Han Sans JP"/>
                <a:cs typeface="Source Han Sans JP"/>
              </a:rPr>
              <a:t>has</a:t>
            </a:r>
            <a:r>
              <a:rPr dirty="0" sz="1000" spc="-2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35">
                <a:solidFill>
                  <a:srgbClr val="111726"/>
                </a:solidFill>
                <a:latin typeface="Source Han Sans JP"/>
                <a:cs typeface="Source Han Sans JP"/>
              </a:rPr>
              <a:t>no</a:t>
            </a:r>
            <a:r>
              <a:rPr dirty="0" sz="1000" spc="204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800">
                <a:solidFill>
                  <a:srgbClr val="111726"/>
                </a:solidFill>
                <a:latin typeface="Courier New"/>
                <a:cs typeface="Courier New"/>
              </a:rPr>
              <a:t>persist_directory</a:t>
            </a:r>
            <a:r>
              <a:rPr dirty="0" sz="800" spc="-55">
                <a:solidFill>
                  <a:srgbClr val="111726"/>
                </a:solidFill>
                <a:latin typeface="Courier New"/>
                <a:cs typeface="Courier New"/>
              </a:rPr>
              <a:t> </a:t>
            </a:r>
            <a:r>
              <a:rPr dirty="0" sz="1000" spc="-90">
                <a:solidFill>
                  <a:srgbClr val="111726"/>
                </a:solidFill>
                <a:latin typeface="Source Han Sans JP"/>
                <a:cs typeface="Source Han Sans JP"/>
              </a:rPr>
              <a:t>argument,</a:t>
            </a:r>
            <a:r>
              <a:rPr dirty="0" sz="1000" spc="-20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90">
                <a:solidFill>
                  <a:srgbClr val="111726"/>
                </a:solidFill>
                <a:latin typeface="Source Han Sans JP"/>
                <a:cs typeface="Source Han Sans JP"/>
              </a:rPr>
              <a:t>so</a:t>
            </a:r>
            <a:r>
              <a:rPr dirty="0" sz="1000" spc="-2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55">
                <a:solidFill>
                  <a:srgbClr val="111726"/>
                </a:solidFill>
                <a:latin typeface="Source Han Sans JP"/>
                <a:cs typeface="Source Han Sans JP"/>
              </a:rPr>
              <a:t>all</a:t>
            </a:r>
            <a:r>
              <a:rPr dirty="0" sz="1000" spc="-20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95">
                <a:solidFill>
                  <a:srgbClr val="111726"/>
                </a:solidFill>
                <a:latin typeface="Source Han Sans JP"/>
                <a:cs typeface="Source Han Sans JP"/>
              </a:rPr>
              <a:t>embeddings</a:t>
            </a:r>
            <a:r>
              <a:rPr dirty="0" sz="1000" spc="-2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80">
                <a:solidFill>
                  <a:srgbClr val="111726"/>
                </a:solidFill>
                <a:latin typeface="Source Han Sans JP"/>
                <a:cs typeface="Source Han Sans JP"/>
              </a:rPr>
              <a:t>are</a:t>
            </a:r>
            <a:r>
              <a:rPr dirty="0" sz="1000" spc="-20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80">
                <a:solidFill>
                  <a:srgbClr val="111726"/>
                </a:solidFill>
                <a:latin typeface="Source Han Sans JP"/>
                <a:cs typeface="Source Han Sans JP"/>
              </a:rPr>
              <a:t>held</a:t>
            </a:r>
            <a:r>
              <a:rPr dirty="0" sz="1000" spc="-25">
                <a:solidFill>
                  <a:srgbClr val="111726"/>
                </a:solidFill>
                <a:latin typeface="Source Han Sans JP"/>
                <a:cs typeface="Source Han Sans JP"/>
              </a:rPr>
              <a:t> in</a:t>
            </a:r>
            <a:r>
              <a:rPr dirty="0" sz="1000" spc="500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100">
                <a:solidFill>
                  <a:srgbClr val="111726"/>
                </a:solidFill>
                <a:latin typeface="Source Han Sans JP"/>
                <a:cs typeface="Source Han Sans JP"/>
              </a:rPr>
              <a:t>memory</a:t>
            </a:r>
            <a:r>
              <a:rPr dirty="0" sz="1000" spc="-1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80">
                <a:solidFill>
                  <a:srgbClr val="111726"/>
                </a:solidFill>
                <a:latin typeface="Source Han Sans JP"/>
                <a:cs typeface="Source Han Sans JP"/>
              </a:rPr>
              <a:t>only</a:t>
            </a:r>
            <a:r>
              <a:rPr dirty="0" sz="1000" spc="-10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95">
                <a:solidFill>
                  <a:srgbClr val="111726"/>
                </a:solidFill>
                <a:latin typeface="Source Han Sans JP"/>
                <a:cs typeface="Source Han Sans JP"/>
              </a:rPr>
              <a:t>and</a:t>
            </a:r>
            <a:r>
              <a:rPr dirty="0" sz="1000" spc="-10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85">
                <a:solidFill>
                  <a:srgbClr val="111726"/>
                </a:solidFill>
                <a:latin typeface="Source Han Sans JP"/>
                <a:cs typeface="Source Han Sans JP"/>
              </a:rPr>
              <a:t>disappear</a:t>
            </a:r>
            <a:r>
              <a:rPr dirty="0" sz="1000" spc="-10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100">
                <a:solidFill>
                  <a:srgbClr val="111726"/>
                </a:solidFill>
                <a:latin typeface="Source Han Sans JP"/>
                <a:cs typeface="Source Han Sans JP"/>
              </a:rPr>
              <a:t>once</a:t>
            </a:r>
            <a:r>
              <a:rPr dirty="0" sz="1000" spc="-1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90">
                <a:solidFill>
                  <a:srgbClr val="111726"/>
                </a:solidFill>
                <a:latin typeface="Source Han Sans JP"/>
                <a:cs typeface="Source Han Sans JP"/>
              </a:rPr>
              <a:t>the</a:t>
            </a:r>
            <a:r>
              <a:rPr dirty="0" sz="1000" spc="-10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85">
                <a:solidFill>
                  <a:srgbClr val="111726"/>
                </a:solidFill>
                <a:latin typeface="Source Han Sans JP"/>
                <a:cs typeface="Source Han Sans JP"/>
              </a:rPr>
              <a:t>Colab</a:t>
            </a:r>
            <a:r>
              <a:rPr dirty="0" sz="1000" spc="-10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90">
                <a:solidFill>
                  <a:srgbClr val="111726"/>
                </a:solidFill>
                <a:latin typeface="Source Han Sans JP"/>
                <a:cs typeface="Source Han Sans JP"/>
              </a:rPr>
              <a:t>runtime</a:t>
            </a:r>
            <a:r>
              <a:rPr dirty="0" sz="1000" spc="-10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70">
                <a:solidFill>
                  <a:srgbClr val="111726"/>
                </a:solidFill>
                <a:latin typeface="Source Han Sans JP"/>
                <a:cs typeface="Source Han Sans JP"/>
              </a:rPr>
              <a:t>is</a:t>
            </a:r>
            <a:r>
              <a:rPr dirty="0" sz="1000" spc="-1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95">
                <a:solidFill>
                  <a:srgbClr val="111726"/>
                </a:solidFill>
                <a:latin typeface="Source Han Sans JP"/>
                <a:cs typeface="Source Han Sans JP"/>
              </a:rPr>
              <a:t>disconnected</a:t>
            </a:r>
            <a:r>
              <a:rPr dirty="0" sz="1000" spc="-10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80">
                <a:solidFill>
                  <a:srgbClr val="111726"/>
                </a:solidFill>
                <a:latin typeface="Source Han Sans JP"/>
                <a:cs typeface="Source Han Sans JP"/>
              </a:rPr>
              <a:t>or</a:t>
            </a:r>
            <a:r>
              <a:rPr dirty="0" sz="1000" spc="-10">
                <a:solidFill>
                  <a:srgbClr val="111726"/>
                </a:solidFill>
                <a:latin typeface="Source Han Sans JP"/>
                <a:cs typeface="Source Han Sans JP"/>
              </a:rPr>
              <a:t> restarted.</a:t>
            </a:r>
            <a:endParaRPr sz="1000">
              <a:latin typeface="Source Han Sans JP"/>
              <a:cs typeface="Source Han Sans JP"/>
            </a:endParaRPr>
          </a:p>
          <a:p>
            <a:pPr marL="12700">
              <a:lnSpc>
                <a:spcPct val="100000"/>
              </a:lnSpc>
              <a:spcBef>
                <a:spcPts val="445"/>
              </a:spcBef>
            </a:pPr>
            <a:r>
              <a:rPr dirty="0" sz="1000" spc="-100">
                <a:solidFill>
                  <a:srgbClr val="111726"/>
                </a:solidFill>
                <a:latin typeface="Source Han Sans JP"/>
                <a:cs typeface="Source Han Sans JP"/>
              </a:rPr>
              <a:t>The</a:t>
            </a:r>
            <a:r>
              <a:rPr dirty="0" sz="1000" spc="-3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75">
                <a:solidFill>
                  <a:srgbClr val="111726"/>
                </a:solidFill>
                <a:latin typeface="Source Han Sans JP"/>
                <a:cs typeface="Source Han Sans JP"/>
              </a:rPr>
              <a:t>Solr</a:t>
            </a:r>
            <a:r>
              <a:rPr dirty="0" sz="1000" spc="-3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65">
                <a:solidFill>
                  <a:srgbClr val="111726"/>
                </a:solidFill>
                <a:latin typeface="Source Han Sans JP"/>
                <a:cs typeface="Source Han Sans JP"/>
              </a:rPr>
              <a:t>project's</a:t>
            </a:r>
            <a:r>
              <a:rPr dirty="0" sz="1000" spc="180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800">
                <a:solidFill>
                  <a:srgbClr val="111726"/>
                </a:solidFill>
                <a:latin typeface="Courier New"/>
                <a:cs typeface="Courier New"/>
              </a:rPr>
              <a:t>requirements.txt</a:t>
            </a:r>
            <a:r>
              <a:rPr dirty="0" sz="800" spc="-80">
                <a:solidFill>
                  <a:srgbClr val="111726"/>
                </a:solidFill>
                <a:latin typeface="Courier New"/>
                <a:cs typeface="Courier New"/>
              </a:rPr>
              <a:t> </a:t>
            </a:r>
            <a:r>
              <a:rPr dirty="0" sz="1000" spc="-90">
                <a:solidFill>
                  <a:srgbClr val="111726"/>
                </a:solidFill>
                <a:latin typeface="Source Han Sans JP"/>
                <a:cs typeface="Source Han Sans JP"/>
              </a:rPr>
              <a:t>does</a:t>
            </a:r>
            <a:r>
              <a:rPr dirty="0" sz="1000" spc="-3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95">
                <a:solidFill>
                  <a:srgbClr val="111726"/>
                </a:solidFill>
                <a:latin typeface="Source Han Sans JP"/>
                <a:cs typeface="Source Han Sans JP"/>
              </a:rPr>
              <a:t>not</a:t>
            </a:r>
            <a:r>
              <a:rPr dirty="0" sz="1000" spc="-30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70">
                <a:solidFill>
                  <a:srgbClr val="111726"/>
                </a:solidFill>
                <a:latin typeface="Source Han Sans JP"/>
                <a:cs typeface="Source Han Sans JP"/>
              </a:rPr>
              <a:t>explicitly</a:t>
            </a:r>
            <a:r>
              <a:rPr dirty="0" sz="1000" spc="-35">
                <a:solidFill>
                  <a:srgbClr val="111726"/>
                </a:solidFill>
                <a:latin typeface="Source Han Sans JP"/>
                <a:cs typeface="Source Han Sans JP"/>
              </a:rPr>
              <a:t> list</a:t>
            </a:r>
            <a:r>
              <a:rPr dirty="0" sz="1000" spc="180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800">
                <a:solidFill>
                  <a:srgbClr val="111726"/>
                </a:solidFill>
                <a:latin typeface="Courier New"/>
                <a:cs typeface="Courier New"/>
              </a:rPr>
              <a:t>langchain-text-splitters</a:t>
            </a:r>
            <a:r>
              <a:rPr dirty="0" sz="800" spc="-270">
                <a:solidFill>
                  <a:srgbClr val="111726"/>
                </a:solidFill>
                <a:latin typeface="Courier New"/>
                <a:cs typeface="Courier New"/>
              </a:rPr>
              <a:t> </a:t>
            </a:r>
            <a:r>
              <a:rPr dirty="0" sz="1000" spc="-50">
                <a:solidFill>
                  <a:srgbClr val="111726"/>
                </a:solidFill>
                <a:latin typeface="Source Han Sans JP"/>
                <a:cs typeface="Source Han Sans JP"/>
              </a:rPr>
              <a:t>,</a:t>
            </a:r>
            <a:r>
              <a:rPr dirty="0" sz="1000" spc="-3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95">
                <a:solidFill>
                  <a:srgbClr val="111726"/>
                </a:solidFill>
                <a:latin typeface="Source Han Sans JP"/>
                <a:cs typeface="Source Han Sans JP"/>
              </a:rPr>
              <a:t>even</a:t>
            </a:r>
            <a:r>
              <a:rPr dirty="0" sz="1000" spc="-3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70">
                <a:solidFill>
                  <a:srgbClr val="111726"/>
                </a:solidFill>
                <a:latin typeface="Source Han Sans JP"/>
                <a:cs typeface="Source Han Sans JP"/>
              </a:rPr>
              <a:t>though</a:t>
            </a:r>
            <a:r>
              <a:rPr dirty="0" sz="1000" spc="18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800" spc="-10">
                <a:solidFill>
                  <a:srgbClr val="111726"/>
                </a:solidFill>
                <a:latin typeface="Courier New"/>
                <a:cs typeface="Courier New"/>
              </a:rPr>
              <a:t>ingest.py</a:t>
            </a:r>
            <a:endParaRPr sz="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285"/>
              </a:spcBef>
            </a:pPr>
            <a:r>
              <a:rPr dirty="0" sz="1000" spc="-85">
                <a:solidFill>
                  <a:srgbClr val="111726"/>
                </a:solidFill>
                <a:latin typeface="Source Han Sans JP"/>
                <a:cs typeface="Source Han Sans JP"/>
              </a:rPr>
              <a:t>imports</a:t>
            </a:r>
            <a:r>
              <a:rPr dirty="0" sz="1000" spc="-1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90">
                <a:solidFill>
                  <a:srgbClr val="111726"/>
                </a:solidFill>
                <a:latin typeface="Source Han Sans JP"/>
                <a:cs typeface="Source Han Sans JP"/>
              </a:rPr>
              <a:t>from</a:t>
            </a:r>
            <a:r>
              <a:rPr dirty="0" sz="1000" spc="-1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65">
                <a:solidFill>
                  <a:srgbClr val="111726"/>
                </a:solidFill>
                <a:latin typeface="Source Han Sans JP"/>
                <a:cs typeface="Source Han Sans JP"/>
              </a:rPr>
              <a:t>it</a:t>
            </a:r>
            <a:r>
              <a:rPr dirty="0" sz="1000" spc="-1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75">
                <a:solidFill>
                  <a:srgbClr val="111726"/>
                </a:solidFill>
                <a:latin typeface="Source Han Sans JP"/>
                <a:cs typeface="Source Han Sans JP"/>
              </a:rPr>
              <a:t>directly</a:t>
            </a:r>
            <a:r>
              <a:rPr dirty="0" sz="1000" spc="-10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950" spc="-204">
                <a:solidFill>
                  <a:srgbClr val="111726"/>
                </a:solidFill>
                <a:latin typeface="Arial"/>
                <a:cs typeface="Arial"/>
              </a:rPr>
              <a:t>—</a:t>
            </a:r>
            <a:r>
              <a:rPr dirty="0" sz="950" spc="-55">
                <a:solidFill>
                  <a:srgbClr val="111726"/>
                </a:solidFill>
                <a:latin typeface="Arial"/>
                <a:cs typeface="Arial"/>
              </a:rPr>
              <a:t> </a:t>
            </a:r>
            <a:r>
              <a:rPr dirty="0" sz="1000" spc="-65">
                <a:solidFill>
                  <a:srgbClr val="111726"/>
                </a:solidFill>
                <a:latin typeface="Source Han Sans JP"/>
                <a:cs typeface="Source Han Sans JP"/>
              </a:rPr>
              <a:t>it</a:t>
            </a:r>
            <a:r>
              <a:rPr dirty="0" sz="1000" spc="-1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70">
                <a:solidFill>
                  <a:srgbClr val="111726"/>
                </a:solidFill>
                <a:latin typeface="Source Han Sans JP"/>
                <a:cs typeface="Source Han Sans JP"/>
              </a:rPr>
              <a:t>likely</a:t>
            </a:r>
            <a:r>
              <a:rPr dirty="0" sz="1000" spc="-10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90">
                <a:solidFill>
                  <a:srgbClr val="111726"/>
                </a:solidFill>
                <a:latin typeface="Source Han Sans JP"/>
                <a:cs typeface="Source Han Sans JP"/>
              </a:rPr>
              <a:t>works</a:t>
            </a:r>
            <a:r>
              <a:rPr dirty="0" sz="1000" spc="-1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90">
                <a:solidFill>
                  <a:srgbClr val="111726"/>
                </a:solidFill>
                <a:latin typeface="Source Han Sans JP"/>
                <a:cs typeface="Source Han Sans JP"/>
              </a:rPr>
              <a:t>today</a:t>
            </a:r>
            <a:r>
              <a:rPr dirty="0" sz="1000" spc="-1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80">
                <a:solidFill>
                  <a:srgbClr val="111726"/>
                </a:solidFill>
                <a:latin typeface="Source Han Sans JP"/>
                <a:cs typeface="Source Han Sans JP"/>
              </a:rPr>
              <a:t>only</a:t>
            </a:r>
            <a:r>
              <a:rPr dirty="0" sz="1000" spc="-1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95">
                <a:solidFill>
                  <a:srgbClr val="111726"/>
                </a:solidFill>
                <a:latin typeface="Source Han Sans JP"/>
                <a:cs typeface="Source Han Sans JP"/>
              </a:rPr>
              <a:t>because</a:t>
            </a:r>
            <a:r>
              <a:rPr dirty="0" sz="1000" spc="-10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65">
                <a:solidFill>
                  <a:srgbClr val="111726"/>
                </a:solidFill>
                <a:latin typeface="Source Han Sans JP"/>
                <a:cs typeface="Source Han Sans JP"/>
              </a:rPr>
              <a:t>it's</a:t>
            </a:r>
            <a:r>
              <a:rPr dirty="0" sz="1000" spc="-1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80">
                <a:solidFill>
                  <a:srgbClr val="111726"/>
                </a:solidFill>
                <a:latin typeface="Source Han Sans JP"/>
                <a:cs typeface="Source Han Sans JP"/>
              </a:rPr>
              <a:t>pulled</a:t>
            </a:r>
            <a:r>
              <a:rPr dirty="0" sz="1000" spc="-1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85">
                <a:solidFill>
                  <a:srgbClr val="111726"/>
                </a:solidFill>
                <a:latin typeface="Source Han Sans JP"/>
                <a:cs typeface="Source Han Sans JP"/>
              </a:rPr>
              <a:t>in</a:t>
            </a:r>
            <a:r>
              <a:rPr dirty="0" sz="1000" spc="-10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75">
                <a:solidFill>
                  <a:srgbClr val="111726"/>
                </a:solidFill>
                <a:latin typeface="Source Han Sans JP"/>
                <a:cs typeface="Source Han Sans JP"/>
              </a:rPr>
              <a:t>transitively</a:t>
            </a:r>
            <a:r>
              <a:rPr dirty="0" sz="1000" spc="-1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100">
                <a:solidFill>
                  <a:srgbClr val="111726"/>
                </a:solidFill>
                <a:latin typeface="Source Han Sans JP"/>
                <a:cs typeface="Source Han Sans JP"/>
              </a:rPr>
              <a:t>by</a:t>
            </a:r>
            <a:r>
              <a:rPr dirty="0" sz="1000" spc="-1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90">
                <a:solidFill>
                  <a:srgbClr val="111726"/>
                </a:solidFill>
                <a:latin typeface="Source Han Sans JP"/>
                <a:cs typeface="Source Han Sans JP"/>
              </a:rPr>
              <a:t>another</a:t>
            </a:r>
            <a:r>
              <a:rPr dirty="0" sz="1000" spc="-1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10">
                <a:solidFill>
                  <a:srgbClr val="111726"/>
                </a:solidFill>
                <a:latin typeface="Source Han Sans JP"/>
                <a:cs typeface="Source Han Sans JP"/>
              </a:rPr>
              <a:t>package.</a:t>
            </a:r>
            <a:endParaRPr sz="1000">
              <a:latin typeface="Source Han Sans JP"/>
              <a:cs typeface="Source Han Sans JP"/>
            </a:endParaRPr>
          </a:p>
          <a:p>
            <a:pPr marL="12700" marR="36830">
              <a:lnSpc>
                <a:spcPct val="123900"/>
              </a:lnSpc>
              <a:spcBef>
                <a:spcPts val="105"/>
              </a:spcBef>
            </a:pPr>
            <a:r>
              <a:rPr dirty="0" sz="1000" spc="-100" b="1">
                <a:solidFill>
                  <a:srgbClr val="111726"/>
                </a:solidFill>
                <a:latin typeface="Source Han Sans JP"/>
                <a:cs typeface="Source Han Sans JP"/>
              </a:rPr>
              <a:t>Con</a:t>
            </a:r>
            <a:r>
              <a:rPr dirty="0" sz="950" spc="-100" b="1">
                <a:solidFill>
                  <a:srgbClr val="111726"/>
                </a:solidFill>
                <a:latin typeface="Arial"/>
                <a:cs typeface="Arial"/>
              </a:rPr>
              <a:t>ﬁ</a:t>
            </a:r>
            <a:r>
              <a:rPr dirty="0" sz="1000" spc="-100" b="1">
                <a:solidFill>
                  <a:srgbClr val="111726"/>
                </a:solidFill>
                <a:latin typeface="Source Han Sans JP"/>
                <a:cs typeface="Source Han Sans JP"/>
              </a:rPr>
              <a:t>rmed</a:t>
            </a:r>
            <a:r>
              <a:rPr dirty="0" sz="1000" spc="-30" b="1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100" b="1">
                <a:solidFill>
                  <a:srgbClr val="111726"/>
                </a:solidFill>
                <a:latin typeface="Source Han Sans JP"/>
                <a:cs typeface="Source Han Sans JP"/>
              </a:rPr>
              <a:t>from</a:t>
            </a:r>
            <a:r>
              <a:rPr dirty="0" sz="1000" spc="-25" b="1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100" b="1">
                <a:solidFill>
                  <a:srgbClr val="111726"/>
                </a:solidFill>
                <a:latin typeface="Source Han Sans JP"/>
                <a:cs typeface="Source Han Sans JP"/>
              </a:rPr>
              <a:t>the</a:t>
            </a:r>
            <a:r>
              <a:rPr dirty="0" sz="1000" spc="-30" b="1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55" b="1">
                <a:solidFill>
                  <a:srgbClr val="111726"/>
                </a:solidFill>
                <a:latin typeface="Source Han Sans JP"/>
                <a:cs typeface="Source Han Sans JP"/>
              </a:rPr>
              <a:t>real</a:t>
            </a:r>
            <a:r>
              <a:rPr dirty="0" sz="1000" spc="195" b="1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800" b="1">
                <a:solidFill>
                  <a:srgbClr val="111726"/>
                </a:solidFill>
                <a:latin typeface="Courier New"/>
                <a:cs typeface="Courier New"/>
              </a:rPr>
              <a:t>rag_pipeline.py</a:t>
            </a:r>
            <a:r>
              <a:rPr dirty="0" sz="800" spc="-65" b="1">
                <a:solidFill>
                  <a:srgbClr val="111726"/>
                </a:solidFill>
                <a:latin typeface="Courier New"/>
                <a:cs typeface="Courier New"/>
              </a:rPr>
              <a:t> </a:t>
            </a:r>
            <a:r>
              <a:rPr dirty="0" sz="1000" spc="-100" b="1">
                <a:solidFill>
                  <a:srgbClr val="111726"/>
                </a:solidFill>
                <a:latin typeface="Source Han Sans JP"/>
                <a:cs typeface="Source Han Sans JP"/>
              </a:rPr>
              <a:t>run</a:t>
            </a:r>
            <a:r>
              <a:rPr dirty="0" sz="1000" spc="-25" b="1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70" b="1">
                <a:solidFill>
                  <a:srgbClr val="111726"/>
                </a:solidFill>
                <a:latin typeface="Source Han Sans JP"/>
                <a:cs typeface="Source Han Sans JP"/>
              </a:rPr>
              <a:t>(§</a:t>
            </a:r>
            <a:r>
              <a:rPr dirty="0" sz="900" spc="-70" b="1">
                <a:solidFill>
                  <a:srgbClr val="111726"/>
                </a:solidFill>
                <a:latin typeface="Trebuchet MS"/>
                <a:cs typeface="Trebuchet MS"/>
              </a:rPr>
              <a:t>1</a:t>
            </a:r>
            <a:r>
              <a:rPr dirty="0" sz="1000" spc="-70" b="1">
                <a:solidFill>
                  <a:srgbClr val="111726"/>
                </a:solidFill>
                <a:latin typeface="Source Han Sans JP"/>
                <a:cs typeface="Source Han Sans JP"/>
              </a:rPr>
              <a:t>.</a:t>
            </a:r>
            <a:r>
              <a:rPr dirty="0" sz="900" spc="-70" b="1">
                <a:solidFill>
                  <a:srgbClr val="111726"/>
                </a:solidFill>
                <a:latin typeface="Trebuchet MS"/>
                <a:cs typeface="Trebuchet MS"/>
              </a:rPr>
              <a:t>5</a:t>
            </a:r>
            <a:r>
              <a:rPr dirty="0" sz="1000" spc="-70" b="1">
                <a:solidFill>
                  <a:srgbClr val="111726"/>
                </a:solidFill>
                <a:latin typeface="Source Han Sans JP"/>
                <a:cs typeface="Source Han Sans JP"/>
              </a:rPr>
              <a:t>):</a:t>
            </a:r>
            <a:r>
              <a:rPr dirty="0" sz="1000" spc="-35" b="1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90">
                <a:solidFill>
                  <a:srgbClr val="111726"/>
                </a:solidFill>
                <a:latin typeface="Source Han Sans JP"/>
                <a:cs typeface="Source Han Sans JP"/>
              </a:rPr>
              <a:t>a</a:t>
            </a:r>
            <a:r>
              <a:rPr dirty="0" sz="1000" spc="-2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85">
                <a:solidFill>
                  <a:srgbClr val="111726"/>
                </a:solidFill>
                <a:latin typeface="Source Han Sans JP"/>
                <a:cs typeface="Source Han Sans JP"/>
              </a:rPr>
              <a:t>broad,</a:t>
            </a:r>
            <a:r>
              <a:rPr dirty="0" sz="1000" spc="-30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75">
                <a:solidFill>
                  <a:srgbClr val="111726"/>
                </a:solidFill>
                <a:latin typeface="Source Han Sans JP"/>
                <a:cs typeface="Source Han Sans JP"/>
              </a:rPr>
              <a:t>unspeci</a:t>
            </a:r>
            <a:r>
              <a:rPr dirty="0" sz="950" spc="-75">
                <a:solidFill>
                  <a:srgbClr val="111726"/>
                </a:solidFill>
                <a:latin typeface="Arial"/>
                <a:cs typeface="Arial"/>
              </a:rPr>
              <a:t>ﬁ</a:t>
            </a:r>
            <a:r>
              <a:rPr dirty="0" sz="1000" spc="-75">
                <a:solidFill>
                  <a:srgbClr val="111726"/>
                </a:solidFill>
                <a:latin typeface="Source Han Sans JP"/>
                <a:cs typeface="Source Han Sans JP"/>
              </a:rPr>
              <a:t>c</a:t>
            </a:r>
            <a:r>
              <a:rPr dirty="0" sz="1000" spc="-2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90">
                <a:solidFill>
                  <a:srgbClr val="111726"/>
                </a:solidFill>
                <a:latin typeface="Source Han Sans JP"/>
                <a:cs typeface="Source Han Sans JP"/>
              </a:rPr>
              <a:t>question</a:t>
            </a:r>
            <a:r>
              <a:rPr dirty="0" sz="1000" spc="-2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45">
                <a:solidFill>
                  <a:srgbClr val="111726"/>
                </a:solidFill>
                <a:latin typeface="Source Han Sans JP"/>
                <a:cs typeface="Source Han Sans JP"/>
              </a:rPr>
              <a:t>like</a:t>
            </a:r>
            <a:r>
              <a:rPr dirty="0" sz="1000" spc="190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800">
                <a:solidFill>
                  <a:srgbClr val="111726"/>
                </a:solidFill>
                <a:latin typeface="Courier New"/>
                <a:cs typeface="Courier New"/>
              </a:rPr>
              <a:t>"what</a:t>
            </a:r>
            <a:r>
              <a:rPr dirty="0" sz="800" spc="20">
                <a:solidFill>
                  <a:srgbClr val="111726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111726"/>
                </a:solidFill>
                <a:latin typeface="Courier New"/>
                <a:cs typeface="Courier New"/>
              </a:rPr>
              <a:t>does</a:t>
            </a:r>
            <a:r>
              <a:rPr dirty="0" sz="800" spc="20">
                <a:solidFill>
                  <a:srgbClr val="111726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111726"/>
                </a:solidFill>
                <a:latin typeface="Courier New"/>
                <a:cs typeface="Courier New"/>
              </a:rPr>
              <a:t>the</a:t>
            </a:r>
            <a:r>
              <a:rPr dirty="0" sz="800" spc="20">
                <a:solidFill>
                  <a:srgbClr val="111726"/>
                </a:solidFill>
                <a:latin typeface="Courier New"/>
                <a:cs typeface="Courier New"/>
              </a:rPr>
              <a:t> </a:t>
            </a:r>
            <a:r>
              <a:rPr dirty="0" sz="800" spc="-10">
                <a:solidFill>
                  <a:srgbClr val="111726"/>
                </a:solidFill>
                <a:latin typeface="Courier New"/>
                <a:cs typeface="Courier New"/>
              </a:rPr>
              <a:t>document </a:t>
            </a:r>
            <a:r>
              <a:rPr dirty="0" sz="800">
                <a:solidFill>
                  <a:srgbClr val="111726"/>
                </a:solidFill>
                <a:latin typeface="Courier New"/>
                <a:cs typeface="Courier New"/>
              </a:rPr>
              <a:t>say"</a:t>
            </a:r>
            <a:r>
              <a:rPr dirty="0" sz="800" spc="-15">
                <a:solidFill>
                  <a:srgbClr val="111726"/>
                </a:solidFill>
                <a:latin typeface="Courier New"/>
                <a:cs typeface="Courier New"/>
              </a:rPr>
              <a:t> </a:t>
            </a:r>
            <a:r>
              <a:rPr dirty="0" sz="1000" spc="-90">
                <a:solidFill>
                  <a:srgbClr val="111726"/>
                </a:solidFill>
                <a:latin typeface="Source Han Sans JP"/>
                <a:cs typeface="Source Han Sans JP"/>
              </a:rPr>
              <a:t>causes</a:t>
            </a:r>
            <a:r>
              <a:rPr dirty="0" sz="1000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90">
                <a:solidFill>
                  <a:srgbClr val="111726"/>
                </a:solidFill>
                <a:latin typeface="Source Han Sans JP"/>
                <a:cs typeface="Source Han Sans JP"/>
              </a:rPr>
              <a:t>the</a:t>
            </a:r>
            <a:r>
              <a:rPr dirty="0" sz="1000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75">
                <a:solidFill>
                  <a:srgbClr val="111726"/>
                </a:solidFill>
                <a:latin typeface="Source Han Sans JP"/>
                <a:cs typeface="Source Han Sans JP"/>
              </a:rPr>
              <a:t>retriever</a:t>
            </a:r>
            <a:r>
              <a:rPr dirty="0" sz="1000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90">
                <a:solidFill>
                  <a:srgbClr val="111726"/>
                </a:solidFill>
                <a:latin typeface="Source Han Sans JP"/>
                <a:cs typeface="Source Han Sans JP"/>
              </a:rPr>
              <a:t>to</a:t>
            </a:r>
            <a:r>
              <a:rPr dirty="0" sz="1000" spc="-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70">
                <a:solidFill>
                  <a:srgbClr val="111726"/>
                </a:solidFill>
                <a:latin typeface="Source Han Sans JP"/>
                <a:cs typeface="Source Han Sans JP"/>
              </a:rPr>
              <a:t>pull</a:t>
            </a:r>
            <a:r>
              <a:rPr dirty="0" sz="1000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80">
                <a:solidFill>
                  <a:srgbClr val="111726"/>
                </a:solidFill>
                <a:latin typeface="Source Han Sans JP"/>
                <a:cs typeface="Source Han Sans JP"/>
              </a:rPr>
              <a:t>three</a:t>
            </a:r>
            <a:r>
              <a:rPr dirty="0" sz="1000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80">
                <a:solidFill>
                  <a:srgbClr val="111726"/>
                </a:solidFill>
                <a:latin typeface="Source Han Sans JP"/>
                <a:cs typeface="Source Han Sans JP"/>
              </a:rPr>
              <a:t>only</a:t>
            </a:r>
            <a:r>
              <a:rPr dirty="0" sz="1000" spc="-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80">
                <a:solidFill>
                  <a:srgbClr val="111726"/>
                </a:solidFill>
                <a:latin typeface="Source Han Sans JP"/>
                <a:cs typeface="Source Han Sans JP"/>
              </a:rPr>
              <a:t>loosely-</a:t>
            </a:r>
            <a:r>
              <a:rPr dirty="0" sz="1000" spc="-85">
                <a:solidFill>
                  <a:srgbClr val="111726"/>
                </a:solidFill>
                <a:latin typeface="Source Han Sans JP"/>
                <a:cs typeface="Source Han Sans JP"/>
              </a:rPr>
              <a:t>related</a:t>
            </a:r>
            <a:r>
              <a:rPr dirty="0" sz="1000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95">
                <a:solidFill>
                  <a:srgbClr val="111726"/>
                </a:solidFill>
                <a:latin typeface="Source Han Sans JP"/>
                <a:cs typeface="Source Han Sans JP"/>
              </a:rPr>
              <a:t>chunks</a:t>
            </a:r>
            <a:r>
              <a:rPr dirty="0" sz="1000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90">
                <a:solidFill>
                  <a:srgbClr val="111726"/>
                </a:solidFill>
                <a:latin typeface="Source Han Sans JP"/>
                <a:cs typeface="Source Han Sans JP"/>
              </a:rPr>
              <a:t>(Training</a:t>
            </a:r>
            <a:r>
              <a:rPr dirty="0" sz="1000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85">
                <a:solidFill>
                  <a:srgbClr val="111726"/>
                </a:solidFill>
                <a:latin typeface="Source Han Sans JP"/>
                <a:cs typeface="Source Han Sans JP"/>
              </a:rPr>
              <a:t>status/APIs,</a:t>
            </a:r>
            <a:r>
              <a:rPr dirty="0" sz="1000" spc="-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85">
                <a:solidFill>
                  <a:srgbClr val="111726"/>
                </a:solidFill>
                <a:latin typeface="Source Han Sans JP"/>
                <a:cs typeface="Source Han Sans JP"/>
              </a:rPr>
              <a:t>Incident</a:t>
            </a:r>
            <a:r>
              <a:rPr dirty="0" sz="1000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85">
                <a:solidFill>
                  <a:srgbClr val="111726"/>
                </a:solidFill>
                <a:latin typeface="Source Han Sans JP"/>
                <a:cs typeface="Source Han Sans JP"/>
              </a:rPr>
              <a:t>table</a:t>
            </a:r>
            <a:r>
              <a:rPr dirty="0" sz="1000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10">
                <a:solidFill>
                  <a:srgbClr val="111726"/>
                </a:solidFill>
                <a:latin typeface="Source Han Sans JP"/>
                <a:cs typeface="Source Han Sans JP"/>
              </a:rPr>
              <a:t>columns, </a:t>
            </a:r>
            <a:r>
              <a:rPr dirty="0" sz="1000" spc="-95">
                <a:solidFill>
                  <a:srgbClr val="111726"/>
                </a:solidFill>
                <a:latin typeface="Source Han Sans JP"/>
                <a:cs typeface="Source Han Sans JP"/>
              </a:rPr>
              <a:t>Dashboard</a:t>
            </a:r>
            <a:r>
              <a:rPr dirty="0" sz="1000" spc="-10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95">
                <a:solidFill>
                  <a:srgbClr val="111726"/>
                </a:solidFill>
                <a:latin typeface="Source Han Sans JP"/>
                <a:cs typeface="Source Han Sans JP"/>
              </a:rPr>
              <a:t>backend/frontend)</a:t>
            </a:r>
            <a:r>
              <a:rPr dirty="0" sz="1000" spc="-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950" spc="-204">
                <a:solidFill>
                  <a:srgbClr val="111726"/>
                </a:solidFill>
                <a:latin typeface="Arial"/>
                <a:cs typeface="Arial"/>
              </a:rPr>
              <a:t>—</a:t>
            </a:r>
            <a:r>
              <a:rPr dirty="0" sz="950" spc="-50">
                <a:solidFill>
                  <a:srgbClr val="111726"/>
                </a:solidFill>
                <a:latin typeface="Arial"/>
                <a:cs typeface="Arial"/>
              </a:rPr>
              <a:t> </a:t>
            </a:r>
            <a:r>
              <a:rPr dirty="0" sz="1000" spc="-90">
                <a:solidFill>
                  <a:srgbClr val="111726"/>
                </a:solidFill>
                <a:latin typeface="Source Han Sans JP"/>
                <a:cs typeface="Source Han Sans JP"/>
              </a:rPr>
              <a:t>a</a:t>
            </a:r>
            <a:r>
              <a:rPr dirty="0" sz="1000" spc="-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95">
                <a:solidFill>
                  <a:srgbClr val="111726"/>
                </a:solidFill>
                <a:latin typeface="Source Han Sans JP"/>
                <a:cs typeface="Source Han Sans JP"/>
              </a:rPr>
              <a:t>good</a:t>
            </a:r>
            <a:r>
              <a:rPr dirty="0" sz="1000" spc="-10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75">
                <a:solidFill>
                  <a:srgbClr val="111726"/>
                </a:solidFill>
                <a:latin typeface="Source Han Sans JP"/>
                <a:cs typeface="Source Han Sans JP"/>
              </a:rPr>
              <a:t>illustration</a:t>
            </a:r>
            <a:r>
              <a:rPr dirty="0" sz="1000" spc="-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80">
                <a:solidFill>
                  <a:srgbClr val="111726"/>
                </a:solidFill>
                <a:latin typeface="Source Han Sans JP"/>
                <a:cs typeface="Source Han Sans JP"/>
              </a:rPr>
              <a:t>that</a:t>
            </a:r>
            <a:r>
              <a:rPr dirty="0" sz="1000" spc="-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105">
                <a:solidFill>
                  <a:srgbClr val="111726"/>
                </a:solidFill>
                <a:latin typeface="Source Han Sans JP"/>
                <a:cs typeface="Source Han Sans JP"/>
              </a:rPr>
              <a:t>RAG</a:t>
            </a:r>
            <a:r>
              <a:rPr dirty="0" sz="1000" spc="-10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95">
                <a:solidFill>
                  <a:srgbClr val="111726"/>
                </a:solidFill>
                <a:latin typeface="Source Han Sans JP"/>
                <a:cs typeface="Source Han Sans JP"/>
              </a:rPr>
              <a:t>answer</a:t>
            </a:r>
            <a:r>
              <a:rPr dirty="0" sz="1000" spc="-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75">
                <a:solidFill>
                  <a:srgbClr val="111726"/>
                </a:solidFill>
                <a:latin typeface="Source Han Sans JP"/>
                <a:cs typeface="Source Han Sans JP"/>
              </a:rPr>
              <a:t>quality</a:t>
            </a:r>
            <a:r>
              <a:rPr dirty="0" sz="1000" spc="-10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95">
                <a:solidFill>
                  <a:srgbClr val="111726"/>
                </a:solidFill>
                <a:latin typeface="Source Han Sans JP"/>
                <a:cs typeface="Source Han Sans JP"/>
              </a:rPr>
              <a:t>depends</a:t>
            </a:r>
            <a:r>
              <a:rPr dirty="0" sz="1000" spc="-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80">
                <a:solidFill>
                  <a:srgbClr val="111726"/>
                </a:solidFill>
                <a:latin typeface="Source Han Sans JP"/>
                <a:cs typeface="Source Han Sans JP"/>
              </a:rPr>
              <a:t>heavily</a:t>
            </a:r>
            <a:r>
              <a:rPr dirty="0" sz="1000" spc="-10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105">
                <a:solidFill>
                  <a:srgbClr val="111726"/>
                </a:solidFill>
                <a:latin typeface="Source Han Sans JP"/>
                <a:cs typeface="Source Han Sans JP"/>
              </a:rPr>
              <a:t>on</a:t>
            </a:r>
            <a:r>
              <a:rPr dirty="0" sz="1000" spc="-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105">
                <a:solidFill>
                  <a:srgbClr val="111726"/>
                </a:solidFill>
                <a:latin typeface="Source Han Sans JP"/>
                <a:cs typeface="Source Han Sans JP"/>
              </a:rPr>
              <a:t>how</a:t>
            </a:r>
            <a:r>
              <a:rPr dirty="0" sz="1000" spc="-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90">
                <a:solidFill>
                  <a:srgbClr val="111726"/>
                </a:solidFill>
                <a:latin typeface="Source Han Sans JP"/>
                <a:cs typeface="Source Han Sans JP"/>
              </a:rPr>
              <a:t>targeted</a:t>
            </a:r>
            <a:r>
              <a:rPr dirty="0" sz="1000" spc="-10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90">
                <a:solidFill>
                  <a:srgbClr val="111726"/>
                </a:solidFill>
                <a:latin typeface="Source Han Sans JP"/>
                <a:cs typeface="Source Han Sans JP"/>
              </a:rPr>
              <a:t>the</a:t>
            </a:r>
            <a:r>
              <a:rPr dirty="0" sz="1000" spc="-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10">
                <a:solidFill>
                  <a:srgbClr val="111726"/>
                </a:solidFill>
                <a:latin typeface="Source Han Sans JP"/>
                <a:cs typeface="Source Han Sans JP"/>
              </a:rPr>
              <a:t>user's </a:t>
            </a:r>
            <a:r>
              <a:rPr dirty="0" sz="1000" spc="-90">
                <a:solidFill>
                  <a:srgbClr val="111726"/>
                </a:solidFill>
                <a:latin typeface="Source Han Sans JP"/>
                <a:cs typeface="Source Han Sans JP"/>
              </a:rPr>
              <a:t>question</a:t>
            </a:r>
            <a:r>
              <a:rPr dirty="0" sz="1000" spc="-1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55">
                <a:solidFill>
                  <a:srgbClr val="111726"/>
                </a:solidFill>
                <a:latin typeface="Source Han Sans JP"/>
                <a:cs typeface="Source Han Sans JP"/>
              </a:rPr>
              <a:t>is,</a:t>
            </a:r>
            <a:r>
              <a:rPr dirty="0" sz="1000" spc="-10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85">
                <a:solidFill>
                  <a:srgbClr val="111726"/>
                </a:solidFill>
                <a:latin typeface="Source Han Sans JP"/>
                <a:cs typeface="Source Han Sans JP"/>
              </a:rPr>
              <a:t>since</a:t>
            </a:r>
            <a:r>
              <a:rPr dirty="0" sz="1000" spc="-10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90">
                <a:solidFill>
                  <a:srgbClr val="111726"/>
                </a:solidFill>
                <a:latin typeface="Source Han Sans JP"/>
                <a:cs typeface="Source Han Sans JP"/>
              </a:rPr>
              <a:t>the</a:t>
            </a:r>
            <a:r>
              <a:rPr dirty="0" sz="1000" spc="-10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85">
                <a:solidFill>
                  <a:srgbClr val="111726"/>
                </a:solidFill>
                <a:latin typeface="Source Han Sans JP"/>
                <a:cs typeface="Source Han Sans JP"/>
              </a:rPr>
              <a:t>top-</a:t>
            </a:r>
            <a:r>
              <a:rPr dirty="0" sz="900" spc="-40">
                <a:solidFill>
                  <a:srgbClr val="111726"/>
                </a:solidFill>
                <a:latin typeface="Arial"/>
                <a:cs typeface="Arial"/>
              </a:rPr>
              <a:t>3 </a:t>
            </a:r>
            <a:r>
              <a:rPr dirty="0" sz="1000" spc="-80">
                <a:solidFill>
                  <a:srgbClr val="111726"/>
                </a:solidFill>
                <a:latin typeface="Source Han Sans JP"/>
                <a:cs typeface="Source Han Sans JP"/>
              </a:rPr>
              <a:t>retrieved</a:t>
            </a:r>
            <a:r>
              <a:rPr dirty="0" sz="1000" spc="-10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95">
                <a:solidFill>
                  <a:srgbClr val="111726"/>
                </a:solidFill>
                <a:latin typeface="Source Han Sans JP"/>
                <a:cs typeface="Source Han Sans JP"/>
              </a:rPr>
              <a:t>chunks</a:t>
            </a:r>
            <a:r>
              <a:rPr dirty="0" sz="1000" spc="-10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80">
                <a:solidFill>
                  <a:srgbClr val="111726"/>
                </a:solidFill>
                <a:latin typeface="Source Han Sans JP"/>
                <a:cs typeface="Source Han Sans JP"/>
              </a:rPr>
              <a:t>aren't</a:t>
            </a:r>
            <a:r>
              <a:rPr dirty="0" sz="1000" spc="-10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95">
                <a:solidFill>
                  <a:srgbClr val="111726"/>
                </a:solidFill>
                <a:latin typeface="Source Han Sans JP"/>
                <a:cs typeface="Source Han Sans JP"/>
              </a:rPr>
              <a:t>guaranteed</a:t>
            </a:r>
            <a:r>
              <a:rPr dirty="0" sz="1000" spc="-10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90">
                <a:solidFill>
                  <a:srgbClr val="111726"/>
                </a:solidFill>
                <a:latin typeface="Source Han Sans JP"/>
                <a:cs typeface="Source Han Sans JP"/>
              </a:rPr>
              <a:t>to</a:t>
            </a:r>
            <a:r>
              <a:rPr dirty="0" sz="1000" spc="-1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80">
                <a:solidFill>
                  <a:srgbClr val="111726"/>
                </a:solidFill>
                <a:latin typeface="Source Han Sans JP"/>
                <a:cs typeface="Source Han Sans JP"/>
              </a:rPr>
              <a:t>cluster</a:t>
            </a:r>
            <a:r>
              <a:rPr dirty="0" sz="1000" spc="-10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90">
                <a:solidFill>
                  <a:srgbClr val="111726"/>
                </a:solidFill>
                <a:latin typeface="Source Han Sans JP"/>
                <a:cs typeface="Source Han Sans JP"/>
              </a:rPr>
              <a:t>around</a:t>
            </a:r>
            <a:r>
              <a:rPr dirty="0" sz="1000" spc="-10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95">
                <a:solidFill>
                  <a:srgbClr val="111726"/>
                </a:solidFill>
                <a:latin typeface="Source Han Sans JP"/>
                <a:cs typeface="Source Han Sans JP"/>
              </a:rPr>
              <a:t>one</a:t>
            </a:r>
            <a:r>
              <a:rPr dirty="0" sz="1000" spc="-10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90">
                <a:solidFill>
                  <a:srgbClr val="111726"/>
                </a:solidFill>
                <a:latin typeface="Source Han Sans JP"/>
                <a:cs typeface="Source Han Sans JP"/>
              </a:rPr>
              <a:t>coherent</a:t>
            </a:r>
            <a:r>
              <a:rPr dirty="0" sz="1000" spc="-10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80">
                <a:solidFill>
                  <a:srgbClr val="111726"/>
                </a:solidFill>
                <a:latin typeface="Source Han Sans JP"/>
                <a:cs typeface="Source Han Sans JP"/>
              </a:rPr>
              <a:t>topic</a:t>
            </a:r>
            <a:r>
              <a:rPr dirty="0" sz="1000" spc="-1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70">
                <a:solidFill>
                  <a:srgbClr val="111726"/>
                </a:solidFill>
                <a:latin typeface="Source Han Sans JP"/>
                <a:cs typeface="Source Han Sans JP"/>
              </a:rPr>
              <a:t>for</a:t>
            </a:r>
            <a:r>
              <a:rPr dirty="0" sz="1000" spc="-10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95">
                <a:solidFill>
                  <a:srgbClr val="111726"/>
                </a:solidFill>
                <a:latin typeface="Source Han Sans JP"/>
                <a:cs typeface="Source Han Sans JP"/>
              </a:rPr>
              <a:t>vague</a:t>
            </a:r>
            <a:r>
              <a:rPr dirty="0" sz="1000" spc="-10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50">
                <a:solidFill>
                  <a:srgbClr val="111726"/>
                </a:solidFill>
                <a:latin typeface="Source Han Sans JP"/>
                <a:cs typeface="Source Han Sans JP"/>
              </a:rPr>
              <a:t>questions.</a:t>
            </a:r>
            <a:r>
              <a:rPr dirty="0" sz="1000" spc="500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100" b="1">
                <a:solidFill>
                  <a:srgbClr val="111726"/>
                </a:solidFill>
                <a:latin typeface="Source Han Sans JP"/>
                <a:cs typeface="Source Han Sans JP"/>
              </a:rPr>
              <a:t>Con</a:t>
            </a:r>
            <a:r>
              <a:rPr dirty="0" sz="950" spc="-100" b="1">
                <a:solidFill>
                  <a:srgbClr val="111726"/>
                </a:solidFill>
                <a:latin typeface="Arial"/>
                <a:cs typeface="Arial"/>
              </a:rPr>
              <a:t>ﬁ</a:t>
            </a:r>
            <a:r>
              <a:rPr dirty="0" sz="1000" spc="-100" b="1">
                <a:solidFill>
                  <a:srgbClr val="111726"/>
                </a:solidFill>
                <a:latin typeface="Source Han Sans JP"/>
                <a:cs typeface="Source Han Sans JP"/>
              </a:rPr>
              <a:t>rmed</a:t>
            </a:r>
            <a:r>
              <a:rPr dirty="0" sz="1000" spc="-30" b="1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100" b="1">
                <a:solidFill>
                  <a:srgbClr val="111726"/>
                </a:solidFill>
                <a:latin typeface="Source Han Sans JP"/>
                <a:cs typeface="Source Han Sans JP"/>
              </a:rPr>
              <a:t>from</a:t>
            </a:r>
            <a:r>
              <a:rPr dirty="0" sz="1000" spc="-30" b="1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100" b="1">
                <a:solidFill>
                  <a:srgbClr val="111726"/>
                </a:solidFill>
                <a:latin typeface="Source Han Sans JP"/>
                <a:cs typeface="Source Han Sans JP"/>
              </a:rPr>
              <a:t>the</a:t>
            </a:r>
            <a:r>
              <a:rPr dirty="0" sz="1000" spc="-30" b="1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55" b="1">
                <a:solidFill>
                  <a:srgbClr val="111726"/>
                </a:solidFill>
                <a:latin typeface="Source Han Sans JP"/>
                <a:cs typeface="Source Han Sans JP"/>
              </a:rPr>
              <a:t>real</a:t>
            </a:r>
            <a:r>
              <a:rPr dirty="0" sz="1000" spc="190" b="1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800" b="1">
                <a:solidFill>
                  <a:srgbClr val="111726"/>
                </a:solidFill>
                <a:latin typeface="Courier New"/>
                <a:cs typeface="Courier New"/>
              </a:rPr>
              <a:t>ingest.py</a:t>
            </a:r>
            <a:r>
              <a:rPr dirty="0" sz="800" spc="-65" b="1">
                <a:solidFill>
                  <a:srgbClr val="111726"/>
                </a:solidFill>
                <a:latin typeface="Courier New"/>
                <a:cs typeface="Courier New"/>
              </a:rPr>
              <a:t> </a:t>
            </a:r>
            <a:r>
              <a:rPr dirty="0" sz="1000" spc="-100" b="1">
                <a:solidFill>
                  <a:srgbClr val="111726"/>
                </a:solidFill>
                <a:latin typeface="Source Han Sans JP"/>
                <a:cs typeface="Source Han Sans JP"/>
              </a:rPr>
              <a:t>run</a:t>
            </a:r>
            <a:r>
              <a:rPr dirty="0" sz="1000" spc="-30" b="1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50" b="1">
                <a:solidFill>
                  <a:srgbClr val="111726"/>
                </a:solidFill>
                <a:latin typeface="Source Han Sans JP"/>
                <a:cs typeface="Source Han Sans JP"/>
              </a:rPr>
              <a:t>(§</a:t>
            </a:r>
            <a:r>
              <a:rPr dirty="0" sz="900" spc="-50" b="1">
                <a:solidFill>
                  <a:srgbClr val="111726"/>
                </a:solidFill>
                <a:latin typeface="Trebuchet MS"/>
                <a:cs typeface="Trebuchet MS"/>
              </a:rPr>
              <a:t>2</a:t>
            </a:r>
            <a:r>
              <a:rPr dirty="0" sz="1000" spc="-50" b="1">
                <a:solidFill>
                  <a:srgbClr val="111726"/>
                </a:solidFill>
                <a:latin typeface="Source Han Sans JP"/>
                <a:cs typeface="Source Han Sans JP"/>
              </a:rPr>
              <a:t>.</a:t>
            </a:r>
            <a:r>
              <a:rPr dirty="0" sz="900" spc="-50" b="1">
                <a:solidFill>
                  <a:srgbClr val="111726"/>
                </a:solidFill>
                <a:latin typeface="Trebuchet MS"/>
                <a:cs typeface="Trebuchet MS"/>
              </a:rPr>
              <a:t>5</a:t>
            </a:r>
            <a:r>
              <a:rPr dirty="0" sz="1000" spc="-50" b="1">
                <a:solidFill>
                  <a:srgbClr val="111726"/>
                </a:solidFill>
                <a:latin typeface="Source Han Sans JP"/>
                <a:cs typeface="Source Han Sans JP"/>
              </a:rPr>
              <a:t>):</a:t>
            </a:r>
            <a:r>
              <a:rPr dirty="0" sz="1000" spc="185" b="1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800">
                <a:solidFill>
                  <a:srgbClr val="111726"/>
                </a:solidFill>
                <a:latin typeface="Courier New"/>
                <a:cs typeface="Courier New"/>
              </a:rPr>
              <a:t>sample.pdf</a:t>
            </a:r>
            <a:r>
              <a:rPr dirty="0" sz="800" spc="-65">
                <a:solidFill>
                  <a:srgbClr val="111726"/>
                </a:solidFill>
                <a:latin typeface="Courier New"/>
                <a:cs typeface="Courier New"/>
              </a:rPr>
              <a:t> </a:t>
            </a:r>
            <a:r>
              <a:rPr dirty="0" sz="1000" spc="-95">
                <a:solidFill>
                  <a:srgbClr val="111726"/>
                </a:solidFill>
                <a:latin typeface="Source Han Sans JP"/>
                <a:cs typeface="Source Han Sans JP"/>
              </a:rPr>
              <a:t>produces</a:t>
            </a:r>
            <a:r>
              <a:rPr dirty="0" sz="1000" spc="-30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90">
                <a:solidFill>
                  <a:srgbClr val="111726"/>
                </a:solidFill>
                <a:latin typeface="Source Han Sans JP"/>
                <a:cs typeface="Source Han Sans JP"/>
              </a:rPr>
              <a:t>the</a:t>
            </a:r>
            <a:r>
              <a:rPr dirty="0" sz="1000" spc="-30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100">
                <a:solidFill>
                  <a:srgbClr val="111726"/>
                </a:solidFill>
                <a:latin typeface="Source Han Sans JP"/>
                <a:cs typeface="Source Han Sans JP"/>
              </a:rPr>
              <a:t>same</a:t>
            </a:r>
            <a:r>
              <a:rPr dirty="0" sz="1000" spc="-2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900" spc="-40" b="1">
                <a:solidFill>
                  <a:srgbClr val="111726"/>
                </a:solidFill>
                <a:latin typeface="Trebuchet MS"/>
                <a:cs typeface="Trebuchet MS"/>
              </a:rPr>
              <a:t>20</a:t>
            </a:r>
            <a:r>
              <a:rPr dirty="0" sz="900" spc="-75" b="1">
                <a:solidFill>
                  <a:srgbClr val="111726"/>
                </a:solidFill>
                <a:latin typeface="Trebuchet MS"/>
                <a:cs typeface="Trebuchet MS"/>
              </a:rPr>
              <a:t> </a:t>
            </a:r>
            <a:r>
              <a:rPr dirty="0" sz="1000" spc="-95" b="1">
                <a:solidFill>
                  <a:srgbClr val="111726"/>
                </a:solidFill>
                <a:latin typeface="Source Han Sans JP"/>
                <a:cs typeface="Source Han Sans JP"/>
              </a:rPr>
              <a:t>chunks</a:t>
            </a:r>
            <a:r>
              <a:rPr dirty="0" sz="1000" spc="-35" b="1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90">
                <a:solidFill>
                  <a:srgbClr val="111726"/>
                </a:solidFill>
                <a:latin typeface="Source Han Sans JP"/>
                <a:cs typeface="Source Han Sans JP"/>
              </a:rPr>
              <a:t>whether</a:t>
            </a:r>
            <a:r>
              <a:rPr dirty="0" sz="1000" spc="-2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65">
                <a:solidFill>
                  <a:srgbClr val="111726"/>
                </a:solidFill>
                <a:latin typeface="Source Han Sans JP"/>
                <a:cs typeface="Source Han Sans JP"/>
              </a:rPr>
              <a:t>split</a:t>
            </a:r>
            <a:r>
              <a:rPr dirty="0" sz="1000" spc="-30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20">
                <a:solidFill>
                  <a:srgbClr val="111726"/>
                </a:solidFill>
                <a:latin typeface="Source Han Sans JP"/>
                <a:cs typeface="Source Han Sans JP"/>
              </a:rPr>
              <a:t>with </a:t>
            </a:r>
            <a:r>
              <a:rPr dirty="0" sz="800">
                <a:solidFill>
                  <a:srgbClr val="111726"/>
                </a:solidFill>
                <a:latin typeface="Courier New"/>
                <a:cs typeface="Courier New"/>
              </a:rPr>
              <a:t>chunk_overlap=100</a:t>
            </a:r>
            <a:r>
              <a:rPr dirty="0" sz="800" spc="-40">
                <a:solidFill>
                  <a:srgbClr val="111726"/>
                </a:solidFill>
                <a:latin typeface="Courier New"/>
                <a:cs typeface="Courier New"/>
              </a:rPr>
              <a:t> </a:t>
            </a:r>
            <a:r>
              <a:rPr dirty="0" sz="1000" spc="-90">
                <a:solidFill>
                  <a:srgbClr val="111726"/>
                </a:solidFill>
                <a:latin typeface="Source Han Sans JP"/>
                <a:cs typeface="Source Han Sans JP"/>
              </a:rPr>
              <a:t>(Postgres</a:t>
            </a:r>
            <a:r>
              <a:rPr dirty="0" sz="1000" spc="-1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80">
                <a:solidFill>
                  <a:srgbClr val="111726"/>
                </a:solidFill>
                <a:latin typeface="Source Han Sans JP"/>
                <a:cs typeface="Source Han Sans JP"/>
              </a:rPr>
              <a:t>project)</a:t>
            </a:r>
            <a:r>
              <a:rPr dirty="0" sz="1000" spc="-1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10">
                <a:solidFill>
                  <a:srgbClr val="111726"/>
                </a:solidFill>
                <a:latin typeface="Source Han Sans JP"/>
                <a:cs typeface="Source Han Sans JP"/>
              </a:rPr>
              <a:t>or</a:t>
            </a:r>
            <a:r>
              <a:rPr dirty="0" sz="1000" spc="21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800">
                <a:solidFill>
                  <a:srgbClr val="111726"/>
                </a:solidFill>
                <a:latin typeface="Courier New"/>
                <a:cs typeface="Courier New"/>
              </a:rPr>
              <a:t>chunk_overlap=50</a:t>
            </a:r>
            <a:r>
              <a:rPr dirty="0" sz="800" spc="-35">
                <a:solidFill>
                  <a:srgbClr val="111726"/>
                </a:solidFill>
                <a:latin typeface="Courier New"/>
                <a:cs typeface="Courier New"/>
              </a:rPr>
              <a:t> </a:t>
            </a:r>
            <a:r>
              <a:rPr dirty="0" sz="1000" spc="-70">
                <a:solidFill>
                  <a:srgbClr val="111726"/>
                </a:solidFill>
                <a:latin typeface="Source Han Sans JP"/>
                <a:cs typeface="Source Han Sans JP"/>
              </a:rPr>
              <a:t>(Solr</a:t>
            </a:r>
            <a:r>
              <a:rPr dirty="0" sz="1000" spc="-1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80">
                <a:solidFill>
                  <a:srgbClr val="111726"/>
                </a:solidFill>
                <a:latin typeface="Source Han Sans JP"/>
                <a:cs typeface="Source Han Sans JP"/>
              </a:rPr>
              <a:t>project)</a:t>
            </a:r>
            <a:r>
              <a:rPr dirty="0" sz="1000" spc="-1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950" spc="-204">
                <a:solidFill>
                  <a:srgbClr val="111726"/>
                </a:solidFill>
                <a:latin typeface="Arial"/>
                <a:cs typeface="Arial"/>
              </a:rPr>
              <a:t>—</a:t>
            </a:r>
            <a:r>
              <a:rPr dirty="0" sz="950" spc="-55">
                <a:solidFill>
                  <a:srgbClr val="111726"/>
                </a:solidFill>
                <a:latin typeface="Arial"/>
                <a:cs typeface="Arial"/>
              </a:rPr>
              <a:t> </a:t>
            </a:r>
            <a:r>
              <a:rPr dirty="0" sz="1000" spc="-70">
                <a:solidFill>
                  <a:srgbClr val="111726"/>
                </a:solidFill>
                <a:latin typeface="Source Han Sans JP"/>
                <a:cs typeface="Source Han Sans JP"/>
              </a:rPr>
              <a:t>for</a:t>
            </a:r>
            <a:r>
              <a:rPr dirty="0" sz="1000" spc="-1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70">
                <a:solidFill>
                  <a:srgbClr val="111726"/>
                </a:solidFill>
                <a:latin typeface="Source Han Sans JP"/>
                <a:cs typeface="Source Han Sans JP"/>
              </a:rPr>
              <a:t>this</a:t>
            </a:r>
            <a:r>
              <a:rPr dirty="0" sz="1000" spc="-1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75">
                <a:solidFill>
                  <a:srgbClr val="111726"/>
                </a:solidFill>
                <a:latin typeface="Source Han Sans JP"/>
                <a:cs typeface="Source Han Sans JP"/>
              </a:rPr>
              <a:t>particular</a:t>
            </a:r>
            <a:r>
              <a:rPr dirty="0" sz="1000" spc="-1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100">
                <a:solidFill>
                  <a:srgbClr val="111726"/>
                </a:solidFill>
                <a:latin typeface="Source Han Sans JP"/>
                <a:cs typeface="Source Han Sans JP"/>
              </a:rPr>
              <a:t>document</a:t>
            </a:r>
            <a:r>
              <a:rPr dirty="0" sz="1000" spc="-1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90">
                <a:solidFill>
                  <a:srgbClr val="111726"/>
                </a:solidFill>
                <a:latin typeface="Source Han Sans JP"/>
                <a:cs typeface="Source Han Sans JP"/>
              </a:rPr>
              <a:t>the</a:t>
            </a:r>
            <a:r>
              <a:rPr dirty="0" sz="1000" spc="-1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10">
                <a:solidFill>
                  <a:srgbClr val="111726"/>
                </a:solidFill>
                <a:latin typeface="Source Han Sans JP"/>
                <a:cs typeface="Source Han Sans JP"/>
              </a:rPr>
              <a:t>extra </a:t>
            </a:r>
            <a:r>
              <a:rPr dirty="0" sz="1000" spc="-80">
                <a:solidFill>
                  <a:srgbClr val="111726"/>
                </a:solidFill>
                <a:latin typeface="Source Han Sans JP"/>
                <a:cs typeface="Source Han Sans JP"/>
              </a:rPr>
              <a:t>overlap</a:t>
            </a:r>
            <a:r>
              <a:rPr dirty="0" sz="1000" spc="-1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80">
                <a:solidFill>
                  <a:srgbClr val="111726"/>
                </a:solidFill>
                <a:latin typeface="Source Han Sans JP"/>
                <a:cs typeface="Source Han Sans JP"/>
              </a:rPr>
              <a:t>didn't</a:t>
            </a:r>
            <a:r>
              <a:rPr dirty="0" sz="1000" spc="-1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90">
                <a:solidFill>
                  <a:srgbClr val="111726"/>
                </a:solidFill>
                <a:latin typeface="Source Han Sans JP"/>
                <a:cs typeface="Source Han Sans JP"/>
              </a:rPr>
              <a:t>push</a:t>
            </a:r>
            <a:r>
              <a:rPr dirty="0" sz="1000" spc="-1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90">
                <a:solidFill>
                  <a:srgbClr val="111726"/>
                </a:solidFill>
                <a:latin typeface="Source Han Sans JP"/>
                <a:cs typeface="Source Han Sans JP"/>
              </a:rPr>
              <a:t>any</a:t>
            </a:r>
            <a:r>
              <a:rPr dirty="0" sz="1000" spc="-1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95">
                <a:solidFill>
                  <a:srgbClr val="111726"/>
                </a:solidFill>
                <a:latin typeface="Source Han Sans JP"/>
                <a:cs typeface="Source Han Sans JP"/>
              </a:rPr>
              <a:t>chunk</a:t>
            </a:r>
            <a:r>
              <a:rPr dirty="0" sz="1000" spc="-1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90">
                <a:solidFill>
                  <a:srgbClr val="111726"/>
                </a:solidFill>
                <a:latin typeface="Source Han Sans JP"/>
                <a:cs typeface="Source Han Sans JP"/>
              </a:rPr>
              <a:t>over</a:t>
            </a:r>
            <a:r>
              <a:rPr dirty="0" sz="1000" spc="-1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90">
                <a:solidFill>
                  <a:srgbClr val="111726"/>
                </a:solidFill>
                <a:latin typeface="Source Han Sans JP"/>
                <a:cs typeface="Source Han Sans JP"/>
              </a:rPr>
              <a:t>the</a:t>
            </a:r>
            <a:r>
              <a:rPr dirty="0" sz="1000" spc="-1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900" spc="-50">
                <a:solidFill>
                  <a:srgbClr val="111726"/>
                </a:solidFill>
                <a:latin typeface="Arial"/>
                <a:cs typeface="Arial"/>
              </a:rPr>
              <a:t>500</a:t>
            </a:r>
            <a:r>
              <a:rPr dirty="0" sz="1000" spc="-50">
                <a:solidFill>
                  <a:srgbClr val="111726"/>
                </a:solidFill>
                <a:latin typeface="Source Han Sans JP"/>
                <a:cs typeface="Source Han Sans JP"/>
              </a:rPr>
              <a:t>-</a:t>
            </a:r>
            <a:r>
              <a:rPr dirty="0" sz="1000" spc="-85">
                <a:solidFill>
                  <a:srgbClr val="111726"/>
                </a:solidFill>
                <a:latin typeface="Source Han Sans JP"/>
                <a:cs typeface="Source Han Sans JP"/>
              </a:rPr>
              <a:t>character</a:t>
            </a:r>
            <a:r>
              <a:rPr dirty="0" sz="1000" spc="-1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70">
                <a:solidFill>
                  <a:srgbClr val="111726"/>
                </a:solidFill>
                <a:latin typeface="Source Han Sans JP"/>
                <a:cs typeface="Source Han Sans JP"/>
              </a:rPr>
              <a:t>limit</a:t>
            </a:r>
            <a:r>
              <a:rPr dirty="0" sz="1000" spc="-1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80">
                <a:solidFill>
                  <a:srgbClr val="111726"/>
                </a:solidFill>
                <a:latin typeface="Source Han Sans JP"/>
                <a:cs typeface="Source Han Sans JP"/>
              </a:rPr>
              <a:t>into</a:t>
            </a:r>
            <a:r>
              <a:rPr dirty="0" sz="1000" spc="-1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100">
                <a:solidFill>
                  <a:srgbClr val="111726"/>
                </a:solidFill>
                <a:latin typeface="Source Han Sans JP"/>
                <a:cs typeface="Source Han Sans JP"/>
              </a:rPr>
              <a:t>an</a:t>
            </a:r>
            <a:r>
              <a:rPr dirty="0" sz="1000" spc="-1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80">
                <a:solidFill>
                  <a:srgbClr val="111726"/>
                </a:solidFill>
                <a:latin typeface="Source Han Sans JP"/>
                <a:cs typeface="Source Han Sans JP"/>
              </a:rPr>
              <a:t>additional</a:t>
            </a:r>
            <a:r>
              <a:rPr dirty="0" sz="1000" spc="-1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65">
                <a:solidFill>
                  <a:srgbClr val="111726"/>
                </a:solidFill>
                <a:latin typeface="Source Han Sans JP"/>
                <a:cs typeface="Source Han Sans JP"/>
              </a:rPr>
              <a:t>split,</a:t>
            </a:r>
            <a:r>
              <a:rPr dirty="0" sz="1000" spc="-1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90">
                <a:solidFill>
                  <a:srgbClr val="111726"/>
                </a:solidFill>
                <a:latin typeface="Source Han Sans JP"/>
                <a:cs typeface="Source Han Sans JP"/>
              </a:rPr>
              <a:t>though</a:t>
            </a:r>
            <a:r>
              <a:rPr dirty="0" sz="1000" spc="-10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80">
                <a:solidFill>
                  <a:srgbClr val="111726"/>
                </a:solidFill>
                <a:latin typeface="Source Han Sans JP"/>
                <a:cs typeface="Source Han Sans JP"/>
              </a:rPr>
              <a:t>that</a:t>
            </a:r>
            <a:r>
              <a:rPr dirty="0" sz="1000" spc="-1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90">
                <a:solidFill>
                  <a:srgbClr val="111726"/>
                </a:solidFill>
                <a:latin typeface="Source Han Sans JP"/>
                <a:cs typeface="Source Han Sans JP"/>
              </a:rPr>
              <a:t>won't</a:t>
            </a:r>
            <a:r>
              <a:rPr dirty="0" sz="1000" spc="-1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85">
                <a:solidFill>
                  <a:srgbClr val="111726"/>
                </a:solidFill>
                <a:latin typeface="Source Han Sans JP"/>
                <a:cs typeface="Source Han Sans JP"/>
              </a:rPr>
              <a:t>always</a:t>
            </a:r>
            <a:r>
              <a:rPr dirty="0" sz="1000" spc="-1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80">
                <a:solidFill>
                  <a:srgbClr val="111726"/>
                </a:solidFill>
                <a:latin typeface="Source Han Sans JP"/>
                <a:cs typeface="Source Han Sans JP"/>
              </a:rPr>
              <a:t>hold</a:t>
            </a:r>
            <a:r>
              <a:rPr dirty="0" sz="1000" spc="-15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25">
                <a:solidFill>
                  <a:srgbClr val="111726"/>
                </a:solidFill>
                <a:latin typeface="Source Han Sans JP"/>
                <a:cs typeface="Source Han Sans JP"/>
              </a:rPr>
              <a:t>for</a:t>
            </a:r>
            <a:r>
              <a:rPr dirty="0" sz="1000" spc="500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85">
                <a:solidFill>
                  <a:srgbClr val="111726"/>
                </a:solidFill>
                <a:latin typeface="Source Han Sans JP"/>
                <a:cs typeface="Source Han Sans JP"/>
              </a:rPr>
              <a:t>other</a:t>
            </a:r>
            <a:r>
              <a:rPr dirty="0" sz="1000" spc="-20">
                <a:solidFill>
                  <a:srgbClr val="111726"/>
                </a:solidFill>
                <a:latin typeface="Source Han Sans JP"/>
                <a:cs typeface="Source Han Sans JP"/>
              </a:rPr>
              <a:t> </a:t>
            </a:r>
            <a:r>
              <a:rPr dirty="0" sz="1000" spc="-40">
                <a:solidFill>
                  <a:srgbClr val="111726"/>
                </a:solidFill>
                <a:latin typeface="Source Han Sans JP"/>
                <a:cs typeface="Source Han Sans JP"/>
              </a:rPr>
              <a:t>documents/settings.</a:t>
            </a:r>
            <a:endParaRPr sz="1000">
              <a:latin typeface="Source Han Sans JP"/>
              <a:cs typeface="Source Han Sans JP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RAG_Systems_Documentation.md</dc:title>
  <dcterms:created xsi:type="dcterms:W3CDTF">2026-07-22T09:05:21Z</dcterms:created>
  <dcterms:modified xsi:type="dcterms:W3CDTF">2026-07-22T09:05:21Z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2026-07-20T00:00:00Z</vt:filetime>
  </property>
  <property fmtid="{D5CDD505-2E9C-101B-9397-08002B2CF9AE}" pid="3" name="Creator">
    <vt:lpwstr>Mozilla/5.0 (X11; Linux x86_64) AppleWebKit/537.36 (KHTML, like Gecko) HeadlessChrome/149.0.0.0 Safari/537.36</vt:lpwstr>
  </property>
  <property fmtid="{D5CDD505-2E9C-101B-9397-08002B2CF9AE}" pid="4" name="LastSaved">
    <vt:filetime>2026-07-22T00:00:00Z</vt:filetime>
  </property>
  <property fmtid="{D5CDD505-2E9C-101B-9397-08002B2CF9AE}" pid="5" name="Producer">
    <vt:lpwstr>Skia/PDF m149</vt:lpwstr>
  </property>
</Properties>
</file>